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</p:sldMasterIdLst>
  <p:notesMasterIdLst>
    <p:notesMasterId r:id="rId26"/>
  </p:notesMasterIdLst>
  <p:handoutMasterIdLst>
    <p:handoutMasterId r:id="rId27"/>
  </p:handoutMasterIdLst>
  <p:sldIdLst>
    <p:sldId id="269" r:id="rId3"/>
    <p:sldId id="302" r:id="rId4"/>
    <p:sldId id="281" r:id="rId5"/>
    <p:sldId id="280" r:id="rId6"/>
    <p:sldId id="303" r:id="rId7"/>
    <p:sldId id="283" r:id="rId8"/>
    <p:sldId id="323" r:id="rId9"/>
    <p:sldId id="324" r:id="rId10"/>
    <p:sldId id="325" r:id="rId11"/>
    <p:sldId id="307" r:id="rId12"/>
    <p:sldId id="309" r:id="rId13"/>
    <p:sldId id="319" r:id="rId14"/>
    <p:sldId id="308" r:id="rId15"/>
    <p:sldId id="317" r:id="rId16"/>
    <p:sldId id="320" r:id="rId17"/>
    <p:sldId id="318" r:id="rId18"/>
    <p:sldId id="328" r:id="rId19"/>
    <p:sldId id="314" r:id="rId20"/>
    <p:sldId id="315" r:id="rId21"/>
    <p:sldId id="327" r:id="rId22"/>
    <p:sldId id="316" r:id="rId23"/>
    <p:sldId id="326" r:id="rId24"/>
    <p:sldId id="329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402C7-6323-2C4E-AFF1-753A8145C865}" v="8517" dt="2025-11-16T13:28:25.9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/>
    <p:restoredTop sz="59932"/>
  </p:normalViewPr>
  <p:slideViewPr>
    <p:cSldViewPr snapToGrid="0" showGuides="1">
      <p:cViewPr varScale="1">
        <p:scale>
          <a:sx n="69" d="100"/>
          <a:sy n="69" d="100"/>
        </p:scale>
        <p:origin x="268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546E7E-6CE1-4F62-BC39-1BE7148D0D0D}" type="datetimeFigureOut">
              <a:rPr lang="ko-KR" altLang="en-US" smtClean="0"/>
              <a:t>2025. 11. 21.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56489-CFDC-4DF4-92D1-C366C0FB17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84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A1C54-2D0D-48EB-888A-9786B070F533}" type="datetimeFigureOut">
              <a:rPr lang="ko-KR" altLang="en-US" smtClean="0"/>
              <a:t>2025. 11. 21.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2C913-610E-4BF0-B55F-9CE65BBA65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976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761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000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282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14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26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330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66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1735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850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7837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635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57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588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0098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029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6808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948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682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897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97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4236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0050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BEAAC-F173-A8E7-BE61-B79E051D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4AFCC4-3F47-2DDF-6DEF-20895880A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5DEFF4-D012-E6B4-3166-3919B9287E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D33BC-6E90-6778-D3D7-5DFC699378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2C913-610E-4BF0-B55F-9CE65BBA65D1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986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819850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</p:spPr>
        <p:txBody>
          <a:bodyPr anchor="ctr"/>
          <a:lstStyle>
            <a:lvl1pPr algn="ctr">
              <a:defRPr sz="6000" b="0">
                <a:latin typeface="+mj-ea"/>
                <a:ea typeface="+mj-ea"/>
                <a:cs typeface="함초롬돋움" panose="020B0604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+mn-ea"/>
                <a:ea typeface="+mn-ea"/>
                <a:cs typeface="함초롬돋움" panose="020B060400010101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6" y="6195047"/>
            <a:ext cx="3026852" cy="64278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0202" y="6215220"/>
            <a:ext cx="1311798" cy="64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63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2208981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691017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606858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526039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4441880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691018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6036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532617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444522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14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2767280"/>
            <a:ext cx="1219199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8000">
                <a:latin typeface="+mj-lt"/>
              </a:rPr>
              <a:t>Q &amp; A</a:t>
            </a:r>
            <a:endParaRPr lang="ko-KR" altLang="en-US" sz="80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9438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>
            <a:cxnSpLocks/>
          </p:cNvCxnSpPr>
          <p:nvPr userDrawn="1"/>
        </p:nvCxnSpPr>
        <p:spPr>
          <a:xfrm>
            <a:off x="4863597" y="1731903"/>
            <a:ext cx="199407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텍스트 개체 틀 4"/>
          <p:cNvSpPr>
            <a:spLocks noGrp="1"/>
          </p:cNvSpPr>
          <p:nvPr>
            <p:ph type="body" sz="quarter" idx="11" hasCustomPrompt="1"/>
          </p:nvPr>
        </p:nvSpPr>
        <p:spPr>
          <a:xfrm>
            <a:off x="1055592" y="1213939"/>
            <a:ext cx="10071852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0" name="텍스트 개체 틀 4"/>
          <p:cNvSpPr>
            <a:spLocks noGrp="1"/>
          </p:cNvSpPr>
          <p:nvPr>
            <p:ph type="body" sz="quarter" idx="25" hasCustomPrompt="1"/>
          </p:nvPr>
        </p:nvSpPr>
        <p:spPr>
          <a:xfrm>
            <a:off x="1055592" y="2129780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6" name="텍스트 개체 틀 4"/>
          <p:cNvSpPr>
            <a:spLocks noGrp="1"/>
          </p:cNvSpPr>
          <p:nvPr>
            <p:ph type="body" sz="quarter" idx="27" hasCustomPrompt="1"/>
          </p:nvPr>
        </p:nvSpPr>
        <p:spPr>
          <a:xfrm>
            <a:off x="1055592" y="3048961"/>
            <a:ext cx="10071850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79" name="텍스트 개체 틀 4"/>
          <p:cNvSpPr>
            <a:spLocks noGrp="1"/>
          </p:cNvSpPr>
          <p:nvPr>
            <p:ph type="body" sz="quarter" idx="29" hasCustomPrompt="1"/>
          </p:nvPr>
        </p:nvSpPr>
        <p:spPr>
          <a:xfrm>
            <a:off x="1055593" y="3964802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11" name="모서리가 둥근 직사각형 19">
            <a:extLst>
              <a:ext uri="{FF2B5EF4-FFF2-40B4-BE49-F238E27FC236}">
                <a16:creationId xmlns:a16="http://schemas.microsoft.com/office/drawing/2014/main" id="{9A1001AF-7C71-4701-94B0-3772F84D3418}"/>
              </a:ext>
            </a:extLst>
          </p:cNvPr>
          <p:cNvSpPr/>
          <p:nvPr userDrawn="1"/>
        </p:nvSpPr>
        <p:spPr>
          <a:xfrm>
            <a:off x="1064556" y="1213940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2" name="모서리가 둥근 직사각형 19">
            <a:extLst>
              <a:ext uri="{FF2B5EF4-FFF2-40B4-BE49-F238E27FC236}">
                <a16:creationId xmlns:a16="http://schemas.microsoft.com/office/drawing/2014/main" id="{D9E18A4C-9D39-4312-9D41-EA0FA0703DAD}"/>
              </a:ext>
            </a:extLst>
          </p:cNvPr>
          <p:cNvSpPr/>
          <p:nvPr userDrawn="1"/>
        </p:nvSpPr>
        <p:spPr>
          <a:xfrm>
            <a:off x="1064556" y="2126542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3" name="모서리가 둥근 직사각형 19">
            <a:extLst>
              <a:ext uri="{FF2B5EF4-FFF2-40B4-BE49-F238E27FC236}">
                <a16:creationId xmlns:a16="http://schemas.microsoft.com/office/drawing/2014/main" id="{DD43020D-DDFD-4ED7-A112-51545002358E}"/>
              </a:ext>
            </a:extLst>
          </p:cNvPr>
          <p:cNvSpPr/>
          <p:nvPr userDrawn="1"/>
        </p:nvSpPr>
        <p:spPr>
          <a:xfrm>
            <a:off x="1064556" y="3055539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14" name="모서리가 둥근 직사각형 19">
            <a:extLst>
              <a:ext uri="{FF2B5EF4-FFF2-40B4-BE49-F238E27FC236}">
                <a16:creationId xmlns:a16="http://schemas.microsoft.com/office/drawing/2014/main" id="{7B5C337D-B310-4C62-8229-6DD25DC8C899}"/>
              </a:ext>
            </a:extLst>
          </p:cNvPr>
          <p:cNvSpPr/>
          <p:nvPr userDrawn="1"/>
        </p:nvSpPr>
        <p:spPr>
          <a:xfrm>
            <a:off x="1064556" y="3968142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  <p:sp>
        <p:nvSpPr>
          <p:cNvPr id="2" name="텍스트 개체 틀 4">
            <a:extLst>
              <a:ext uri="{FF2B5EF4-FFF2-40B4-BE49-F238E27FC236}">
                <a16:creationId xmlns:a16="http://schemas.microsoft.com/office/drawing/2014/main" id="{4EE9F1A4-13CE-3DDB-4703-D085C6E10CF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46629" y="4877405"/>
            <a:ext cx="10071849" cy="718952"/>
          </a:xfrm>
          <a:ln w="28575">
            <a:noFill/>
          </a:ln>
        </p:spPr>
        <p:txBody>
          <a:bodyPr anchor="ctr">
            <a:normAutofit/>
          </a:bodyPr>
          <a:lstStyle>
            <a:lvl1pPr marL="0" indent="0">
              <a:buNone/>
              <a:defRPr sz="2800" b="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</a:defRPr>
            </a:lvl1pPr>
          </a:lstStyle>
          <a:p>
            <a:pPr lvl="0"/>
            <a:r>
              <a:rPr lang="ko-KR" altLang="en-US"/>
              <a:t>제목</a:t>
            </a:r>
          </a:p>
        </p:txBody>
      </p:sp>
      <p:sp>
        <p:nvSpPr>
          <p:cNvPr id="3" name="모서리가 둥근 직사각형 19">
            <a:extLst>
              <a:ext uri="{FF2B5EF4-FFF2-40B4-BE49-F238E27FC236}">
                <a16:creationId xmlns:a16="http://schemas.microsoft.com/office/drawing/2014/main" id="{EBF25FCF-E01C-F6E5-2AEA-4AE032731343}"/>
              </a:ext>
            </a:extLst>
          </p:cNvPr>
          <p:cNvSpPr/>
          <p:nvPr userDrawn="1"/>
        </p:nvSpPr>
        <p:spPr>
          <a:xfrm>
            <a:off x="1055592" y="4880745"/>
            <a:ext cx="10062886" cy="715612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50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8623390" y="6412231"/>
            <a:ext cx="3568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6B743E8-9D27-4F69-87ED-4623B89CBF9F}" type="slidenum">
              <a:rPr lang="ko-KR" altLang="en-US" sz="2000" smtClean="0">
                <a:solidFill>
                  <a:schemeClr val="tx1"/>
                </a:solidFill>
                <a:latin typeface="+mn-lt"/>
              </a:rPr>
              <a:t>‹#›</a:t>
            </a:fld>
            <a:endParaRPr lang="ko-KR" altLang="en-US" sz="200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699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DAAC8-442A-4C15-9819-F07FF5E7315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6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9" r:id="rId3"/>
    <p:sldLayoutId id="2147483670" r:id="rId4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" altLang="ko-KR" sz="4000"/>
              <a:t>High-Speed 16-Radix Polynomial Multiplication</a:t>
            </a:r>
            <a:br>
              <a:rPr lang="en" altLang="ko-KR" sz="4000"/>
            </a:br>
            <a:r>
              <a:rPr lang="en" altLang="ko-KR" sz="4000"/>
              <a:t>on ARM Cortex-M4 </a:t>
            </a:r>
            <a:br>
              <a:rPr lang="en" altLang="ko-KR" sz="4000"/>
            </a:br>
            <a:r>
              <a:rPr lang="en" altLang="ko-KR" sz="4000"/>
              <a:t>with Recursive Karatsuba Layers</a:t>
            </a:r>
            <a:endParaRPr lang="ko-KR" altLang="en-US" sz="400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err="1"/>
              <a:t>Minjoo</a:t>
            </a:r>
            <a:r>
              <a:rPr lang="en-US" altLang="ko-KR" b="1"/>
              <a:t> Sim</a:t>
            </a:r>
            <a:r>
              <a:rPr lang="en-US" altLang="ko-KR"/>
              <a:t>, </a:t>
            </a:r>
            <a:r>
              <a:rPr lang="en-US" altLang="ko-KR" err="1"/>
              <a:t>Hyunjun</a:t>
            </a:r>
            <a:r>
              <a:rPr lang="en-US" altLang="ko-KR"/>
              <a:t> Kim, Minwoo Lee, </a:t>
            </a:r>
            <a:r>
              <a:rPr lang="en-US" altLang="ko-KR" b="1" err="1">
                <a:solidFill>
                  <a:srgbClr val="2E75B6"/>
                </a:solidFill>
              </a:rPr>
              <a:t>Hwajeong</a:t>
            </a:r>
            <a:r>
              <a:rPr lang="en-US" altLang="ko-KR" b="1">
                <a:solidFill>
                  <a:srgbClr val="2E75B6"/>
                </a:solidFill>
              </a:rPr>
              <a:t> Seo</a:t>
            </a:r>
            <a:endParaRPr lang="ko-KR" altLang="en-US" b="1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322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 Introduction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altLang="ko-KR" dirty="0">
                <a:latin typeface="+mj-ea"/>
                <a:ea typeface="+mj-ea"/>
              </a:rPr>
              <a:t> Background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Proposed Method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 Evaluation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952DB9B5-8789-43CC-4336-C30ED5403E32}"/>
              </a:ext>
            </a:extLst>
          </p:cNvPr>
          <p:cNvSpPr txBox="1">
            <a:spLocks/>
          </p:cNvSpPr>
          <p:nvPr/>
        </p:nvSpPr>
        <p:spPr>
          <a:xfrm>
            <a:off x="1055592" y="4880643"/>
            <a:ext cx="10071849" cy="718952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0" kern="1200" baseline="0">
                <a:ln>
                  <a:solidFill>
                    <a:schemeClr val="bg2">
                      <a:lumMod val="2500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Liberation Serif" panose="0202060305040502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iberation Serif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Conclusion</a:t>
            </a:r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21008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2C3F-2546-FE38-AD63-636D9EDDC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7DFF-B723-3B4B-33DC-652282DB0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Contribution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FB93F5C-B9D5-216E-2AB8-1FD05397971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151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Recursive Karatsuba Optimization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We replace the traditional </a:t>
                </a:r>
                <a:r>
                  <a:rPr lang="en-US" altLang="ko-KR" sz="2000" b="1" dirty="0"/>
                  <a:t>schoolbook</a:t>
                </a:r>
                <a:r>
                  <a:rPr lang="en-US" altLang="ko-KR" sz="2000" dirty="0"/>
                  <a:t> inner multiplier with a </a:t>
                </a:r>
                <a:r>
                  <a:rPr lang="en-US" altLang="ko-KR" sz="2000" b="1" dirty="0">
                    <a:solidFill>
                      <a:srgbClr val="FF0000"/>
                    </a:solidFill>
                  </a:rPr>
                  <a:t>multi-level recursive Karatsuba engine</a:t>
                </a:r>
                <a:r>
                  <a:rPr lang="en-US" altLang="ko-KR" sz="2000" dirty="0"/>
                  <a:t>, preserving constant-time execution.</a:t>
                </a:r>
                <a:endParaRPr lang="en-US" altLang="ko-KR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Pipeline</a:t>
                </a:r>
                <a:r>
                  <a:rPr lang="ko-KR" altLang="en-US" sz="2400" b="1" dirty="0"/>
                  <a:t> </a:t>
                </a:r>
                <a:r>
                  <a:rPr lang="en-US" altLang="ko-KR" sz="2400" b="1" dirty="0"/>
                  <a:t>Refinement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We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design</a:t>
                </a:r>
                <a:r>
                  <a:rPr lang="ko-KR" altLang="en-US" sz="2000" dirty="0"/>
                  <a:t> </a:t>
                </a:r>
                <a:r>
                  <a:rPr lang="en-US" altLang="ko-KR" sz="2000" dirty="0"/>
                  <a:t>a</a:t>
                </a:r>
                <a:r>
                  <a:rPr lang="ko-KR" altLang="en-US" sz="2000" dirty="0"/>
                  <a:t> </a:t>
                </a:r>
                <a:r>
                  <a:rPr lang="en-US" altLang="ko-KR" sz="2000" b="1" dirty="0"/>
                  <a:t>five-stage</a:t>
                </a:r>
                <a:r>
                  <a:rPr lang="ko-KR" altLang="en-US" sz="2000" b="1" dirty="0"/>
                  <a:t> </a:t>
                </a:r>
                <a:r>
                  <a:rPr lang="en-US" altLang="ko-KR" sz="2000" b="1" dirty="0"/>
                  <a:t>pipeline</a:t>
                </a:r>
                <a:r>
                  <a:rPr lang="ko-KR" altLang="en-US" sz="2000" b="1" dirty="0"/>
                  <a:t> </a:t>
                </a:r>
                <a:r>
                  <a:rPr lang="en-US" altLang="ko-KR" sz="2000" b="1" dirty="0"/>
                  <a:t>optimized primarily for 64-bit  and 128-bit operations</a:t>
                </a:r>
                <a:r>
                  <a:rPr lang="en-US" altLang="ko-KR" sz="2000" dirty="0"/>
                  <a:t>.</a:t>
                </a:r>
                <a:endParaRPr lang="en-US" altLang="ko-KR" sz="2400" b="1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Efficient &amp; Scalable Implementations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We provide two constant-time variants: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32_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𝑚𝑢𝑙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_64_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𝑏𝑖𝑡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en-US" altLang="ko-KR" sz="2000" dirty="0"/>
                  <a:t>Our primary optimized version for maximum efficiency.</a:t>
                </a:r>
              </a:p>
              <a:p>
                <a:pPr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𝑐𝑡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𝑝𝑜𝑙𝑦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32_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𝑚𝑢𝑙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_128_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en-US" altLang="ko-KR" dirty="0"/>
                  <a:t>  : </a:t>
                </a:r>
                <a:r>
                  <a:rPr lang="en-US" altLang="ko-KR" sz="2000" dirty="0"/>
                  <a:t>An extended scalable version demonstrating pipeline scalability.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AFB93F5C-B9D5-216E-2AB8-1FD0539797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9675" cy="5351514"/>
              </a:xfrm>
              <a:blipFill>
                <a:blip r:embed="rId3"/>
                <a:stretch>
                  <a:fillRect l="-781" r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959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Introduction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/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" altLang="ko-KR" sz="2400" b="1"/>
                  <a:t>Polynomial multiplication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4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400" b="1"/>
                  <a:t> </a:t>
                </a:r>
                <a:endParaRPr lang="en-US" altLang="ko-KR" sz="2400" b="1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/>
                  <a:t>A core operation in Post-Quantum cryptography(PQC).</a:t>
                </a:r>
              </a:p>
              <a:p>
                <a:pPr>
                  <a:lnSpc>
                    <a:spcPct val="150000"/>
                  </a:lnSpc>
                </a:pPr>
                <a:r>
                  <a:rPr lang="en" altLang="ko-KR" sz="2400" b="1"/>
                  <a:t>ARM Cortex-M4 </a:t>
                </a:r>
                <a:r>
                  <a:rPr lang="en" altLang="ko-KR" sz="2400"/>
                  <a:t>is widely used in constrained embedded systems such as IoT devices, medical sensors, industrial controllers.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000"/>
                  <a:t>High-performance CPUs provide CLMUL</a:t>
                </a:r>
                <a:r>
                  <a:rPr lang="en-US" altLang="ko-KR" sz="2000"/>
                  <a:t>(carry-less multiply)</a:t>
                </a:r>
                <a:r>
                  <a:rPr lang="en" altLang="ko-KR" sz="2000"/>
                  <a:t> instruction for fast hardware acceleration.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000" b="1"/>
                  <a:t>The ARM Cortex-M4 lacks CLMUL.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000"/>
                  <a:t>This limitation creates a significant challenge for deploying secure and efficient </a:t>
                </a:r>
                <a:br>
                  <a:rPr lang="en" altLang="ko-KR" sz="2000"/>
                </a:br>
                <a:r>
                  <a:rPr lang="en" altLang="ko-KR" sz="2000"/>
                  <a:t>PQC algorithms on Cortex-M4-based IoT platforms.</a:t>
                </a:r>
              </a:p>
            </p:txBody>
          </p:sp>
        </mc:Choice>
        <mc:Fallback xmlns="">
          <p:sp>
            <p:nvSpPr>
              <p:cNvPr id="3" name="텍스트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6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63F36-3902-271D-C4A3-FE29F55B6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Background : Constant-Time Execution</a:t>
            </a:r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8B6CA63-306B-C5FA-84C0-E1192208F83A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8161" cy="549772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400"/>
                  <a:t>In cryptographic implementations, </a:t>
                </a:r>
                <a:r>
                  <a:rPr kumimoji="1" lang="en-US" altLang="ko-KR" sz="2400" b="1"/>
                  <a:t>execution time must not depend on </a:t>
                </a:r>
                <a:br>
                  <a:rPr kumimoji="1" lang="en-US" altLang="ko-KR" sz="2400" b="1"/>
                </a:br>
                <a:r>
                  <a:rPr kumimoji="1" lang="en-US" altLang="ko-KR" sz="2400" b="1"/>
                  <a:t>secret data.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/>
                  <a:t>Variations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in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timing can leak sensitive information </a:t>
                </a:r>
                <a14:m>
                  <m:oMath xmlns:m="http://schemas.openxmlformats.org/officeDocument/2006/math">
                    <m:r>
                      <a:rPr kumimoji="1" lang="en-US" altLang="ko-K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sz="2400"/>
                  <a:t> </a:t>
                </a:r>
                <a:r>
                  <a:rPr kumimoji="1" lang="en-US" altLang="ko-KR" sz="2400" b="1">
                    <a:solidFill>
                      <a:srgbClr val="FF0000"/>
                    </a:solidFill>
                  </a:rPr>
                  <a:t>Timing Attacks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/>
                  <a:t>Many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fast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multiplication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techniques(e.g.,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LUT-based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methods)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 b="1"/>
                  <a:t>are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not</a:t>
                </a:r>
                <a:r>
                  <a:rPr kumimoji="1" lang="ko-KR" altLang="en-US" sz="2400" b="1"/>
                  <a:t> </a:t>
                </a:r>
                <a:br>
                  <a:rPr kumimoji="1" lang="en-US" altLang="ko-KR" sz="2400" b="1"/>
                </a:br>
                <a:r>
                  <a:rPr kumimoji="1" lang="en-US" altLang="ko-KR" sz="2400" b="1"/>
                  <a:t>constant-time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and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risk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side-channel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leakage.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/>
                  <a:t>Therefore,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PQC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polynomial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multiplication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must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be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implemented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 b="1"/>
                  <a:t>with</a:t>
                </a:r>
                <a:r>
                  <a:rPr kumimoji="1" lang="ko-KR" altLang="en-US" sz="2400" b="1"/>
                  <a:t> </a:t>
                </a:r>
                <a:br>
                  <a:rPr kumimoji="1" lang="en-US" altLang="ko-KR" sz="2400" b="1"/>
                </a:br>
                <a:r>
                  <a:rPr kumimoji="1" lang="en-US" altLang="ko-KR" sz="2400" b="1"/>
                  <a:t>data-independent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operations(fixed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shifts,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masks,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XORs</a:t>
                </a:r>
                <a:r>
                  <a:rPr kumimoji="1" lang="en-US" altLang="ko-KR" sz="2400"/>
                  <a:t>).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/>
                  <a:t>Ensuring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 b="1"/>
                  <a:t>constant-time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 b="1"/>
                  <a:t>execution</a:t>
                </a:r>
                <a:r>
                  <a:rPr kumimoji="1" lang="ko-KR" altLang="en-US" sz="2400" b="1"/>
                  <a:t> </a:t>
                </a:r>
                <a:r>
                  <a:rPr kumimoji="1" lang="en-US" altLang="ko-KR" sz="2400"/>
                  <a:t>is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essential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for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secure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PQC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on</a:t>
                </a:r>
                <a:r>
                  <a:rPr kumimoji="1" lang="ko-KR" altLang="en-US" sz="2400"/>
                  <a:t> </a:t>
                </a:r>
                <a:r>
                  <a:rPr kumimoji="1" lang="en-US" altLang="ko-KR" sz="2400"/>
                  <a:t>Cortex-M4.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8B6CA63-306B-C5FA-84C0-E1192208F8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3" y="1152525"/>
                <a:ext cx="11368161" cy="5497728"/>
              </a:xfrm>
              <a:blipFill>
                <a:blip r:embed="rId3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051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15F92-00F8-304C-0F09-4D5A9B54A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42C76-5F4F-7131-C69D-CCEDA1D3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Background: Multiplication</a:t>
            </a:r>
            <a:r>
              <a:rPr lang="ko-KR" altLang="en-US"/>
              <a:t> </a:t>
            </a:r>
            <a:r>
              <a:rPr lang="en-US" altLang="ko-KR"/>
              <a:t>Algorithms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795C5D1-0E14-AF31-59C7-CAAD3FB1720D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2" y="1152524"/>
                <a:ext cx="8630304" cy="5705475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b="1"/>
                  <a:t>Schoolbook</a:t>
                </a:r>
                <a:r>
                  <a:rPr lang="ko-KR" altLang="en-US" b="1"/>
                  <a:t> </a:t>
                </a:r>
                <a:r>
                  <a:rPr lang="en-US" altLang="ko-KR" b="1"/>
                  <a:t>Multiplication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Compute all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ko-KR"/>
                  <a:t> partial products.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Straightforward and widely used in baseline implementations.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Becomes inefficient on Cortex-M4 where multiplication </a:t>
                </a:r>
                <a:br>
                  <a:rPr lang="en-US" altLang="ko-KR"/>
                </a:br>
                <a:r>
                  <a:rPr lang="en-US" altLang="ko-KR"/>
                  <a:t>is expensive.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b="1"/>
                  <a:t>Karatsuba Multiplication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Divide-and-conquer strategy(splits inputs).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Reduces </a:t>
                </a:r>
                <a:r>
                  <a:rPr lang="en-US" altLang="ko-KR" b="1"/>
                  <a:t>4 multiplications </a:t>
                </a:r>
                <a14:m>
                  <m:oMath xmlns:m="http://schemas.openxmlformats.org/officeDocument/2006/math">
                    <m:r>
                      <a:rPr kumimoji="1"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b="1"/>
                  <a:t> 3 multiplications.</a:t>
                </a:r>
                <a:endParaRPr lang="en-US" altLang="ko-KR" b="1"/>
              </a:p>
              <a:p>
                <a:pPr lvl="1">
                  <a:lnSpc>
                    <a:spcPct val="150000"/>
                  </a:lnSpc>
                </a:pPr>
                <a:r>
                  <a:rPr lang="en-US" altLang="ko-KR"/>
                  <a:t>More</a:t>
                </a:r>
                <a:r>
                  <a:rPr lang="ko-KR" altLang="en-US"/>
                  <a:t> </a:t>
                </a:r>
                <a:r>
                  <a:rPr lang="en-US" altLang="ko-KR"/>
                  <a:t>suitable</a:t>
                </a:r>
                <a:r>
                  <a:rPr lang="ko-KR" altLang="en-US"/>
                  <a:t> </a:t>
                </a:r>
                <a:r>
                  <a:rPr lang="en-US" altLang="ko-KR"/>
                  <a:t>when</a:t>
                </a:r>
                <a:r>
                  <a:rPr lang="ko-KR" altLang="en-US"/>
                  <a:t> </a:t>
                </a:r>
                <a:r>
                  <a:rPr lang="en-US" altLang="ko-KR"/>
                  <a:t>multiplication</a:t>
                </a:r>
                <a:r>
                  <a:rPr lang="ko-KR" altLang="en-US"/>
                  <a:t> </a:t>
                </a:r>
                <a:r>
                  <a:rPr lang="en-US" altLang="ko-KR"/>
                  <a:t>cost</a:t>
                </a:r>
                <a:r>
                  <a:rPr lang="ko-KR" altLang="en-US"/>
                  <a:t> </a:t>
                </a:r>
                <a:r>
                  <a:rPr lang="en-US" altLang="ko-KR"/>
                  <a:t>dominates.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ko-KR" sz="2400" b="1">
                  <a:solidFill>
                    <a:srgbClr val="2E75B6"/>
                  </a:solidFill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3795C5D1-0E14-AF31-59C7-CAAD3FB17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2" y="1152524"/>
                <a:ext cx="8630304" cy="5705475"/>
              </a:xfrm>
              <a:blipFill>
                <a:blip r:embed="rId3"/>
                <a:stretch>
                  <a:fillRect l="-1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9A375BED-2BA4-8BC8-2DEE-F28BA1041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8596" y="984932"/>
            <a:ext cx="2669755" cy="302032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374BC3D-17EA-C326-F128-7A043736C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466" y="3976675"/>
            <a:ext cx="2546885" cy="288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1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2F791-86B5-795D-4A58-0F012C4E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89112-E50F-CAE5-0CAA-1A09BA7E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Background: Multiplication</a:t>
            </a:r>
            <a:r>
              <a:rPr lang="ko-KR" altLang="en-US"/>
              <a:t> </a:t>
            </a:r>
            <a:r>
              <a:rPr lang="en-US" altLang="ko-KR"/>
              <a:t>Algorithms</a:t>
            </a:r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2B497-558A-3CB9-E9DB-F923804DB5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1" y="1152524"/>
            <a:ext cx="11368159" cy="570547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Motivation for an Improved Multiplier</a:t>
            </a:r>
          </a:p>
          <a:p>
            <a:pPr lvl="1">
              <a:lnSpc>
                <a:spcPct val="150000"/>
              </a:lnSpc>
            </a:pPr>
            <a:r>
              <a:rPr lang="en" altLang="ko-KR" dirty="0"/>
              <a:t>Multiplication becomes a major performance bottleneck in bit-sliced polynomial arithmetic.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Reducing multiplication count is therefore one of the most effective optimization approaches.</a:t>
            </a:r>
          </a:p>
          <a:p>
            <a:pPr lvl="1"/>
            <a:r>
              <a:rPr lang="en" altLang="ko-KR" b="1" dirty="0">
                <a:solidFill>
                  <a:srgbClr val="2E75B6"/>
                </a:solidFill>
              </a:rPr>
              <a:t>Karatsuba reduces the number of multiplications while naturally preserving constant-time behavior.</a:t>
            </a:r>
            <a:endParaRPr lang="en" altLang="ko-KR" dirty="0">
              <a:solidFill>
                <a:srgbClr val="2E75B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1186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44DA1-7293-286D-CB13-B1AEBCE9F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12128-921B-DD50-91B4-57750DE8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Background: ARM Cortex-M4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EE496DD-50E6-21C2-189F-6E35A9FAB83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1" y="1152525"/>
                <a:ext cx="11368159" cy="51407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32-bit ARMv7E-M Microcontroller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Implements the ARMv7E-M architecture with standard 32-bit integer arithmetic.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Integer Multiplication Characteristics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Supports only </a:t>
                </a:r>
                <a:r>
                  <a:rPr lang="en-US" altLang="ko-KR" sz="2000" b="1" dirty="0"/>
                  <a:t>standard 32-bit integer multiplication(MUL).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MUL has higher latency than lightweight operation(XOR, shift).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Lack of CLMUL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Cortex-M4 </a:t>
                </a:r>
                <a:r>
                  <a:rPr lang="en-US" altLang="ko-KR" sz="2000" b="1" dirty="0">
                    <a:solidFill>
                      <a:srgbClr val="FF0000"/>
                    </a:solidFill>
                  </a:rPr>
                  <a:t>does not provide carry-less multiplication(CLMUL) </a:t>
                </a:r>
                <a:r>
                  <a:rPr lang="en-US" altLang="ko-KR" sz="2000" dirty="0"/>
                  <a:t>instructions.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Therefore, polynomial multiplication 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/>
                  <a:t>must be emulated using integer arithmetic.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6EE496DD-50E6-21C2-189F-6E35A9FAB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1" y="1152525"/>
                <a:ext cx="11368159" cy="5140700"/>
              </a:xfrm>
              <a:blipFill>
                <a:blip r:embed="rId3"/>
                <a:stretch>
                  <a:fillRect l="-7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99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7E8AC-549A-8783-CFBC-4F35886B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7E2D60-6763-A545-C2AD-3F6D0A20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Related Work</a:t>
            </a: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41A126B-72F5-B5F2-0A32-2FC94CF4947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1" y="1152525"/>
                <a:ext cx="11368159" cy="514070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LD Multiplication</a:t>
                </a:r>
                <a:r>
                  <a:rPr lang="en" altLang="ko-KR" sz="2400" b="1" dirty="0"/>
                  <a:t> [1] </a:t>
                </a:r>
                <a:endParaRPr lang="en-US" altLang="ko-KR" sz="2400" b="1" dirty="0"/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2E75B6"/>
                    </a:solidFill>
                  </a:rPr>
                  <a:t>Lookup-table-based CLMUL emulation</a:t>
                </a:r>
                <a:r>
                  <a:rPr lang="en-US" altLang="ko-KR" sz="2000" dirty="0"/>
                  <a:t>, extremely fast.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But relies on </a:t>
                </a:r>
                <a:r>
                  <a:rPr lang="en-US" altLang="ko-KR" sz="2000" b="1" dirty="0"/>
                  <a:t>data-dependent memory access</a:t>
                </a:r>
                <a:r>
                  <a:rPr kumimoji="1" lang="en-US" altLang="ko-KR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b="1" dirty="0"/>
                  <a:t> </a:t>
                </a:r>
                <a:r>
                  <a:rPr lang="en-US" altLang="ko-KR" sz="2000" b="1" dirty="0">
                    <a:solidFill>
                      <a:srgbClr val="FF0000"/>
                    </a:solidFill>
                  </a:rPr>
                  <a:t>not-constant-time.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Vulnerable to timing/cache side channels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dirty="0"/>
                  <a:t> unsuitable for secure PQC.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Bernstein et al. [2]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b="1" dirty="0" err="1">
                    <a:solidFill>
                      <a:srgbClr val="2E75B6"/>
                    </a:solidFill>
                  </a:rPr>
                  <a:t>Bitsliced</a:t>
                </a:r>
                <a:r>
                  <a:rPr lang="en-US" altLang="ko-KR" sz="2000" b="1" dirty="0">
                    <a:solidFill>
                      <a:srgbClr val="2E75B6"/>
                    </a:solidFill>
                  </a:rPr>
                  <a:t> CLMUL</a:t>
                </a:r>
                <a:r>
                  <a:rPr lang="en-US" altLang="ko-KR" sz="2000" dirty="0"/>
                  <a:t> using wide SIMD(x86/AVX).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/>
                  <a:t>Extremely fast on desktops.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000" dirty="0"/>
                  <a:t>64-bit bit-sliced implementation</a:t>
                </a:r>
                <a:r>
                  <a:rPr kumimoji="1" lang="en-US" altLang="ko-KR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en-US" altLang="ko-KR" sz="2000" b="1" dirty="0">
                    <a:solidFill>
                      <a:srgbClr val="FF0000"/>
                    </a:solidFill>
                  </a:rPr>
                  <a:t>incurs packing overhead on Cortex-M4</a:t>
                </a:r>
                <a:r>
                  <a:rPr lang="en-US" altLang="ko-KR" sz="20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2400" b="1" dirty="0"/>
                  <a:t>Chen et al. [3]</a:t>
                </a:r>
                <a:r>
                  <a:rPr lang="ko-KR" altLang="en-US" sz="2400" b="1" dirty="0"/>
                  <a:t> </a:t>
                </a:r>
                <a:r>
                  <a:rPr lang="en-US" altLang="ko-KR" sz="2400" b="1" dirty="0"/>
                  <a:t>Schoolbook-Based Integer Multiplication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2E75B6"/>
                    </a:solidFill>
                  </a:rPr>
                  <a:t>Use radix-16 field representation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000" b="1" i="1" smtClean="0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ko-KR" sz="2000" b="1" i="1">
                            <a:solidFill>
                              <a:srgbClr val="2E75B6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000" b="1" i="1">
                        <a:solidFill>
                          <a:srgbClr val="2E75B6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000" b="1" i="1">
                        <a:solidFill>
                          <a:srgbClr val="2E75B6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000" b="1" i="1" smtClean="0">
                        <a:solidFill>
                          <a:srgbClr val="2E75B6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2000" b="1" dirty="0">
                    <a:solidFill>
                      <a:srgbClr val="2E75B6"/>
                    </a:solidFill>
                  </a:rPr>
                  <a:t> operations.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b="1" dirty="0">
                    <a:solidFill>
                      <a:srgbClr val="FF0000"/>
                    </a:solidFill>
                  </a:rPr>
                  <a:t>Inner multiplication uses schoolbook.</a:t>
                </a: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D41A126B-72F5-B5F2-0A32-2FC94CF494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1" y="1152525"/>
                <a:ext cx="11368159" cy="5140700"/>
              </a:xfrm>
              <a:blipFill>
                <a:blip r:embed="rId3"/>
                <a:stretch>
                  <a:fillRect l="-670" b="-19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3492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6BAC-2F39-6AF3-45FC-970830E7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462224-D462-9C1F-A7CD-0DA93293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4E10232-15A3-154C-24E1-9EE02683B3B0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164" y="1152525"/>
                <a:ext cx="11780836" cy="505777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400" dirty="0"/>
                  <a:t>Build upon the radix-16 integer-multiplication framework (Chen et al.).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 dirty="0"/>
                  <a:t>Replace the schoolbook inner core with a </a:t>
                </a:r>
                <a:r>
                  <a:rPr kumimoji="1" lang="en-US" altLang="ko-KR" sz="2400" b="1" dirty="0">
                    <a:solidFill>
                      <a:srgbClr val="FF0000"/>
                    </a:solidFill>
                  </a:rPr>
                  <a:t>multi-level recursive Karatsuba engine</a:t>
                </a:r>
                <a:r>
                  <a:rPr kumimoji="1"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 dirty="0"/>
                  <a:t>Introduce a </a:t>
                </a:r>
                <a:r>
                  <a:rPr kumimoji="1" lang="en-US" altLang="ko-KR" sz="2400" b="1" dirty="0"/>
                  <a:t>5-stage constant-time pipeline</a:t>
                </a:r>
                <a:r>
                  <a:rPr kumimoji="1" lang="en-US" altLang="ko-K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ko-KR" sz="2400" dirty="0"/>
                  <a:t>Achieves </a:t>
                </a:r>
                <a:r>
                  <a:rPr kumimoji="1" lang="en-US" altLang="ko-KR" sz="2400" dirty="0">
                    <a:solidFill>
                      <a:schemeClr val="tx1"/>
                    </a:solidFill>
                  </a:rPr>
                  <a:t>constant-time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ko-KR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ko-KR" sz="2400" dirty="0">
                    <a:solidFill>
                      <a:schemeClr val="tx1"/>
                    </a:solidFill>
                  </a:rPr>
                  <a:t> </a:t>
                </a:r>
                <a:r>
                  <a:rPr kumimoji="1" lang="en-US" altLang="ko-KR" sz="2400" dirty="0"/>
                  <a:t>polynomial multiplication optimized for Cortex-M4.</a:t>
                </a:r>
                <a:endParaRPr kumimoji="1" lang="ko-KR" altLang="en-US" sz="24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4E10232-15A3-154C-24E1-9EE02683B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164" y="1152525"/>
                <a:ext cx="11780836" cy="5057775"/>
              </a:xfrm>
              <a:blipFill>
                <a:blip r:embed="rId3"/>
                <a:stretch>
                  <a:fillRect l="-753" r="-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0296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F443-D790-A739-4C2D-A45ACB883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FCF6D-F839-2508-BB0E-51FFCE2FF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158E3B-58F3-1D54-675F-1C58387F15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" altLang="ko-KR" b="1" dirty="0"/>
              <a:t>Pipeline Overview</a:t>
            </a:r>
          </a:p>
          <a:p>
            <a:pPr lvl="1"/>
            <a:r>
              <a:rPr kumimoji="1" lang="ko-KR" altLang="en-US" dirty="0"/>
              <a:t> </a:t>
            </a:r>
            <a:r>
              <a:rPr kumimoji="1" lang="en" altLang="ko-KR" dirty="0"/>
              <a:t>High-level 5-stage pipeline of the proposed multiplier.</a:t>
            </a:r>
          </a:p>
          <a:p>
            <a:pPr lvl="1"/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82FE634-76A0-027D-779A-77ACA760A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74" y="2228392"/>
            <a:ext cx="4716651" cy="442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15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3FE7D-F6FB-08B3-B4A9-AC9AB3486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39E05-DF73-6951-07CE-0FAD6C57D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3212F15-97D2-5BE4-3A5D-F2F603DC9A0E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411920" y="1144776"/>
                <a:ext cx="11368160" cy="5705475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ko-KR" sz="2600" b="1" dirty="0"/>
                  <a:t>Zero</a:t>
                </a:r>
                <a:r>
                  <a:rPr lang="en-US" altLang="ko-KR" dirty="0"/>
                  <a:t>-</a:t>
                </a:r>
                <a:r>
                  <a:rPr kumimoji="1" lang="en-US" altLang="ko-KR" sz="2600" b="1" dirty="0"/>
                  <a:t>Padding Method</a:t>
                </a:r>
                <a:endParaRPr kumimoji="1" lang="ko-KR" altLang="en-US" sz="2600" b="1" dirty="0"/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200" dirty="0"/>
                  <a:t>In the radix-16 representation, each 8-bit chunk contains 8 coefficients in</a:t>
                </a:r>
                <a:r>
                  <a:rPr lang="ko-KR" altLang="en-US" sz="2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ko-KR" sz="2200">
                            <a:latin typeface="Cambria Math" panose="02040503050406030204" pitchFamily="18" charset="0"/>
                          </a:rPr>
                          <m:t>𝔽</m:t>
                        </m:r>
                      </m:e>
                      <m:sub>
                        <m:r>
                          <a:rPr lang="ar-AE" altLang="ko-KR" sz="22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altLang="ko-KR" sz="22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200" dirty="0"/>
                  <a:t>However, the Cortex-M4 integer multiplier produces </a:t>
                </a:r>
                <a:r>
                  <a:rPr lang="en" altLang="ko-KR" sz="2200" b="1" dirty="0"/>
                  <a:t>normal integer products with carries</a:t>
                </a:r>
                <a:r>
                  <a:rPr lang="en" altLang="ko-KR" sz="2200" dirty="0"/>
                  <a:t>,</a:t>
                </a:r>
                <a:br>
                  <a:rPr lang="en" altLang="ko-KR" sz="2200" dirty="0"/>
                </a:br>
                <a:r>
                  <a:rPr lang="en" altLang="ko-KR" sz="2200" dirty="0"/>
                  <a:t>which does </a:t>
                </a:r>
                <a:r>
                  <a:rPr lang="en" altLang="ko-KR" sz="2200" i="1" dirty="0"/>
                  <a:t>not</a:t>
                </a:r>
                <a:r>
                  <a:rPr lang="en" altLang="ko-KR" sz="2200" dirty="0"/>
                  <a:t> match the behavior of a carry-less polynomial multiplication.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200" dirty="0"/>
                  <a:t>To emulate CLMUL using only integer MUL,</a:t>
                </a:r>
                <a:br>
                  <a:rPr lang="en" altLang="ko-KR" sz="2200" dirty="0"/>
                </a:br>
                <a:r>
                  <a:rPr lang="en" altLang="ko-KR" sz="2200" b="1" dirty="0"/>
                  <a:t>three zero bits are inserted between coefficient bits</a:t>
                </a:r>
                <a:r>
                  <a:rPr lang="en" altLang="ko-KR" sz="2200" dirty="0"/>
                  <a:t>,</a:t>
                </a:r>
                <a:r>
                  <a:rPr lang="ko-KR" altLang="en-US" sz="2200" dirty="0"/>
                  <a:t> </a:t>
                </a:r>
                <a:r>
                  <a:rPr lang="en" altLang="ko-KR" sz="2200" dirty="0"/>
                  <a:t>creating a 32-bit padded block for each 8-bit chunk.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200" dirty="0"/>
                  <a:t>This spacing ensures that: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" altLang="ko-KR" sz="2200" dirty="0"/>
                  <a:t>carries </a:t>
                </a:r>
                <a:r>
                  <a:rPr lang="en" altLang="ko-KR" sz="2200" b="1" dirty="0"/>
                  <a:t>cannot propagate</a:t>
                </a:r>
                <a:r>
                  <a:rPr lang="en" altLang="ko-KR" sz="2200" dirty="0"/>
                  <a:t> between coefficient positions, and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" altLang="ko-KR" sz="2200" dirty="0"/>
                  <a:t>the integer multiplication behaves as if it were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200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ko-KR" sz="22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ko-KR" sz="2200" b="1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2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sz="22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" altLang="ko-KR" sz="2200" b="1" dirty="0"/>
                  <a:t> carry-less multiplication</a:t>
                </a:r>
                <a:r>
                  <a:rPr lang="en" altLang="ko-KR" sz="2200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" altLang="ko-KR" sz="2200" b="1" dirty="0"/>
                  <a:t>“Zero-padding acts as a carry-barrier,” enabling CLMUL-like behavior on Cortex-M4.</a:t>
                </a:r>
                <a:endParaRPr lang="en" altLang="ko-KR" sz="2200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23212F15-97D2-5BE4-3A5D-F2F603DC9A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411920" y="1144776"/>
                <a:ext cx="11368160" cy="5705475"/>
              </a:xfrm>
              <a:blipFill>
                <a:blip r:embed="rId3"/>
                <a:stretch>
                  <a:fillRect l="-781" b="-88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057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D206-D8E0-3CB4-8930-8CD0E9BC3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4D90C-1291-90ED-C473-0D66FB39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FFB6B-C593-6AD1-6EEE-DFC196BC53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ko-KR" b="1" dirty="0"/>
              <a:t>Zero</a:t>
            </a:r>
            <a:r>
              <a:rPr lang="en-US" altLang="ko-KR" dirty="0"/>
              <a:t>-</a:t>
            </a:r>
            <a:r>
              <a:rPr kumimoji="1" lang="en-US" altLang="ko-KR" b="1" dirty="0"/>
              <a:t>Padding Method</a:t>
            </a:r>
            <a:endParaRPr kumimoji="1"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0A2387A-AA36-B010-AD74-7A4B0C35B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17" y="1744766"/>
            <a:ext cx="9872165" cy="4905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55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D0F47-DC41-15E4-3391-34BD603DE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3D9B3-B277-8734-6CA3-2C083683F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653B77-D601-D7AB-44CC-5F04D5D0D6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" y="1152525"/>
            <a:ext cx="12192000" cy="5057775"/>
          </a:xfrm>
        </p:spPr>
        <p:txBody>
          <a:bodyPr>
            <a:normAutofit/>
          </a:bodyPr>
          <a:lstStyle/>
          <a:p>
            <a:r>
              <a:rPr kumimoji="1" lang="en" altLang="ko-KR" sz="2400" b="1" dirty="0"/>
              <a:t>Recursive Karatsuba Layers</a:t>
            </a:r>
          </a:p>
          <a:p>
            <a:pPr lvl="1"/>
            <a:r>
              <a:rPr kumimoji="1" lang="en" altLang="ko-KR" sz="2000" dirty="0"/>
              <a:t>Multi-level recursive Karatsuba replaces the original schoolbook inner core used in prior </a:t>
            </a:r>
            <a:br>
              <a:rPr kumimoji="1" lang="en" altLang="ko-KR" sz="2000" dirty="0"/>
            </a:br>
            <a:r>
              <a:rPr kumimoji="1" lang="en" altLang="ko-KR" sz="2000" dirty="0"/>
              <a:t>radix-16 multipliers (e.g., Chen et al.</a:t>
            </a:r>
            <a:r>
              <a:rPr kumimoji="1" lang="en-US" altLang="ko-KR" sz="2000" dirty="0"/>
              <a:t>[3]</a:t>
            </a:r>
            <a:r>
              <a:rPr kumimoji="1" lang="en" altLang="ko-KR" sz="2000" dirty="0"/>
              <a:t>).</a:t>
            </a:r>
          </a:p>
          <a:p>
            <a:pPr lvl="1"/>
            <a:r>
              <a:rPr kumimoji="1" lang="en-US" altLang="ko-KR" sz="2000" b="1" dirty="0"/>
              <a:t>R</a:t>
            </a:r>
            <a:r>
              <a:rPr kumimoji="1" lang="en" altLang="ko-KR" sz="2000" b="1" dirty="0"/>
              <a:t>educes the number of 32×32 integer multiplications while preserving strict constant-time execution.</a:t>
            </a:r>
          </a:p>
          <a:p>
            <a:pPr lvl="1"/>
            <a:r>
              <a:rPr lang="en" altLang="ko-KR" sz="2000" dirty="0"/>
              <a:t>Operates directly on zero-padded blocks, enabling efficient multiplication on wide bit-sliced operands.</a:t>
            </a:r>
          </a:p>
          <a:p>
            <a:pPr lvl="1"/>
            <a:r>
              <a:rPr lang="en" altLang="ko-KR" sz="2000" dirty="0"/>
              <a:t>Each recursive layer halves operand size, reducing the number of base multiplications.</a:t>
            </a:r>
          </a:p>
          <a:p>
            <a:pPr lvl="1"/>
            <a:endParaRPr kumimoji="1"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40009A-3596-FBB9-7479-20BF7CF7B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356" y="3550592"/>
            <a:ext cx="5741287" cy="33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902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7C64B-336E-4F6B-E2A2-09CBA3BA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AB33C-79AE-C318-EC31-507AEC734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DAE4B-CD86-FBDE-109D-57A51ABF70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197068" cy="5057775"/>
          </a:xfrm>
        </p:spPr>
        <p:txBody>
          <a:bodyPr>
            <a:normAutofit/>
          </a:bodyPr>
          <a:lstStyle/>
          <a:p>
            <a:r>
              <a:rPr lang="en" altLang="ko-KR" sz="2400" dirty="0"/>
              <a:t>Implemented entirely with </a:t>
            </a:r>
            <a:r>
              <a:rPr lang="en" altLang="ko-KR" sz="2400" b="1" dirty="0"/>
              <a:t>32-bit integer MUL and bit-mask operations</a:t>
            </a:r>
            <a:r>
              <a:rPr lang="en" altLang="ko-KR" sz="2400" dirty="0"/>
              <a:t>,</a:t>
            </a:r>
            <a:br>
              <a:rPr lang="en" altLang="ko-KR" sz="2400" dirty="0"/>
            </a:br>
            <a:r>
              <a:rPr lang="en" altLang="ko-KR" sz="2400" dirty="0"/>
              <a:t> ensuring constant-time behavior.</a:t>
            </a:r>
          </a:p>
          <a:p>
            <a:r>
              <a:rPr lang="en" altLang="ko-KR" sz="2400" dirty="0"/>
              <a:t>The base case computes a padded 128-bit result from two padded 32-bit words.</a:t>
            </a:r>
            <a:endParaRPr kumimoji="1"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A6A79A-F082-0E53-36A9-41E077EDA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613" y="2536482"/>
            <a:ext cx="3276167" cy="423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07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ABEDA-9D1F-4CB0-D0E0-64B858EBA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AF5DE-B617-18D7-25BE-879A8D2D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Proposed Method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ADC4-90C6-BC7D-7C5C-33195A9B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152525"/>
            <a:ext cx="12057681" cy="5497728"/>
          </a:xfrm>
        </p:spPr>
        <p:txBody>
          <a:bodyPr>
            <a:normAutofit/>
          </a:bodyPr>
          <a:lstStyle/>
          <a:p>
            <a:r>
              <a:rPr kumimoji="1" lang="en" altLang="ko-KR" sz="2400" b="1" dirty="0"/>
              <a:t>Top-Level Multiplication Pipeline</a:t>
            </a:r>
          </a:p>
          <a:p>
            <a:pPr lvl="1"/>
            <a:r>
              <a:rPr lang="en" altLang="ko-KR" sz="2000" dirty="0"/>
              <a:t>The complete multiplication runs in strict constant time using only integer arithmetic and masking operations.</a:t>
            </a:r>
          </a:p>
          <a:p>
            <a:pPr lvl="1"/>
            <a:r>
              <a:rPr lang="en" altLang="ko-KR" sz="2000" dirty="0"/>
              <a:t>The 5-stage pipeline integrates all components:</a:t>
            </a:r>
          </a:p>
          <a:p>
            <a:pPr marL="1371600" lvl="2" indent="-457200">
              <a:buFont typeface="+mj-lt"/>
              <a:buAutoNum type="arabicParenR"/>
            </a:pPr>
            <a:r>
              <a:rPr kumimoji="1" lang="en" altLang="ko-KR" dirty="0"/>
              <a:t>Decomposition</a:t>
            </a:r>
          </a:p>
          <a:p>
            <a:pPr marL="1371600" lvl="2" indent="-457200">
              <a:buFont typeface="+mj-lt"/>
              <a:buAutoNum type="arabicParenR"/>
            </a:pPr>
            <a:r>
              <a:rPr kumimoji="1" lang="en" altLang="ko-KR" dirty="0"/>
              <a:t>Padding</a:t>
            </a:r>
          </a:p>
          <a:p>
            <a:pPr marL="1371600" lvl="2" indent="-457200">
              <a:buFont typeface="+mj-lt"/>
              <a:buAutoNum type="arabicParenR"/>
            </a:pPr>
            <a:r>
              <a:rPr kumimoji="1" lang="en" altLang="ko-KR" dirty="0"/>
              <a:t>Recursive Karatsuba</a:t>
            </a:r>
          </a:p>
          <a:p>
            <a:pPr marL="1371600" lvl="2" indent="-457200">
              <a:buFont typeface="+mj-lt"/>
              <a:buAutoNum type="arabicParenR"/>
            </a:pPr>
            <a:r>
              <a:rPr kumimoji="1" lang="en" altLang="ko-KR" dirty="0" err="1"/>
              <a:t>Unpadding</a:t>
            </a:r>
            <a:endParaRPr kumimoji="1" lang="en" altLang="ko-KR" dirty="0"/>
          </a:p>
          <a:p>
            <a:pPr marL="1371600" lvl="2" indent="-457200">
              <a:buFont typeface="+mj-lt"/>
              <a:buAutoNum type="arabicParenR"/>
            </a:pPr>
            <a:r>
              <a:rPr kumimoji="1" lang="en" altLang="ko-KR" dirty="0"/>
              <a:t>Reassembly</a:t>
            </a:r>
          </a:p>
          <a:p>
            <a:pPr marL="1371600" lvl="2" indent="-457200">
              <a:buFont typeface="+mj-lt"/>
              <a:buAutoNum type="arabicParenR"/>
            </a:pPr>
            <a:endParaRPr kumimoji="1" lang="en" altLang="ko-KR" dirty="0"/>
          </a:p>
          <a:p>
            <a:pPr marL="914400" lvl="2" indent="0">
              <a:buNone/>
            </a:pPr>
            <a:endParaRPr kumimoji="1" lang="en" altLang="ko-KR" dirty="0"/>
          </a:p>
          <a:p>
            <a:pPr marL="914400" lvl="2" indent="0">
              <a:buNone/>
            </a:pPr>
            <a:endParaRPr kumimoji="1" lang="en" altLang="ko-KR" dirty="0"/>
          </a:p>
          <a:p>
            <a:pPr marL="914400" lvl="2" indent="0">
              <a:buNone/>
            </a:pPr>
            <a:endParaRPr kumimoji="1" lang="en-US" altLang="ko-KR" dirty="0"/>
          </a:p>
          <a:p>
            <a:pPr marL="914400" lvl="2" indent="0">
              <a:buNone/>
            </a:pPr>
            <a:endParaRPr kumimoji="1" lang="en" altLang="ko-KR" dirty="0"/>
          </a:p>
          <a:p>
            <a:pPr lvl="1"/>
            <a:r>
              <a:rPr lang="en" altLang="ko-KR" sz="2000" b="1" dirty="0"/>
              <a:t> Enables high-speed polynomial multiplication for both 64-bit and</a:t>
            </a:r>
            <a:r>
              <a:rPr lang="ko-KR" altLang="en-US" sz="2000" b="1" dirty="0"/>
              <a:t> </a:t>
            </a:r>
            <a:r>
              <a:rPr lang="en" altLang="ko-KR" sz="2000" b="1" dirty="0"/>
              <a:t>128-bit variants.</a:t>
            </a:r>
          </a:p>
          <a:p>
            <a:pPr lvl="1"/>
            <a:r>
              <a:rPr lang="en" altLang="ko-KR" sz="2000" dirty="0"/>
              <a:t>This structured pipeline guarantees constant-time behavior regardless of operand size.</a:t>
            </a:r>
          </a:p>
          <a:p>
            <a:endParaRPr kumimoji="1" lang="en" altLang="ko-KR" dirty="0"/>
          </a:p>
          <a:p>
            <a:pPr marL="914400" lvl="1" indent="-457200">
              <a:buFont typeface="+mj-lt"/>
              <a:buAutoNum type="arabicParenR"/>
            </a:pP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9B58BE-A625-7FA0-E384-8E59A0CE5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220" y="1901489"/>
            <a:ext cx="5095461" cy="380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34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3B296-F31D-855F-A80E-57DEC66A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Evaluation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4C2544-2D8E-F3D6-E690-7539D290B81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" altLang="ko-KR" b="1" dirty="0"/>
              <a:t>Implementation Environment</a:t>
            </a:r>
          </a:p>
          <a:p>
            <a:pPr lvl="1"/>
            <a:r>
              <a:rPr kumimoji="1" lang="en" altLang="ko-KR" b="1" dirty="0"/>
              <a:t>Platform</a:t>
            </a:r>
            <a:r>
              <a:rPr kumimoji="1" lang="en" altLang="ko-KR" dirty="0"/>
              <a:t>: ARM Cortex-M4 (STM32F407, 168 MHz)</a:t>
            </a:r>
          </a:p>
          <a:p>
            <a:pPr lvl="1"/>
            <a:r>
              <a:rPr kumimoji="1" lang="en" altLang="ko-KR" b="1" dirty="0"/>
              <a:t>Compiler</a:t>
            </a:r>
            <a:r>
              <a:rPr kumimoji="1" lang="en" altLang="ko-KR" dirty="0"/>
              <a:t>: ARM GCC 12.x with -O3 optimization</a:t>
            </a:r>
          </a:p>
          <a:p>
            <a:pPr lvl="1"/>
            <a:r>
              <a:rPr lang="en" altLang="ko-KR" b="1" dirty="0"/>
              <a:t>Measurement:</a:t>
            </a:r>
            <a:r>
              <a:rPr lang="en" altLang="ko-KR" dirty="0"/>
              <a:t> Cycle-accurate timing using DWT cycle counter</a:t>
            </a:r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7DCFB1-63B2-5792-9A9F-B65673AB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8042" y="2781300"/>
            <a:ext cx="358203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680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6DFA2-0D08-BEA4-9081-1075067AC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5B5D7-BBDF-E1CB-0343-2822EE08A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Evaluation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E7A58C-E069-6460-EA07-F5F8590774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" altLang="ko-KR" dirty="0"/>
              <a:t>Karatsuba level combinations and operation modes</a:t>
            </a:r>
            <a:endParaRPr kumimoji="1"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35ED47E-CE0F-D07F-73D8-A4D9D5339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246245"/>
              </p:ext>
            </p:extLst>
          </p:nvPr>
        </p:nvGraphicFramePr>
        <p:xfrm>
          <a:off x="411162" y="2012632"/>
          <a:ext cx="113681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227">
                  <a:extLst>
                    <a:ext uri="{9D8B030D-6E8A-4147-A177-3AD203B41FA5}">
                      <a16:colId xmlns:a16="http://schemas.microsoft.com/office/drawing/2014/main" val="3544836994"/>
                    </a:ext>
                  </a:extLst>
                </a:gridCol>
                <a:gridCol w="9210933">
                  <a:extLst>
                    <a:ext uri="{9D8B030D-6E8A-4147-A177-3AD203B41FA5}">
                      <a16:colId xmlns:a16="http://schemas.microsoft.com/office/drawing/2014/main" val="17899261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Combination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Operation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359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000"/>
                        <a:t>Baseline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 Baseline   &amp; Pure schoolbook multiplication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85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L3 only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Karatsuba applied at 4-word level; 2-word blocks remain schoolbook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641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L3+L4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Karatsuba applied at both 4-word and 2-word levels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887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L4 only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Karatsuba applied at 2-word level only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556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L2 only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Karatsuba applied at 8-word level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4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L2+L3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Recursive Karatsuba: 8→4-word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928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L2+L3+L4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Full multi-level recursion: 8→4→2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552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L2+L4</a:t>
                      </a:r>
                      <a:endParaRPr lang="ko-KR" alt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2000"/>
                        <a:t>Top-level 8-word is schoolbook; only 2-word uses Karatsuba</a:t>
                      </a:r>
                      <a:endParaRPr lang="ko-KR" alt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211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311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2DB45-723D-E34C-4758-383B62F6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6C43E7-1239-4009-FD3E-9EB94D1F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Evaluation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889DB-A02E-B0D6-D5CD-7C8215E1DC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" altLang="ko-KR" dirty="0"/>
              <a:t>Cycle counts of Karatsuba variants on Cortex-M4 (unit : </a:t>
            </a:r>
            <a:r>
              <a:rPr kumimoji="1" lang="en-US" altLang="ko-KR" dirty="0"/>
              <a:t>clock cycles</a:t>
            </a:r>
            <a:r>
              <a:rPr kumimoji="1" lang="en" altLang="ko-KR" dirty="0"/>
              <a:t>)</a:t>
            </a:r>
            <a:endParaRPr kumimoji="1"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205CCAA-6C49-92C3-CFCD-413C428B4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24266"/>
              </p:ext>
            </p:extLst>
          </p:nvPr>
        </p:nvGraphicFramePr>
        <p:xfrm>
          <a:off x="411920" y="2198052"/>
          <a:ext cx="11368160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1485">
                  <a:extLst>
                    <a:ext uri="{9D8B030D-6E8A-4147-A177-3AD203B41FA5}">
                      <a16:colId xmlns:a16="http://schemas.microsoft.com/office/drawing/2014/main" val="2905119556"/>
                    </a:ext>
                  </a:extLst>
                </a:gridCol>
                <a:gridCol w="1706136">
                  <a:extLst>
                    <a:ext uri="{9D8B030D-6E8A-4147-A177-3AD203B41FA5}">
                      <a16:colId xmlns:a16="http://schemas.microsoft.com/office/drawing/2014/main" val="81314469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43913163"/>
                    </a:ext>
                  </a:extLst>
                </a:gridCol>
                <a:gridCol w="2754352">
                  <a:extLst>
                    <a:ext uri="{9D8B030D-6E8A-4147-A177-3AD203B41FA5}">
                      <a16:colId xmlns:a16="http://schemas.microsoft.com/office/drawing/2014/main" val="1973977252"/>
                    </a:ext>
                  </a:extLst>
                </a:gridCol>
                <a:gridCol w="3160187">
                  <a:extLst>
                    <a:ext uri="{9D8B030D-6E8A-4147-A177-3AD203B41FA5}">
                      <a16:colId xmlns:a16="http://schemas.microsoft.com/office/drawing/2014/main" val="27049692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Variant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poly64_mul0</a:t>
                      </a:r>
                    </a:p>
                    <a:p>
                      <a:pPr algn="ctr" latinLnBrk="1"/>
                      <a:r>
                        <a:rPr lang="en-US" altLang="ko-KR" sz="1800" dirty="0"/>
                        <a:t>LD </a:t>
                      </a:r>
                      <a:r>
                        <a:rPr lang="en-US" altLang="ko-KR" sz="1800" dirty="0" err="1"/>
                        <a:t>mul</a:t>
                      </a:r>
                      <a:r>
                        <a:rPr lang="en-US" altLang="ko-KR" sz="1800" dirty="0"/>
                        <a:t>[1]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dirty="0"/>
                        <a:t>ct_poly64_mul1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Bernstein et al. </a:t>
                      </a:r>
                      <a:r>
                        <a:rPr lang="en-US" altLang="ko-KR" sz="1800" dirty="0"/>
                        <a:t>[2]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Ct_poly32_mul_64_bit</a:t>
                      </a:r>
                    </a:p>
                    <a:p>
                      <a:pPr algn="ctr" latinLnBrk="1"/>
                      <a:r>
                        <a:rPr lang="en-US" altLang="ko-KR" sz="1800" dirty="0"/>
                        <a:t>Our works[64-bit]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Ct_poly32_mul_128_bit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Our works[128-bit]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6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Baseline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1,135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3,400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9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L3 only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1,171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3,392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212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L3+L4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1,207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3,407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31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L4 only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1,128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3,422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89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1,175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3,383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5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L2+L3+L4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1,231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3,510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0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/>
                        <a:t>421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1,643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1,124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3,407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07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220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9100-B78E-F7E6-68F3-F0CD4F4C4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C57277-3475-E41D-03AD-50E2BED3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Evaluation</a:t>
            </a:r>
            <a:endParaRPr kumimoji="1"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73DE35-533B-ECFC-5969-4DA1CB34E8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" altLang="ko-KR" dirty="0"/>
              <a:t>Relative performance difference (%) of Karatsuba variants</a:t>
            </a:r>
            <a:endParaRPr kumimoji="1"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124CC80-EB00-BC98-5319-F778C1B0F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962761"/>
              </p:ext>
            </p:extLst>
          </p:nvPr>
        </p:nvGraphicFramePr>
        <p:xfrm>
          <a:off x="411161" y="2198052"/>
          <a:ext cx="11368158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9386">
                  <a:extLst>
                    <a:ext uri="{9D8B030D-6E8A-4147-A177-3AD203B41FA5}">
                      <a16:colId xmlns:a16="http://schemas.microsoft.com/office/drawing/2014/main" val="2905119556"/>
                    </a:ext>
                  </a:extLst>
                </a:gridCol>
                <a:gridCol w="3789386">
                  <a:extLst>
                    <a:ext uri="{9D8B030D-6E8A-4147-A177-3AD203B41FA5}">
                      <a16:colId xmlns:a16="http://schemas.microsoft.com/office/drawing/2014/main" val="143913163"/>
                    </a:ext>
                  </a:extLst>
                </a:gridCol>
                <a:gridCol w="3789386">
                  <a:extLst>
                    <a:ext uri="{9D8B030D-6E8A-4147-A177-3AD203B41FA5}">
                      <a16:colId xmlns:a16="http://schemas.microsoft.com/office/drawing/2014/main" val="1680758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 dirty="0"/>
                        <a:t>Variant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1" dirty="0"/>
                        <a:t>ct_poly64_mul1</a:t>
                      </a:r>
                    </a:p>
                    <a:p>
                      <a:pPr algn="ctr" latinLnBrk="1"/>
                      <a:r>
                        <a:rPr lang="en-US" altLang="ko-KR" sz="1800" b="1" dirty="0"/>
                        <a:t>Bernstein et al. </a:t>
                      </a:r>
                      <a:r>
                        <a:rPr lang="en-US" altLang="ko-KR" sz="1800" dirty="0"/>
                        <a:t>[2]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poly64_mul0</a:t>
                      </a:r>
                    </a:p>
                    <a:p>
                      <a:pPr algn="ctr" latinLnBrk="1"/>
                      <a:r>
                        <a:rPr lang="en-US" altLang="ko-KR" sz="1800" dirty="0"/>
                        <a:t>LD </a:t>
                      </a:r>
                      <a:r>
                        <a:rPr lang="en-US" altLang="ko-KR" sz="1800" dirty="0" err="1"/>
                        <a:t>mul</a:t>
                      </a:r>
                      <a:r>
                        <a:rPr lang="en-US" altLang="ko-KR" sz="1800" dirty="0"/>
                        <a:t>[1]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16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Baseline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/>
                        <a:t>+30.92%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169.60%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92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L3 only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+28.64%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178.15%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212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L3+L4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+26.45%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−</a:t>
                      </a:r>
                      <a:r>
                        <a:rPr lang="en-US" altLang="ko-KR" sz="1800"/>
                        <a:t>186.70%</a:t>
                      </a:r>
                      <a:endParaRPr lang="ko-KR" alt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5831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L4 only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+31.26%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167.93%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896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L2+L3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+28.48%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179.10%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651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L2+L3+L4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/>
                        <a:t>+25.08%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192.40%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06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800"/>
                        <a:t>L2+L4</a:t>
                      </a:r>
                      <a:endParaRPr lang="ko-KR" altLang="en-US" sz="1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+31.59%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/>
                        <a:t>−</a:t>
                      </a:r>
                      <a:r>
                        <a:rPr lang="en-US" altLang="ko-KR" sz="1800" dirty="0"/>
                        <a:t>166.98%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074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3160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BC365-ABF8-BB35-0078-3844AC7F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5BD12B-64C5-9E42-1C0F-50996F075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Conclusion</a:t>
            </a:r>
            <a:endParaRPr kumimoji="1" lang="ko-KR" altLang="en-US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3E0DD354-F672-D83E-EB50-E6643A9D8ECB}"/>
              </a:ext>
            </a:extLst>
          </p:cNvPr>
          <p:cNvSpPr txBox="1">
            <a:spLocks/>
          </p:cNvSpPr>
          <p:nvPr/>
        </p:nvSpPr>
        <p:spPr>
          <a:xfrm>
            <a:off x="0" y="1152525"/>
            <a:ext cx="12192000" cy="5057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ko-KR" sz="2400" dirty="0"/>
              <a:t>We presented a high-speed, constant-time polynomial multiplier for Cortex-M4 using:</a:t>
            </a:r>
          </a:p>
          <a:p>
            <a:pPr lvl="1"/>
            <a:r>
              <a:rPr lang="en" altLang="ko-KR" sz="2000" b="1" dirty="0"/>
              <a:t>Radix-16 bit-slicing</a:t>
            </a:r>
          </a:p>
          <a:p>
            <a:pPr lvl="1"/>
            <a:r>
              <a:rPr lang="en" altLang="ko-KR" sz="2000" b="1" dirty="0"/>
              <a:t>zero-padding</a:t>
            </a:r>
          </a:p>
          <a:p>
            <a:pPr lvl="1"/>
            <a:r>
              <a:rPr lang="en" altLang="ko-KR" sz="2000" dirty="0"/>
              <a:t> </a:t>
            </a:r>
            <a:r>
              <a:rPr lang="en" altLang="ko-KR" sz="2000" b="1" dirty="0"/>
              <a:t>multi-level recursive Karatsuba</a:t>
            </a:r>
            <a:r>
              <a:rPr lang="en" altLang="ko-KR" sz="2000" dirty="0"/>
              <a:t>.</a:t>
            </a:r>
          </a:p>
          <a:p>
            <a:r>
              <a:rPr lang="en" altLang="ko-KR" sz="2400" dirty="0"/>
              <a:t>The </a:t>
            </a:r>
            <a:r>
              <a:rPr lang="en" altLang="ko-KR" sz="2400" b="1" dirty="0"/>
              <a:t>5-stage pipeline</a:t>
            </a:r>
            <a:r>
              <a:rPr lang="en" altLang="ko-KR" sz="2400" dirty="0"/>
              <a:t> enables efficient multiplication for both </a:t>
            </a:r>
            <a:r>
              <a:rPr lang="en" altLang="ko-KR" sz="2400" b="1" dirty="0"/>
              <a:t>64-bit and 128-bit</a:t>
            </a:r>
            <a:r>
              <a:rPr lang="en" altLang="ko-KR" sz="2400" dirty="0"/>
              <a:t> operands.</a:t>
            </a:r>
          </a:p>
          <a:p>
            <a:r>
              <a:rPr lang="en" altLang="ko-KR" sz="2400" dirty="0"/>
              <a:t>Our recursive Karatsuba variants achieve </a:t>
            </a:r>
            <a:r>
              <a:rPr lang="en" altLang="ko-KR" sz="2400" b="1" dirty="0"/>
              <a:t>consistent speed-ups</a:t>
            </a:r>
            <a:r>
              <a:rPr lang="en" altLang="ko-KR" sz="2400" dirty="0"/>
              <a:t> while strictly preserving </a:t>
            </a:r>
            <a:r>
              <a:rPr lang="en" altLang="ko-KR" sz="2400" b="1" dirty="0"/>
              <a:t>constant-time execution</a:t>
            </a:r>
            <a:r>
              <a:rPr lang="en" altLang="ko-KR" sz="2400" dirty="0"/>
              <a:t>.</a:t>
            </a:r>
          </a:p>
          <a:p>
            <a:r>
              <a:rPr lang="en-US" altLang="ko-KR" sz="2400" dirty="0"/>
              <a:t>In future work, we plan to apply the proposed multiplier to PQC (e.g., HQC, </a:t>
            </a:r>
            <a:r>
              <a:rPr lang="en-US" altLang="ko-KR" sz="2400" dirty="0" err="1"/>
              <a:t>AIMer</a:t>
            </a:r>
            <a:r>
              <a:rPr lang="en-US" altLang="ko-KR" sz="2400" dirty="0"/>
              <a:t>) on the Cortex-M4, and potentially extend it to symmetric-key operations such as GHASH acceleration.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3627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B0579-F159-40E8-EADA-89737C1C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Reference</a:t>
            </a:r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27878B-0141-DE85-20BC-67C9D5932117}"/>
              </a:ext>
            </a:extLst>
          </p:cNvPr>
          <p:cNvSpPr txBox="1"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3008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" altLang="ko-KR" sz="2400" dirty="0"/>
              <a:t>[1] J. López and R. Dahab, “Fast multiplication on elliptic curves over gf (2m) without precomputation,” in International Workshop on Cryptographic Hardware and Embedded Systems, pp. 316–327, Springer, 1999.</a:t>
            </a:r>
          </a:p>
          <a:p>
            <a:pPr marL="0" indent="0">
              <a:buNone/>
            </a:pPr>
            <a:r>
              <a:rPr lang="en" altLang="ko-KR" sz="2400" dirty="0"/>
              <a:t>[2] D. J. Bernstein. </a:t>
            </a:r>
            <a:r>
              <a:rPr lang="en" altLang="ko-KR" sz="2400" dirty="0" err="1"/>
              <a:t>kpqc</a:t>
            </a:r>
            <a:r>
              <a:rPr lang="en" altLang="ko-KR" sz="2400" dirty="0"/>
              <a:t> Google Group post, 2023. Code snippet: ct_poly64_mul1(</a:t>
            </a:r>
            <a:r>
              <a:rPr lang="en" altLang="ko-KR" sz="2400" dirty="0" err="1"/>
              <a:t>kpqc</a:t>
            </a:r>
            <a:r>
              <a:rPr lang="en" altLang="ko-KR" sz="2400" dirty="0"/>
              <a:t> post)</a:t>
            </a:r>
          </a:p>
          <a:p>
            <a:pPr marL="0" indent="0">
              <a:buNone/>
            </a:pPr>
            <a:r>
              <a:rPr lang="en-US" altLang="ko-KR" sz="2400" dirty="0">
                <a:solidFill>
                  <a:srgbClr val="222222"/>
                </a:solidFill>
                <a:latin typeface="Arial" panose="020B0604020202020204" pitchFamily="34" charset="0"/>
              </a:rPr>
              <a:t>[3]</a:t>
            </a:r>
            <a:r>
              <a:rPr lang="en" altLang="ko-KR" sz="2400" dirty="0">
                <a:solidFill>
                  <a:srgbClr val="222222"/>
                </a:solidFill>
                <a:latin typeface="Arial" panose="020B0604020202020204" pitchFamily="34" charset="0"/>
              </a:rPr>
              <a:t>Chen, Ming-Shing, and Tung Chou. "Classic </a:t>
            </a:r>
            <a:r>
              <a:rPr lang="en" altLang="ko-KR" sz="2400" dirty="0" err="1">
                <a:solidFill>
                  <a:srgbClr val="222222"/>
                </a:solidFill>
                <a:latin typeface="Arial" panose="020B0604020202020204" pitchFamily="34" charset="0"/>
              </a:rPr>
              <a:t>McEliece</a:t>
            </a:r>
            <a:r>
              <a:rPr lang="en" altLang="ko-KR" sz="2400" dirty="0">
                <a:solidFill>
                  <a:srgbClr val="222222"/>
                </a:solidFill>
                <a:latin typeface="Arial" panose="020B0604020202020204" pitchFamily="34" charset="0"/>
              </a:rPr>
              <a:t> on the ARM cortex-M4." </a:t>
            </a:r>
            <a:r>
              <a:rPr lang="en" altLang="ko-KR" sz="2400" i="1" dirty="0">
                <a:solidFill>
                  <a:srgbClr val="222222"/>
                </a:solidFill>
                <a:latin typeface="Arial" panose="020B0604020202020204" pitchFamily="34" charset="0"/>
              </a:rPr>
              <a:t>IACR Transactions on Cryptographic Hardware and Embedded Systems</a:t>
            </a:r>
            <a:r>
              <a:rPr lang="en" altLang="ko-KR" sz="2400" dirty="0">
                <a:solidFill>
                  <a:srgbClr val="222222"/>
                </a:solidFill>
                <a:latin typeface="Arial" panose="020B0604020202020204" pitchFamily="34" charset="0"/>
              </a:rPr>
              <a:t> (2021): 125-148.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66508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EF3FB-E45E-F928-AE9A-CE60A4F1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403062"/>
      </p:ext>
    </p:extLst>
  </p:cSld>
  <p:clrMapOvr>
    <a:masterClrMapping/>
  </p:clrMapOvr>
</p:sld>
</file>

<file path=ppt/theme/theme1.xml><?xml version="1.0" encoding="utf-8"?>
<a:theme xmlns:a="http://schemas.openxmlformats.org/drawingml/2006/main" name="CryptoCraft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1DC7DBC3-F67B-F842-ADBC-4328E0BB0FA1}"/>
    </a:ext>
  </a:extLst>
</a:theme>
</file>

<file path=ppt/theme/theme2.xml><?xml version="1.0" encoding="utf-8"?>
<a:theme xmlns:a="http://schemas.openxmlformats.org/drawingml/2006/main" name="제목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2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[CLEAN]_CryptoCraft Lab PPT 양식" id="{E712E38C-1C04-504C-B5D5-8F368DAED54C}" vid="{E15818DC-538F-214A-8100-A2D2BA8DAB29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CryptoCraft 테마</Template>
  <TotalTime>794</TotalTime>
  <Words>1408</Words>
  <Application>Microsoft Macintosh PowerPoint</Application>
  <PresentationFormat>와이드스크린</PresentationFormat>
  <Paragraphs>242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Liberation Serif</vt:lpstr>
      <vt:lpstr>Arial</vt:lpstr>
      <vt:lpstr>Cambria Math</vt:lpstr>
      <vt:lpstr>CryptoCraft 테마</vt:lpstr>
      <vt:lpstr>제목 테마</vt:lpstr>
      <vt:lpstr>High-Speed 16-Radix Polynomial Multiplication on ARM Cortex-M4  with Recursive Karatsuba Layers</vt:lpstr>
      <vt:lpstr>PowerPoint 프레젠테이션</vt:lpstr>
      <vt:lpstr>Contribution</vt:lpstr>
      <vt:lpstr>Introduction</vt:lpstr>
      <vt:lpstr>Background : Constant-Time Execution</vt:lpstr>
      <vt:lpstr>Background: Multiplication Algorithms</vt:lpstr>
      <vt:lpstr>Background: Multiplication Algorithms</vt:lpstr>
      <vt:lpstr>Background: ARM Cortex-M4</vt:lpstr>
      <vt:lpstr>Related Work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Proposed Method</vt:lpstr>
      <vt:lpstr>Evaluation</vt:lpstr>
      <vt:lpstr>Evaluation</vt:lpstr>
      <vt:lpstr>Evaluation</vt:lpstr>
      <vt:lpstr>Evaluation</vt:lpstr>
      <vt:lpstr>Conclusion</vt:lpstr>
      <vt:lpstr>Reference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심민주</dc:creator>
  <cp:keywords/>
  <dc:description/>
  <cp:lastModifiedBy>심민주</cp:lastModifiedBy>
  <cp:revision>33</cp:revision>
  <dcterms:created xsi:type="dcterms:W3CDTF">2025-10-21T04:46:09Z</dcterms:created>
  <dcterms:modified xsi:type="dcterms:W3CDTF">2025-11-20T23:26:23Z</dcterms:modified>
  <cp:category/>
</cp:coreProperties>
</file>