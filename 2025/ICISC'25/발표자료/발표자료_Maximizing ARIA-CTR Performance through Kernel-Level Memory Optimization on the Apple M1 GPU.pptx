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4" r:id="rId2"/>
  </p:sldMasterIdLst>
  <p:notesMasterIdLst>
    <p:notesMasterId r:id="rId24"/>
  </p:notesMasterIdLst>
  <p:handoutMasterIdLst>
    <p:handoutMasterId r:id="rId25"/>
  </p:handoutMasterIdLst>
  <p:sldIdLst>
    <p:sldId id="277" r:id="rId3"/>
    <p:sldId id="279" r:id="rId4"/>
    <p:sldId id="278" r:id="rId5"/>
    <p:sldId id="280" r:id="rId6"/>
    <p:sldId id="286" r:id="rId7"/>
    <p:sldId id="281" r:id="rId8"/>
    <p:sldId id="282" r:id="rId9"/>
    <p:sldId id="283" r:id="rId10"/>
    <p:sldId id="287" r:id="rId11"/>
    <p:sldId id="288" r:id="rId12"/>
    <p:sldId id="284" r:id="rId13"/>
    <p:sldId id="289" r:id="rId14"/>
    <p:sldId id="285" r:id="rId15"/>
    <p:sldId id="294" r:id="rId16"/>
    <p:sldId id="293" r:id="rId17"/>
    <p:sldId id="295" r:id="rId18"/>
    <p:sldId id="299" r:id="rId19"/>
    <p:sldId id="297" r:id="rId20"/>
    <p:sldId id="291" r:id="rId21"/>
    <p:sldId id="298" r:id="rId22"/>
    <p:sldId id="274" r:id="rId2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20" autoAdjust="0"/>
    <p:restoredTop sz="74387" autoAdjust="0"/>
  </p:normalViewPr>
  <p:slideViewPr>
    <p:cSldViewPr snapToGrid="0">
      <p:cViewPr varScale="1">
        <p:scale>
          <a:sx n="118" d="100"/>
          <a:sy n="118" d="100"/>
        </p:scale>
        <p:origin x="1602" y="72"/>
      </p:cViewPr>
      <p:guideLst>
        <p:guide orient="horz" pos="2160"/>
        <p:guide pos="3840"/>
      </p:guideLst>
    </p:cSldViewPr>
  </p:slideViewPr>
  <p:notesTextViewPr>
    <p:cViewPr>
      <p:scale>
        <a:sx n="1" d="1"/>
        <a:sy n="1" d="1"/>
      </p:scale>
      <p:origin x="0" y="0"/>
    </p:cViewPr>
  </p:notesTextViewPr>
  <p:notesViewPr>
    <p:cSldViewPr snapToGrid="0">
      <p:cViewPr varScale="1">
        <p:scale>
          <a:sx n="92" d="100"/>
          <a:sy n="92" d="100"/>
        </p:scale>
        <p:origin x="3730" y="9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546E7E-6CE1-4F62-BC39-1BE7148D0D0D}" type="datetimeFigureOut">
              <a:rPr lang="ko-KR" altLang="en-US" smtClean="0"/>
              <a:t>2025-11-19</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F56489-CFDC-4DF4-92D1-C366C0FB1731}" type="slidenum">
              <a:rPr lang="ko-KR" altLang="en-US" smtClean="0"/>
              <a:t>‹#›</a:t>
            </a:fld>
            <a:endParaRPr lang="ko-KR" altLang="en-US"/>
          </a:p>
        </p:txBody>
      </p:sp>
    </p:spTree>
    <p:extLst>
      <p:ext uri="{BB962C8B-B14F-4D97-AF65-F5344CB8AC3E}">
        <p14:creationId xmlns:p14="http://schemas.microsoft.com/office/powerpoint/2010/main" val="4149840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A1C54-2D0D-48EB-888A-9786B070F533}" type="datetimeFigureOut">
              <a:rPr lang="ko-KR" altLang="en-US" smtClean="0"/>
              <a:t>2025-11-19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02C913-610E-4BF0-B55F-9CE65BBA65D1}" type="slidenum">
              <a:rPr lang="ko-KR" altLang="en-US" smtClean="0"/>
              <a:t>‹#›</a:t>
            </a:fld>
            <a:endParaRPr lang="ko-KR" altLang="en-US"/>
          </a:p>
        </p:txBody>
      </p:sp>
    </p:spTree>
    <p:extLst>
      <p:ext uri="{BB962C8B-B14F-4D97-AF65-F5344CB8AC3E}">
        <p14:creationId xmlns:p14="http://schemas.microsoft.com/office/powerpoint/2010/main" val="5329765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Hello, I'm Siwoo Eum, and I'll be presenting 'Maximizing ARIA-CTR Performance through Kernel-Level Memory Optimization on the Apple M1 GPU.' While there will be a Q&amp;A session after the presentation, but honestly, my English isn't very good, so I might not be able to provide a thorough answer. Therefore, I've included my email address at the bottom of every slide. If you have any questions, please feel free to send them to email, and I'll be happy to provide detailed responses. </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a:t>
            </a:fld>
            <a:endParaRPr lang="ko-KR" altLang="en-US"/>
          </a:p>
        </p:txBody>
      </p:sp>
    </p:spTree>
    <p:extLst>
      <p:ext uri="{BB962C8B-B14F-4D97-AF65-F5344CB8AC3E}">
        <p14:creationId xmlns:p14="http://schemas.microsoft.com/office/powerpoint/2010/main" val="1821787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presentation will proceed in the following order.</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2</a:t>
            </a:fld>
            <a:endParaRPr lang="ko-KR" altLang="en-US"/>
          </a:p>
        </p:txBody>
      </p:sp>
    </p:spTree>
    <p:extLst>
      <p:ext uri="{BB962C8B-B14F-4D97-AF65-F5344CB8AC3E}">
        <p14:creationId xmlns:p14="http://schemas.microsoft.com/office/powerpoint/2010/main" val="1038959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General Purpose Graphics Processing Unit—refers to technology that allows GPUs to be used beyond their original graphics processing purpose. Initially, GPUs were designed exclusively for graphics rendering, and developers could only use them for other tasks through various workarounds. The landscape changed dramatically when NVIDIA introduced CUDA, which made GPGPU accessible for a wide range of applications. Today, GPUs have become essential components in fields like AI and are now regarded as critical assets that reflect national competitiveness.</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3</a:t>
            </a:fld>
            <a:endParaRPr lang="ko-KR" altLang="en-US"/>
          </a:p>
        </p:txBody>
      </p:sp>
    </p:spTree>
    <p:extLst>
      <p:ext uri="{BB962C8B-B14F-4D97-AF65-F5344CB8AC3E}">
        <p14:creationId xmlns:p14="http://schemas.microsoft.com/office/powerpoint/2010/main" val="733151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GPUs excel at parallel processing of large-scale data, but to fully leverage this advantage, efficient data management is crucial. In traditional discrete GPU systems, data must be copied from CPU to GPU for processing, which creates a significant bottleneck that requires optimization. Apple's M1 chip, introduced relatively recently, addresses this challenge through its Unified Memory Architecture, or UMA. By enabling the CPU and GPU to share the same memory pool, UMA eliminates the data copy bottleneck entirely</a:t>
            </a:r>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4</a:t>
            </a:fld>
            <a:endParaRPr lang="ko-KR" altLang="en-US"/>
          </a:p>
        </p:txBody>
      </p:sp>
    </p:spTree>
    <p:extLst>
      <p:ext uri="{BB962C8B-B14F-4D97-AF65-F5344CB8AC3E}">
        <p14:creationId xmlns:p14="http://schemas.microsoft.com/office/powerpoint/2010/main" val="3500044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 me provide a brief overview of dGPU and SoC architectures. Starting with discrete GPUs, they feature dedicated VRAM located on the graphics card itself. This VRAM communicates with the CPU's memory via the PCIe bus for data transfer. For instance, in CUDA programming, an explicit data copy step from CPU to GPU using </a:t>
            </a:r>
            <a:r>
              <a:rPr lang="en-US" altLang="ko-KR" dirty="0" err="1"/>
              <a:t>cudaMemcpy</a:t>
            </a:r>
            <a:r>
              <a:rPr lang="en-US" altLang="ko-KR" dirty="0"/>
              <a:t> is necessary before kernel execution. As</a:t>
            </a:r>
            <a:r>
              <a:rPr lang="ko-KR" altLang="en-US" dirty="0"/>
              <a:t> </a:t>
            </a:r>
            <a:r>
              <a:rPr lang="en-US" altLang="ko-KR" dirty="0"/>
              <a:t>you can observe in this picture that the CPU and GPU are physically distinct components.</a:t>
            </a:r>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5</a:t>
            </a:fld>
            <a:endParaRPr lang="ko-KR" altLang="en-US"/>
          </a:p>
        </p:txBody>
      </p:sp>
    </p:spTree>
    <p:extLst>
      <p:ext uri="{BB962C8B-B14F-4D97-AF65-F5344CB8AC3E}">
        <p14:creationId xmlns:p14="http://schemas.microsoft.com/office/powerpoint/2010/main" val="4081352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contrast, SoC integrates the CPU and GPU onto a single chip. Looking at the actual of the M1 chip, you can see that it is even larger than the CPU in dGPU systems. Examining the internal architecture, we can observe an 8-core GPU and an (4+4)-core CPU, with channels connecting to RAM visible on the right side. Through these channels, the CPU and GPU utilize unified memory, eliminating the need for data copying processes unlike </a:t>
            </a:r>
            <a:r>
              <a:rPr lang="en-US" altLang="ko-KR" dirty="0" err="1"/>
              <a:t>dGPUs</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6</a:t>
            </a:fld>
            <a:endParaRPr lang="ko-KR" altLang="en-US"/>
          </a:p>
        </p:txBody>
      </p:sp>
    </p:spTree>
    <p:extLst>
      <p:ext uri="{BB962C8B-B14F-4D97-AF65-F5344CB8AC3E}">
        <p14:creationId xmlns:p14="http://schemas.microsoft.com/office/powerpoint/2010/main" val="1411168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Most GPU-based cryptographic implementations rely on </a:t>
            </a:r>
            <a:r>
              <a:rPr lang="en-US" altLang="ko-KR" dirty="0" err="1"/>
              <a:t>dGPUs</a:t>
            </a:r>
            <a:r>
              <a:rPr lang="en-US" altLang="ko-KR" dirty="0"/>
              <a:t>, with numerous studies emphasizing efficient memory utilization strategies. As an extension of this research, this paper analyzes whether memory optimization techniques proven effective in dGPU environments can be equally applied to SoC GPUs.</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7</a:t>
            </a:fld>
            <a:endParaRPr lang="ko-KR" altLang="en-US"/>
          </a:p>
        </p:txBody>
      </p:sp>
    </p:spTree>
    <p:extLst>
      <p:ext uri="{BB962C8B-B14F-4D97-AF65-F5344CB8AC3E}">
        <p14:creationId xmlns:p14="http://schemas.microsoft.com/office/powerpoint/2010/main" val="1622409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r>
              <a:rPr lang="en-US" altLang="ko-KR" dirty="0"/>
              <a:t>This paper targets ARIA, one of Korea's standard block ciphers, as our cryptographic algorithm. We determined that SPN-structured block ciphers are well-suited for analyzing memory efficiency. For algorithms without hardware acceleration support—unlike AES—maximizing optimization through parallel processing capabilities such as GPU computing is essential. With this in mind, we analyzed the optimal memory placement for storing round keys and S-boxes</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8</a:t>
            </a:fld>
            <a:endParaRPr lang="ko-KR" altLang="en-US"/>
          </a:p>
        </p:txBody>
      </p:sp>
    </p:spTree>
    <p:extLst>
      <p:ext uri="{BB962C8B-B14F-4D97-AF65-F5344CB8AC3E}">
        <p14:creationId xmlns:p14="http://schemas.microsoft.com/office/powerpoint/2010/main" val="3531058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chose to implement Counter mode over ECB mode, as Counter mode is a fundamental component of GCM (Galois/Counter Mode), which is extensively used in modern cryptographic applications.</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9</a:t>
            </a:fld>
            <a:endParaRPr lang="ko-KR" altLang="en-US"/>
          </a:p>
        </p:txBody>
      </p:sp>
    </p:spTree>
    <p:extLst>
      <p:ext uri="{BB962C8B-B14F-4D97-AF65-F5344CB8AC3E}">
        <p14:creationId xmlns:p14="http://schemas.microsoft.com/office/powerpoint/2010/main" val="1405474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Metal is a low-level API that allows direct control of GPUs on Apple devices. Similar to CUDA, it supports various memory models, with the most notable being device, threadgroup, and constant memory.</a:t>
            </a:r>
          </a:p>
          <a:p>
            <a:r>
              <a:rPr lang="en-US" altLang="ko-KR" dirty="0"/>
              <a:t>Device memory serves as the main memory accessible by GPU kernels. In UMA environments, this corresponds to system RAM. While it offers the largest capacity, it also has the longest access latency.</a:t>
            </a:r>
          </a:p>
          <a:p>
            <a:r>
              <a:rPr lang="en-US" altLang="ko-KR" dirty="0"/>
              <a:t>Threadgroup memory is high-speed on-chip memory shared among all threads within a threadgroup. Although it requires explicit programmer management, it provides extremely low latency, making it ideal for caching frequently accessed data.</a:t>
            </a:r>
          </a:p>
          <a:p>
            <a:r>
              <a:rPr lang="en-US" altLang="ko-KR" dirty="0"/>
              <a:t>Constant memory is a specialized memory space designed for read-only data that remains unchanged during kernel execution. It features dedicated cache access and hardware broadcast optimization, which is particularly effective when all threads simultaneously read from the same address</a:t>
            </a:r>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10</a:t>
            </a:fld>
            <a:endParaRPr lang="ko-KR" altLang="en-US"/>
          </a:p>
        </p:txBody>
      </p:sp>
    </p:spTree>
    <p:extLst>
      <p:ext uri="{BB962C8B-B14F-4D97-AF65-F5344CB8AC3E}">
        <p14:creationId xmlns:p14="http://schemas.microsoft.com/office/powerpoint/2010/main" val="324669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 hypothesis is that, like </a:t>
            </a:r>
            <a:r>
              <a:rPr lang="en-US" altLang="ko-KR" dirty="0" err="1"/>
              <a:t>dGPUs</a:t>
            </a:r>
            <a:r>
              <a:rPr lang="en-US" altLang="ko-KR" dirty="0"/>
              <a:t>, SoC GPUs also require memory optimization for performance enhancement, and that optimization strategies from dGPU research are equally applicable</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11</a:t>
            </a:fld>
            <a:endParaRPr lang="ko-KR" altLang="en-US"/>
          </a:p>
        </p:txBody>
      </p:sp>
    </p:spTree>
    <p:extLst>
      <p:ext uri="{BB962C8B-B14F-4D97-AF65-F5344CB8AC3E}">
        <p14:creationId xmlns:p14="http://schemas.microsoft.com/office/powerpoint/2010/main" val="2013573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r>
              <a:rPr lang="en-US" altLang="ko-KR" dirty="0"/>
              <a:t>The memory access patterns play a critical role in determining the optimal memory placement for S-box tables and round keys. For S-boxes, the access pattern is irregular and data-dependent—each thread may access different locations based on the data being processed. Round keys, on the other hand, exhibit a uniform access pattern where all threads simultaneously access the same memory location to retrieve identical round key values.</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12</a:t>
            </a:fld>
            <a:endParaRPr lang="ko-KR" altLang="en-US"/>
          </a:p>
        </p:txBody>
      </p:sp>
    </p:spTree>
    <p:extLst>
      <p:ext uri="{BB962C8B-B14F-4D97-AF65-F5344CB8AC3E}">
        <p14:creationId xmlns:p14="http://schemas.microsoft.com/office/powerpoint/2010/main" val="1987932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analyze in detail which memory configurations provide the most efficient performance with these characteristics, we implemented and compared six different memory placement strategies, as shown in this table. Type 1, which stores all data in device memory, was used as our baseline for performance comparison</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13</a:t>
            </a:fld>
            <a:endParaRPr lang="ko-KR" altLang="en-US"/>
          </a:p>
        </p:txBody>
      </p:sp>
    </p:spTree>
    <p:extLst>
      <p:ext uri="{BB962C8B-B14F-4D97-AF65-F5344CB8AC3E}">
        <p14:creationId xmlns:p14="http://schemas.microsoft.com/office/powerpoint/2010/main" val="1745103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 me present our test environment.</a:t>
            </a:r>
          </a:p>
          <a:p>
            <a:r>
              <a:rPr lang="en-US" altLang="ko-KR" dirty="0"/>
              <a:t>We used a MacBook Pro with Apple M1, implementing our solution in Swift and Metal API. The workload consisted of 2^35 ARIA-CTR-128 block encryptions.</a:t>
            </a:r>
          </a:p>
          <a:p>
            <a:r>
              <a:rPr lang="en-US" altLang="ko-KR" dirty="0"/>
              <a:t>For GPU configuration, we deployed 512 threads per threadgroup across 1024 </a:t>
            </a:r>
            <a:r>
              <a:rPr lang="en-US" altLang="ko-KR" dirty="0" err="1"/>
              <a:t>threadgroups</a:t>
            </a:r>
            <a:r>
              <a:rPr lang="en-US" altLang="ko-KR" dirty="0"/>
              <a:t>.</a:t>
            </a:r>
          </a:p>
          <a:p>
            <a:r>
              <a:rPr lang="en-US" altLang="ko-KR" dirty="0"/>
              <a:t>Our key metric is throughput in megabytes per second. Given our focus on large-scale data encryption, throughput takes priority over latency.</a:t>
            </a:r>
          </a:p>
          <a:p>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14</a:t>
            </a:fld>
            <a:endParaRPr lang="ko-KR" altLang="en-US"/>
          </a:p>
        </p:txBody>
      </p:sp>
    </p:spTree>
    <p:extLst>
      <p:ext uri="{BB962C8B-B14F-4D97-AF65-F5344CB8AC3E}">
        <p14:creationId xmlns:p14="http://schemas.microsoft.com/office/powerpoint/2010/main" val="1910519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 are our performance results across six configurations.</a:t>
            </a:r>
          </a:p>
          <a:p>
            <a:r>
              <a:rPr lang="en-US" altLang="ko-KR" dirty="0"/>
              <a:t>Type 1, our baseline with everything in device memory, achieved 307 megabytes per second.</a:t>
            </a:r>
          </a:p>
          <a:p>
            <a:r>
              <a:rPr lang="en-US" altLang="ko-KR" dirty="0"/>
              <a:t>Moving S-boxes to threadgroup memory in Type 2 improved performance to 339 megabytes per second.</a:t>
            </a:r>
          </a:p>
          <a:p>
            <a:r>
              <a:rPr lang="en-US" altLang="ko-KR" dirty="0"/>
              <a:t>Type 3, using constant memory for S-boxes, unexpectedly showed the lowest performance at 285 megabytes per second.</a:t>
            </a:r>
          </a:p>
          <a:p>
            <a:r>
              <a:rPr lang="en-US" altLang="ko-KR" dirty="0"/>
              <a:t>Type 4 and Type 5, both utilizing threadgroup memory for S-boxes, performed best. Type 5, which additionally places round keys in constant memory, achieved our highest throughput at 452 megabytes per second—a 47% improvement over baseline.</a:t>
            </a:r>
          </a:p>
          <a:p>
            <a:r>
              <a:rPr lang="en-US" altLang="ko-KR" dirty="0"/>
              <a:t>Type 6 demonstrates that even optimizing only round key placement provides substantial gains, reaching 407 megabytes per second.</a:t>
            </a:r>
          </a:p>
          <a:p>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15</a:t>
            </a:fld>
            <a:endParaRPr lang="ko-KR" altLang="en-US"/>
          </a:p>
        </p:txBody>
      </p:sp>
    </p:spTree>
    <p:extLst>
      <p:ext uri="{BB962C8B-B14F-4D97-AF65-F5344CB8AC3E}">
        <p14:creationId xmlns:p14="http://schemas.microsoft.com/office/powerpoint/2010/main" val="1812925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r>
              <a:rPr lang="en-US" altLang="ko-KR" dirty="0"/>
              <a:t>Type 5 delivered the best performance at 452 megabytes per second—a 47% improvement over baseline. This success comes from optimally matching memory to access patterns: threadgroup memory handles irregular S-box accesses, while constant memory exploits broadcast optimization for uniform round key accesses.</a:t>
            </a:r>
          </a:p>
          <a:p>
            <a:r>
              <a:rPr lang="en-US" altLang="ko-KR" dirty="0"/>
              <a:t>Conversely, Type 3 performed worst at 285 megabytes per second, even 7% below baseline. The mismatch between irregular S-box access patterns and constant memory created a bottleneck worse than using device memory.</a:t>
            </a:r>
          </a:p>
          <a:p>
            <a:r>
              <a:rPr lang="en-US" altLang="ko-KR" dirty="0"/>
              <a:t>This clearly demonstrates that aligning memory choice with access patterns is critical for performance.</a:t>
            </a:r>
          </a:p>
          <a:p>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16</a:t>
            </a:fld>
            <a:endParaRPr lang="ko-KR" altLang="en-US"/>
          </a:p>
        </p:txBody>
      </p:sp>
    </p:spTree>
    <p:extLst>
      <p:ext uri="{BB962C8B-B14F-4D97-AF65-F5344CB8AC3E}">
        <p14:creationId xmlns:p14="http://schemas.microsoft.com/office/powerpoint/2010/main" val="3380146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analyze the impact of S-box memory placement</a:t>
            </a:r>
            <a:r>
              <a:rPr lang="ko-KR" altLang="en-US" dirty="0"/>
              <a:t>．</a:t>
            </a:r>
            <a:endParaRPr lang="en-US" altLang="ko-KR" dirty="0"/>
          </a:p>
          <a:p>
            <a:r>
              <a:rPr lang="en-US" altLang="ko-KR" dirty="0"/>
              <a:t>First, comparing device versus threadgroup memory: Type 1 with device memory achieved 307.32 megabytes per second, while Type 2 with threadgroup memory reached 338.70 megabytes per second—a 10.2% improvement. Simply relocating S-boxes to threadgroup memory yields a substantial performance gain. This demonstrates that optimizing memory hierarchy for irregular access patterns remains critical even in UMA environments.</a:t>
            </a:r>
          </a:p>
          <a:p>
            <a:r>
              <a:rPr lang="en-US" altLang="ko-KR" dirty="0"/>
              <a:t>Next, comparing threadgroup versus constant memory: Type 1 achieved 307.32 megabytes per second, while Type 3 with constant memory only reached 284.73 megabytes per second—a 7.3% decrease. This illustrates the pitfall of memory misalignment: constant cache, optimized for uniform accesses, suffers from continuous cache misses with irregular S-box lookups, yielding worse performance than device memory.</a:t>
            </a:r>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17</a:t>
            </a:fld>
            <a:endParaRPr lang="ko-KR" altLang="en-US"/>
          </a:p>
        </p:txBody>
      </p:sp>
    </p:spTree>
    <p:extLst>
      <p:ext uri="{BB962C8B-B14F-4D97-AF65-F5344CB8AC3E}">
        <p14:creationId xmlns:p14="http://schemas.microsoft.com/office/powerpoint/2010/main" val="1688015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Next,</a:t>
            </a:r>
            <a:r>
              <a:rPr lang="ko-KR" altLang="en-US" dirty="0"/>
              <a:t> </a:t>
            </a:r>
            <a:r>
              <a:rPr lang="en-US" altLang="ko-KR" dirty="0"/>
              <a:t>the impact of round key memory placement.</a:t>
            </a:r>
          </a:p>
          <a:p>
            <a:r>
              <a:rPr lang="en-US" altLang="ko-KR" dirty="0"/>
              <a:t>Comparing device versus constant memory: Type 1 achieved 307.32 megabytes per second, while Type 6 with constant memory reached 406.90 megabytes per second—a 32.4% improvement. Moving round keys to constant memory produced even more dramatic performance gains than S-box optimization. This suggests that M1's constant memory provides highly efficient hardware broadcast optimization.</a:t>
            </a:r>
          </a:p>
          <a:p>
            <a:r>
              <a:rPr lang="en-US" altLang="ko-KR" dirty="0"/>
              <a:t>Comparing threadgroup versus constant memory for round keys: Type 4 with threadgroup memory achieved 445.12 megabytes per second, while Type 5 with constant memory reached 451.93 megabytes per second—a 1.5% improvement. Both strategies are effective, though constant memory achieves slightly higher performance than threadgroup. This demonstrates the efficiency of hardware cache optimization for uniform access patterns.</a:t>
            </a:r>
          </a:p>
          <a:p>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18</a:t>
            </a:fld>
            <a:endParaRPr lang="ko-KR" altLang="en-US"/>
          </a:p>
        </p:txBody>
      </p:sp>
    </p:spTree>
    <p:extLst>
      <p:ext uri="{BB962C8B-B14F-4D97-AF65-F5344CB8AC3E}">
        <p14:creationId xmlns:p14="http://schemas.microsoft.com/office/powerpoint/2010/main" val="3145117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Before concluding, I should acknowledge the limitations of this research.</a:t>
            </a:r>
          </a:p>
          <a:p>
            <a:r>
              <a:rPr lang="en-US" altLang="ko-KR" dirty="0"/>
              <a:t>The scope of this research was limited to evaluating performance impacts of various memory locations for S-box and round key storage. We focused specifically on these two critical data structures.</a:t>
            </a:r>
          </a:p>
          <a:p>
            <a:r>
              <a:rPr lang="en-US" altLang="ko-KR" dirty="0"/>
              <a:t>Regarding workload configuration, the threadgroup size was fixed at 512 threads. The impact of varying this parameter—for example, using 256 or 1024 threads—on GPU occupancy was not explored. This represents an area for future investigation</a:t>
            </a:r>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19</a:t>
            </a:fld>
            <a:endParaRPr lang="ko-KR" altLang="en-US"/>
          </a:p>
        </p:txBody>
      </p:sp>
    </p:spTree>
    <p:extLst>
      <p:ext uri="{BB962C8B-B14F-4D97-AF65-F5344CB8AC3E}">
        <p14:creationId xmlns:p14="http://schemas.microsoft.com/office/powerpoint/2010/main" val="2497733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r>
              <a:rPr lang="en-US" altLang="ko-KR" dirty="0"/>
              <a:t>In conclusion, we validated that memory optimization strategies remain critical even in UMA environments. Our optimal hybrid configuration—threadgroup memory for S-boxes and constant memory for round keys—achieved 47% performance improvement.</a:t>
            </a:r>
          </a:p>
          <a:p>
            <a:r>
              <a:rPr lang="en-US" altLang="ko-KR" dirty="0"/>
              <a:t>Future work will focus on two areas: optimizing GPU execution parameters for better occupancy, and adapting dGPU techniques like bank conflict minimization to UMA environments.</a:t>
            </a:r>
          </a:p>
          <a:p>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20</a:t>
            </a:fld>
            <a:endParaRPr lang="ko-KR" altLang="en-US"/>
          </a:p>
        </p:txBody>
      </p:sp>
    </p:spTree>
    <p:extLst>
      <p:ext uri="{BB962C8B-B14F-4D97-AF65-F5344CB8AC3E}">
        <p14:creationId xmlns:p14="http://schemas.microsoft.com/office/powerpoint/2010/main" val="2442308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for your attention.</a:t>
            </a:r>
            <a:endParaRPr lang="ko-KR" altLang="en-US" dirty="0"/>
          </a:p>
        </p:txBody>
      </p:sp>
      <p:sp>
        <p:nvSpPr>
          <p:cNvPr id="4" name="슬라이드 번호 개체 틀 3"/>
          <p:cNvSpPr>
            <a:spLocks noGrp="1"/>
          </p:cNvSpPr>
          <p:nvPr>
            <p:ph type="sldNum" sz="quarter" idx="5"/>
          </p:nvPr>
        </p:nvSpPr>
        <p:spPr/>
        <p:txBody>
          <a:bodyPr/>
          <a:lstStyle/>
          <a:p>
            <a:fld id="{6002C913-610E-4BF0-B55F-9CE65BBA65D1}" type="slidenum">
              <a:rPr lang="ko-KR" altLang="en-US" smtClean="0"/>
              <a:t>21</a:t>
            </a:fld>
            <a:endParaRPr lang="ko-KR" altLang="en-US"/>
          </a:p>
        </p:txBody>
      </p:sp>
    </p:spTree>
    <p:extLst>
      <p:ext uri="{BB962C8B-B14F-4D97-AF65-F5344CB8AC3E}">
        <p14:creationId xmlns:p14="http://schemas.microsoft.com/office/powerpoint/2010/main" val="19786439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p:spTree>
      <p:nvGrpSpPr>
        <p:cNvPr id="1" name=""/>
        <p:cNvGrpSpPr/>
        <p:nvPr/>
      </p:nvGrpSpPr>
      <p:grpSpPr>
        <a:xfrm>
          <a:off x="0" y="0"/>
          <a:ext cx="0" cy="0"/>
          <a:chOff x="0" y="0"/>
          <a:chExt cx="0" cy="0"/>
        </a:xfrm>
      </p:grpSpPr>
      <p:sp>
        <p:nvSpPr>
          <p:cNvPr id="2" name="제목 1"/>
          <p:cNvSpPr>
            <a:spLocks noGrp="1"/>
          </p:cNvSpPr>
          <p:nvPr>
            <p:ph type="ctrTitle"/>
          </p:nvPr>
        </p:nvSpPr>
        <p:spPr>
          <a:xfrm>
            <a:off x="0" y="1223120"/>
            <a:ext cx="12192000" cy="2387600"/>
          </a:xfrm>
        </p:spPr>
        <p:txBody>
          <a:bodyPr anchor="ctr"/>
          <a:lstStyle>
            <a:lvl1pPr algn="ctr">
              <a:defRPr sz="6000" b="0" i="0">
                <a:latin typeface="Times New Roman" panose="02020603050405020304" pitchFamily="18" charset="0"/>
                <a:ea typeface="Paperlogy 4 Regular" pitchFamily="2" charset="-127"/>
                <a:cs typeface="Times New Roman" panose="02020603050405020304" pitchFamily="18" charset="0"/>
              </a:defRPr>
            </a:lvl1pPr>
          </a:lstStyle>
          <a:p>
            <a:r>
              <a:rPr lang="ko-KR" altLang="en-US" dirty="0"/>
              <a:t>마스터 제목 스타일 편집</a:t>
            </a:r>
          </a:p>
        </p:txBody>
      </p:sp>
      <p:sp>
        <p:nvSpPr>
          <p:cNvPr id="3" name="부제목 2"/>
          <p:cNvSpPr>
            <a:spLocks noGrp="1"/>
          </p:cNvSpPr>
          <p:nvPr>
            <p:ph type="subTitle" idx="1"/>
          </p:nvPr>
        </p:nvSpPr>
        <p:spPr>
          <a:xfrm>
            <a:off x="-2" y="3794871"/>
            <a:ext cx="12192001" cy="1655762"/>
          </a:xfrm>
        </p:spPr>
        <p:txBody>
          <a:bodyPr anchor="ctr"/>
          <a:lstStyle>
            <a:lvl1pPr marL="0" indent="0" algn="ctr">
              <a:buNone/>
              <a:defRPr sz="2400" b="0" i="0">
                <a:latin typeface="Times New Roman" panose="02020603050405020304" pitchFamily="18" charset="0"/>
                <a:ea typeface="Paperlogy 4 Regular" pitchFamily="2" charset="-127"/>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896" y="6195047"/>
            <a:ext cx="3026852" cy="642781"/>
          </a:xfrm>
          <a:prstGeom prst="rect">
            <a:avLst/>
          </a:prstGeom>
        </p:spPr>
      </p:pic>
      <p:pic>
        <p:nvPicPr>
          <p:cNvPr id="9" name="그림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80202" y="6215220"/>
            <a:ext cx="1311798" cy="642780"/>
          </a:xfrm>
          <a:prstGeom prst="rect">
            <a:avLst/>
          </a:prstGeom>
        </p:spPr>
      </p:pic>
      <p:sp>
        <p:nvSpPr>
          <p:cNvPr id="4" name="TextBox 3">
            <a:extLst>
              <a:ext uri="{FF2B5EF4-FFF2-40B4-BE49-F238E27FC236}">
                <a16:creationId xmlns:a16="http://schemas.microsoft.com/office/drawing/2014/main" id="{A7A5A2CD-926A-5F9D-8856-905BB1B1D0B0}"/>
              </a:ext>
            </a:extLst>
          </p:cNvPr>
          <p:cNvSpPr txBox="1"/>
          <p:nvPr userDrawn="1"/>
        </p:nvSpPr>
        <p:spPr>
          <a:xfrm>
            <a:off x="4925645" y="6468496"/>
            <a:ext cx="2340705" cy="369332"/>
          </a:xfrm>
          <a:prstGeom prst="rect">
            <a:avLst/>
          </a:prstGeom>
          <a:noFill/>
        </p:spPr>
        <p:txBody>
          <a:bodyPr wrap="none" rtlCol="0">
            <a:spAutoFit/>
          </a:bodyPr>
          <a:lstStyle/>
          <a:p>
            <a:r>
              <a:rPr kumimoji="1" lang="en-US" altLang="ko-KR" sz="1800" b="0" i="0" dirty="0">
                <a:latin typeface="Times New Roman" panose="02020603050405020304" pitchFamily="18" charset="0"/>
                <a:ea typeface="Paperlogy 4 Regular" pitchFamily="2" charset="-127"/>
                <a:cs typeface="Times New Roman" panose="02020603050405020304" pitchFamily="18" charset="0"/>
              </a:rPr>
              <a:t>shuraatum@gmail.com</a:t>
            </a:r>
            <a:endParaRPr kumimoji="1" lang="ko-KR" altLang="en-US" sz="1800" b="0" i="0" dirty="0">
              <a:latin typeface="Times New Roman" panose="02020603050405020304" pitchFamily="18" charset="0"/>
              <a:ea typeface="Paperlogy 4 Regular" pitchFamily="2" charset="-127"/>
              <a:cs typeface="Times New Roman" panose="02020603050405020304" pitchFamily="18" charset="0"/>
            </a:endParaRPr>
          </a:p>
        </p:txBody>
      </p:sp>
    </p:spTree>
    <p:extLst>
      <p:ext uri="{BB962C8B-B14F-4D97-AF65-F5344CB8AC3E}">
        <p14:creationId xmlns:p14="http://schemas.microsoft.com/office/powerpoint/2010/main" val="186826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차">
    <p:spTree>
      <p:nvGrpSpPr>
        <p:cNvPr id="1" name=""/>
        <p:cNvGrpSpPr/>
        <p:nvPr/>
      </p:nvGrpSpPr>
      <p:grpSpPr>
        <a:xfrm>
          <a:off x="0" y="0"/>
          <a:ext cx="0" cy="0"/>
          <a:chOff x="0" y="0"/>
          <a:chExt cx="0" cy="0"/>
        </a:xfrm>
      </p:grpSpPr>
      <p:cxnSp>
        <p:nvCxnSpPr>
          <p:cNvPr id="9" name="직선 연결선 8"/>
          <p:cNvCxnSpPr>
            <a:cxnSpLocks/>
          </p:cNvCxnSpPr>
          <p:nvPr userDrawn="1"/>
        </p:nvCxnSpPr>
        <p:spPr>
          <a:xfrm>
            <a:off x="4863597" y="1976155"/>
            <a:ext cx="199407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텍스트 개체 틀 4"/>
          <p:cNvSpPr>
            <a:spLocks noGrp="1"/>
          </p:cNvSpPr>
          <p:nvPr>
            <p:ph type="body" sz="quarter" idx="11" hasCustomPrompt="1"/>
          </p:nvPr>
        </p:nvSpPr>
        <p:spPr>
          <a:xfrm>
            <a:off x="1055592" y="1458191"/>
            <a:ext cx="10071852" cy="718952"/>
          </a:xfrm>
          <a:ln w="28575">
            <a:noFill/>
          </a:ln>
        </p:spPr>
        <p:txBody>
          <a:bodyPr anchor="ctr">
            <a:normAutofit/>
          </a:bodyPr>
          <a:lstStyle>
            <a:lvl1pPr marL="0" indent="0">
              <a:buNone/>
              <a:defRPr sz="2800" b="0" i="0" baseline="0">
                <a:ln>
                  <a:solidFill>
                    <a:schemeClr val="bg2">
                      <a:lumMod val="25000"/>
                    </a:schemeClr>
                  </a:solidFill>
                </a:ln>
                <a:solidFill>
                  <a:schemeClr val="bg2">
                    <a:lumMod val="25000"/>
                  </a:schemeClr>
                </a:solidFill>
                <a:latin typeface="Times New Roman" panose="02020603050405020304" pitchFamily="18" charset="0"/>
                <a:ea typeface="Paperlogy 4 Regular" pitchFamily="2" charset="-127"/>
                <a:cs typeface="Times New Roman" panose="02020603050405020304" pitchFamily="18" charset="0"/>
              </a:defRPr>
            </a:lvl1pPr>
          </a:lstStyle>
          <a:p>
            <a:pPr lvl="0"/>
            <a:r>
              <a:rPr lang="ko-KR" altLang="en-US" dirty="0"/>
              <a:t>제목</a:t>
            </a:r>
          </a:p>
        </p:txBody>
      </p:sp>
      <p:sp>
        <p:nvSpPr>
          <p:cNvPr id="70" name="텍스트 개체 틀 4"/>
          <p:cNvSpPr>
            <a:spLocks noGrp="1"/>
          </p:cNvSpPr>
          <p:nvPr>
            <p:ph type="body" sz="quarter" idx="25" hasCustomPrompt="1"/>
          </p:nvPr>
        </p:nvSpPr>
        <p:spPr>
          <a:xfrm>
            <a:off x="1055592" y="2374032"/>
            <a:ext cx="10071850" cy="718952"/>
          </a:xfrm>
          <a:ln w="28575">
            <a:noFill/>
          </a:ln>
        </p:spPr>
        <p:txBody>
          <a:bodyPr anchor="ctr">
            <a:normAutofit/>
          </a:bodyPr>
          <a:lstStyle>
            <a:lvl1pPr marL="0" indent="0">
              <a:buNone/>
              <a:defRPr sz="2800" b="0" i="0" baseline="0">
                <a:ln>
                  <a:solidFill>
                    <a:schemeClr val="bg2">
                      <a:lumMod val="25000"/>
                    </a:schemeClr>
                  </a:solidFill>
                </a:ln>
                <a:solidFill>
                  <a:schemeClr val="bg2">
                    <a:lumMod val="25000"/>
                  </a:schemeClr>
                </a:solidFill>
                <a:latin typeface="Times New Roman" panose="02020603050405020304" pitchFamily="18" charset="0"/>
                <a:ea typeface="Paperlogy 4 Regular" pitchFamily="2" charset="-127"/>
                <a:cs typeface="Times New Roman" panose="02020603050405020304" pitchFamily="18" charset="0"/>
              </a:defRPr>
            </a:lvl1pPr>
          </a:lstStyle>
          <a:p>
            <a:pPr lvl="0"/>
            <a:r>
              <a:rPr lang="ko-KR" altLang="en-US" dirty="0"/>
              <a:t>제목</a:t>
            </a:r>
          </a:p>
        </p:txBody>
      </p:sp>
      <p:sp>
        <p:nvSpPr>
          <p:cNvPr id="76" name="텍스트 개체 틀 4"/>
          <p:cNvSpPr>
            <a:spLocks noGrp="1"/>
          </p:cNvSpPr>
          <p:nvPr>
            <p:ph type="body" sz="quarter" idx="27" hasCustomPrompt="1"/>
          </p:nvPr>
        </p:nvSpPr>
        <p:spPr>
          <a:xfrm>
            <a:off x="1055592" y="3293213"/>
            <a:ext cx="10071850" cy="718952"/>
          </a:xfrm>
          <a:ln w="28575">
            <a:noFill/>
          </a:ln>
        </p:spPr>
        <p:txBody>
          <a:bodyPr anchor="ctr">
            <a:normAutofit/>
          </a:bodyPr>
          <a:lstStyle>
            <a:lvl1pPr marL="0" indent="0">
              <a:buNone/>
              <a:defRPr sz="2800" b="0" i="0" baseline="0">
                <a:ln>
                  <a:solidFill>
                    <a:schemeClr val="bg2">
                      <a:lumMod val="25000"/>
                    </a:schemeClr>
                  </a:solidFill>
                </a:ln>
                <a:solidFill>
                  <a:schemeClr val="bg2">
                    <a:lumMod val="25000"/>
                  </a:schemeClr>
                </a:solidFill>
                <a:latin typeface="Times New Roman" panose="02020603050405020304" pitchFamily="18" charset="0"/>
                <a:ea typeface="Paperlogy 4 Regular" pitchFamily="2" charset="-127"/>
                <a:cs typeface="Times New Roman" panose="02020603050405020304" pitchFamily="18" charset="0"/>
              </a:defRPr>
            </a:lvl1pPr>
          </a:lstStyle>
          <a:p>
            <a:pPr lvl="0"/>
            <a:r>
              <a:rPr lang="ko-KR" altLang="en-US" dirty="0"/>
              <a:t>제목</a:t>
            </a:r>
          </a:p>
        </p:txBody>
      </p:sp>
      <p:sp>
        <p:nvSpPr>
          <p:cNvPr id="79" name="텍스트 개체 틀 4"/>
          <p:cNvSpPr>
            <a:spLocks noGrp="1"/>
          </p:cNvSpPr>
          <p:nvPr>
            <p:ph type="body" sz="quarter" idx="29" hasCustomPrompt="1"/>
          </p:nvPr>
        </p:nvSpPr>
        <p:spPr>
          <a:xfrm>
            <a:off x="1055593" y="4209054"/>
            <a:ext cx="10071849" cy="718952"/>
          </a:xfrm>
          <a:ln w="28575">
            <a:noFill/>
          </a:ln>
        </p:spPr>
        <p:txBody>
          <a:bodyPr anchor="ctr">
            <a:normAutofit/>
          </a:bodyPr>
          <a:lstStyle>
            <a:lvl1pPr marL="0" indent="0">
              <a:buNone/>
              <a:defRPr sz="2800" b="0" i="0" baseline="0">
                <a:ln>
                  <a:solidFill>
                    <a:schemeClr val="bg2">
                      <a:lumMod val="25000"/>
                    </a:schemeClr>
                  </a:solidFill>
                </a:ln>
                <a:solidFill>
                  <a:schemeClr val="bg2">
                    <a:lumMod val="25000"/>
                  </a:schemeClr>
                </a:solidFill>
                <a:latin typeface="Times New Roman" panose="02020603050405020304" pitchFamily="18" charset="0"/>
                <a:ea typeface="Paperlogy 4 Regular" pitchFamily="2" charset="-127"/>
                <a:cs typeface="Times New Roman" panose="02020603050405020304" pitchFamily="18" charset="0"/>
              </a:defRPr>
            </a:lvl1pPr>
          </a:lstStyle>
          <a:p>
            <a:pPr lvl="0"/>
            <a:r>
              <a:rPr lang="ko-KR" altLang="en-US" dirty="0"/>
              <a:t>제목</a:t>
            </a:r>
          </a:p>
        </p:txBody>
      </p:sp>
      <p:sp>
        <p:nvSpPr>
          <p:cNvPr id="11" name="모서리가 둥근 직사각형 19">
            <a:extLst>
              <a:ext uri="{FF2B5EF4-FFF2-40B4-BE49-F238E27FC236}">
                <a16:creationId xmlns:a16="http://schemas.microsoft.com/office/drawing/2014/main" id="{9A1001AF-7C71-4701-94B0-3772F84D3418}"/>
              </a:ext>
            </a:extLst>
          </p:cNvPr>
          <p:cNvSpPr/>
          <p:nvPr userDrawn="1"/>
        </p:nvSpPr>
        <p:spPr>
          <a:xfrm>
            <a:off x="1064556" y="1458192"/>
            <a:ext cx="10062886" cy="715612"/>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sp>
        <p:nvSpPr>
          <p:cNvPr id="12" name="모서리가 둥근 직사각형 19">
            <a:extLst>
              <a:ext uri="{FF2B5EF4-FFF2-40B4-BE49-F238E27FC236}">
                <a16:creationId xmlns:a16="http://schemas.microsoft.com/office/drawing/2014/main" id="{D9E18A4C-9D39-4312-9D41-EA0FA0703DAD}"/>
              </a:ext>
            </a:extLst>
          </p:cNvPr>
          <p:cNvSpPr/>
          <p:nvPr userDrawn="1"/>
        </p:nvSpPr>
        <p:spPr>
          <a:xfrm>
            <a:off x="1064556" y="2370794"/>
            <a:ext cx="10062886" cy="715612"/>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sp>
        <p:nvSpPr>
          <p:cNvPr id="13" name="모서리가 둥근 직사각형 19">
            <a:extLst>
              <a:ext uri="{FF2B5EF4-FFF2-40B4-BE49-F238E27FC236}">
                <a16:creationId xmlns:a16="http://schemas.microsoft.com/office/drawing/2014/main" id="{DD43020D-DDFD-4ED7-A112-51545002358E}"/>
              </a:ext>
            </a:extLst>
          </p:cNvPr>
          <p:cNvSpPr/>
          <p:nvPr userDrawn="1"/>
        </p:nvSpPr>
        <p:spPr>
          <a:xfrm>
            <a:off x="1064556" y="3299791"/>
            <a:ext cx="10062886" cy="715612"/>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sp>
        <p:nvSpPr>
          <p:cNvPr id="14" name="모서리가 둥근 직사각형 19">
            <a:extLst>
              <a:ext uri="{FF2B5EF4-FFF2-40B4-BE49-F238E27FC236}">
                <a16:creationId xmlns:a16="http://schemas.microsoft.com/office/drawing/2014/main" id="{7B5C337D-B310-4C62-8229-6DD25DC8C899}"/>
              </a:ext>
            </a:extLst>
          </p:cNvPr>
          <p:cNvSpPr/>
          <p:nvPr userDrawn="1"/>
        </p:nvSpPr>
        <p:spPr>
          <a:xfrm>
            <a:off x="1064556" y="4212394"/>
            <a:ext cx="10062886" cy="715612"/>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sp>
        <p:nvSpPr>
          <p:cNvPr id="3" name="텍스트 개체 틀 4">
            <a:extLst>
              <a:ext uri="{FF2B5EF4-FFF2-40B4-BE49-F238E27FC236}">
                <a16:creationId xmlns:a16="http://schemas.microsoft.com/office/drawing/2014/main" id="{7561FCEB-00AC-94CC-8826-B4110486A72D}"/>
              </a:ext>
            </a:extLst>
          </p:cNvPr>
          <p:cNvSpPr>
            <a:spLocks noGrp="1"/>
          </p:cNvSpPr>
          <p:nvPr>
            <p:ph type="body" sz="quarter" idx="30" hasCustomPrompt="1"/>
          </p:nvPr>
        </p:nvSpPr>
        <p:spPr>
          <a:xfrm>
            <a:off x="1055593" y="5069968"/>
            <a:ext cx="10071849" cy="718952"/>
          </a:xfrm>
          <a:ln w="28575">
            <a:noFill/>
          </a:ln>
        </p:spPr>
        <p:txBody>
          <a:bodyPr anchor="ctr">
            <a:normAutofit/>
          </a:bodyPr>
          <a:lstStyle>
            <a:lvl1pPr marL="0" indent="0">
              <a:buNone/>
              <a:defRPr sz="2800" b="0" i="0" baseline="0">
                <a:ln>
                  <a:solidFill>
                    <a:schemeClr val="bg2">
                      <a:lumMod val="25000"/>
                    </a:schemeClr>
                  </a:solidFill>
                </a:ln>
                <a:solidFill>
                  <a:schemeClr val="bg2">
                    <a:lumMod val="25000"/>
                  </a:schemeClr>
                </a:solidFill>
                <a:latin typeface="Times New Roman" panose="02020603050405020304" pitchFamily="18" charset="0"/>
                <a:ea typeface="Paperlogy 4 Regular" pitchFamily="2" charset="-127"/>
                <a:cs typeface="Times New Roman" panose="02020603050405020304" pitchFamily="18" charset="0"/>
              </a:defRPr>
            </a:lvl1pPr>
          </a:lstStyle>
          <a:p>
            <a:pPr lvl="0"/>
            <a:r>
              <a:rPr lang="ko-KR" altLang="en-US" dirty="0"/>
              <a:t>제목</a:t>
            </a:r>
          </a:p>
        </p:txBody>
      </p:sp>
      <p:sp>
        <p:nvSpPr>
          <p:cNvPr id="4" name="모서리가 둥근 직사각형 19">
            <a:extLst>
              <a:ext uri="{FF2B5EF4-FFF2-40B4-BE49-F238E27FC236}">
                <a16:creationId xmlns:a16="http://schemas.microsoft.com/office/drawing/2014/main" id="{A842BDC6-B13F-B829-BD42-39E120F3F3AC}"/>
              </a:ext>
            </a:extLst>
          </p:cNvPr>
          <p:cNvSpPr/>
          <p:nvPr userDrawn="1"/>
        </p:nvSpPr>
        <p:spPr>
          <a:xfrm>
            <a:off x="1064556" y="5073308"/>
            <a:ext cx="10062886" cy="715612"/>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pic>
        <p:nvPicPr>
          <p:cNvPr id="7" name="그림 6">
            <a:extLst>
              <a:ext uri="{FF2B5EF4-FFF2-40B4-BE49-F238E27FC236}">
                <a16:creationId xmlns:a16="http://schemas.microsoft.com/office/drawing/2014/main" id="{1810C613-2301-A795-3B65-FE98CBB4C1E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80202" y="6215220"/>
            <a:ext cx="1311798" cy="642780"/>
          </a:xfrm>
          <a:prstGeom prst="rect">
            <a:avLst/>
          </a:prstGeom>
        </p:spPr>
      </p:pic>
      <p:sp>
        <p:nvSpPr>
          <p:cNvPr id="8" name="TextBox 7">
            <a:extLst>
              <a:ext uri="{FF2B5EF4-FFF2-40B4-BE49-F238E27FC236}">
                <a16:creationId xmlns:a16="http://schemas.microsoft.com/office/drawing/2014/main" id="{9021D617-5593-448E-8CEE-780C7E48F5B0}"/>
              </a:ext>
            </a:extLst>
          </p:cNvPr>
          <p:cNvSpPr txBox="1"/>
          <p:nvPr userDrawn="1"/>
        </p:nvSpPr>
        <p:spPr>
          <a:xfrm>
            <a:off x="4925645" y="6468496"/>
            <a:ext cx="2340705" cy="369332"/>
          </a:xfrm>
          <a:prstGeom prst="rect">
            <a:avLst/>
          </a:prstGeom>
          <a:noFill/>
        </p:spPr>
        <p:txBody>
          <a:bodyPr wrap="none" rtlCol="0">
            <a:spAutoFit/>
          </a:bodyPr>
          <a:lstStyle/>
          <a:p>
            <a:r>
              <a:rPr kumimoji="1" lang="en-US" altLang="ko-KR" sz="1800" b="0" i="0" dirty="0">
                <a:latin typeface="Times New Roman" panose="02020603050405020304" pitchFamily="18" charset="0"/>
                <a:ea typeface="Paperlogy 4 Regular" pitchFamily="2" charset="-127"/>
                <a:cs typeface="Times New Roman" panose="02020603050405020304" pitchFamily="18" charset="0"/>
              </a:rPr>
              <a:t>shuraatum@gmail.com</a:t>
            </a:r>
            <a:endParaRPr kumimoji="1" lang="ko-KR" altLang="en-US" sz="1800" b="0" i="0" dirty="0">
              <a:latin typeface="Times New Roman" panose="02020603050405020304" pitchFamily="18" charset="0"/>
              <a:ea typeface="Paperlogy 4 Regular" pitchFamily="2" charset="-127"/>
              <a:cs typeface="Times New Roman" panose="02020603050405020304" pitchFamily="18" charset="0"/>
            </a:endParaRPr>
          </a:p>
        </p:txBody>
      </p:sp>
      <p:sp>
        <p:nvSpPr>
          <p:cNvPr id="17" name="제목 16">
            <a:extLst>
              <a:ext uri="{FF2B5EF4-FFF2-40B4-BE49-F238E27FC236}">
                <a16:creationId xmlns:a16="http://schemas.microsoft.com/office/drawing/2014/main" id="{AF68B270-012A-55E6-2C51-68F932747512}"/>
              </a:ext>
            </a:extLst>
          </p:cNvPr>
          <p:cNvSpPr>
            <a:spLocks noGrp="1"/>
          </p:cNvSpPr>
          <p:nvPr>
            <p:ph type="title"/>
          </p:nvPr>
        </p:nvSpPr>
        <p:spPr>
          <a:xfrm>
            <a:off x="838200" y="365126"/>
            <a:ext cx="10515600" cy="787814"/>
          </a:xfrm>
        </p:spPr>
        <p:txBody>
          <a:bodyPr/>
          <a:lstStyle/>
          <a:p>
            <a:r>
              <a:rPr kumimoji="1" lang="ko-KR" altLang="en-US"/>
              <a:t>마스터 제목 스타일 편집</a:t>
            </a:r>
          </a:p>
        </p:txBody>
      </p:sp>
    </p:spTree>
    <p:extLst>
      <p:ext uri="{BB962C8B-B14F-4D97-AF65-F5344CB8AC3E}">
        <p14:creationId xmlns:p14="http://schemas.microsoft.com/office/powerpoint/2010/main" val="22491475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11920" y="207747"/>
            <a:ext cx="11368160" cy="762163"/>
          </a:xfrm>
        </p:spPr>
        <p:txBody>
          <a:bodyPr>
            <a:normAutofit/>
          </a:bodyPr>
          <a:lstStyle>
            <a:lvl1pPr>
              <a:defRPr sz="3600" b="0" i="0">
                <a:latin typeface="Times New Roman" panose="02020603050405020304" pitchFamily="18" charset="0"/>
                <a:ea typeface="Paperlogy 4 Regular" pitchFamily="2" charset="-127"/>
                <a:cs typeface="Times New Roman" panose="02020603050405020304" pitchFamily="18" charset="0"/>
              </a:defRPr>
            </a:lvl1pPr>
          </a:lstStyle>
          <a:p>
            <a:r>
              <a:rPr lang="ko-KR" altLang="en-US" dirty="0"/>
              <a:t>마스터 제목 스타일 편집</a:t>
            </a:r>
          </a:p>
        </p:txBody>
      </p:sp>
      <p:sp>
        <p:nvSpPr>
          <p:cNvPr id="20" name="모서리가 둥근 직사각형 19"/>
          <p:cNvSpPr/>
          <p:nvPr userDrawn="1"/>
        </p:nvSpPr>
        <p:spPr>
          <a:xfrm>
            <a:off x="411920" y="207747"/>
            <a:ext cx="11368160" cy="762163"/>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0" i="0">
              <a:latin typeface="Times New Roman" panose="02020603050405020304" pitchFamily="18" charset="0"/>
              <a:ea typeface="Paperlogy 4 Regular" pitchFamily="2" charset="-127"/>
              <a:cs typeface="Times New Roman" panose="02020603050405020304" pitchFamily="18" charset="0"/>
            </a:endParaRPr>
          </a:p>
        </p:txBody>
      </p:sp>
      <p:sp>
        <p:nvSpPr>
          <p:cNvPr id="9" name="텍스트 개체 틀 8"/>
          <p:cNvSpPr>
            <a:spLocks noGrp="1"/>
          </p:cNvSpPr>
          <p:nvPr>
            <p:ph type="body" sz="quarter" idx="10" hasCustomPrompt="1"/>
          </p:nvPr>
        </p:nvSpPr>
        <p:spPr>
          <a:xfrm>
            <a:off x="411163" y="1152525"/>
            <a:ext cx="11369675" cy="5057775"/>
          </a:xfrm>
        </p:spPr>
        <p:txBody>
          <a:bodyPr/>
          <a:lstStyle>
            <a:lvl1pPr>
              <a:lnSpc>
                <a:spcPct val="100000"/>
              </a:lnSpc>
              <a:buFont typeface="Wingdings" pitchFamily="2" charset="2"/>
              <a:buChar char="Ø"/>
              <a:defRPr b="0" i="0">
                <a:latin typeface="Times New Roman" panose="02020603050405020304" pitchFamily="18" charset="0"/>
                <a:ea typeface="Paperlogy 4 Regular" pitchFamily="2" charset="-127"/>
                <a:cs typeface="Times New Roman" panose="02020603050405020304" pitchFamily="18" charset="0"/>
              </a:defRPr>
            </a:lvl1pPr>
            <a:lvl2pPr>
              <a:lnSpc>
                <a:spcPct val="100000"/>
              </a:lnSpc>
              <a:buFont typeface="Wingdings" pitchFamily="2" charset="2"/>
              <a:buChar char="§"/>
              <a:defRPr b="0" i="0">
                <a:latin typeface="Times New Roman" panose="02020603050405020304" pitchFamily="18" charset="0"/>
                <a:ea typeface="Paperlogy 4 Regular" pitchFamily="2" charset="-127"/>
                <a:cs typeface="Times New Roman" panose="02020603050405020304" pitchFamily="18" charset="0"/>
              </a:defRPr>
            </a:lvl2pPr>
            <a:lvl3pPr>
              <a:lnSpc>
                <a:spcPct val="100000"/>
              </a:lnSpc>
              <a:defRPr b="0" i="0">
                <a:latin typeface="Times New Roman" panose="02020603050405020304" pitchFamily="18" charset="0"/>
                <a:ea typeface="Paperlogy 4 Regular" pitchFamily="2" charset="-127"/>
                <a:cs typeface="Times New Roman" panose="02020603050405020304" pitchFamily="18" charset="0"/>
              </a:defRPr>
            </a:lvl3pPr>
            <a:lvl4pPr>
              <a:lnSpc>
                <a:spcPct val="100000"/>
              </a:lnSpc>
              <a:defRPr b="0" i="0">
                <a:latin typeface="Times New Roman" panose="02020603050405020304" pitchFamily="18" charset="0"/>
                <a:ea typeface="Paperlogy 4 Regular" pitchFamily="2" charset="-127"/>
                <a:cs typeface="Times New Roman" panose="02020603050405020304" pitchFamily="18" charset="0"/>
              </a:defRPr>
            </a:lvl4pPr>
            <a:lvl5pPr>
              <a:lnSpc>
                <a:spcPct val="100000"/>
              </a:lnSpc>
              <a:defRPr b="0" i="0">
                <a:latin typeface="Times New Roman" panose="02020603050405020304" pitchFamily="18" charset="0"/>
                <a:ea typeface="Paperlogy 4 Regular" pitchFamily="2" charset="-127"/>
                <a:cs typeface="Times New Roman" panose="02020603050405020304" pitchFamily="18" charset="0"/>
              </a:defRPr>
            </a:lvl5pPr>
          </a:lstStyle>
          <a:p>
            <a:pPr lvl="0"/>
            <a:r>
              <a:rPr lang="en-US" altLang="ko-KR" dirty="0"/>
              <a:t> </a:t>
            </a:r>
            <a:r>
              <a:rPr lang="ko-KR" altLang="en-US" dirty="0"/>
              <a:t>마스터 텍스트 스타일 편집</a:t>
            </a:r>
          </a:p>
          <a:p>
            <a:pPr lvl="1"/>
            <a:r>
              <a:rPr lang="en-US" altLang="ko-KR" dirty="0"/>
              <a:t> </a:t>
            </a:r>
            <a:r>
              <a:rPr lang="ko-KR" altLang="en-US" dirty="0"/>
              <a:t>둘째 수준</a:t>
            </a:r>
          </a:p>
          <a:p>
            <a:pPr lvl="2"/>
            <a:r>
              <a:rPr lang="en-US" altLang="ko-KR" dirty="0"/>
              <a:t> </a:t>
            </a:r>
            <a:r>
              <a:rPr lang="ko-KR" altLang="en-US" dirty="0"/>
              <a:t>셋째 수준</a:t>
            </a:r>
          </a:p>
          <a:p>
            <a:pPr lvl="3"/>
            <a:r>
              <a:rPr lang="en-US" altLang="ko-KR" dirty="0"/>
              <a:t> </a:t>
            </a:r>
            <a:r>
              <a:rPr lang="ko-KR" altLang="en-US" dirty="0"/>
              <a:t>넷째 수준</a:t>
            </a:r>
          </a:p>
          <a:p>
            <a:pPr lvl="4"/>
            <a:r>
              <a:rPr lang="en-US" altLang="ko-KR" dirty="0"/>
              <a:t> </a:t>
            </a:r>
            <a:r>
              <a:rPr lang="ko-KR" altLang="en-US" dirty="0"/>
              <a:t>다섯째 수준</a:t>
            </a:r>
          </a:p>
        </p:txBody>
      </p:sp>
      <p:sp>
        <p:nvSpPr>
          <p:cNvPr id="3" name="TextBox 2">
            <a:extLst>
              <a:ext uri="{FF2B5EF4-FFF2-40B4-BE49-F238E27FC236}">
                <a16:creationId xmlns:a16="http://schemas.microsoft.com/office/drawing/2014/main" id="{279C4A29-75C1-1CEE-946B-489243CC8CA6}"/>
              </a:ext>
            </a:extLst>
          </p:cNvPr>
          <p:cNvSpPr txBox="1"/>
          <p:nvPr userDrawn="1"/>
        </p:nvSpPr>
        <p:spPr>
          <a:xfrm>
            <a:off x="5165296" y="6550223"/>
            <a:ext cx="1861407" cy="307777"/>
          </a:xfrm>
          <a:prstGeom prst="rect">
            <a:avLst/>
          </a:prstGeom>
          <a:noFill/>
        </p:spPr>
        <p:txBody>
          <a:bodyPr wrap="none" rtlCol="0">
            <a:spAutoFit/>
          </a:bodyPr>
          <a:lstStyle/>
          <a:p>
            <a:r>
              <a:rPr kumimoji="1" lang="en-US" altLang="ko-KR" sz="1400" b="0" i="0" dirty="0">
                <a:latin typeface="Times New Roman" panose="02020603050405020304" pitchFamily="18" charset="0"/>
                <a:ea typeface="Paperlogy 4 Regular" pitchFamily="2" charset="-127"/>
                <a:cs typeface="Times New Roman" panose="02020603050405020304" pitchFamily="18" charset="0"/>
              </a:rPr>
              <a:t>shuraatum@gmail.com</a:t>
            </a:r>
            <a:endParaRPr kumimoji="1" lang="ko-KR" altLang="en-US" sz="1400" b="0" i="0" dirty="0">
              <a:latin typeface="Times New Roman" panose="02020603050405020304" pitchFamily="18" charset="0"/>
              <a:ea typeface="Paperlogy 4 Regular" pitchFamily="2" charset="-127"/>
              <a:cs typeface="Times New Roman" panose="02020603050405020304" pitchFamily="18" charset="0"/>
            </a:endParaRPr>
          </a:p>
        </p:txBody>
      </p:sp>
      <p:sp>
        <p:nvSpPr>
          <p:cNvPr id="5" name="직사각형 4">
            <a:extLst>
              <a:ext uri="{FF2B5EF4-FFF2-40B4-BE49-F238E27FC236}">
                <a16:creationId xmlns:a16="http://schemas.microsoft.com/office/drawing/2014/main" id="{2D5ABFA9-ABBD-D5D3-1522-0872FC4CF72F}"/>
              </a:ext>
            </a:extLst>
          </p:cNvPr>
          <p:cNvSpPr/>
          <p:nvPr userDrawn="1"/>
        </p:nvSpPr>
        <p:spPr>
          <a:xfrm>
            <a:off x="8623390" y="6412231"/>
            <a:ext cx="3568610" cy="400110"/>
          </a:xfrm>
          <a:prstGeom prst="rect">
            <a:avLst/>
          </a:prstGeom>
        </p:spPr>
        <p:txBody>
          <a:bodyPr wrap="square">
            <a:spAutoFit/>
          </a:bodyPr>
          <a:lstStyle/>
          <a:p>
            <a:pPr algn="r"/>
            <a:fld id="{86B743E8-9D27-4F69-87ED-4623B89CBF9F}" type="slidenum">
              <a:rPr lang="ko-KR" altLang="en-US" sz="2000" b="0" i="0" smtClean="0">
                <a:solidFill>
                  <a:schemeClr val="tx1"/>
                </a:solidFill>
                <a:latin typeface="Times New Roman" panose="02020603050405020304" pitchFamily="18" charset="0"/>
                <a:ea typeface="Paperlogy 4 Regular" pitchFamily="2" charset="-127"/>
                <a:cs typeface="Times New Roman" panose="02020603050405020304" pitchFamily="18" charset="0"/>
              </a:rPr>
              <a:t>‹#›</a:t>
            </a:fld>
            <a:endParaRPr lang="ko-KR" altLang="en-US" sz="2000" b="0" i="0" dirty="0">
              <a:solidFill>
                <a:schemeClr val="tx1"/>
              </a:solidFill>
              <a:latin typeface="Times New Roman" panose="02020603050405020304" pitchFamily="18" charset="0"/>
              <a:ea typeface="Paperlogy 4 Regular" pitchFamily="2" charset="-127"/>
              <a:cs typeface="Times New Roman" panose="02020603050405020304" pitchFamily="18" charset="0"/>
            </a:endParaRPr>
          </a:p>
        </p:txBody>
      </p:sp>
    </p:spTree>
    <p:extLst>
      <p:ext uri="{BB962C8B-B14F-4D97-AF65-F5344CB8AC3E}">
        <p14:creationId xmlns:p14="http://schemas.microsoft.com/office/powerpoint/2010/main" val="81985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종료">
    <p:spTree>
      <p:nvGrpSpPr>
        <p:cNvPr id="1" name=""/>
        <p:cNvGrpSpPr/>
        <p:nvPr/>
      </p:nvGrpSpPr>
      <p:grpSpPr>
        <a:xfrm>
          <a:off x="0" y="0"/>
          <a:ext cx="0" cy="0"/>
          <a:chOff x="0" y="0"/>
          <a:chExt cx="0" cy="0"/>
        </a:xfrm>
      </p:grpSpPr>
      <p:sp>
        <p:nvSpPr>
          <p:cNvPr id="4" name="직사각형 3"/>
          <p:cNvSpPr/>
          <p:nvPr userDrawn="1"/>
        </p:nvSpPr>
        <p:spPr>
          <a:xfrm>
            <a:off x="0" y="2767280"/>
            <a:ext cx="12191999" cy="1323439"/>
          </a:xfrm>
          <a:prstGeom prst="rect">
            <a:avLst/>
          </a:prstGeom>
        </p:spPr>
        <p:txBody>
          <a:bodyPr wrap="square">
            <a:spAutoFit/>
          </a:bodyPr>
          <a:lstStyle/>
          <a:p>
            <a:pPr algn="ctr"/>
            <a:r>
              <a:rPr lang="en-US" altLang="ko-KR" sz="8000" b="0" i="0" dirty="0">
                <a:latin typeface="Times New Roman" panose="02020603050405020304" pitchFamily="18" charset="0"/>
                <a:ea typeface="Paperlogy 4 Regular" pitchFamily="2" charset="-127"/>
                <a:cs typeface="Times New Roman" panose="02020603050405020304" pitchFamily="18" charset="0"/>
              </a:rPr>
              <a:t>Q &amp; A</a:t>
            </a:r>
            <a:endParaRPr lang="ko-KR" altLang="en-US" sz="8000" b="0" i="0" dirty="0">
              <a:latin typeface="Times New Roman" panose="02020603050405020304" pitchFamily="18" charset="0"/>
              <a:ea typeface="Paperlogy 4 Regular" pitchFamily="2" charset="-127"/>
              <a:cs typeface="Times New Roman" panose="02020603050405020304" pitchFamily="18" charset="0"/>
            </a:endParaRPr>
          </a:p>
        </p:txBody>
      </p:sp>
    </p:spTree>
    <p:extLst>
      <p:ext uri="{BB962C8B-B14F-4D97-AF65-F5344CB8AC3E}">
        <p14:creationId xmlns:p14="http://schemas.microsoft.com/office/powerpoint/2010/main" val="1329438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2.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 name="직사각형 9"/>
          <p:cNvSpPr/>
          <p:nvPr userDrawn="1"/>
        </p:nvSpPr>
        <p:spPr>
          <a:xfrm>
            <a:off x="8623390" y="6412231"/>
            <a:ext cx="3568610" cy="400110"/>
          </a:xfrm>
          <a:prstGeom prst="rect">
            <a:avLst/>
          </a:prstGeom>
        </p:spPr>
        <p:txBody>
          <a:bodyPr wrap="square">
            <a:spAutoFit/>
          </a:bodyPr>
          <a:lstStyle/>
          <a:p>
            <a:pPr algn="r"/>
            <a:fld id="{86B743E8-9D27-4F69-87ED-4623B89CBF9F}" type="slidenum">
              <a:rPr lang="ko-KR" altLang="en-US" sz="2000" b="0" i="0" smtClean="0">
                <a:solidFill>
                  <a:schemeClr val="tx1"/>
                </a:solidFill>
                <a:latin typeface="Times New Roman" panose="02020603050405020304" pitchFamily="18" charset="0"/>
                <a:ea typeface="Paperlogy 4 Regular" pitchFamily="2" charset="-127"/>
                <a:cs typeface="Times New Roman" panose="02020603050405020304" pitchFamily="18" charset="0"/>
              </a:rPr>
              <a:t>‹#›</a:t>
            </a:fld>
            <a:endParaRPr lang="ko-KR" altLang="en-US" sz="2000" b="0" i="0" dirty="0">
              <a:solidFill>
                <a:schemeClr val="tx1"/>
              </a:solidFill>
              <a:latin typeface="Times New Roman" panose="02020603050405020304" pitchFamily="18" charset="0"/>
              <a:ea typeface="Paperlogy 4 Regular" pitchFamily="2" charset="-127"/>
              <a:cs typeface="Times New Roman" panose="02020603050405020304" pitchFamily="18" charset="0"/>
            </a:endParaRPr>
          </a:p>
        </p:txBody>
      </p:sp>
    </p:spTree>
    <p:extLst>
      <p:ext uri="{BB962C8B-B14F-4D97-AF65-F5344CB8AC3E}">
        <p14:creationId xmlns:p14="http://schemas.microsoft.com/office/powerpoint/2010/main" val="2106993273"/>
      </p:ext>
    </p:extLst>
  </p:cSld>
  <p:clrMap bg1="lt1" tx1="dk1" bg2="lt2" tx2="dk2" accent1="accent1" accent2="accent2" accent3="accent3" accent4="accent4" accent5="accent5" accent6="accent6" hlink="hlink" folHlink="folHlink"/>
  <p:hf hdr="0" ftr="0" dt="0"/>
  <p:txStyles>
    <p:titleStyle>
      <a:lvl1pPr algn="l" defTabSz="914400" rtl="0" eaLnBrk="1" latinLnBrk="1" hangingPunct="1">
        <a:lnSpc>
          <a:spcPct val="90000"/>
        </a:lnSpc>
        <a:spcBef>
          <a:spcPct val="0"/>
        </a:spcBef>
        <a:buNone/>
        <a:defRPr sz="44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1pPr>
    </p:titleStyle>
    <p:bodyStyle>
      <a:lvl1pPr marL="228600" indent="-228600" algn="l" defTabSz="914400" rtl="0" eaLnBrk="1" latinLnBrk="1" hangingPunct="1">
        <a:lnSpc>
          <a:spcPct val="100000"/>
        </a:lnSpc>
        <a:spcBef>
          <a:spcPts val="1000"/>
        </a:spcBef>
        <a:buFont typeface="Arial" panose="020B0604020202020204" pitchFamily="34" charset="0"/>
        <a:buChar char="•"/>
        <a:defRPr sz="2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1pPr>
      <a:lvl2pPr marL="685800" indent="-228600" algn="l" defTabSz="914400" rtl="0" eaLnBrk="1" latinLnBrk="1" hangingPunct="1">
        <a:lnSpc>
          <a:spcPct val="100000"/>
        </a:lnSpc>
        <a:spcBef>
          <a:spcPts val="500"/>
        </a:spcBef>
        <a:buFont typeface="Arial" panose="020B0604020202020204" pitchFamily="34" charset="0"/>
        <a:buChar char="•"/>
        <a:defRPr sz="24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2pPr>
      <a:lvl3pPr marL="1143000" indent="-228600" algn="l" defTabSz="914400" rtl="0" eaLnBrk="1" latinLnBrk="1"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3pPr>
      <a:lvl4pPr marL="16002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4pPr>
      <a:lvl5pPr marL="20574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Times New Roman" panose="02020603050405020304" pitchFamily="18" charset="0"/>
                <a:ea typeface="Paperlogy 4 Regular" pitchFamily="2" charset="-127"/>
                <a:cs typeface="Times New Roman" panose="02020603050405020304" pitchFamily="18" charset="0"/>
              </a:defRPr>
            </a:lvl1pPr>
          </a:lstStyle>
          <a:p>
            <a:endParaRPr lang="ko-KR" altLang="en-US" dirty="0"/>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panose="02020603050405020304" pitchFamily="18" charset="0"/>
                <a:ea typeface="Paperlogy 4 Regular" pitchFamily="2" charset="-127"/>
                <a:cs typeface="Times New Roman" panose="02020603050405020304" pitchFamily="18" charset="0"/>
              </a:defRPr>
            </a:lvl1pPr>
          </a:lstStyle>
          <a:p>
            <a:endParaRPr lang="ko-KR" altLang="en-US" dirty="0"/>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panose="02020603050405020304" pitchFamily="18" charset="0"/>
                <a:ea typeface="Paperlogy 4 Regular" pitchFamily="2" charset="-127"/>
                <a:cs typeface="Times New Roman" panose="02020603050405020304" pitchFamily="18" charset="0"/>
              </a:defRPr>
            </a:lvl1pPr>
          </a:lstStyle>
          <a:p>
            <a:fld id="{B68DAAC8-442A-4C15-9819-F07FF5E73150}" type="slidenum">
              <a:rPr lang="ko-KR" altLang="en-US" smtClean="0"/>
              <a:pPr/>
              <a:t>‹#›</a:t>
            </a:fld>
            <a:endParaRPr lang="ko-KR" altLang="en-US" dirty="0"/>
          </a:p>
        </p:txBody>
      </p:sp>
    </p:spTree>
    <p:extLst>
      <p:ext uri="{BB962C8B-B14F-4D97-AF65-F5344CB8AC3E}">
        <p14:creationId xmlns:p14="http://schemas.microsoft.com/office/powerpoint/2010/main" val="259666516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50" r:id="rId3"/>
    <p:sldLayoutId id="2147483669" r:id="rId4"/>
  </p:sldLayoutIdLst>
  <p:hf hdr="0" ftr="0" dt="0"/>
  <p:txStyles>
    <p:titleStyle>
      <a:lvl1pPr algn="l" defTabSz="914400" rtl="0" eaLnBrk="1" latinLnBrk="1" hangingPunct="1">
        <a:lnSpc>
          <a:spcPct val="90000"/>
        </a:lnSpc>
        <a:spcBef>
          <a:spcPct val="0"/>
        </a:spcBef>
        <a:buNone/>
        <a:defRPr sz="44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1pPr>
    </p:titleStyle>
    <p:bodyStyle>
      <a:lvl1pPr marL="228600" indent="-228600" algn="l" defTabSz="914400" rtl="0" eaLnBrk="1" latinLnBrk="1" hangingPunct="1">
        <a:lnSpc>
          <a:spcPct val="100000"/>
        </a:lnSpc>
        <a:spcBef>
          <a:spcPts val="1000"/>
        </a:spcBef>
        <a:buFont typeface="Arial" panose="020B0604020202020204" pitchFamily="34" charset="0"/>
        <a:buChar char="•"/>
        <a:defRPr sz="2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1pPr>
      <a:lvl2pPr marL="685800" indent="-228600" algn="l" defTabSz="914400" rtl="0" eaLnBrk="1" latinLnBrk="1" hangingPunct="1">
        <a:lnSpc>
          <a:spcPct val="100000"/>
        </a:lnSpc>
        <a:spcBef>
          <a:spcPts val="500"/>
        </a:spcBef>
        <a:buFont typeface="Arial" panose="020B0604020202020204" pitchFamily="34" charset="0"/>
        <a:buChar char="•"/>
        <a:defRPr sz="24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2pPr>
      <a:lvl3pPr marL="1143000" indent="-228600" algn="l" defTabSz="914400" rtl="0" eaLnBrk="1" latinLnBrk="1"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3pPr>
      <a:lvl4pPr marL="16002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4pPr>
      <a:lvl5pPr marL="20574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10E240-709C-03DB-D2D8-3A48973C74BC}"/>
              </a:ext>
            </a:extLst>
          </p:cNvPr>
          <p:cNvSpPr>
            <a:spLocks noGrp="1"/>
          </p:cNvSpPr>
          <p:nvPr>
            <p:ph type="ctrTitle"/>
          </p:nvPr>
        </p:nvSpPr>
        <p:spPr/>
        <p:txBody>
          <a:bodyPr>
            <a:noAutofit/>
          </a:bodyPr>
          <a:lstStyle/>
          <a:p>
            <a:r>
              <a:rPr kumimoji="1" lang="en-US" altLang="ko-KR" sz="3200" dirty="0"/>
              <a:t>Maximizing ARIA-CTR Performance through </a:t>
            </a:r>
            <a:br>
              <a:rPr kumimoji="1" lang="en-US" altLang="ko-KR" sz="3200" dirty="0"/>
            </a:br>
            <a:r>
              <a:rPr kumimoji="1" lang="en-US" altLang="ko-KR" sz="3200" dirty="0"/>
              <a:t>Kernel-Level Memory Optimization on the Apple M1 GPU</a:t>
            </a:r>
            <a:endParaRPr kumimoji="1" lang="ko-KR" altLang="en-US" sz="3200" dirty="0"/>
          </a:p>
        </p:txBody>
      </p:sp>
      <p:sp>
        <p:nvSpPr>
          <p:cNvPr id="3" name="부제목 2">
            <a:extLst>
              <a:ext uri="{FF2B5EF4-FFF2-40B4-BE49-F238E27FC236}">
                <a16:creationId xmlns:a16="http://schemas.microsoft.com/office/drawing/2014/main" id="{B06BC5BB-5803-EB16-CF72-3DCE857E7044}"/>
              </a:ext>
            </a:extLst>
          </p:cNvPr>
          <p:cNvSpPr>
            <a:spLocks noGrp="1"/>
          </p:cNvSpPr>
          <p:nvPr>
            <p:ph type="subTitle" idx="1"/>
          </p:nvPr>
        </p:nvSpPr>
        <p:spPr/>
        <p:txBody>
          <a:bodyPr/>
          <a:lstStyle/>
          <a:p>
            <a:r>
              <a:rPr kumimoji="1" lang="en-US" altLang="ko-KR" b="1" dirty="0">
                <a:solidFill>
                  <a:schemeClr val="accent5"/>
                </a:solidFill>
              </a:rPr>
              <a:t>Si-Woo Eum</a:t>
            </a:r>
            <a:r>
              <a:rPr kumimoji="1" lang="en-US" altLang="ko-KR" dirty="0"/>
              <a:t>, </a:t>
            </a:r>
            <a:r>
              <a:rPr kumimoji="1" lang="en-US" altLang="ko-KR" sz="1800" dirty="0"/>
              <a:t>Min-Ho Song, Min-Joo Sim, Hwa-Jeong Seo*</a:t>
            </a:r>
          </a:p>
          <a:p>
            <a:r>
              <a:rPr kumimoji="1" lang="en-US" altLang="ko-KR" sz="1800" dirty="0"/>
              <a:t>Hansung University</a:t>
            </a:r>
            <a:endParaRPr kumimoji="1" lang="ko-KR" altLang="en-US" sz="1800" dirty="0"/>
          </a:p>
        </p:txBody>
      </p:sp>
    </p:spTree>
    <p:extLst>
      <p:ext uri="{BB962C8B-B14F-4D97-AF65-F5344CB8AC3E}">
        <p14:creationId xmlns:p14="http://schemas.microsoft.com/office/powerpoint/2010/main" val="2032787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ABDACBA-1294-B1EC-D8B0-8B7C634243B7}"/>
              </a:ext>
            </a:extLst>
          </p:cNvPr>
          <p:cNvSpPr>
            <a:spLocks noGrp="1"/>
          </p:cNvSpPr>
          <p:nvPr>
            <p:ph type="body" sz="quarter" idx="11"/>
          </p:nvPr>
        </p:nvSpPr>
        <p:spPr/>
        <p:txBody>
          <a:bodyPr/>
          <a:lstStyle/>
          <a:p>
            <a:r>
              <a:rPr kumimoji="1" lang="en-US" altLang="ko-KR" dirty="0"/>
              <a:t>1.</a:t>
            </a:r>
            <a:r>
              <a:rPr kumimoji="1" lang="ko-KR" altLang="en-US" dirty="0"/>
              <a:t> </a:t>
            </a:r>
            <a:r>
              <a:rPr kumimoji="1" lang="en-US" altLang="ko-KR" dirty="0"/>
              <a:t>Introduction</a:t>
            </a:r>
            <a:endParaRPr kumimoji="1" lang="ko-KR" altLang="en-US" dirty="0"/>
          </a:p>
        </p:txBody>
      </p:sp>
      <p:sp>
        <p:nvSpPr>
          <p:cNvPr id="3" name="텍스트 개체 틀 2">
            <a:extLst>
              <a:ext uri="{FF2B5EF4-FFF2-40B4-BE49-F238E27FC236}">
                <a16:creationId xmlns:a16="http://schemas.microsoft.com/office/drawing/2014/main" id="{80FD0B6A-2F3C-558D-AB37-4B588676F4AF}"/>
              </a:ext>
            </a:extLst>
          </p:cNvPr>
          <p:cNvSpPr>
            <a:spLocks noGrp="1"/>
          </p:cNvSpPr>
          <p:nvPr>
            <p:ph type="body" sz="quarter" idx="25"/>
          </p:nvPr>
        </p:nvSpPr>
        <p:spPr/>
        <p:txBody>
          <a:bodyPr/>
          <a:lstStyle/>
          <a:p>
            <a:r>
              <a:rPr kumimoji="1" lang="en-US" altLang="ko-KR" dirty="0"/>
              <a:t>2. Related Work (ARIA, CTR Mode, M1 GPU Architecture)</a:t>
            </a:r>
            <a:endParaRPr kumimoji="1" lang="ko-KR" altLang="en-US" dirty="0"/>
          </a:p>
        </p:txBody>
      </p:sp>
      <p:sp>
        <p:nvSpPr>
          <p:cNvPr id="4" name="텍스트 개체 틀 3">
            <a:extLst>
              <a:ext uri="{FF2B5EF4-FFF2-40B4-BE49-F238E27FC236}">
                <a16:creationId xmlns:a16="http://schemas.microsoft.com/office/drawing/2014/main" id="{FAD8593D-6811-106C-FF55-F97BBFD6245A}"/>
              </a:ext>
            </a:extLst>
          </p:cNvPr>
          <p:cNvSpPr>
            <a:spLocks noGrp="1"/>
          </p:cNvSpPr>
          <p:nvPr>
            <p:ph type="body" sz="quarter" idx="27"/>
          </p:nvPr>
        </p:nvSpPr>
        <p:spPr/>
        <p:txBody>
          <a:bodyPr/>
          <a:lstStyle/>
          <a:p>
            <a:r>
              <a:rPr kumimoji="1" lang="en-US" altLang="ko-KR" dirty="0"/>
              <a:t>3. Implementation Strategies</a:t>
            </a:r>
            <a:endParaRPr kumimoji="1" lang="ko-KR" altLang="en-US" dirty="0"/>
          </a:p>
        </p:txBody>
      </p:sp>
      <p:sp>
        <p:nvSpPr>
          <p:cNvPr id="5" name="텍스트 개체 틀 4">
            <a:extLst>
              <a:ext uri="{FF2B5EF4-FFF2-40B4-BE49-F238E27FC236}">
                <a16:creationId xmlns:a16="http://schemas.microsoft.com/office/drawing/2014/main" id="{0F3BDB56-A8B9-0DE7-BB8B-5FC7A07D8D54}"/>
              </a:ext>
            </a:extLst>
          </p:cNvPr>
          <p:cNvSpPr>
            <a:spLocks noGrp="1"/>
          </p:cNvSpPr>
          <p:nvPr>
            <p:ph type="body" sz="quarter" idx="29"/>
          </p:nvPr>
        </p:nvSpPr>
        <p:spPr/>
        <p:txBody>
          <a:bodyPr/>
          <a:lstStyle/>
          <a:p>
            <a:r>
              <a:rPr kumimoji="1" lang="en-US" altLang="ko-KR" dirty="0"/>
              <a:t>4. Performance Results and Analysis</a:t>
            </a:r>
            <a:endParaRPr kumimoji="1" lang="ko-KR" altLang="en-US" dirty="0"/>
          </a:p>
        </p:txBody>
      </p:sp>
      <p:sp>
        <p:nvSpPr>
          <p:cNvPr id="6" name="텍스트 개체 틀 5">
            <a:extLst>
              <a:ext uri="{FF2B5EF4-FFF2-40B4-BE49-F238E27FC236}">
                <a16:creationId xmlns:a16="http://schemas.microsoft.com/office/drawing/2014/main" id="{A700465B-5B14-24B6-DF8E-D0664658C9B8}"/>
              </a:ext>
            </a:extLst>
          </p:cNvPr>
          <p:cNvSpPr>
            <a:spLocks noGrp="1"/>
          </p:cNvSpPr>
          <p:nvPr>
            <p:ph type="body" sz="quarter" idx="30"/>
          </p:nvPr>
        </p:nvSpPr>
        <p:spPr/>
        <p:txBody>
          <a:bodyPr/>
          <a:lstStyle/>
          <a:p>
            <a:r>
              <a:rPr kumimoji="1" lang="en-US" altLang="ko-KR" dirty="0"/>
              <a:t>5. Conclusion</a:t>
            </a:r>
            <a:endParaRPr kumimoji="1" lang="ko-KR" altLang="en-US" dirty="0"/>
          </a:p>
        </p:txBody>
      </p:sp>
      <p:sp>
        <p:nvSpPr>
          <p:cNvPr id="7" name="제목 6">
            <a:extLst>
              <a:ext uri="{FF2B5EF4-FFF2-40B4-BE49-F238E27FC236}">
                <a16:creationId xmlns:a16="http://schemas.microsoft.com/office/drawing/2014/main" id="{15DE0AEC-DE7E-A886-3B0C-24FB2A5701C2}"/>
              </a:ext>
            </a:extLst>
          </p:cNvPr>
          <p:cNvSpPr>
            <a:spLocks noGrp="1"/>
          </p:cNvSpPr>
          <p:nvPr>
            <p:ph type="title"/>
          </p:nvPr>
        </p:nvSpPr>
        <p:spPr/>
        <p:txBody>
          <a:bodyPr>
            <a:noAutofit/>
          </a:bodyPr>
          <a:lstStyle/>
          <a:p>
            <a:pPr algn="ctr"/>
            <a:r>
              <a:rPr kumimoji="1" lang="en-US" altLang="ko-KR" sz="3600" dirty="0"/>
              <a:t>CONTENT</a:t>
            </a:r>
            <a:endParaRPr kumimoji="1" lang="ko-KR" altLang="en-US" sz="3600" dirty="0"/>
          </a:p>
        </p:txBody>
      </p:sp>
    </p:spTree>
    <p:extLst>
      <p:ext uri="{BB962C8B-B14F-4D97-AF65-F5344CB8AC3E}">
        <p14:creationId xmlns:p14="http://schemas.microsoft.com/office/powerpoint/2010/main" val="148118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85C0-05B4-0149-9B8A-511290DC5F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1C6F882-400A-4ED7-1B27-4ED174D98457}"/>
              </a:ext>
            </a:extLst>
          </p:cNvPr>
          <p:cNvSpPr>
            <a:spLocks noGrp="1"/>
          </p:cNvSpPr>
          <p:nvPr>
            <p:ph type="title"/>
          </p:nvPr>
        </p:nvSpPr>
        <p:spPr/>
        <p:txBody>
          <a:bodyPr/>
          <a:lstStyle/>
          <a:p>
            <a:r>
              <a:rPr kumimoji="1" lang="en-US" altLang="ko-KR" dirty="0"/>
              <a:t>1.</a:t>
            </a:r>
            <a:r>
              <a:rPr kumimoji="1" lang="ko-KR" altLang="en-US" dirty="0"/>
              <a:t> </a:t>
            </a:r>
            <a:r>
              <a:rPr kumimoji="1" lang="en-US" altLang="ko-KR" dirty="0"/>
              <a:t>Introduction</a:t>
            </a:r>
            <a:endParaRPr kumimoji="1" lang="ko-KR" altLang="en-US" dirty="0"/>
          </a:p>
        </p:txBody>
      </p:sp>
      <p:sp>
        <p:nvSpPr>
          <p:cNvPr id="3" name="텍스트 개체 틀 2">
            <a:extLst>
              <a:ext uri="{FF2B5EF4-FFF2-40B4-BE49-F238E27FC236}">
                <a16:creationId xmlns:a16="http://schemas.microsoft.com/office/drawing/2014/main" id="{5899CE16-B77F-1D6D-DD37-3652F605EF50}"/>
              </a:ext>
            </a:extLst>
          </p:cNvPr>
          <p:cNvSpPr>
            <a:spLocks noGrp="1"/>
          </p:cNvSpPr>
          <p:nvPr>
            <p:ph type="body" sz="quarter" idx="10"/>
          </p:nvPr>
        </p:nvSpPr>
        <p:spPr>
          <a:xfrm>
            <a:off x="411163" y="1152525"/>
            <a:ext cx="11369675" cy="5307910"/>
          </a:xfrm>
        </p:spPr>
        <p:txBody>
          <a:bodyPr/>
          <a:lstStyle/>
          <a:p>
            <a:r>
              <a:rPr kumimoji="1" lang="en-US" altLang="ko-KR" dirty="0"/>
              <a:t> GPGPU(General Purpose Graphics Processing Unit)</a:t>
            </a:r>
          </a:p>
          <a:p>
            <a:pPr lvl="1"/>
            <a:r>
              <a:rPr kumimoji="1" lang="en-US" altLang="ko-KR" dirty="0"/>
              <a:t>Using GPUs for </a:t>
            </a:r>
            <a:r>
              <a:rPr kumimoji="1" lang="en-US" altLang="ko-KR" dirty="0">
                <a:solidFill>
                  <a:schemeClr val="accent5"/>
                </a:solidFill>
              </a:rPr>
              <a:t>general-purpose</a:t>
            </a:r>
            <a:r>
              <a:rPr kumimoji="1" lang="en-US" altLang="ko-KR" dirty="0"/>
              <a:t> computing beyond graphics</a:t>
            </a:r>
            <a:endParaRPr kumimoji="1" lang="ko-KR" altLang="en-US" dirty="0"/>
          </a:p>
        </p:txBody>
      </p:sp>
      <p:sp>
        <p:nvSpPr>
          <p:cNvPr id="18" name="사각형: 둥근 모서리 17">
            <a:extLst>
              <a:ext uri="{FF2B5EF4-FFF2-40B4-BE49-F238E27FC236}">
                <a16:creationId xmlns:a16="http://schemas.microsoft.com/office/drawing/2014/main" id="{E7CA1ED7-3DF9-D9FF-D42E-2DD8FB29DC0A}"/>
              </a:ext>
            </a:extLst>
          </p:cNvPr>
          <p:cNvSpPr/>
          <p:nvPr/>
        </p:nvSpPr>
        <p:spPr>
          <a:xfrm>
            <a:off x="411162" y="3709511"/>
            <a:ext cx="3417346" cy="2529365"/>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latin typeface="+mj-lt"/>
              </a:rPr>
              <a:t>GPUs were originally dedicated to graphics processing.</a:t>
            </a:r>
            <a:br>
              <a:rPr lang="en-US" altLang="ko-KR" dirty="0">
                <a:solidFill>
                  <a:schemeClr val="tx1"/>
                </a:solidFill>
                <a:latin typeface="+mj-lt"/>
              </a:rPr>
            </a:br>
            <a:r>
              <a:rPr lang="en-US" altLang="ko-KR" dirty="0">
                <a:solidFill>
                  <a:schemeClr val="tx1"/>
                </a:solidFill>
                <a:latin typeface="+mj-lt"/>
              </a:rPr>
              <a:t>Scientists repurposed graphics APU(OpenGL) to enable GPGPU.</a:t>
            </a:r>
            <a:endParaRPr lang="ko-KR" altLang="en-US" dirty="0">
              <a:solidFill>
                <a:schemeClr val="tx1"/>
              </a:solidFill>
              <a:latin typeface="+mj-lt"/>
            </a:endParaRPr>
          </a:p>
        </p:txBody>
      </p:sp>
      <p:sp>
        <p:nvSpPr>
          <p:cNvPr id="19" name="사각형: 둥근 모서리 18">
            <a:extLst>
              <a:ext uri="{FF2B5EF4-FFF2-40B4-BE49-F238E27FC236}">
                <a16:creationId xmlns:a16="http://schemas.microsoft.com/office/drawing/2014/main" id="{DB3831E7-8E1C-6658-DCC6-0FA656E9A5EE}"/>
              </a:ext>
            </a:extLst>
          </p:cNvPr>
          <p:cNvSpPr/>
          <p:nvPr/>
        </p:nvSpPr>
        <p:spPr>
          <a:xfrm>
            <a:off x="4387906" y="3709510"/>
            <a:ext cx="3417346" cy="2529365"/>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accent5"/>
                </a:solidFill>
                <a:latin typeface="+mj-lt"/>
              </a:rPr>
              <a:t>NVIDIA's CUDA </a:t>
            </a:r>
            <a:r>
              <a:rPr lang="en-US" altLang="ko-KR" dirty="0">
                <a:solidFill>
                  <a:schemeClr val="tx1"/>
                </a:solidFill>
                <a:latin typeface="+mj-lt"/>
              </a:rPr>
              <a:t>brought GPGPU into the mainstream. This enabled massively parallel processing leveraging thousands of cores.</a:t>
            </a:r>
            <a:endParaRPr lang="ko-KR" altLang="en-US" dirty="0">
              <a:solidFill>
                <a:schemeClr val="tx1"/>
              </a:solidFill>
              <a:latin typeface="+mj-lt"/>
            </a:endParaRPr>
          </a:p>
        </p:txBody>
      </p:sp>
      <p:sp>
        <p:nvSpPr>
          <p:cNvPr id="20" name="사각형: 둥근 모서리 19">
            <a:extLst>
              <a:ext uri="{FF2B5EF4-FFF2-40B4-BE49-F238E27FC236}">
                <a16:creationId xmlns:a16="http://schemas.microsoft.com/office/drawing/2014/main" id="{A11197E0-3610-441D-A962-517C1D32C4E1}"/>
              </a:ext>
            </a:extLst>
          </p:cNvPr>
          <p:cNvSpPr/>
          <p:nvPr/>
        </p:nvSpPr>
        <p:spPr>
          <a:xfrm>
            <a:off x="8364650" y="3709510"/>
            <a:ext cx="3417346" cy="2529365"/>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rPr>
              <a:t>GPUs have become essential for modern </a:t>
            </a:r>
            <a:br>
              <a:rPr lang="en-US" altLang="ko-KR" dirty="0">
                <a:solidFill>
                  <a:schemeClr val="tx1"/>
                </a:solidFill>
              </a:rPr>
            </a:br>
            <a:r>
              <a:rPr lang="en-US" altLang="ko-KR" dirty="0">
                <a:solidFill>
                  <a:schemeClr val="tx1"/>
                </a:solidFill>
              </a:rPr>
              <a:t>high-performance computing across AI, deep learning, scientific simulations, and cryptography.</a:t>
            </a:r>
            <a:endParaRPr lang="ko-KR" altLang="en-US" dirty="0">
              <a:solidFill>
                <a:schemeClr val="tx1"/>
              </a:solidFill>
            </a:endParaRPr>
          </a:p>
        </p:txBody>
      </p:sp>
      <p:sp>
        <p:nvSpPr>
          <p:cNvPr id="24" name="TextBox 23">
            <a:extLst>
              <a:ext uri="{FF2B5EF4-FFF2-40B4-BE49-F238E27FC236}">
                <a16:creationId xmlns:a16="http://schemas.microsoft.com/office/drawing/2014/main" id="{62FF3121-0871-5420-7DB1-87ABC475FB60}"/>
              </a:ext>
            </a:extLst>
          </p:cNvPr>
          <p:cNvSpPr txBox="1"/>
          <p:nvPr/>
        </p:nvSpPr>
        <p:spPr>
          <a:xfrm>
            <a:off x="1447215" y="2954552"/>
            <a:ext cx="1345240" cy="646331"/>
          </a:xfrm>
          <a:prstGeom prst="rect">
            <a:avLst/>
          </a:prstGeom>
          <a:noFill/>
        </p:spPr>
        <p:txBody>
          <a:bodyPr wrap="none" rtlCol="0">
            <a:spAutoFit/>
          </a:bodyPr>
          <a:lstStyle/>
          <a:p>
            <a:r>
              <a:rPr lang="en-US" altLang="ko-KR" dirty="0">
                <a:latin typeface="+mj-lt"/>
              </a:rPr>
              <a:t>Early Period</a:t>
            </a:r>
          </a:p>
          <a:p>
            <a:r>
              <a:rPr lang="en-US" altLang="ko-KR" dirty="0">
                <a:latin typeface="+mj-lt"/>
              </a:rPr>
              <a:t>1990-2000s</a:t>
            </a:r>
            <a:endParaRPr lang="ko-KR" altLang="en-US" dirty="0"/>
          </a:p>
        </p:txBody>
      </p:sp>
      <p:sp>
        <p:nvSpPr>
          <p:cNvPr id="25" name="TextBox 24">
            <a:extLst>
              <a:ext uri="{FF2B5EF4-FFF2-40B4-BE49-F238E27FC236}">
                <a16:creationId xmlns:a16="http://schemas.microsoft.com/office/drawing/2014/main" id="{B50C9EE7-FEA9-D2F6-9832-FE363107EC00}"/>
              </a:ext>
            </a:extLst>
          </p:cNvPr>
          <p:cNvSpPr txBox="1"/>
          <p:nvPr/>
        </p:nvSpPr>
        <p:spPr>
          <a:xfrm>
            <a:off x="5509236" y="2954550"/>
            <a:ext cx="1184940" cy="646331"/>
          </a:xfrm>
          <a:prstGeom prst="rect">
            <a:avLst/>
          </a:prstGeom>
          <a:noFill/>
        </p:spPr>
        <p:txBody>
          <a:bodyPr wrap="none" rtlCol="0">
            <a:spAutoFit/>
          </a:bodyPr>
          <a:lstStyle/>
          <a:p>
            <a:pPr algn="ctr"/>
            <a:r>
              <a:rPr lang="en-US" altLang="ko-KR" dirty="0">
                <a:latin typeface="+mj-lt"/>
              </a:rPr>
              <a:t>Innovation</a:t>
            </a:r>
          </a:p>
          <a:p>
            <a:pPr algn="ctr"/>
            <a:r>
              <a:rPr lang="en-US" altLang="ko-KR" dirty="0">
                <a:latin typeface="+mj-lt"/>
              </a:rPr>
              <a:t>2007</a:t>
            </a:r>
            <a:endParaRPr lang="ko-KR" altLang="en-US" dirty="0"/>
          </a:p>
        </p:txBody>
      </p:sp>
      <p:sp>
        <p:nvSpPr>
          <p:cNvPr id="26" name="TextBox 25">
            <a:extLst>
              <a:ext uri="{FF2B5EF4-FFF2-40B4-BE49-F238E27FC236}">
                <a16:creationId xmlns:a16="http://schemas.microsoft.com/office/drawing/2014/main" id="{BB974FC4-B8B7-6F15-3534-0084E64DCDFF}"/>
              </a:ext>
            </a:extLst>
          </p:cNvPr>
          <p:cNvSpPr txBox="1"/>
          <p:nvPr/>
        </p:nvSpPr>
        <p:spPr>
          <a:xfrm>
            <a:off x="9628329" y="3093049"/>
            <a:ext cx="889987" cy="369332"/>
          </a:xfrm>
          <a:prstGeom prst="rect">
            <a:avLst/>
          </a:prstGeom>
          <a:noFill/>
        </p:spPr>
        <p:txBody>
          <a:bodyPr wrap="none" rtlCol="0">
            <a:spAutoFit/>
          </a:bodyPr>
          <a:lstStyle/>
          <a:p>
            <a:pPr algn="ctr"/>
            <a:r>
              <a:rPr lang="en-US" altLang="ko-KR" dirty="0">
                <a:latin typeface="+mj-lt"/>
              </a:rPr>
              <a:t>Current</a:t>
            </a:r>
          </a:p>
        </p:txBody>
      </p:sp>
      <p:pic>
        <p:nvPicPr>
          <p:cNvPr id="29" name="Google Shape;123;p15" descr="image.png">
            <a:extLst>
              <a:ext uri="{FF2B5EF4-FFF2-40B4-BE49-F238E27FC236}">
                <a16:creationId xmlns:a16="http://schemas.microsoft.com/office/drawing/2014/main" id="{4A54F01B-ADA4-3055-77D8-1FC366A3C255}"/>
              </a:ext>
            </a:extLst>
          </p:cNvPr>
          <p:cNvPicPr preferRelativeResize="0"/>
          <p:nvPr/>
        </p:nvPicPr>
        <p:blipFill rotWithShape="1">
          <a:blip r:embed="rId3">
            <a:alphaModFix/>
          </a:blip>
          <a:srcRect/>
          <a:stretch/>
        </p:blipFill>
        <p:spPr>
          <a:xfrm>
            <a:off x="5867400" y="2543335"/>
            <a:ext cx="457200" cy="457200"/>
          </a:xfrm>
          <a:prstGeom prst="rect">
            <a:avLst/>
          </a:prstGeom>
          <a:noFill/>
          <a:ln>
            <a:noFill/>
          </a:ln>
        </p:spPr>
      </p:pic>
      <p:pic>
        <p:nvPicPr>
          <p:cNvPr id="32" name="Google Shape;122;p15" descr="image.png">
            <a:extLst>
              <a:ext uri="{FF2B5EF4-FFF2-40B4-BE49-F238E27FC236}">
                <a16:creationId xmlns:a16="http://schemas.microsoft.com/office/drawing/2014/main" id="{4C0D38F2-DBF9-240A-523E-DBAC783483DA}"/>
              </a:ext>
            </a:extLst>
          </p:cNvPr>
          <p:cNvPicPr preferRelativeResize="0"/>
          <p:nvPr/>
        </p:nvPicPr>
        <p:blipFill rotWithShape="1">
          <a:blip r:embed="rId4">
            <a:alphaModFix/>
          </a:blip>
          <a:srcRect/>
          <a:stretch/>
        </p:blipFill>
        <p:spPr>
          <a:xfrm>
            <a:off x="1834085" y="2543337"/>
            <a:ext cx="571500" cy="457200"/>
          </a:xfrm>
          <a:prstGeom prst="rect">
            <a:avLst/>
          </a:prstGeom>
          <a:noFill/>
          <a:ln>
            <a:noFill/>
          </a:ln>
        </p:spPr>
      </p:pic>
      <p:pic>
        <p:nvPicPr>
          <p:cNvPr id="33" name="Google Shape;124;p15" descr="image.png">
            <a:extLst>
              <a:ext uri="{FF2B5EF4-FFF2-40B4-BE49-F238E27FC236}">
                <a16:creationId xmlns:a16="http://schemas.microsoft.com/office/drawing/2014/main" id="{6F14912C-BC21-16C5-7AA4-37969F9E6F93}"/>
              </a:ext>
            </a:extLst>
          </p:cNvPr>
          <p:cNvPicPr preferRelativeResize="0"/>
          <p:nvPr/>
        </p:nvPicPr>
        <p:blipFill rotWithShape="1">
          <a:blip r:embed="rId5">
            <a:alphaModFix/>
          </a:blip>
          <a:srcRect/>
          <a:stretch/>
        </p:blipFill>
        <p:spPr>
          <a:xfrm>
            <a:off x="9844722" y="2543335"/>
            <a:ext cx="457200" cy="457200"/>
          </a:xfrm>
          <a:prstGeom prst="rect">
            <a:avLst/>
          </a:prstGeom>
          <a:noFill/>
          <a:ln>
            <a:noFill/>
          </a:ln>
        </p:spPr>
      </p:pic>
    </p:spTree>
    <p:extLst>
      <p:ext uri="{BB962C8B-B14F-4D97-AF65-F5344CB8AC3E}">
        <p14:creationId xmlns:p14="http://schemas.microsoft.com/office/powerpoint/2010/main" val="185245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899F-0CF0-90A8-AC0A-0956082A77D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73D91A0-9B22-0BD6-69C2-6046B66D05DD}"/>
              </a:ext>
            </a:extLst>
          </p:cNvPr>
          <p:cNvSpPr>
            <a:spLocks noGrp="1"/>
          </p:cNvSpPr>
          <p:nvPr>
            <p:ph type="title"/>
          </p:nvPr>
        </p:nvSpPr>
        <p:spPr/>
        <p:txBody>
          <a:bodyPr/>
          <a:lstStyle/>
          <a:p>
            <a:r>
              <a:rPr kumimoji="1" lang="en-US" altLang="ko-KR" dirty="0"/>
              <a:t>1. Introduction</a:t>
            </a:r>
            <a:endParaRPr kumimoji="1" lang="ko-KR" altLang="en-US" dirty="0"/>
          </a:p>
        </p:txBody>
      </p:sp>
      <p:sp>
        <p:nvSpPr>
          <p:cNvPr id="3" name="텍스트 개체 틀 2">
            <a:extLst>
              <a:ext uri="{FF2B5EF4-FFF2-40B4-BE49-F238E27FC236}">
                <a16:creationId xmlns:a16="http://schemas.microsoft.com/office/drawing/2014/main" id="{93541600-E632-3EEB-4147-383F78983257}"/>
              </a:ext>
            </a:extLst>
          </p:cNvPr>
          <p:cNvSpPr>
            <a:spLocks noGrp="1"/>
          </p:cNvSpPr>
          <p:nvPr>
            <p:ph type="body" sz="quarter" idx="10"/>
          </p:nvPr>
        </p:nvSpPr>
        <p:spPr>
          <a:xfrm>
            <a:off x="411163" y="1635125"/>
            <a:ext cx="11369675" cy="4295775"/>
          </a:xfrm>
        </p:spPr>
        <p:txBody>
          <a:bodyPr/>
          <a:lstStyle/>
          <a:p>
            <a:r>
              <a:rPr kumimoji="1" lang="en-US" altLang="ko-KR" dirty="0"/>
              <a:t> While massively parallel processing became possible, memory access speed emerged as </a:t>
            </a:r>
            <a:r>
              <a:rPr kumimoji="1" lang="en-US" altLang="ko-KR" dirty="0">
                <a:solidFill>
                  <a:schemeClr val="accent5"/>
                </a:solidFill>
              </a:rPr>
              <a:t>the critical bottleneck</a:t>
            </a:r>
            <a:r>
              <a:rPr kumimoji="1" lang="en-US" altLang="ko-KR" dirty="0"/>
              <a:t>, rather than computational speed.</a:t>
            </a:r>
          </a:p>
          <a:p>
            <a:pPr lvl="1"/>
            <a:r>
              <a:rPr kumimoji="1" lang="en-US" altLang="ko-KR" dirty="0"/>
              <a:t>For discrete GPU(dGPU), the PCIe bus used for data transfer between CPU and GPU memory became the primary performance limitation.</a:t>
            </a:r>
          </a:p>
          <a:p>
            <a:pPr lvl="1"/>
            <a:endParaRPr kumimoji="1" lang="en-US" altLang="ko-KR" dirty="0"/>
          </a:p>
          <a:p>
            <a:r>
              <a:rPr kumimoji="1" lang="en-US" altLang="ko-KR" dirty="0"/>
              <a:t> Advent of System-on-Chip(SoC) and </a:t>
            </a:r>
            <a:r>
              <a:rPr kumimoji="1" lang="en-US" altLang="ko-KR" dirty="0">
                <a:solidFill>
                  <a:schemeClr val="accent5"/>
                </a:solidFill>
              </a:rPr>
              <a:t>Unified Memory Architecture(UMA)</a:t>
            </a:r>
          </a:p>
          <a:p>
            <a:pPr lvl="1"/>
            <a:r>
              <a:rPr kumimoji="1" lang="en-US" altLang="ko-KR" dirty="0"/>
              <a:t>SoC designs like Apple M1 integrate the CPU, GPU, and memory onto a single chip.</a:t>
            </a:r>
          </a:p>
          <a:p>
            <a:pPr lvl="1"/>
            <a:r>
              <a:rPr lang="en-US" altLang="ko-KR" dirty="0"/>
              <a:t>UMA enables CPU and GPU </a:t>
            </a:r>
            <a:r>
              <a:rPr lang="en-US" altLang="ko-KR" dirty="0">
                <a:solidFill>
                  <a:schemeClr val="accent5"/>
                </a:solidFill>
              </a:rPr>
              <a:t>to share the same memory pool</a:t>
            </a:r>
            <a:r>
              <a:rPr lang="en-US" altLang="ko-KR" dirty="0"/>
              <a:t>, completely eliminating the data transfer bottleneck</a:t>
            </a:r>
            <a:endParaRPr kumimoji="1" lang="en-US" altLang="ko-KR" dirty="0"/>
          </a:p>
        </p:txBody>
      </p:sp>
    </p:spTree>
    <p:extLst>
      <p:ext uri="{BB962C8B-B14F-4D97-AF65-F5344CB8AC3E}">
        <p14:creationId xmlns:p14="http://schemas.microsoft.com/office/powerpoint/2010/main" val="3951407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9EDE5-9260-DDAF-211F-0FBCD5E6FF8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D37030D-6881-F6F3-DCE4-56DD07790696}"/>
              </a:ext>
            </a:extLst>
          </p:cNvPr>
          <p:cNvSpPr>
            <a:spLocks noGrp="1"/>
          </p:cNvSpPr>
          <p:nvPr>
            <p:ph type="title"/>
          </p:nvPr>
        </p:nvSpPr>
        <p:spPr/>
        <p:txBody>
          <a:bodyPr/>
          <a:lstStyle/>
          <a:p>
            <a:r>
              <a:rPr lang="en-US" altLang="ko-KR" dirty="0"/>
              <a:t>2. Related Work – SoC and dGPU</a:t>
            </a:r>
            <a:endParaRPr lang="ko-KR" altLang="en-US" dirty="0"/>
          </a:p>
        </p:txBody>
      </p:sp>
      <p:sp>
        <p:nvSpPr>
          <p:cNvPr id="3" name="텍스트 개체 틀 2">
            <a:extLst>
              <a:ext uri="{FF2B5EF4-FFF2-40B4-BE49-F238E27FC236}">
                <a16:creationId xmlns:a16="http://schemas.microsoft.com/office/drawing/2014/main" id="{07B2B90B-000E-AF35-8837-9B9C0588EE46}"/>
              </a:ext>
            </a:extLst>
          </p:cNvPr>
          <p:cNvSpPr>
            <a:spLocks noGrp="1"/>
          </p:cNvSpPr>
          <p:nvPr>
            <p:ph type="body" sz="quarter" idx="10"/>
          </p:nvPr>
        </p:nvSpPr>
        <p:spPr>
          <a:xfrm>
            <a:off x="411920" y="1880382"/>
            <a:ext cx="5684837" cy="4160271"/>
          </a:xfrm>
        </p:spPr>
        <p:txBody>
          <a:bodyPr>
            <a:normAutofit/>
          </a:bodyPr>
          <a:lstStyle/>
          <a:p>
            <a:r>
              <a:rPr lang="en-US" altLang="ko-KR" dirty="0"/>
              <a:t> dGPU(Discrete GPU)</a:t>
            </a:r>
          </a:p>
          <a:p>
            <a:pPr lvl="1"/>
            <a:r>
              <a:rPr lang="en-US" altLang="ko-KR" dirty="0"/>
              <a:t>Separate graphics card with dedicated VRAM</a:t>
            </a:r>
          </a:p>
          <a:p>
            <a:pPr lvl="1"/>
            <a:r>
              <a:rPr lang="en-US" altLang="ko-KR" dirty="0"/>
              <a:t>Connected to CPU via PCIe bus</a:t>
            </a:r>
          </a:p>
          <a:p>
            <a:pPr lvl="1"/>
            <a:r>
              <a:rPr lang="en-US" altLang="ko-KR" dirty="0">
                <a:solidFill>
                  <a:srgbClr val="FF0000"/>
                </a:solidFill>
              </a:rPr>
              <a:t>CPU↔GPU data copy required</a:t>
            </a:r>
          </a:p>
          <a:p>
            <a:pPr lvl="1"/>
            <a:r>
              <a:rPr lang="en-US" altLang="ko-KR" dirty="0"/>
              <a:t>dGPU systems require explicit data copying operations, such as </a:t>
            </a:r>
            <a:r>
              <a:rPr lang="en-US" altLang="ko-KR" b="1" i="1" dirty="0" err="1"/>
              <a:t>cudaMemcpy</a:t>
            </a:r>
            <a:r>
              <a:rPr lang="en-US" altLang="ko-KR" dirty="0"/>
              <a:t>, to transfer data between CPU and GPU memory.</a:t>
            </a:r>
          </a:p>
        </p:txBody>
      </p:sp>
      <p:pic>
        <p:nvPicPr>
          <p:cNvPr id="1026" name="Picture 2" descr="퀘이사존">
            <a:extLst>
              <a:ext uri="{FF2B5EF4-FFF2-40B4-BE49-F238E27FC236}">
                <a16:creationId xmlns:a16="http://schemas.microsoft.com/office/drawing/2014/main" id="{A57958BD-7D16-C184-656F-CED9513203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40" t="916" r="17668" b="2805"/>
          <a:stretch>
            <a:fillRect/>
          </a:stretch>
        </p:blipFill>
        <p:spPr bwMode="auto">
          <a:xfrm>
            <a:off x="6637489" y="1152524"/>
            <a:ext cx="4790693" cy="52561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6ED82F8-B6C8-B0C8-32A5-31AFB4C4B87B}"/>
              </a:ext>
            </a:extLst>
          </p:cNvPr>
          <p:cNvSpPr txBox="1"/>
          <p:nvPr/>
        </p:nvSpPr>
        <p:spPr>
          <a:xfrm>
            <a:off x="7915275" y="2238375"/>
            <a:ext cx="962025" cy="523220"/>
          </a:xfrm>
          <a:prstGeom prst="rect">
            <a:avLst/>
          </a:prstGeom>
          <a:noFill/>
        </p:spPr>
        <p:txBody>
          <a:bodyPr wrap="square" rtlCol="0">
            <a:spAutoFit/>
          </a:bodyPr>
          <a:lstStyle/>
          <a:p>
            <a:r>
              <a:rPr lang="en-US" altLang="ko-KR" sz="2800" b="1" dirty="0">
                <a:solidFill>
                  <a:schemeClr val="bg1"/>
                </a:solidFill>
                <a:highlight>
                  <a:srgbClr val="000000"/>
                </a:highlight>
                <a:latin typeface="+mj-lt"/>
              </a:rPr>
              <a:t>CPU</a:t>
            </a:r>
            <a:endParaRPr lang="ko-KR" altLang="en-US" sz="2800" b="1" dirty="0">
              <a:solidFill>
                <a:schemeClr val="bg1"/>
              </a:solidFill>
              <a:highlight>
                <a:srgbClr val="000000"/>
              </a:highlight>
              <a:latin typeface="+mj-lt"/>
            </a:endParaRPr>
          </a:p>
        </p:txBody>
      </p:sp>
      <p:sp>
        <p:nvSpPr>
          <p:cNvPr id="5" name="TextBox 4">
            <a:extLst>
              <a:ext uri="{FF2B5EF4-FFF2-40B4-BE49-F238E27FC236}">
                <a16:creationId xmlns:a16="http://schemas.microsoft.com/office/drawing/2014/main" id="{C8E12479-18EE-EE04-35E5-729632C11936}"/>
              </a:ext>
            </a:extLst>
          </p:cNvPr>
          <p:cNvSpPr txBox="1"/>
          <p:nvPr/>
        </p:nvSpPr>
        <p:spPr>
          <a:xfrm>
            <a:off x="7267575" y="3800324"/>
            <a:ext cx="962025" cy="523220"/>
          </a:xfrm>
          <a:prstGeom prst="rect">
            <a:avLst/>
          </a:prstGeom>
          <a:noFill/>
        </p:spPr>
        <p:txBody>
          <a:bodyPr wrap="square" rtlCol="0">
            <a:spAutoFit/>
          </a:bodyPr>
          <a:lstStyle/>
          <a:p>
            <a:r>
              <a:rPr lang="en-US" altLang="ko-KR" sz="2800" b="1" dirty="0">
                <a:solidFill>
                  <a:schemeClr val="bg1"/>
                </a:solidFill>
                <a:highlight>
                  <a:srgbClr val="000000"/>
                </a:highlight>
                <a:latin typeface="+mj-lt"/>
              </a:rPr>
              <a:t>GPU</a:t>
            </a:r>
            <a:endParaRPr lang="ko-KR" altLang="en-US" sz="2800" b="1" dirty="0">
              <a:solidFill>
                <a:schemeClr val="bg1"/>
              </a:solidFill>
              <a:highlight>
                <a:srgbClr val="000000"/>
              </a:highlight>
              <a:latin typeface="+mj-lt"/>
            </a:endParaRPr>
          </a:p>
        </p:txBody>
      </p:sp>
    </p:spTree>
    <p:extLst>
      <p:ext uri="{BB962C8B-B14F-4D97-AF65-F5344CB8AC3E}">
        <p14:creationId xmlns:p14="http://schemas.microsoft.com/office/powerpoint/2010/main" val="3861721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FA0B55-5F58-E55E-B170-222D75860150}"/>
              </a:ext>
            </a:extLst>
          </p:cNvPr>
          <p:cNvSpPr>
            <a:spLocks noGrp="1"/>
          </p:cNvSpPr>
          <p:nvPr>
            <p:ph type="title"/>
          </p:nvPr>
        </p:nvSpPr>
        <p:spPr/>
        <p:txBody>
          <a:bodyPr/>
          <a:lstStyle/>
          <a:p>
            <a:r>
              <a:rPr lang="en-US" altLang="ko-KR" dirty="0"/>
              <a:t>2. Related Work – SoC and dGPU</a:t>
            </a:r>
            <a:endParaRPr lang="ko-KR" altLang="en-US" dirty="0"/>
          </a:p>
        </p:txBody>
      </p:sp>
      <p:sp>
        <p:nvSpPr>
          <p:cNvPr id="3" name="텍스트 개체 틀 2">
            <a:extLst>
              <a:ext uri="{FF2B5EF4-FFF2-40B4-BE49-F238E27FC236}">
                <a16:creationId xmlns:a16="http://schemas.microsoft.com/office/drawing/2014/main" id="{DAE1B894-4841-1AFE-8A59-2E175A6D06C2}"/>
              </a:ext>
            </a:extLst>
          </p:cNvPr>
          <p:cNvSpPr>
            <a:spLocks noGrp="1"/>
          </p:cNvSpPr>
          <p:nvPr>
            <p:ph type="body" sz="quarter" idx="10"/>
          </p:nvPr>
        </p:nvSpPr>
        <p:spPr>
          <a:xfrm>
            <a:off x="110706" y="1095217"/>
            <a:ext cx="7352013" cy="2670175"/>
          </a:xfrm>
        </p:spPr>
        <p:txBody>
          <a:bodyPr>
            <a:normAutofit/>
          </a:bodyPr>
          <a:lstStyle/>
          <a:p>
            <a:r>
              <a:rPr lang="en-US" altLang="ko-KR" dirty="0"/>
              <a:t> SoC(System-on-Chip)</a:t>
            </a:r>
          </a:p>
          <a:p>
            <a:pPr lvl="1"/>
            <a:r>
              <a:rPr lang="en-US" altLang="ko-KR" dirty="0"/>
              <a:t>CPU, GPU, and memory integrated on a single chip</a:t>
            </a:r>
          </a:p>
          <a:p>
            <a:pPr lvl="1"/>
            <a:r>
              <a:rPr lang="en-US" altLang="ko-KR" dirty="0"/>
              <a:t>Uses UMA (Unified Memory Architecture)</a:t>
            </a:r>
          </a:p>
          <a:p>
            <a:pPr lvl="1"/>
            <a:r>
              <a:rPr lang="en-US" altLang="ko-KR" dirty="0">
                <a:solidFill>
                  <a:schemeClr val="accent5"/>
                </a:solidFill>
              </a:rPr>
              <a:t>No data copy required</a:t>
            </a:r>
          </a:p>
        </p:txBody>
      </p:sp>
      <p:pic>
        <p:nvPicPr>
          <p:cNvPr id="4" name="Picture 2" descr="Exploring Apple's M Architecture: A Detailed Overview | by Life is a SoC |  Medium">
            <a:extLst>
              <a:ext uri="{FF2B5EF4-FFF2-40B4-BE49-F238E27FC236}">
                <a16:creationId xmlns:a16="http://schemas.microsoft.com/office/drawing/2014/main" id="{DAA437F8-BB5A-E5B7-9C2C-F555391192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796" r="22592" b="6611"/>
          <a:stretch>
            <a:fillRect/>
          </a:stretch>
        </p:blipFill>
        <p:spPr bwMode="auto">
          <a:xfrm>
            <a:off x="7701423" y="3298277"/>
            <a:ext cx="3850641" cy="352590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pple M1 Ultra Chip Is Nearly 3 Times Bigger Than AMD's Ryzen CPUs,  Benchmarks Show Desktop Intel &amp; AMD CPUs Still Ahead">
            <a:extLst>
              <a:ext uri="{FF2B5EF4-FFF2-40B4-BE49-F238E27FC236}">
                <a16:creationId xmlns:a16="http://schemas.microsoft.com/office/drawing/2014/main" id="{C5CD9957-EB4F-A683-BA54-DB901028B3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01423" y="1460149"/>
            <a:ext cx="3722602" cy="194030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Why is the 'M1' chip developed by Apple so high-performance? - GIGAZINE">
            <a:extLst>
              <a:ext uri="{FF2B5EF4-FFF2-40B4-BE49-F238E27FC236}">
                <a16:creationId xmlns:a16="http://schemas.microsoft.com/office/drawing/2014/main" id="{57ADEE83-D274-EA12-FA5D-102D44BDEBE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206" t="20706" r="12559" b="15608"/>
          <a:stretch>
            <a:fillRect/>
          </a:stretch>
        </p:blipFill>
        <p:spPr bwMode="auto">
          <a:xfrm>
            <a:off x="639936" y="3300683"/>
            <a:ext cx="6494489" cy="30518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43004F-3847-FB67-B4B6-7EC313FC82F8}"/>
              </a:ext>
            </a:extLst>
          </p:cNvPr>
          <p:cNvSpPr txBox="1"/>
          <p:nvPr/>
        </p:nvSpPr>
        <p:spPr>
          <a:xfrm>
            <a:off x="0" y="6581001"/>
            <a:ext cx="6126480" cy="276999"/>
          </a:xfrm>
          <a:prstGeom prst="rect">
            <a:avLst/>
          </a:prstGeom>
          <a:noFill/>
        </p:spPr>
        <p:txBody>
          <a:bodyPr wrap="square">
            <a:spAutoFit/>
          </a:bodyPr>
          <a:lstStyle/>
          <a:p>
            <a:r>
              <a:rPr lang="ko-KR" altLang="en-US" sz="1200" dirty="0" err="1">
                <a:latin typeface="+mj-lt"/>
              </a:rPr>
              <a:t>https</a:t>
            </a:r>
            <a:r>
              <a:rPr lang="ko-KR" altLang="en-US" sz="1200" dirty="0">
                <a:latin typeface="+mj-lt"/>
              </a:rPr>
              <a:t>://</a:t>
            </a:r>
            <a:r>
              <a:rPr lang="ko-KR" altLang="en-US" sz="1200" dirty="0" err="1">
                <a:latin typeface="+mj-lt"/>
              </a:rPr>
              <a:t>gigazine.net</a:t>
            </a:r>
            <a:r>
              <a:rPr lang="ko-KR" altLang="en-US" sz="1200" dirty="0">
                <a:latin typeface="+mj-lt"/>
              </a:rPr>
              <a:t>/</a:t>
            </a:r>
            <a:r>
              <a:rPr lang="ko-KR" altLang="en-US" sz="1200" dirty="0" err="1">
                <a:latin typeface="+mj-lt"/>
              </a:rPr>
              <a:t>gsc_news</a:t>
            </a:r>
            <a:r>
              <a:rPr lang="ko-KR" altLang="en-US" sz="1200" dirty="0">
                <a:latin typeface="+mj-lt"/>
              </a:rPr>
              <a:t>/</a:t>
            </a:r>
            <a:r>
              <a:rPr lang="ko-KR" altLang="en-US" sz="1200" dirty="0" err="1">
                <a:latin typeface="+mj-lt"/>
              </a:rPr>
              <a:t>en</a:t>
            </a:r>
            <a:r>
              <a:rPr lang="ko-KR" altLang="en-US" sz="1200" dirty="0">
                <a:latin typeface="+mj-lt"/>
              </a:rPr>
              <a:t>/20201202-apple-m1-fast/</a:t>
            </a:r>
          </a:p>
        </p:txBody>
      </p:sp>
      <p:pic>
        <p:nvPicPr>
          <p:cNvPr id="3076" name="Picture 4" descr="Apple M1 Unified Memory | Stephen Smith's Blog">
            <a:extLst>
              <a:ext uri="{FF2B5EF4-FFF2-40B4-BE49-F238E27FC236}">
                <a16:creationId xmlns:a16="http://schemas.microsoft.com/office/drawing/2014/main" id="{B060F2FD-8D62-5A96-F307-6FB366245A7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57867" y="104685"/>
            <a:ext cx="2409713" cy="1355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76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08ECF-EE57-CD8F-1BB4-67B8515BEA0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9E17FC1-A694-54BB-8AC3-A5AF13E08DD1}"/>
              </a:ext>
            </a:extLst>
          </p:cNvPr>
          <p:cNvSpPr>
            <a:spLocks noGrp="1"/>
          </p:cNvSpPr>
          <p:nvPr>
            <p:ph type="title"/>
          </p:nvPr>
        </p:nvSpPr>
        <p:spPr/>
        <p:txBody>
          <a:bodyPr/>
          <a:lstStyle/>
          <a:p>
            <a:r>
              <a:rPr lang="en-US" altLang="ko-KR" dirty="0"/>
              <a:t>2.</a:t>
            </a:r>
            <a:r>
              <a:rPr lang="ko-KR" altLang="en-US" dirty="0"/>
              <a:t> </a:t>
            </a:r>
            <a:r>
              <a:rPr lang="en-US" altLang="ko-KR" dirty="0"/>
              <a:t>Related Work </a:t>
            </a:r>
            <a:endParaRPr lang="ko-KR" altLang="en-US" dirty="0"/>
          </a:p>
        </p:txBody>
      </p:sp>
      <p:sp>
        <p:nvSpPr>
          <p:cNvPr id="3" name="텍스트 개체 틀 2">
            <a:extLst>
              <a:ext uri="{FF2B5EF4-FFF2-40B4-BE49-F238E27FC236}">
                <a16:creationId xmlns:a16="http://schemas.microsoft.com/office/drawing/2014/main" id="{78B0F580-3E60-4D9E-9FF3-746B4D157968}"/>
              </a:ext>
            </a:extLst>
          </p:cNvPr>
          <p:cNvSpPr>
            <a:spLocks noGrp="1"/>
          </p:cNvSpPr>
          <p:nvPr>
            <p:ph type="body" sz="quarter" idx="10"/>
          </p:nvPr>
        </p:nvSpPr>
        <p:spPr/>
        <p:txBody>
          <a:bodyPr/>
          <a:lstStyle/>
          <a:p>
            <a:r>
              <a:rPr lang="en-US" altLang="ko-KR" dirty="0"/>
              <a:t> Generally, research on block cipher optimization using </a:t>
            </a:r>
            <a:r>
              <a:rPr lang="en-US" altLang="ko-KR" dirty="0" err="1"/>
              <a:t>dGPUs</a:t>
            </a:r>
            <a:r>
              <a:rPr lang="en-US" altLang="ko-KR" dirty="0"/>
              <a:t> has been conducted in the direction of efficient memory utilization within </a:t>
            </a:r>
            <a:r>
              <a:rPr lang="en-US" altLang="ko-KR" dirty="0" err="1"/>
              <a:t>dGPUs</a:t>
            </a:r>
            <a:r>
              <a:rPr lang="en-US" altLang="ko-KR" dirty="0"/>
              <a:t> and minimizing bank conflicts.</a:t>
            </a:r>
          </a:p>
        </p:txBody>
      </p:sp>
      <p:sp>
        <p:nvSpPr>
          <p:cNvPr id="5" name="TextBox 4">
            <a:extLst>
              <a:ext uri="{FF2B5EF4-FFF2-40B4-BE49-F238E27FC236}">
                <a16:creationId xmlns:a16="http://schemas.microsoft.com/office/drawing/2014/main" id="{A4A785FA-AA8F-E013-FDE7-F0C32E86533B}"/>
              </a:ext>
            </a:extLst>
          </p:cNvPr>
          <p:cNvSpPr txBox="1"/>
          <p:nvPr/>
        </p:nvSpPr>
        <p:spPr>
          <a:xfrm>
            <a:off x="7115643" y="3031877"/>
            <a:ext cx="4402667" cy="600164"/>
          </a:xfrm>
          <a:prstGeom prst="rect">
            <a:avLst/>
          </a:prstGeom>
          <a:noFill/>
        </p:spPr>
        <p:txBody>
          <a:bodyPr wrap="square">
            <a:spAutoFit/>
          </a:bodyPr>
          <a:lstStyle/>
          <a:p>
            <a:r>
              <a:rPr lang="en-US" altLang="ko-KR" sz="1100" b="0" i="0" dirty="0">
                <a:solidFill>
                  <a:srgbClr val="222222"/>
                </a:solidFill>
                <a:effectLst/>
                <a:latin typeface="+mj-lt"/>
              </a:rPr>
              <a:t>Eum, Siwoo, et al. "Efficient GPU Parallel Implementation and Optimization of ARIA for Counter and Exhaustive Key-Search Modes." Electronics 14.10 (2025): 2021.</a:t>
            </a:r>
            <a:endParaRPr lang="ko-KR" altLang="en-US" sz="1100" dirty="0">
              <a:latin typeface="+mj-lt"/>
            </a:endParaRPr>
          </a:p>
        </p:txBody>
      </p:sp>
      <p:sp>
        <p:nvSpPr>
          <p:cNvPr id="7" name="TextBox 6">
            <a:extLst>
              <a:ext uri="{FF2B5EF4-FFF2-40B4-BE49-F238E27FC236}">
                <a16:creationId xmlns:a16="http://schemas.microsoft.com/office/drawing/2014/main" id="{14126635-B304-53C7-116F-057DEEA138DA}"/>
              </a:ext>
            </a:extLst>
          </p:cNvPr>
          <p:cNvSpPr txBox="1"/>
          <p:nvPr/>
        </p:nvSpPr>
        <p:spPr>
          <a:xfrm>
            <a:off x="7115643" y="3843929"/>
            <a:ext cx="3835401" cy="600164"/>
          </a:xfrm>
          <a:prstGeom prst="rect">
            <a:avLst/>
          </a:prstGeom>
          <a:noFill/>
        </p:spPr>
        <p:txBody>
          <a:bodyPr wrap="square">
            <a:spAutoFit/>
          </a:bodyPr>
          <a:lstStyle/>
          <a:p>
            <a:r>
              <a:rPr lang="en-US" altLang="ko-KR" sz="1100" b="0" i="0" dirty="0">
                <a:solidFill>
                  <a:srgbClr val="222222"/>
                </a:solidFill>
                <a:effectLst/>
                <a:latin typeface="+mj-lt"/>
              </a:rPr>
              <a:t>Kim, </a:t>
            </a:r>
            <a:r>
              <a:rPr lang="en-US" altLang="ko-KR" sz="1100" b="0" i="0" dirty="0" err="1">
                <a:solidFill>
                  <a:srgbClr val="222222"/>
                </a:solidFill>
                <a:effectLst/>
                <a:latin typeface="+mj-lt"/>
              </a:rPr>
              <a:t>Hyunjun</a:t>
            </a:r>
            <a:r>
              <a:rPr lang="en-US" altLang="ko-KR" sz="1100" b="0" i="0" dirty="0">
                <a:solidFill>
                  <a:srgbClr val="222222"/>
                </a:solidFill>
                <a:effectLst/>
                <a:latin typeface="+mj-lt"/>
              </a:rPr>
              <a:t>, et al. "Secure and robust Internet of Things with high-speed implementation of PRESENT and GIFT block ciphers on GPU." </a:t>
            </a:r>
            <a:r>
              <a:rPr lang="en-US" altLang="ko-KR" sz="1100" b="0" i="1" dirty="0">
                <a:solidFill>
                  <a:srgbClr val="222222"/>
                </a:solidFill>
                <a:effectLst/>
                <a:latin typeface="+mj-lt"/>
              </a:rPr>
              <a:t>Applied Sciences</a:t>
            </a:r>
            <a:r>
              <a:rPr lang="en-US" altLang="ko-KR" sz="1100" b="0" i="0" dirty="0">
                <a:solidFill>
                  <a:srgbClr val="222222"/>
                </a:solidFill>
                <a:effectLst/>
                <a:latin typeface="+mj-lt"/>
              </a:rPr>
              <a:t> 12.20 (2022): 10192.</a:t>
            </a:r>
            <a:endParaRPr lang="ko-KR" altLang="en-US" sz="1100" dirty="0">
              <a:latin typeface="+mj-lt"/>
            </a:endParaRPr>
          </a:p>
        </p:txBody>
      </p:sp>
      <p:sp>
        <p:nvSpPr>
          <p:cNvPr id="9" name="TextBox 8">
            <a:extLst>
              <a:ext uri="{FF2B5EF4-FFF2-40B4-BE49-F238E27FC236}">
                <a16:creationId xmlns:a16="http://schemas.microsoft.com/office/drawing/2014/main" id="{2B4ADAF2-B766-EA06-ADAC-1DF8930515F7}"/>
              </a:ext>
            </a:extLst>
          </p:cNvPr>
          <p:cNvSpPr txBox="1"/>
          <p:nvPr/>
        </p:nvSpPr>
        <p:spPr>
          <a:xfrm>
            <a:off x="7115643" y="4661394"/>
            <a:ext cx="4301067" cy="600164"/>
          </a:xfrm>
          <a:prstGeom prst="rect">
            <a:avLst/>
          </a:prstGeom>
          <a:noFill/>
        </p:spPr>
        <p:txBody>
          <a:bodyPr wrap="square">
            <a:spAutoFit/>
          </a:bodyPr>
          <a:lstStyle/>
          <a:p>
            <a:r>
              <a:rPr lang="en-US" altLang="ko-KR" sz="1100" b="0" i="0" dirty="0">
                <a:solidFill>
                  <a:srgbClr val="222222"/>
                </a:solidFill>
                <a:effectLst/>
                <a:latin typeface="+mj-lt"/>
              </a:rPr>
              <a:t>Lee, Wai Kong, Raphael C-W. Phan, and Bok Min Goi. "Fast and energy-efficient block ciphers implementations in ARM processors and </a:t>
            </a:r>
            <a:r>
              <a:rPr lang="en-US" altLang="ko-KR" sz="1100" b="0" i="0" dirty="0" err="1">
                <a:solidFill>
                  <a:srgbClr val="222222"/>
                </a:solidFill>
                <a:effectLst/>
                <a:latin typeface="+mj-lt"/>
              </a:rPr>
              <a:t>mali</a:t>
            </a:r>
            <a:r>
              <a:rPr lang="en-US" altLang="ko-KR" sz="1100" b="0" i="0" dirty="0">
                <a:solidFill>
                  <a:srgbClr val="222222"/>
                </a:solidFill>
                <a:effectLst/>
                <a:latin typeface="+mj-lt"/>
              </a:rPr>
              <a:t> GPU." </a:t>
            </a:r>
            <a:r>
              <a:rPr lang="en-US" altLang="ko-KR" sz="1100" b="0" i="1" dirty="0">
                <a:solidFill>
                  <a:srgbClr val="222222"/>
                </a:solidFill>
                <a:effectLst/>
                <a:latin typeface="+mj-lt"/>
              </a:rPr>
              <a:t>IETE Journal of Research</a:t>
            </a:r>
            <a:r>
              <a:rPr lang="en-US" altLang="ko-KR" sz="1100" b="0" i="0" dirty="0">
                <a:solidFill>
                  <a:srgbClr val="222222"/>
                </a:solidFill>
                <a:effectLst/>
                <a:latin typeface="+mj-lt"/>
              </a:rPr>
              <a:t> 68.4 (2022): 2675-2682.</a:t>
            </a:r>
            <a:endParaRPr lang="ko-KR" altLang="en-US" sz="1100" dirty="0">
              <a:latin typeface="+mj-lt"/>
            </a:endParaRPr>
          </a:p>
        </p:txBody>
      </p:sp>
      <p:pic>
        <p:nvPicPr>
          <p:cNvPr id="11" name="그림 10">
            <a:extLst>
              <a:ext uri="{FF2B5EF4-FFF2-40B4-BE49-F238E27FC236}">
                <a16:creationId xmlns:a16="http://schemas.microsoft.com/office/drawing/2014/main" id="{C1156F52-8493-55F5-4C74-7345CB2B1233}"/>
              </a:ext>
            </a:extLst>
          </p:cNvPr>
          <p:cNvPicPr>
            <a:picLocks noChangeAspect="1"/>
          </p:cNvPicPr>
          <p:nvPr/>
        </p:nvPicPr>
        <p:blipFill>
          <a:blip r:embed="rId3"/>
          <a:stretch>
            <a:fillRect/>
          </a:stretch>
        </p:blipFill>
        <p:spPr>
          <a:xfrm>
            <a:off x="961496" y="4509751"/>
            <a:ext cx="4911209" cy="1065299"/>
          </a:xfrm>
          <a:prstGeom prst="rect">
            <a:avLst/>
          </a:prstGeom>
        </p:spPr>
      </p:pic>
      <p:pic>
        <p:nvPicPr>
          <p:cNvPr id="13" name="그림 12">
            <a:extLst>
              <a:ext uri="{FF2B5EF4-FFF2-40B4-BE49-F238E27FC236}">
                <a16:creationId xmlns:a16="http://schemas.microsoft.com/office/drawing/2014/main" id="{E12527E0-A5CE-460F-0E9A-23160335265B}"/>
              </a:ext>
            </a:extLst>
          </p:cNvPr>
          <p:cNvPicPr>
            <a:picLocks noChangeAspect="1"/>
          </p:cNvPicPr>
          <p:nvPr/>
        </p:nvPicPr>
        <p:blipFill>
          <a:blip r:embed="rId4"/>
          <a:stretch>
            <a:fillRect/>
          </a:stretch>
        </p:blipFill>
        <p:spPr>
          <a:xfrm>
            <a:off x="961496" y="3533180"/>
            <a:ext cx="5044477" cy="839855"/>
          </a:xfrm>
          <a:prstGeom prst="rect">
            <a:avLst/>
          </a:prstGeom>
        </p:spPr>
      </p:pic>
      <p:pic>
        <p:nvPicPr>
          <p:cNvPr id="15" name="그림 14">
            <a:extLst>
              <a:ext uri="{FF2B5EF4-FFF2-40B4-BE49-F238E27FC236}">
                <a16:creationId xmlns:a16="http://schemas.microsoft.com/office/drawing/2014/main" id="{D11E5275-F773-D1B9-3BA4-64EE46B6FDAC}"/>
              </a:ext>
            </a:extLst>
          </p:cNvPr>
          <p:cNvPicPr>
            <a:picLocks noChangeAspect="1"/>
          </p:cNvPicPr>
          <p:nvPr/>
        </p:nvPicPr>
        <p:blipFill>
          <a:blip r:embed="rId5"/>
          <a:stretch>
            <a:fillRect/>
          </a:stretch>
        </p:blipFill>
        <p:spPr>
          <a:xfrm>
            <a:off x="961496" y="2720022"/>
            <a:ext cx="4402667" cy="754882"/>
          </a:xfrm>
          <a:prstGeom prst="rect">
            <a:avLst/>
          </a:prstGeom>
        </p:spPr>
      </p:pic>
      <p:pic>
        <p:nvPicPr>
          <p:cNvPr id="17" name="그림 16">
            <a:extLst>
              <a:ext uri="{FF2B5EF4-FFF2-40B4-BE49-F238E27FC236}">
                <a16:creationId xmlns:a16="http://schemas.microsoft.com/office/drawing/2014/main" id="{8B071EC7-B720-266D-5364-0F9A91C8052B}"/>
              </a:ext>
            </a:extLst>
          </p:cNvPr>
          <p:cNvPicPr>
            <a:picLocks noChangeAspect="1"/>
          </p:cNvPicPr>
          <p:nvPr/>
        </p:nvPicPr>
        <p:blipFill>
          <a:blip r:embed="rId6"/>
          <a:stretch>
            <a:fillRect/>
          </a:stretch>
        </p:blipFill>
        <p:spPr>
          <a:xfrm>
            <a:off x="961496" y="5692775"/>
            <a:ext cx="2968157" cy="761670"/>
          </a:xfrm>
          <a:prstGeom prst="rect">
            <a:avLst/>
          </a:prstGeom>
        </p:spPr>
      </p:pic>
      <p:sp>
        <p:nvSpPr>
          <p:cNvPr id="18" name="TextBox 17">
            <a:extLst>
              <a:ext uri="{FF2B5EF4-FFF2-40B4-BE49-F238E27FC236}">
                <a16:creationId xmlns:a16="http://schemas.microsoft.com/office/drawing/2014/main" id="{F878CC83-4977-A991-D22C-76FC12BDDCE4}"/>
              </a:ext>
            </a:extLst>
          </p:cNvPr>
          <p:cNvSpPr txBox="1"/>
          <p:nvPr/>
        </p:nvSpPr>
        <p:spPr>
          <a:xfrm>
            <a:off x="7115642" y="5473446"/>
            <a:ext cx="4301067" cy="430887"/>
          </a:xfrm>
          <a:prstGeom prst="rect">
            <a:avLst/>
          </a:prstGeom>
          <a:noFill/>
        </p:spPr>
        <p:txBody>
          <a:bodyPr wrap="square">
            <a:spAutoFit/>
          </a:bodyPr>
          <a:lstStyle/>
          <a:p>
            <a:r>
              <a:rPr lang="en-US" altLang="ko-KR" sz="1100" b="0" i="0" dirty="0">
                <a:solidFill>
                  <a:srgbClr val="222222"/>
                </a:solidFill>
                <a:effectLst/>
                <a:latin typeface="+mj-lt"/>
              </a:rPr>
              <a:t>Tezcan, Cihangir. "Optimization of advanced encryption standard on graphics processing units." IEEE Access 9 (2021): 67315-67326.</a:t>
            </a:r>
            <a:endParaRPr lang="ko-KR" altLang="en-US" sz="1100" dirty="0">
              <a:latin typeface="+mj-lt"/>
            </a:endParaRPr>
          </a:p>
        </p:txBody>
      </p:sp>
    </p:spTree>
    <p:extLst>
      <p:ext uri="{BB962C8B-B14F-4D97-AF65-F5344CB8AC3E}">
        <p14:creationId xmlns:p14="http://schemas.microsoft.com/office/powerpoint/2010/main" val="1519914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7C0C-AAAF-14CA-E436-6AEEF7AE83C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63517B1-2F76-59EB-4AA4-7A328AAC5CF4}"/>
              </a:ext>
            </a:extLst>
          </p:cNvPr>
          <p:cNvSpPr>
            <a:spLocks noGrp="1"/>
          </p:cNvSpPr>
          <p:nvPr>
            <p:ph type="title"/>
          </p:nvPr>
        </p:nvSpPr>
        <p:spPr/>
        <p:txBody>
          <a:bodyPr/>
          <a:lstStyle/>
          <a:p>
            <a:r>
              <a:rPr lang="en-US" altLang="ko-KR" dirty="0"/>
              <a:t>2.</a:t>
            </a:r>
            <a:r>
              <a:rPr lang="ko-KR" altLang="en-US" dirty="0"/>
              <a:t> </a:t>
            </a:r>
            <a:r>
              <a:rPr lang="en-US" altLang="ko-KR" dirty="0"/>
              <a:t>Related Work – ARIA Block Cipher</a:t>
            </a:r>
            <a:endParaRPr lang="ko-KR" altLang="en-US" dirty="0"/>
          </a:p>
        </p:txBody>
      </p:sp>
      <p:sp>
        <p:nvSpPr>
          <p:cNvPr id="3" name="텍스트 개체 틀 2">
            <a:extLst>
              <a:ext uri="{FF2B5EF4-FFF2-40B4-BE49-F238E27FC236}">
                <a16:creationId xmlns:a16="http://schemas.microsoft.com/office/drawing/2014/main" id="{2878F280-483E-2681-A760-4BBD14A85D8E}"/>
              </a:ext>
            </a:extLst>
          </p:cNvPr>
          <p:cNvSpPr>
            <a:spLocks noGrp="1"/>
          </p:cNvSpPr>
          <p:nvPr>
            <p:ph type="body" sz="quarter" idx="10"/>
          </p:nvPr>
        </p:nvSpPr>
        <p:spPr>
          <a:xfrm>
            <a:off x="411163" y="1897592"/>
            <a:ext cx="5684837" cy="3701698"/>
          </a:xfrm>
        </p:spPr>
        <p:txBody>
          <a:bodyPr>
            <a:normAutofit/>
          </a:bodyPr>
          <a:lstStyle/>
          <a:p>
            <a:r>
              <a:rPr lang="en-US" altLang="ko-KR" sz="2400" dirty="0"/>
              <a:t> Target Block Cipher – ARIA</a:t>
            </a:r>
          </a:p>
          <a:p>
            <a:pPr lvl="1"/>
            <a:r>
              <a:rPr lang="en-US" altLang="ko-KR" sz="2000" dirty="0"/>
              <a:t>Korean standard block cipher used as a 128-bit block cipher</a:t>
            </a:r>
          </a:p>
          <a:p>
            <a:pPr lvl="1"/>
            <a:r>
              <a:rPr lang="en-US" altLang="ko-KR" sz="2000" dirty="0"/>
              <a:t>Based on SPN (Substitution Permutation Network) structure similar to AES</a:t>
            </a:r>
          </a:p>
          <a:p>
            <a:pPr lvl="1"/>
            <a:r>
              <a:rPr lang="en-US" altLang="ko-KR" sz="2000" dirty="0"/>
              <a:t>Core Operations</a:t>
            </a:r>
          </a:p>
          <a:p>
            <a:pPr lvl="2"/>
            <a:r>
              <a:rPr lang="en-US" altLang="ko-KR" sz="1600" dirty="0"/>
              <a:t>Round Key Addition</a:t>
            </a:r>
          </a:p>
          <a:p>
            <a:pPr lvl="2"/>
            <a:r>
              <a:rPr lang="en-US" altLang="ko-KR" sz="1800" dirty="0"/>
              <a:t>Substitution</a:t>
            </a:r>
          </a:p>
          <a:p>
            <a:pPr lvl="3"/>
            <a:r>
              <a:rPr lang="en-US" altLang="ko-KR" sz="1600" dirty="0"/>
              <a:t>Uses two types of S-box table</a:t>
            </a:r>
          </a:p>
          <a:p>
            <a:pPr lvl="2"/>
            <a:r>
              <a:rPr lang="en-US" altLang="ko-KR" sz="1800" dirty="0"/>
              <a:t>Diffusion</a:t>
            </a:r>
          </a:p>
        </p:txBody>
      </p:sp>
      <p:pic>
        <p:nvPicPr>
          <p:cNvPr id="1026" name="Picture 2" descr="Parallel Implementations of ARIA on ARM Processors and Graphics Processing  Unit">
            <a:extLst>
              <a:ext uri="{FF2B5EF4-FFF2-40B4-BE49-F238E27FC236}">
                <a16:creationId xmlns:a16="http://schemas.microsoft.com/office/drawing/2014/main" id="{1D9F24C6-3959-D325-81CC-5BBC0E70A5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5943" y="1976614"/>
            <a:ext cx="5504137" cy="3275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525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E67FF-6D45-19AB-8C2B-2B1B049956F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B0AD3EF-B4AC-23B1-1ECE-0ED56FA1F1B9}"/>
              </a:ext>
            </a:extLst>
          </p:cNvPr>
          <p:cNvSpPr>
            <a:spLocks noGrp="1"/>
          </p:cNvSpPr>
          <p:nvPr>
            <p:ph type="title"/>
          </p:nvPr>
        </p:nvSpPr>
        <p:spPr/>
        <p:txBody>
          <a:bodyPr/>
          <a:lstStyle/>
          <a:p>
            <a:r>
              <a:rPr lang="en-US" altLang="ko-KR" dirty="0"/>
              <a:t>2. Related Work – Counter Mode</a:t>
            </a:r>
            <a:endParaRPr lang="ko-KR" altLang="en-US" dirty="0"/>
          </a:p>
        </p:txBody>
      </p:sp>
      <p:sp>
        <p:nvSpPr>
          <p:cNvPr id="3" name="텍스트 개체 틀 2">
            <a:extLst>
              <a:ext uri="{FF2B5EF4-FFF2-40B4-BE49-F238E27FC236}">
                <a16:creationId xmlns:a16="http://schemas.microsoft.com/office/drawing/2014/main" id="{9AD99B8C-CFE6-6CAB-67F2-AED9249E5BF1}"/>
              </a:ext>
            </a:extLst>
          </p:cNvPr>
          <p:cNvSpPr>
            <a:spLocks noGrp="1"/>
          </p:cNvSpPr>
          <p:nvPr>
            <p:ph type="body" sz="quarter" idx="10"/>
          </p:nvPr>
        </p:nvSpPr>
        <p:spPr/>
        <p:txBody>
          <a:bodyPr/>
          <a:lstStyle/>
          <a:p>
            <a:r>
              <a:rPr lang="en-US" altLang="ko-KR" dirty="0"/>
              <a:t> Counter Mode</a:t>
            </a:r>
          </a:p>
          <a:p>
            <a:pPr lvl="1"/>
            <a:r>
              <a:rPr lang="en-US" altLang="ko-KR" dirty="0"/>
              <a:t>An operation mode that uses block ciphers like stream ciphers</a:t>
            </a:r>
          </a:p>
          <a:p>
            <a:pPr lvl="1"/>
            <a:r>
              <a:rPr lang="en-US" altLang="ko-KR" dirty="0"/>
              <a:t>Unlike other operation modes, each block can be computed independently, enabling parallel processing</a:t>
            </a:r>
            <a:endParaRPr lang="ko-KR" altLang="en-US" dirty="0"/>
          </a:p>
        </p:txBody>
      </p:sp>
      <p:pic>
        <p:nvPicPr>
          <p:cNvPr id="2052" name="Picture 4" descr="TLS/암호 알고리즘 쉽게 이해하기(4) - Block Cipher Mode - All about IoT">
            <a:extLst>
              <a:ext uri="{FF2B5EF4-FFF2-40B4-BE49-F238E27FC236}">
                <a16:creationId xmlns:a16="http://schemas.microsoft.com/office/drawing/2014/main" id="{1CD61D24-1605-6A8D-B90E-2BE0FF44A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4897" y="3195021"/>
            <a:ext cx="8582206" cy="3455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98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58A2C-BC44-BCD5-9D78-F1010D18E5B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02798E-E198-3C78-02E4-F0936FFA4D78}"/>
              </a:ext>
            </a:extLst>
          </p:cNvPr>
          <p:cNvSpPr>
            <a:spLocks noGrp="1"/>
          </p:cNvSpPr>
          <p:nvPr>
            <p:ph type="title"/>
          </p:nvPr>
        </p:nvSpPr>
        <p:spPr/>
        <p:txBody>
          <a:bodyPr/>
          <a:lstStyle/>
          <a:p>
            <a:r>
              <a:rPr lang="en-US" altLang="ko-KR" dirty="0"/>
              <a:t>2.</a:t>
            </a:r>
            <a:r>
              <a:rPr lang="ko-KR" altLang="en-US" dirty="0"/>
              <a:t> </a:t>
            </a:r>
            <a:r>
              <a:rPr lang="en-US" altLang="ko-KR" dirty="0"/>
              <a:t>Related Work – Memory</a:t>
            </a:r>
            <a:r>
              <a:rPr lang="ko-KR" altLang="en-US" dirty="0"/>
              <a:t> </a:t>
            </a:r>
            <a:r>
              <a:rPr lang="en-US" altLang="ko-KR" dirty="0"/>
              <a:t>models of Metal</a:t>
            </a:r>
            <a:endParaRPr lang="ko-KR" altLang="en-US" dirty="0"/>
          </a:p>
        </p:txBody>
      </p:sp>
      <p:sp>
        <p:nvSpPr>
          <p:cNvPr id="3" name="텍스트 개체 틀 2">
            <a:extLst>
              <a:ext uri="{FF2B5EF4-FFF2-40B4-BE49-F238E27FC236}">
                <a16:creationId xmlns:a16="http://schemas.microsoft.com/office/drawing/2014/main" id="{171FE99F-7D79-A240-93B6-E483F41DAAD3}"/>
              </a:ext>
            </a:extLst>
          </p:cNvPr>
          <p:cNvSpPr>
            <a:spLocks noGrp="1"/>
          </p:cNvSpPr>
          <p:nvPr>
            <p:ph type="body" sz="quarter" idx="10"/>
          </p:nvPr>
        </p:nvSpPr>
        <p:spPr>
          <a:xfrm>
            <a:off x="411164" y="1152525"/>
            <a:ext cx="5396970" cy="5375275"/>
          </a:xfrm>
        </p:spPr>
        <p:txBody>
          <a:bodyPr>
            <a:normAutofit/>
          </a:bodyPr>
          <a:lstStyle/>
          <a:p>
            <a:r>
              <a:rPr lang="en" altLang="ko-KR" sz="2000" b="1" dirty="0"/>
              <a:t>Device memory</a:t>
            </a:r>
          </a:p>
          <a:p>
            <a:pPr lvl="1"/>
            <a:r>
              <a:rPr lang="en-US" altLang="ko-KR" sz="1800" dirty="0"/>
              <a:t>Main memory accessible by GPU kernels. In UMA environments, this corresponds to system RAM. Offers </a:t>
            </a:r>
            <a:r>
              <a:rPr lang="en-US" altLang="ko-KR" sz="1800" dirty="0">
                <a:solidFill>
                  <a:schemeClr val="accent5"/>
                </a:solidFill>
              </a:rPr>
              <a:t>the largest capacity</a:t>
            </a:r>
            <a:r>
              <a:rPr lang="en-US" altLang="ko-KR" sz="1800" dirty="0"/>
              <a:t> but has </a:t>
            </a:r>
            <a:r>
              <a:rPr lang="en-US" altLang="ko-KR" sz="1800" dirty="0">
                <a:solidFill>
                  <a:srgbClr val="FF0000"/>
                </a:solidFill>
              </a:rPr>
              <a:t>the longest access latency</a:t>
            </a:r>
            <a:r>
              <a:rPr lang="en-US" altLang="ko-KR" sz="1800" dirty="0"/>
              <a:t>.</a:t>
            </a:r>
          </a:p>
          <a:p>
            <a:r>
              <a:rPr lang="en" altLang="ko-KR" sz="2000" b="1" dirty="0"/>
              <a:t>Threadgroup memory</a:t>
            </a:r>
          </a:p>
          <a:p>
            <a:pPr lvl="1"/>
            <a:r>
              <a:rPr lang="en-US" altLang="ko-KR" sz="1800" dirty="0"/>
              <a:t>High-speed on-chip memory shared among all threads within a threadgroup. Requires explicit programmer management but provides extremely </a:t>
            </a:r>
            <a:r>
              <a:rPr lang="en-US" altLang="ko-KR" sz="1800" dirty="0">
                <a:solidFill>
                  <a:schemeClr val="accent5"/>
                </a:solidFill>
              </a:rPr>
              <a:t>low latency</a:t>
            </a:r>
            <a:r>
              <a:rPr lang="en-US" altLang="ko-KR" sz="1800" dirty="0"/>
              <a:t>, making it ideal for caching frequently accessed data.</a:t>
            </a:r>
          </a:p>
          <a:p>
            <a:r>
              <a:rPr lang="en" altLang="ko-KR" sz="2000" b="1" dirty="0"/>
              <a:t>Constant memory</a:t>
            </a:r>
          </a:p>
          <a:p>
            <a:pPr lvl="1"/>
            <a:r>
              <a:rPr lang="en-US" altLang="ko-KR" sz="1800" dirty="0"/>
              <a:t>Specialized memory space for </a:t>
            </a:r>
            <a:r>
              <a:rPr lang="en-US" altLang="ko-KR" sz="1800" dirty="0">
                <a:solidFill>
                  <a:schemeClr val="accent5"/>
                </a:solidFill>
              </a:rPr>
              <a:t>read-only</a:t>
            </a:r>
            <a:r>
              <a:rPr lang="en-US" altLang="ko-KR" sz="1800" dirty="0"/>
              <a:t> data that remains unchanged during kernel execution. Features dedicated cache access and hardware broadcast optimization </a:t>
            </a:r>
            <a:r>
              <a:rPr lang="en-US" altLang="ko-KR" sz="1800" dirty="0">
                <a:solidFill>
                  <a:schemeClr val="accent5"/>
                </a:solidFill>
              </a:rPr>
              <a:t>when all threads simultaneously read from the same address.</a:t>
            </a:r>
          </a:p>
        </p:txBody>
      </p:sp>
      <p:sp>
        <p:nvSpPr>
          <p:cNvPr id="5" name="사각형: 둥근 모서리 4">
            <a:extLst>
              <a:ext uri="{FF2B5EF4-FFF2-40B4-BE49-F238E27FC236}">
                <a16:creationId xmlns:a16="http://schemas.microsoft.com/office/drawing/2014/main" id="{1DE855A0-3657-EADC-825C-2D4C490D2A18}"/>
              </a:ext>
            </a:extLst>
          </p:cNvPr>
          <p:cNvSpPr/>
          <p:nvPr/>
        </p:nvSpPr>
        <p:spPr>
          <a:xfrm>
            <a:off x="6383110" y="5139267"/>
            <a:ext cx="5396970" cy="762163"/>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dirty="0">
                <a:solidFill>
                  <a:schemeClr val="tx1"/>
                </a:solidFill>
                <a:latin typeface="+mj-lt"/>
              </a:rPr>
              <a:t>UMA</a:t>
            </a:r>
            <a:endParaRPr lang="ko-KR" altLang="en-US" sz="2800" dirty="0">
              <a:solidFill>
                <a:schemeClr val="tx1"/>
              </a:solidFill>
              <a:latin typeface="+mj-lt"/>
            </a:endParaRPr>
          </a:p>
        </p:txBody>
      </p:sp>
      <p:sp>
        <p:nvSpPr>
          <p:cNvPr id="6" name="사각형: 둥근 모서리 5">
            <a:extLst>
              <a:ext uri="{FF2B5EF4-FFF2-40B4-BE49-F238E27FC236}">
                <a16:creationId xmlns:a16="http://schemas.microsoft.com/office/drawing/2014/main" id="{1045E4D5-2CFA-5D6C-5868-CFC87BA5FD86}"/>
              </a:ext>
            </a:extLst>
          </p:cNvPr>
          <p:cNvSpPr/>
          <p:nvPr/>
        </p:nvSpPr>
        <p:spPr>
          <a:xfrm>
            <a:off x="10167710" y="3615132"/>
            <a:ext cx="1612370" cy="1177030"/>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tx1"/>
                </a:solidFill>
                <a:latin typeface="+mj-lt"/>
              </a:rPr>
              <a:t>CPU</a:t>
            </a:r>
            <a:endParaRPr lang="ko-KR" altLang="en-US" sz="2000" dirty="0">
              <a:solidFill>
                <a:schemeClr val="tx1"/>
              </a:solidFill>
              <a:latin typeface="+mj-lt"/>
            </a:endParaRPr>
          </a:p>
        </p:txBody>
      </p:sp>
      <p:sp>
        <p:nvSpPr>
          <p:cNvPr id="7" name="사각형: 둥근 모서리 6">
            <a:extLst>
              <a:ext uri="{FF2B5EF4-FFF2-40B4-BE49-F238E27FC236}">
                <a16:creationId xmlns:a16="http://schemas.microsoft.com/office/drawing/2014/main" id="{7D66BE81-8D90-A41B-FC11-900F7CB0F998}"/>
              </a:ext>
            </a:extLst>
          </p:cNvPr>
          <p:cNvSpPr/>
          <p:nvPr/>
        </p:nvSpPr>
        <p:spPr>
          <a:xfrm>
            <a:off x="6561667" y="5309686"/>
            <a:ext cx="1887457" cy="42132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tx1"/>
                </a:solidFill>
                <a:latin typeface="+mj-lt"/>
              </a:rPr>
              <a:t>Device Memory</a:t>
            </a:r>
            <a:endParaRPr lang="ko-KR" altLang="en-US" sz="2000" dirty="0">
              <a:solidFill>
                <a:schemeClr val="tx1"/>
              </a:solidFill>
              <a:latin typeface="+mj-lt"/>
            </a:endParaRPr>
          </a:p>
        </p:txBody>
      </p:sp>
      <p:sp>
        <p:nvSpPr>
          <p:cNvPr id="8" name="사각형: 둥근 모서리 7">
            <a:extLst>
              <a:ext uri="{FF2B5EF4-FFF2-40B4-BE49-F238E27FC236}">
                <a16:creationId xmlns:a16="http://schemas.microsoft.com/office/drawing/2014/main" id="{9C5D16DF-6767-877C-BDC7-A73A650F5FE9}"/>
              </a:ext>
            </a:extLst>
          </p:cNvPr>
          <p:cNvSpPr/>
          <p:nvPr/>
        </p:nvSpPr>
        <p:spPr>
          <a:xfrm>
            <a:off x="6748709" y="2090003"/>
            <a:ext cx="1795703" cy="1623870"/>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dirty="0">
                <a:solidFill>
                  <a:schemeClr val="tx1"/>
                </a:solidFill>
                <a:latin typeface="+mj-lt"/>
              </a:rPr>
              <a:t>Threadgroup</a:t>
            </a:r>
            <a:endParaRPr lang="ko-KR" altLang="en-US" dirty="0">
              <a:solidFill>
                <a:schemeClr val="tx1"/>
              </a:solidFill>
              <a:latin typeface="+mj-lt"/>
            </a:endParaRPr>
          </a:p>
        </p:txBody>
      </p:sp>
      <p:sp>
        <p:nvSpPr>
          <p:cNvPr id="9" name="사각형: 둥근 모서리 8">
            <a:extLst>
              <a:ext uri="{FF2B5EF4-FFF2-40B4-BE49-F238E27FC236}">
                <a16:creationId xmlns:a16="http://schemas.microsoft.com/office/drawing/2014/main" id="{382C8202-4CCE-8E70-5DC0-1390DC8EC157}"/>
              </a:ext>
            </a:extLst>
          </p:cNvPr>
          <p:cNvSpPr/>
          <p:nvPr/>
        </p:nvSpPr>
        <p:spPr>
          <a:xfrm>
            <a:off x="6754685" y="4019273"/>
            <a:ext cx="2809015" cy="421325"/>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tx1"/>
                </a:solidFill>
                <a:latin typeface="+mj-lt"/>
              </a:rPr>
              <a:t>Constant Memory</a:t>
            </a:r>
            <a:endParaRPr lang="ko-KR" altLang="en-US" sz="2000" dirty="0">
              <a:solidFill>
                <a:schemeClr val="tx1"/>
              </a:solidFill>
              <a:latin typeface="+mj-lt"/>
            </a:endParaRPr>
          </a:p>
        </p:txBody>
      </p:sp>
      <p:sp>
        <p:nvSpPr>
          <p:cNvPr id="11" name="사각형: 둥근 모서리 10">
            <a:extLst>
              <a:ext uri="{FF2B5EF4-FFF2-40B4-BE49-F238E27FC236}">
                <a16:creationId xmlns:a16="http://schemas.microsoft.com/office/drawing/2014/main" id="{5243DF56-E893-D88E-9E9F-95B06AF09339}"/>
              </a:ext>
            </a:extLst>
          </p:cNvPr>
          <p:cNvSpPr/>
          <p:nvPr/>
        </p:nvSpPr>
        <p:spPr>
          <a:xfrm>
            <a:off x="6968214" y="3162333"/>
            <a:ext cx="1472296" cy="402932"/>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mj-lt"/>
              </a:rPr>
              <a:t>Threadgroup Memory</a:t>
            </a:r>
            <a:endParaRPr lang="ko-KR" altLang="en-US" sz="1200" dirty="0">
              <a:solidFill>
                <a:schemeClr val="tx1"/>
              </a:solidFill>
              <a:latin typeface="+mj-lt"/>
            </a:endParaRPr>
          </a:p>
        </p:txBody>
      </p:sp>
      <p:sp>
        <p:nvSpPr>
          <p:cNvPr id="12" name="사각형: 둥근 모서리 11">
            <a:extLst>
              <a:ext uri="{FF2B5EF4-FFF2-40B4-BE49-F238E27FC236}">
                <a16:creationId xmlns:a16="http://schemas.microsoft.com/office/drawing/2014/main" id="{129230B7-9428-05E0-8578-EDAABDD476E0}"/>
              </a:ext>
            </a:extLst>
          </p:cNvPr>
          <p:cNvSpPr/>
          <p:nvPr/>
        </p:nvSpPr>
        <p:spPr>
          <a:xfrm>
            <a:off x="6968214" y="25990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pic>
        <p:nvPicPr>
          <p:cNvPr id="15" name="그림 14">
            <a:extLst>
              <a:ext uri="{FF2B5EF4-FFF2-40B4-BE49-F238E27FC236}">
                <a16:creationId xmlns:a16="http://schemas.microsoft.com/office/drawing/2014/main" id="{D063C8D6-FCEF-05B4-210B-C041CBC1D0E6}"/>
              </a:ext>
            </a:extLst>
          </p:cNvPr>
          <p:cNvPicPr>
            <a:picLocks noChangeAspect="1"/>
          </p:cNvPicPr>
          <p:nvPr/>
        </p:nvPicPr>
        <p:blipFill>
          <a:blip r:embed="rId3"/>
          <a:stretch>
            <a:fillRect/>
          </a:stretch>
        </p:blipFill>
        <p:spPr>
          <a:xfrm>
            <a:off x="9015486" y="2617413"/>
            <a:ext cx="714502" cy="650132"/>
          </a:xfrm>
          <a:prstGeom prst="rect">
            <a:avLst/>
          </a:prstGeom>
        </p:spPr>
      </p:pic>
      <p:sp>
        <p:nvSpPr>
          <p:cNvPr id="17" name="사각형: 둥근 모서리 16">
            <a:extLst>
              <a:ext uri="{FF2B5EF4-FFF2-40B4-BE49-F238E27FC236}">
                <a16:creationId xmlns:a16="http://schemas.microsoft.com/office/drawing/2014/main" id="{65320EC2-7545-D190-119A-2407DB1564A7}"/>
              </a:ext>
            </a:extLst>
          </p:cNvPr>
          <p:cNvSpPr/>
          <p:nvPr/>
        </p:nvSpPr>
        <p:spPr>
          <a:xfrm>
            <a:off x="6383110" y="1499246"/>
            <a:ext cx="3551478" cy="3292916"/>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2000" dirty="0">
                <a:solidFill>
                  <a:schemeClr val="tx1"/>
                </a:solidFill>
                <a:latin typeface="+mj-lt"/>
              </a:rPr>
              <a:t>GPU</a:t>
            </a:r>
            <a:endParaRPr lang="ko-KR" altLang="en-US" sz="2000" dirty="0">
              <a:solidFill>
                <a:schemeClr val="tx1"/>
              </a:solidFill>
              <a:latin typeface="+mj-lt"/>
            </a:endParaRPr>
          </a:p>
        </p:txBody>
      </p:sp>
      <p:sp>
        <p:nvSpPr>
          <p:cNvPr id="18" name="사각형: 둥근 모서리 17">
            <a:extLst>
              <a:ext uri="{FF2B5EF4-FFF2-40B4-BE49-F238E27FC236}">
                <a16:creationId xmlns:a16="http://schemas.microsoft.com/office/drawing/2014/main" id="{E77E1422-0AF6-4FFC-F82F-AE841E6B9E7B}"/>
              </a:ext>
            </a:extLst>
          </p:cNvPr>
          <p:cNvSpPr/>
          <p:nvPr/>
        </p:nvSpPr>
        <p:spPr>
          <a:xfrm>
            <a:off x="8057593" y="25990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19" name="TextBox 18">
            <a:extLst>
              <a:ext uri="{FF2B5EF4-FFF2-40B4-BE49-F238E27FC236}">
                <a16:creationId xmlns:a16="http://schemas.microsoft.com/office/drawing/2014/main" id="{AD9F1711-C4EC-EBB6-3DDA-39A31BE754DA}"/>
              </a:ext>
            </a:extLst>
          </p:cNvPr>
          <p:cNvSpPr txBox="1"/>
          <p:nvPr/>
        </p:nvSpPr>
        <p:spPr>
          <a:xfrm>
            <a:off x="7448424" y="2553269"/>
            <a:ext cx="505267" cy="369332"/>
          </a:xfrm>
          <a:prstGeom prst="rect">
            <a:avLst/>
          </a:prstGeom>
          <a:noFill/>
        </p:spPr>
        <p:txBody>
          <a:bodyPr wrap="none" rtlCol="0">
            <a:spAutoFit/>
          </a:bodyPr>
          <a:lstStyle/>
          <a:p>
            <a:r>
              <a:rPr lang="en-US" altLang="ko-KR" dirty="0"/>
              <a:t>. . .</a:t>
            </a:r>
            <a:endParaRPr lang="ko-KR" altLang="en-US" dirty="0"/>
          </a:p>
        </p:txBody>
      </p:sp>
      <p:sp>
        <p:nvSpPr>
          <p:cNvPr id="20" name="TextBox 19">
            <a:extLst>
              <a:ext uri="{FF2B5EF4-FFF2-40B4-BE49-F238E27FC236}">
                <a16:creationId xmlns:a16="http://schemas.microsoft.com/office/drawing/2014/main" id="{F7A78A6C-F3B0-96C1-3F8B-B635047AC5A5}"/>
              </a:ext>
            </a:extLst>
          </p:cNvPr>
          <p:cNvSpPr txBox="1"/>
          <p:nvPr/>
        </p:nvSpPr>
        <p:spPr>
          <a:xfrm>
            <a:off x="8547903" y="2717272"/>
            <a:ext cx="505267" cy="369332"/>
          </a:xfrm>
          <a:prstGeom prst="rect">
            <a:avLst/>
          </a:prstGeom>
          <a:noFill/>
        </p:spPr>
        <p:txBody>
          <a:bodyPr wrap="none" rtlCol="0">
            <a:spAutoFit/>
          </a:bodyPr>
          <a:lstStyle/>
          <a:p>
            <a:r>
              <a:rPr lang="en-US" altLang="ko-KR" dirty="0"/>
              <a:t>. . .</a:t>
            </a:r>
            <a:endParaRPr lang="ko-KR" altLang="en-US" dirty="0"/>
          </a:p>
        </p:txBody>
      </p:sp>
      <p:cxnSp>
        <p:nvCxnSpPr>
          <p:cNvPr id="22" name="직선 화살표 연결선 21">
            <a:extLst>
              <a:ext uri="{FF2B5EF4-FFF2-40B4-BE49-F238E27FC236}">
                <a16:creationId xmlns:a16="http://schemas.microsoft.com/office/drawing/2014/main" id="{CA7F9B73-9449-641B-1339-32E722717B63}"/>
              </a:ext>
            </a:extLst>
          </p:cNvPr>
          <p:cNvCxnSpPr>
            <a:cxnSpLocks/>
            <a:stCxn id="17" idx="2"/>
          </p:cNvCxnSpPr>
          <p:nvPr/>
        </p:nvCxnSpPr>
        <p:spPr>
          <a:xfrm>
            <a:off x="8158849" y="4792162"/>
            <a:ext cx="0" cy="347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909FDB2E-DE9F-B6D4-0C38-1E5B4CCBF603}"/>
              </a:ext>
            </a:extLst>
          </p:cNvPr>
          <p:cNvCxnSpPr>
            <a:cxnSpLocks/>
            <a:stCxn id="6" idx="2"/>
          </p:cNvCxnSpPr>
          <p:nvPr/>
        </p:nvCxnSpPr>
        <p:spPr>
          <a:xfrm>
            <a:off x="10973895" y="4792162"/>
            <a:ext cx="0" cy="347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00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E8B0A-533D-92CC-DAF4-04BC3416D79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DB52D07-1362-947E-E87F-6F6CE64D3CE6}"/>
              </a:ext>
            </a:extLst>
          </p:cNvPr>
          <p:cNvSpPr>
            <a:spLocks noGrp="1"/>
          </p:cNvSpPr>
          <p:nvPr>
            <p:ph type="title"/>
          </p:nvPr>
        </p:nvSpPr>
        <p:spPr/>
        <p:txBody>
          <a:bodyPr/>
          <a:lstStyle/>
          <a:p>
            <a:r>
              <a:rPr lang="en-US" altLang="ko-KR" dirty="0"/>
              <a:t>3.</a:t>
            </a:r>
            <a:r>
              <a:rPr lang="ko-KR" altLang="en-US" dirty="0"/>
              <a:t> </a:t>
            </a:r>
            <a:r>
              <a:rPr lang="en-US" altLang="ko-KR" dirty="0"/>
              <a:t>Implementation</a:t>
            </a:r>
            <a:r>
              <a:rPr lang="ko-KR" altLang="en-US" dirty="0"/>
              <a:t> </a:t>
            </a:r>
            <a:r>
              <a:rPr lang="en-US" altLang="ko-KR" dirty="0"/>
              <a:t>Strategies</a:t>
            </a:r>
            <a:endParaRPr lang="ko-KR" altLang="en-US" dirty="0"/>
          </a:p>
        </p:txBody>
      </p:sp>
      <p:sp>
        <p:nvSpPr>
          <p:cNvPr id="3" name="텍스트 개체 틀 2">
            <a:extLst>
              <a:ext uri="{FF2B5EF4-FFF2-40B4-BE49-F238E27FC236}">
                <a16:creationId xmlns:a16="http://schemas.microsoft.com/office/drawing/2014/main" id="{DC6FCA73-A95B-71D5-D575-D647E5018192}"/>
              </a:ext>
            </a:extLst>
          </p:cNvPr>
          <p:cNvSpPr>
            <a:spLocks noGrp="1"/>
          </p:cNvSpPr>
          <p:nvPr>
            <p:ph type="body" sz="quarter" idx="10"/>
          </p:nvPr>
        </p:nvSpPr>
        <p:spPr>
          <a:xfrm>
            <a:off x="410405" y="2181262"/>
            <a:ext cx="11369675" cy="762163"/>
          </a:xfrm>
        </p:spPr>
        <p:txBody>
          <a:bodyPr anchor="ctr">
            <a:normAutofit/>
          </a:bodyPr>
          <a:lstStyle/>
          <a:p>
            <a:pPr marL="0" indent="0" algn="ctr">
              <a:buNone/>
            </a:pPr>
            <a:r>
              <a:rPr lang="en-US" altLang="ko-KR" sz="3200" dirty="0">
                <a:latin typeface="+mj-lt"/>
              </a:rPr>
              <a:t>Research Hypothesis</a:t>
            </a:r>
            <a:endParaRPr lang="ko-KR" altLang="en-US" sz="3200" dirty="0">
              <a:latin typeface="+mj-lt"/>
            </a:endParaRPr>
          </a:p>
        </p:txBody>
      </p:sp>
      <p:sp>
        <p:nvSpPr>
          <p:cNvPr id="7" name="TextBox 6">
            <a:extLst>
              <a:ext uri="{FF2B5EF4-FFF2-40B4-BE49-F238E27FC236}">
                <a16:creationId xmlns:a16="http://schemas.microsoft.com/office/drawing/2014/main" id="{0B41B8B2-5FBB-CEEC-A7E7-35F43168D055}"/>
              </a:ext>
            </a:extLst>
          </p:cNvPr>
          <p:cNvSpPr txBox="1"/>
          <p:nvPr/>
        </p:nvSpPr>
        <p:spPr>
          <a:xfrm>
            <a:off x="700282" y="3558976"/>
            <a:ext cx="10789920" cy="1200329"/>
          </a:xfrm>
          <a:prstGeom prst="rect">
            <a:avLst/>
          </a:prstGeom>
          <a:noFill/>
        </p:spPr>
        <p:txBody>
          <a:bodyPr wrap="square">
            <a:spAutoFit/>
          </a:bodyPr>
          <a:lstStyle/>
          <a:p>
            <a:pPr algn="ctr"/>
            <a:r>
              <a:rPr lang="en" altLang="ko-KR" sz="2400" dirty="0">
                <a:latin typeface="+mj-lt"/>
              </a:rPr>
              <a:t>Even in UMA environments, performance can be significantly improved </a:t>
            </a:r>
            <a:br>
              <a:rPr lang="en" altLang="ko-KR" sz="2400" dirty="0">
                <a:latin typeface="+mj-lt"/>
              </a:rPr>
            </a:br>
            <a:r>
              <a:rPr lang="en" altLang="ko-KR" sz="2400" dirty="0">
                <a:latin typeface="+mj-lt"/>
              </a:rPr>
              <a:t>by utilizing optimal memory hierarchies (threadgroup, constant) </a:t>
            </a:r>
            <a:br>
              <a:rPr lang="en" altLang="ko-KR" sz="2400" dirty="0">
                <a:latin typeface="+mj-lt"/>
              </a:rPr>
            </a:br>
            <a:r>
              <a:rPr lang="en" altLang="ko-KR" sz="2400" dirty="0">
                <a:latin typeface="+mj-lt"/>
              </a:rPr>
              <a:t>that match data access patterns, compared to using only device memory.</a:t>
            </a:r>
            <a:endParaRPr lang="ko-KR" altLang="en-US" sz="2400" dirty="0">
              <a:latin typeface="+mj-lt"/>
            </a:endParaRPr>
          </a:p>
        </p:txBody>
      </p:sp>
    </p:spTree>
    <p:extLst>
      <p:ext uri="{BB962C8B-B14F-4D97-AF65-F5344CB8AC3E}">
        <p14:creationId xmlns:p14="http://schemas.microsoft.com/office/powerpoint/2010/main" val="3448044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056E4-7D95-C367-D466-F1FE3407C8C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A10FE71-890A-E205-2F82-C2636C3A63F7}"/>
              </a:ext>
            </a:extLst>
          </p:cNvPr>
          <p:cNvSpPr>
            <a:spLocks noGrp="1"/>
          </p:cNvSpPr>
          <p:nvPr>
            <p:ph type="title"/>
          </p:nvPr>
        </p:nvSpPr>
        <p:spPr/>
        <p:txBody>
          <a:bodyPr/>
          <a:lstStyle/>
          <a:p>
            <a:r>
              <a:rPr lang="en-US" altLang="ko-KR" dirty="0"/>
              <a:t>3.</a:t>
            </a:r>
            <a:r>
              <a:rPr lang="ko-KR" altLang="en-US" dirty="0"/>
              <a:t> </a:t>
            </a:r>
            <a:r>
              <a:rPr lang="en-US" altLang="ko-KR" dirty="0"/>
              <a:t>Implementation</a:t>
            </a:r>
            <a:r>
              <a:rPr lang="ko-KR" altLang="en-US" dirty="0"/>
              <a:t> </a:t>
            </a:r>
            <a:r>
              <a:rPr lang="en-US" altLang="ko-KR" dirty="0"/>
              <a:t>Strategies</a:t>
            </a:r>
            <a:endParaRPr lang="ko-KR" altLang="en-US" dirty="0"/>
          </a:p>
        </p:txBody>
      </p:sp>
      <p:sp>
        <p:nvSpPr>
          <p:cNvPr id="3" name="텍스트 개체 틀 2">
            <a:extLst>
              <a:ext uri="{FF2B5EF4-FFF2-40B4-BE49-F238E27FC236}">
                <a16:creationId xmlns:a16="http://schemas.microsoft.com/office/drawing/2014/main" id="{B4CEB27C-D2D0-9BBA-C290-78CABBF22B68}"/>
              </a:ext>
            </a:extLst>
          </p:cNvPr>
          <p:cNvSpPr>
            <a:spLocks noGrp="1"/>
          </p:cNvSpPr>
          <p:nvPr>
            <p:ph type="body" sz="quarter" idx="10"/>
          </p:nvPr>
        </p:nvSpPr>
        <p:spPr>
          <a:xfrm>
            <a:off x="411163" y="1152525"/>
            <a:ext cx="11369675" cy="4909608"/>
          </a:xfrm>
        </p:spPr>
        <p:txBody>
          <a:bodyPr>
            <a:normAutofit/>
          </a:bodyPr>
          <a:lstStyle/>
          <a:p>
            <a:r>
              <a:rPr lang="ko-KR" altLang="en-US" sz="2400" dirty="0"/>
              <a:t> </a:t>
            </a:r>
            <a:r>
              <a:rPr lang="en-US" altLang="ko-KR" sz="2400" dirty="0"/>
              <a:t>Memory-Stored Data Structures with Distinct </a:t>
            </a:r>
            <a:r>
              <a:rPr lang="en-US" altLang="ko-KR" sz="2400" dirty="0">
                <a:solidFill>
                  <a:schemeClr val="accent5"/>
                </a:solidFill>
              </a:rPr>
              <a:t>Access Patterns</a:t>
            </a:r>
          </a:p>
          <a:p>
            <a:pPr lvl="1"/>
            <a:r>
              <a:rPr lang="en-US" altLang="ko-KR" sz="2000" dirty="0"/>
              <a:t>S-Box</a:t>
            </a:r>
            <a:r>
              <a:rPr lang="ko-KR" altLang="en-US" sz="2000" dirty="0"/>
              <a:t> </a:t>
            </a:r>
            <a:r>
              <a:rPr lang="en-US" altLang="ko-KR" sz="2000" dirty="0"/>
              <a:t>Table</a:t>
            </a:r>
          </a:p>
          <a:p>
            <a:pPr lvl="2"/>
            <a:r>
              <a:rPr lang="en-US" altLang="ko-KR" sz="1800" dirty="0"/>
              <a:t>Access Pattern: </a:t>
            </a:r>
            <a:r>
              <a:rPr lang="en-US" altLang="ko-KR" sz="1800" dirty="0">
                <a:solidFill>
                  <a:schemeClr val="accent5"/>
                </a:solidFill>
              </a:rPr>
              <a:t>Non-uniform (irregular)</a:t>
            </a:r>
          </a:p>
          <a:p>
            <a:pPr lvl="2"/>
            <a:r>
              <a:rPr lang="en-US" altLang="ko-KR" sz="1800" dirty="0"/>
              <a:t>Characteristics: Data-dependent memory accesses where each thread references </a:t>
            </a:r>
            <a:r>
              <a:rPr lang="en-US" altLang="ko-KR" sz="1800" dirty="0">
                <a:solidFill>
                  <a:schemeClr val="accent5"/>
                </a:solidFill>
              </a:rPr>
              <a:t>distinct</a:t>
            </a:r>
            <a:r>
              <a:rPr lang="en-US" altLang="ko-KR" sz="1800" dirty="0"/>
              <a:t> addresses</a:t>
            </a:r>
          </a:p>
          <a:p>
            <a:pPr lvl="1"/>
            <a:endParaRPr lang="en-US" altLang="ko-KR" sz="2000" dirty="0"/>
          </a:p>
          <a:p>
            <a:pPr marL="457200" lvl="1" indent="0">
              <a:buNone/>
            </a:pPr>
            <a:endParaRPr lang="en-US" altLang="ko-KR" sz="2000" dirty="0"/>
          </a:p>
          <a:p>
            <a:pPr marL="457200" lvl="1" indent="0">
              <a:buNone/>
            </a:pPr>
            <a:endParaRPr lang="en-US" altLang="ko-KR" sz="2000" dirty="0"/>
          </a:p>
          <a:p>
            <a:pPr marL="457200" lvl="1" indent="0">
              <a:buNone/>
            </a:pPr>
            <a:r>
              <a:rPr lang="en-US" altLang="ko-KR" sz="1100" dirty="0"/>
              <a:t> </a:t>
            </a:r>
            <a:endParaRPr lang="en-US" altLang="ko-KR" sz="1050" dirty="0"/>
          </a:p>
          <a:p>
            <a:pPr lvl="1"/>
            <a:r>
              <a:rPr lang="en-US" altLang="ko-KR" sz="2000" dirty="0"/>
              <a:t>Round Key</a:t>
            </a:r>
          </a:p>
          <a:p>
            <a:pPr lvl="2"/>
            <a:r>
              <a:rPr lang="en-US" altLang="ko-KR" sz="1800" dirty="0"/>
              <a:t>Access Pattern: </a:t>
            </a:r>
            <a:r>
              <a:rPr lang="en-US" altLang="ko-KR" sz="1800" dirty="0">
                <a:solidFill>
                  <a:schemeClr val="accent5"/>
                </a:solidFill>
              </a:rPr>
              <a:t>Uniform (broadcast)</a:t>
            </a:r>
          </a:p>
          <a:p>
            <a:pPr lvl="2"/>
            <a:r>
              <a:rPr lang="en-US" altLang="ko-KR" sz="1800" dirty="0"/>
              <a:t>Characteristics: Synchronized access where all threads reference identical memory locations </a:t>
            </a:r>
            <a:r>
              <a:rPr lang="en-US" altLang="ko-KR" sz="1800" dirty="0">
                <a:solidFill>
                  <a:schemeClr val="accent5"/>
                </a:solidFill>
              </a:rPr>
              <a:t>simultaneously</a:t>
            </a:r>
          </a:p>
        </p:txBody>
      </p:sp>
      <p:sp>
        <p:nvSpPr>
          <p:cNvPr id="4" name="사각형: 둥근 모서리 3">
            <a:extLst>
              <a:ext uri="{FF2B5EF4-FFF2-40B4-BE49-F238E27FC236}">
                <a16:creationId xmlns:a16="http://schemas.microsoft.com/office/drawing/2014/main" id="{5D23DE53-1775-F978-14A8-43BB36E293E9}"/>
              </a:ext>
            </a:extLst>
          </p:cNvPr>
          <p:cNvSpPr/>
          <p:nvPr/>
        </p:nvSpPr>
        <p:spPr>
          <a:xfrm>
            <a:off x="3928673"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5" name="사각형: 둥근 모서리 4">
            <a:extLst>
              <a:ext uri="{FF2B5EF4-FFF2-40B4-BE49-F238E27FC236}">
                <a16:creationId xmlns:a16="http://schemas.microsoft.com/office/drawing/2014/main" id="{7D161891-62A0-770F-8281-DB98C943F7EF}"/>
              </a:ext>
            </a:extLst>
          </p:cNvPr>
          <p:cNvSpPr/>
          <p:nvPr/>
        </p:nvSpPr>
        <p:spPr>
          <a:xfrm>
            <a:off x="4470540"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6" name="사각형: 둥근 모서리 5">
            <a:extLst>
              <a:ext uri="{FF2B5EF4-FFF2-40B4-BE49-F238E27FC236}">
                <a16:creationId xmlns:a16="http://schemas.microsoft.com/office/drawing/2014/main" id="{E1BC308B-4893-1A7F-5CEC-CFB84DF7AFDF}"/>
              </a:ext>
            </a:extLst>
          </p:cNvPr>
          <p:cNvSpPr/>
          <p:nvPr/>
        </p:nvSpPr>
        <p:spPr>
          <a:xfrm>
            <a:off x="5012407"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7" name="사각형: 둥근 모서리 6">
            <a:extLst>
              <a:ext uri="{FF2B5EF4-FFF2-40B4-BE49-F238E27FC236}">
                <a16:creationId xmlns:a16="http://schemas.microsoft.com/office/drawing/2014/main" id="{AB07BDEF-A018-42EB-ADBB-855A0AE718ED}"/>
              </a:ext>
            </a:extLst>
          </p:cNvPr>
          <p:cNvSpPr/>
          <p:nvPr/>
        </p:nvSpPr>
        <p:spPr>
          <a:xfrm>
            <a:off x="5554133"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8" name="사각형: 둥근 모서리 7">
            <a:extLst>
              <a:ext uri="{FF2B5EF4-FFF2-40B4-BE49-F238E27FC236}">
                <a16:creationId xmlns:a16="http://schemas.microsoft.com/office/drawing/2014/main" id="{95316F1F-CFFA-8EB6-93B3-6409902CEEF7}"/>
              </a:ext>
            </a:extLst>
          </p:cNvPr>
          <p:cNvSpPr/>
          <p:nvPr/>
        </p:nvSpPr>
        <p:spPr>
          <a:xfrm>
            <a:off x="6096000"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9" name="사각형: 둥근 모서리 8">
            <a:extLst>
              <a:ext uri="{FF2B5EF4-FFF2-40B4-BE49-F238E27FC236}">
                <a16:creationId xmlns:a16="http://schemas.microsoft.com/office/drawing/2014/main" id="{465D0C24-5FB7-33CB-8A34-05C78076D1B4}"/>
              </a:ext>
            </a:extLst>
          </p:cNvPr>
          <p:cNvSpPr/>
          <p:nvPr/>
        </p:nvSpPr>
        <p:spPr>
          <a:xfrm>
            <a:off x="6637867"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10" name="사각형: 둥근 모서리 9">
            <a:extLst>
              <a:ext uri="{FF2B5EF4-FFF2-40B4-BE49-F238E27FC236}">
                <a16:creationId xmlns:a16="http://schemas.microsoft.com/office/drawing/2014/main" id="{29196513-4D89-F85C-9650-F34FED56D2B9}"/>
              </a:ext>
            </a:extLst>
          </p:cNvPr>
          <p:cNvSpPr/>
          <p:nvPr/>
        </p:nvSpPr>
        <p:spPr>
          <a:xfrm>
            <a:off x="7179664"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11" name="사각형: 둥근 모서리 10">
            <a:extLst>
              <a:ext uri="{FF2B5EF4-FFF2-40B4-BE49-F238E27FC236}">
                <a16:creationId xmlns:a16="http://schemas.microsoft.com/office/drawing/2014/main" id="{8395CC30-401B-5F3C-6847-DBDBCFC05988}"/>
              </a:ext>
            </a:extLst>
          </p:cNvPr>
          <p:cNvSpPr/>
          <p:nvPr/>
        </p:nvSpPr>
        <p:spPr>
          <a:xfrm>
            <a:off x="7721531" y="5113617"/>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12" name="사각형: 둥근 모서리 11">
            <a:extLst>
              <a:ext uri="{FF2B5EF4-FFF2-40B4-BE49-F238E27FC236}">
                <a16:creationId xmlns:a16="http://schemas.microsoft.com/office/drawing/2014/main" id="{A29DD0E6-F579-4377-C06D-BFFD66332593}"/>
              </a:ext>
            </a:extLst>
          </p:cNvPr>
          <p:cNvSpPr/>
          <p:nvPr/>
        </p:nvSpPr>
        <p:spPr>
          <a:xfrm>
            <a:off x="5825066" y="5951745"/>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cxnSp>
        <p:nvCxnSpPr>
          <p:cNvPr id="14" name="직선 화살표 연결선 13">
            <a:extLst>
              <a:ext uri="{FF2B5EF4-FFF2-40B4-BE49-F238E27FC236}">
                <a16:creationId xmlns:a16="http://schemas.microsoft.com/office/drawing/2014/main" id="{626CCC1D-0CD8-B9B1-808D-8E07C79C328E}"/>
              </a:ext>
            </a:extLst>
          </p:cNvPr>
          <p:cNvCxnSpPr>
            <a:stCxn id="4" idx="2"/>
            <a:endCxn id="12" idx="0"/>
          </p:cNvCxnSpPr>
          <p:nvPr/>
        </p:nvCxnSpPr>
        <p:spPr>
          <a:xfrm>
            <a:off x="4120132" y="5503381"/>
            <a:ext cx="1896393"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A3AC2479-D48B-5B8E-F150-BEA9BEEF3BFA}"/>
              </a:ext>
            </a:extLst>
          </p:cNvPr>
          <p:cNvCxnSpPr>
            <a:cxnSpLocks/>
            <a:stCxn id="5" idx="2"/>
            <a:endCxn id="12" idx="0"/>
          </p:cNvCxnSpPr>
          <p:nvPr/>
        </p:nvCxnSpPr>
        <p:spPr>
          <a:xfrm>
            <a:off x="4661999" y="5503381"/>
            <a:ext cx="1354526"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A2021A04-6C93-7416-AFB7-0241E38CB01D}"/>
              </a:ext>
            </a:extLst>
          </p:cNvPr>
          <p:cNvCxnSpPr>
            <a:cxnSpLocks/>
            <a:stCxn id="6" idx="2"/>
            <a:endCxn id="12" idx="0"/>
          </p:cNvCxnSpPr>
          <p:nvPr/>
        </p:nvCxnSpPr>
        <p:spPr>
          <a:xfrm>
            <a:off x="5203866" y="5503381"/>
            <a:ext cx="812659"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0E46E075-EE76-4150-2547-B481B67DFBD3}"/>
              </a:ext>
            </a:extLst>
          </p:cNvPr>
          <p:cNvCxnSpPr>
            <a:cxnSpLocks/>
            <a:stCxn id="7" idx="2"/>
            <a:endCxn id="12" idx="0"/>
          </p:cNvCxnSpPr>
          <p:nvPr/>
        </p:nvCxnSpPr>
        <p:spPr>
          <a:xfrm>
            <a:off x="5745592" y="5503381"/>
            <a:ext cx="270933"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BDC838C9-9065-632D-FD3A-7B15EF7EF627}"/>
              </a:ext>
            </a:extLst>
          </p:cNvPr>
          <p:cNvCxnSpPr>
            <a:cxnSpLocks/>
            <a:stCxn id="8" idx="2"/>
            <a:endCxn id="12" idx="0"/>
          </p:cNvCxnSpPr>
          <p:nvPr/>
        </p:nvCxnSpPr>
        <p:spPr>
          <a:xfrm flipH="1">
            <a:off x="6016525" y="5503381"/>
            <a:ext cx="270934"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직선 화살표 연결선 36">
            <a:extLst>
              <a:ext uri="{FF2B5EF4-FFF2-40B4-BE49-F238E27FC236}">
                <a16:creationId xmlns:a16="http://schemas.microsoft.com/office/drawing/2014/main" id="{7BD3B96A-C6EA-4C49-1AFC-2EE772A4ADCA}"/>
              </a:ext>
            </a:extLst>
          </p:cNvPr>
          <p:cNvCxnSpPr>
            <a:cxnSpLocks/>
            <a:stCxn id="9" idx="2"/>
            <a:endCxn id="12" idx="0"/>
          </p:cNvCxnSpPr>
          <p:nvPr/>
        </p:nvCxnSpPr>
        <p:spPr>
          <a:xfrm flipH="1">
            <a:off x="6016525" y="5503381"/>
            <a:ext cx="812801"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82AE212B-CB6B-8EC6-946D-713F97448F1E}"/>
              </a:ext>
            </a:extLst>
          </p:cNvPr>
          <p:cNvCxnSpPr>
            <a:cxnSpLocks/>
            <a:stCxn id="10" idx="2"/>
            <a:endCxn id="12" idx="0"/>
          </p:cNvCxnSpPr>
          <p:nvPr/>
        </p:nvCxnSpPr>
        <p:spPr>
          <a:xfrm flipH="1">
            <a:off x="6016525" y="5503381"/>
            <a:ext cx="1354598"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D028D95D-08F8-55B0-0633-B4F429DEA306}"/>
              </a:ext>
            </a:extLst>
          </p:cNvPr>
          <p:cNvCxnSpPr>
            <a:cxnSpLocks/>
            <a:stCxn id="11" idx="2"/>
            <a:endCxn id="12" idx="0"/>
          </p:cNvCxnSpPr>
          <p:nvPr/>
        </p:nvCxnSpPr>
        <p:spPr>
          <a:xfrm flipH="1">
            <a:off x="6016525" y="5503381"/>
            <a:ext cx="1896465" cy="448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48105B94-6B8C-1C34-EDB0-D20E20A2E7E6}"/>
              </a:ext>
            </a:extLst>
          </p:cNvPr>
          <p:cNvSpPr/>
          <p:nvPr/>
        </p:nvSpPr>
        <p:spPr>
          <a:xfrm>
            <a:off x="3928673"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47" name="사각형: 둥근 모서리 46">
            <a:extLst>
              <a:ext uri="{FF2B5EF4-FFF2-40B4-BE49-F238E27FC236}">
                <a16:creationId xmlns:a16="http://schemas.microsoft.com/office/drawing/2014/main" id="{FF650710-93C6-6D25-D452-4426060EA17E}"/>
              </a:ext>
            </a:extLst>
          </p:cNvPr>
          <p:cNvSpPr/>
          <p:nvPr/>
        </p:nvSpPr>
        <p:spPr>
          <a:xfrm>
            <a:off x="4470540"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48" name="사각형: 둥근 모서리 47">
            <a:extLst>
              <a:ext uri="{FF2B5EF4-FFF2-40B4-BE49-F238E27FC236}">
                <a16:creationId xmlns:a16="http://schemas.microsoft.com/office/drawing/2014/main" id="{65A934C9-E357-88C1-1DF9-A2759C7A8586}"/>
              </a:ext>
            </a:extLst>
          </p:cNvPr>
          <p:cNvSpPr/>
          <p:nvPr/>
        </p:nvSpPr>
        <p:spPr>
          <a:xfrm>
            <a:off x="5012407"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49" name="사각형: 둥근 모서리 48">
            <a:extLst>
              <a:ext uri="{FF2B5EF4-FFF2-40B4-BE49-F238E27FC236}">
                <a16:creationId xmlns:a16="http://schemas.microsoft.com/office/drawing/2014/main" id="{B278CC76-751A-1EC6-1349-C48BF7FF94FE}"/>
              </a:ext>
            </a:extLst>
          </p:cNvPr>
          <p:cNvSpPr/>
          <p:nvPr/>
        </p:nvSpPr>
        <p:spPr>
          <a:xfrm>
            <a:off x="5554133"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50" name="사각형: 둥근 모서리 49">
            <a:extLst>
              <a:ext uri="{FF2B5EF4-FFF2-40B4-BE49-F238E27FC236}">
                <a16:creationId xmlns:a16="http://schemas.microsoft.com/office/drawing/2014/main" id="{72BA7234-6075-4B97-2C1F-7F5ACE10FAD4}"/>
              </a:ext>
            </a:extLst>
          </p:cNvPr>
          <p:cNvSpPr/>
          <p:nvPr/>
        </p:nvSpPr>
        <p:spPr>
          <a:xfrm>
            <a:off x="6096000"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51" name="사각형: 둥근 모서리 50">
            <a:extLst>
              <a:ext uri="{FF2B5EF4-FFF2-40B4-BE49-F238E27FC236}">
                <a16:creationId xmlns:a16="http://schemas.microsoft.com/office/drawing/2014/main" id="{36AB4161-B1E2-7C76-1ECC-D33ACE211E39}"/>
              </a:ext>
            </a:extLst>
          </p:cNvPr>
          <p:cNvSpPr/>
          <p:nvPr/>
        </p:nvSpPr>
        <p:spPr>
          <a:xfrm>
            <a:off x="6637867"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52" name="사각형: 둥근 모서리 51">
            <a:extLst>
              <a:ext uri="{FF2B5EF4-FFF2-40B4-BE49-F238E27FC236}">
                <a16:creationId xmlns:a16="http://schemas.microsoft.com/office/drawing/2014/main" id="{4FD28C8C-C360-B839-2032-18236A2EB4D9}"/>
              </a:ext>
            </a:extLst>
          </p:cNvPr>
          <p:cNvSpPr/>
          <p:nvPr/>
        </p:nvSpPr>
        <p:spPr>
          <a:xfrm>
            <a:off x="7179664"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sp>
        <p:nvSpPr>
          <p:cNvPr id="53" name="사각형: 둥근 모서리 52">
            <a:extLst>
              <a:ext uri="{FF2B5EF4-FFF2-40B4-BE49-F238E27FC236}">
                <a16:creationId xmlns:a16="http://schemas.microsoft.com/office/drawing/2014/main" id="{78777417-C78E-5985-70AE-4175A2592FAB}"/>
              </a:ext>
            </a:extLst>
          </p:cNvPr>
          <p:cNvSpPr/>
          <p:nvPr/>
        </p:nvSpPr>
        <p:spPr>
          <a:xfrm>
            <a:off x="7721531" y="2790206"/>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T</a:t>
            </a:r>
            <a:endParaRPr lang="ko-KR" altLang="en-US" sz="1600" dirty="0">
              <a:solidFill>
                <a:schemeClr val="tx1"/>
              </a:solidFill>
              <a:latin typeface="+mj-lt"/>
            </a:endParaRPr>
          </a:p>
        </p:txBody>
      </p:sp>
      <p:cxnSp>
        <p:nvCxnSpPr>
          <p:cNvPr id="87" name="연결선: 꺾임 86">
            <a:extLst>
              <a:ext uri="{FF2B5EF4-FFF2-40B4-BE49-F238E27FC236}">
                <a16:creationId xmlns:a16="http://schemas.microsoft.com/office/drawing/2014/main" id="{608BC97A-54EA-E67E-A9F1-3687DA623F50}"/>
              </a:ext>
            </a:extLst>
          </p:cNvPr>
          <p:cNvCxnSpPr>
            <a:cxnSpLocks/>
            <a:stCxn id="53" idx="2"/>
            <a:endCxn id="116" idx="0"/>
          </p:cNvCxnSpPr>
          <p:nvPr/>
        </p:nvCxnSpPr>
        <p:spPr>
          <a:xfrm rot="5400000">
            <a:off x="5792379" y="1507723"/>
            <a:ext cx="448364" cy="3792858"/>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사각형: 둥근 모서리 115">
            <a:extLst>
              <a:ext uri="{FF2B5EF4-FFF2-40B4-BE49-F238E27FC236}">
                <a16:creationId xmlns:a16="http://schemas.microsoft.com/office/drawing/2014/main" id="{AA3BFE16-C41B-C776-DF53-7DE695D85A85}"/>
              </a:ext>
            </a:extLst>
          </p:cNvPr>
          <p:cNvSpPr/>
          <p:nvPr/>
        </p:nvSpPr>
        <p:spPr>
          <a:xfrm>
            <a:off x="3928673"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17" name="사각형: 둥근 모서리 116">
            <a:extLst>
              <a:ext uri="{FF2B5EF4-FFF2-40B4-BE49-F238E27FC236}">
                <a16:creationId xmlns:a16="http://schemas.microsoft.com/office/drawing/2014/main" id="{CBE629D2-3CCF-E111-4AAA-9278A6C241DE}"/>
              </a:ext>
            </a:extLst>
          </p:cNvPr>
          <p:cNvSpPr/>
          <p:nvPr/>
        </p:nvSpPr>
        <p:spPr>
          <a:xfrm>
            <a:off x="4470540"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18" name="사각형: 둥근 모서리 117">
            <a:extLst>
              <a:ext uri="{FF2B5EF4-FFF2-40B4-BE49-F238E27FC236}">
                <a16:creationId xmlns:a16="http://schemas.microsoft.com/office/drawing/2014/main" id="{78E49699-B023-2ED2-ABBA-6DC8C121CFFF}"/>
              </a:ext>
            </a:extLst>
          </p:cNvPr>
          <p:cNvSpPr/>
          <p:nvPr/>
        </p:nvSpPr>
        <p:spPr>
          <a:xfrm>
            <a:off x="5012407"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19" name="사각형: 둥근 모서리 118">
            <a:extLst>
              <a:ext uri="{FF2B5EF4-FFF2-40B4-BE49-F238E27FC236}">
                <a16:creationId xmlns:a16="http://schemas.microsoft.com/office/drawing/2014/main" id="{F58C5708-5962-C2BD-AD6A-15E6370B3530}"/>
              </a:ext>
            </a:extLst>
          </p:cNvPr>
          <p:cNvSpPr/>
          <p:nvPr/>
        </p:nvSpPr>
        <p:spPr>
          <a:xfrm>
            <a:off x="5554133"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20" name="사각형: 둥근 모서리 119">
            <a:extLst>
              <a:ext uri="{FF2B5EF4-FFF2-40B4-BE49-F238E27FC236}">
                <a16:creationId xmlns:a16="http://schemas.microsoft.com/office/drawing/2014/main" id="{69961EF7-70B6-E763-5383-94A792981BC0}"/>
              </a:ext>
            </a:extLst>
          </p:cNvPr>
          <p:cNvSpPr/>
          <p:nvPr/>
        </p:nvSpPr>
        <p:spPr>
          <a:xfrm>
            <a:off x="6096000"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21" name="사각형: 둥근 모서리 120">
            <a:extLst>
              <a:ext uri="{FF2B5EF4-FFF2-40B4-BE49-F238E27FC236}">
                <a16:creationId xmlns:a16="http://schemas.microsoft.com/office/drawing/2014/main" id="{18E87225-23A3-F357-7B28-682A7A2013A2}"/>
              </a:ext>
            </a:extLst>
          </p:cNvPr>
          <p:cNvSpPr/>
          <p:nvPr/>
        </p:nvSpPr>
        <p:spPr>
          <a:xfrm>
            <a:off x="6637867"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22" name="사각형: 둥근 모서리 121">
            <a:extLst>
              <a:ext uri="{FF2B5EF4-FFF2-40B4-BE49-F238E27FC236}">
                <a16:creationId xmlns:a16="http://schemas.microsoft.com/office/drawing/2014/main" id="{7B2A1E0E-129A-B95D-E756-2A3318114DB0}"/>
              </a:ext>
            </a:extLst>
          </p:cNvPr>
          <p:cNvSpPr/>
          <p:nvPr/>
        </p:nvSpPr>
        <p:spPr>
          <a:xfrm>
            <a:off x="7179664"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sp>
        <p:nvSpPr>
          <p:cNvPr id="123" name="사각형: 둥근 모서리 122">
            <a:extLst>
              <a:ext uri="{FF2B5EF4-FFF2-40B4-BE49-F238E27FC236}">
                <a16:creationId xmlns:a16="http://schemas.microsoft.com/office/drawing/2014/main" id="{F3D3E191-C07F-26AF-F623-4F0941AD67D1}"/>
              </a:ext>
            </a:extLst>
          </p:cNvPr>
          <p:cNvSpPr/>
          <p:nvPr/>
        </p:nvSpPr>
        <p:spPr>
          <a:xfrm>
            <a:off x="7721531" y="3628334"/>
            <a:ext cx="382917" cy="38976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mj-lt"/>
              </a:rPr>
              <a:t>M</a:t>
            </a:r>
            <a:endParaRPr lang="ko-KR" altLang="en-US" sz="1600" dirty="0">
              <a:solidFill>
                <a:schemeClr val="tx1"/>
              </a:solidFill>
              <a:latin typeface="+mj-lt"/>
            </a:endParaRPr>
          </a:p>
        </p:txBody>
      </p:sp>
      <p:cxnSp>
        <p:nvCxnSpPr>
          <p:cNvPr id="126" name="연결선: 꺾임 125">
            <a:extLst>
              <a:ext uri="{FF2B5EF4-FFF2-40B4-BE49-F238E27FC236}">
                <a16:creationId xmlns:a16="http://schemas.microsoft.com/office/drawing/2014/main" id="{53BF178F-29E4-A516-1EF7-C8CC5EEB0E3B}"/>
              </a:ext>
            </a:extLst>
          </p:cNvPr>
          <p:cNvCxnSpPr>
            <a:cxnSpLocks/>
            <a:stCxn id="52" idx="2"/>
            <a:endCxn id="117" idx="0"/>
          </p:cNvCxnSpPr>
          <p:nvPr/>
        </p:nvCxnSpPr>
        <p:spPr>
          <a:xfrm rot="5400000">
            <a:off x="5792379" y="2049590"/>
            <a:ext cx="448364" cy="2709124"/>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연결선: 꺾임 128">
            <a:extLst>
              <a:ext uri="{FF2B5EF4-FFF2-40B4-BE49-F238E27FC236}">
                <a16:creationId xmlns:a16="http://schemas.microsoft.com/office/drawing/2014/main" id="{4E982F31-251F-317F-2422-9B92E6DB62E8}"/>
              </a:ext>
            </a:extLst>
          </p:cNvPr>
          <p:cNvCxnSpPr>
            <a:cxnSpLocks/>
            <a:stCxn id="51" idx="2"/>
            <a:endCxn id="118" idx="0"/>
          </p:cNvCxnSpPr>
          <p:nvPr/>
        </p:nvCxnSpPr>
        <p:spPr>
          <a:xfrm rot="5400000">
            <a:off x="5792414" y="2591422"/>
            <a:ext cx="448364" cy="162546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연결선: 꺾임 131">
            <a:extLst>
              <a:ext uri="{FF2B5EF4-FFF2-40B4-BE49-F238E27FC236}">
                <a16:creationId xmlns:a16="http://schemas.microsoft.com/office/drawing/2014/main" id="{CA90C77E-D47C-DB5B-42BA-A53E28A24847}"/>
              </a:ext>
            </a:extLst>
          </p:cNvPr>
          <p:cNvCxnSpPr>
            <a:cxnSpLocks/>
            <a:stCxn id="50" idx="2"/>
            <a:endCxn id="119" idx="0"/>
          </p:cNvCxnSpPr>
          <p:nvPr/>
        </p:nvCxnSpPr>
        <p:spPr>
          <a:xfrm rot="5400000">
            <a:off x="5792344" y="3133219"/>
            <a:ext cx="448364" cy="541867"/>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연결선: 꺾임 134">
            <a:extLst>
              <a:ext uri="{FF2B5EF4-FFF2-40B4-BE49-F238E27FC236}">
                <a16:creationId xmlns:a16="http://schemas.microsoft.com/office/drawing/2014/main" id="{C07A6400-D0F2-9D4B-1CE7-83B6FCCE041D}"/>
              </a:ext>
            </a:extLst>
          </p:cNvPr>
          <p:cNvCxnSpPr>
            <a:cxnSpLocks/>
            <a:stCxn id="49" idx="2"/>
            <a:endCxn id="120" idx="0"/>
          </p:cNvCxnSpPr>
          <p:nvPr/>
        </p:nvCxnSpPr>
        <p:spPr>
          <a:xfrm rot="16200000" flipH="1">
            <a:off x="5792343" y="3133218"/>
            <a:ext cx="448364" cy="541867"/>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연결선: 꺾임 137">
            <a:extLst>
              <a:ext uri="{FF2B5EF4-FFF2-40B4-BE49-F238E27FC236}">
                <a16:creationId xmlns:a16="http://schemas.microsoft.com/office/drawing/2014/main" id="{4014A329-EA00-61A1-2348-32B2C01C5E8E}"/>
              </a:ext>
            </a:extLst>
          </p:cNvPr>
          <p:cNvCxnSpPr>
            <a:cxnSpLocks/>
            <a:stCxn id="48" idx="2"/>
            <a:endCxn id="121" idx="0"/>
          </p:cNvCxnSpPr>
          <p:nvPr/>
        </p:nvCxnSpPr>
        <p:spPr>
          <a:xfrm rot="16200000" flipH="1">
            <a:off x="5792414" y="2591422"/>
            <a:ext cx="448364" cy="162546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연결선: 꺾임 140">
            <a:extLst>
              <a:ext uri="{FF2B5EF4-FFF2-40B4-BE49-F238E27FC236}">
                <a16:creationId xmlns:a16="http://schemas.microsoft.com/office/drawing/2014/main" id="{6323FB52-2636-5FBD-CA66-B27D436C0F9E}"/>
              </a:ext>
            </a:extLst>
          </p:cNvPr>
          <p:cNvCxnSpPr>
            <a:cxnSpLocks/>
            <a:stCxn id="47" idx="2"/>
            <a:endCxn id="122" idx="0"/>
          </p:cNvCxnSpPr>
          <p:nvPr/>
        </p:nvCxnSpPr>
        <p:spPr>
          <a:xfrm rot="16200000" flipH="1">
            <a:off x="5792379" y="2049590"/>
            <a:ext cx="448364" cy="2709124"/>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연결선: 꺾임 143">
            <a:extLst>
              <a:ext uri="{FF2B5EF4-FFF2-40B4-BE49-F238E27FC236}">
                <a16:creationId xmlns:a16="http://schemas.microsoft.com/office/drawing/2014/main" id="{36C8EF21-ADCC-F81A-5F18-AABA9A856856}"/>
              </a:ext>
            </a:extLst>
          </p:cNvPr>
          <p:cNvCxnSpPr>
            <a:cxnSpLocks/>
            <a:stCxn id="46" idx="2"/>
            <a:endCxn id="123" idx="0"/>
          </p:cNvCxnSpPr>
          <p:nvPr/>
        </p:nvCxnSpPr>
        <p:spPr>
          <a:xfrm rot="16200000" flipH="1">
            <a:off x="5792379" y="1507723"/>
            <a:ext cx="448364" cy="379285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2009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2A5FE-1A23-A877-7B7B-384A083BFAD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D89FBC1-4F8B-0A3D-6FDC-8E4735DB3133}"/>
              </a:ext>
            </a:extLst>
          </p:cNvPr>
          <p:cNvSpPr>
            <a:spLocks noGrp="1"/>
          </p:cNvSpPr>
          <p:nvPr>
            <p:ph type="title"/>
          </p:nvPr>
        </p:nvSpPr>
        <p:spPr/>
        <p:txBody>
          <a:bodyPr/>
          <a:lstStyle/>
          <a:p>
            <a:r>
              <a:rPr lang="en-US" altLang="ko-KR" dirty="0"/>
              <a:t>3.</a:t>
            </a:r>
            <a:r>
              <a:rPr lang="ko-KR" altLang="en-US" dirty="0"/>
              <a:t> </a:t>
            </a:r>
            <a:r>
              <a:rPr lang="en-US" altLang="ko-KR" dirty="0"/>
              <a:t>Implementation</a:t>
            </a:r>
            <a:r>
              <a:rPr lang="ko-KR" altLang="en-US" dirty="0"/>
              <a:t> </a:t>
            </a:r>
            <a:r>
              <a:rPr lang="en-US" altLang="ko-KR" dirty="0"/>
              <a:t>Strategies</a:t>
            </a:r>
            <a:endParaRPr lang="ko-KR" altLang="en-US" dirty="0"/>
          </a:p>
        </p:txBody>
      </p:sp>
      <p:sp>
        <p:nvSpPr>
          <p:cNvPr id="3" name="텍스트 개체 틀 2">
            <a:extLst>
              <a:ext uri="{FF2B5EF4-FFF2-40B4-BE49-F238E27FC236}">
                <a16:creationId xmlns:a16="http://schemas.microsoft.com/office/drawing/2014/main" id="{A5CB9F91-78E2-E49D-5A83-BBC91945CB81}"/>
              </a:ext>
            </a:extLst>
          </p:cNvPr>
          <p:cNvSpPr>
            <a:spLocks noGrp="1"/>
          </p:cNvSpPr>
          <p:nvPr>
            <p:ph type="body" sz="quarter" idx="10"/>
          </p:nvPr>
        </p:nvSpPr>
        <p:spPr/>
        <p:txBody>
          <a:bodyPr/>
          <a:lstStyle/>
          <a:p>
            <a:r>
              <a:rPr lang="en-US" altLang="ko-KR" dirty="0"/>
              <a:t> Six Memory Placement Strategies</a:t>
            </a:r>
            <a:endParaRPr lang="ko-KR" altLang="en-US" dirty="0"/>
          </a:p>
        </p:txBody>
      </p:sp>
      <p:graphicFrame>
        <p:nvGraphicFramePr>
          <p:cNvPr id="6" name="표 5">
            <a:extLst>
              <a:ext uri="{FF2B5EF4-FFF2-40B4-BE49-F238E27FC236}">
                <a16:creationId xmlns:a16="http://schemas.microsoft.com/office/drawing/2014/main" id="{EFE5B413-5EC0-2FE3-B4F4-6F27ED00477A}"/>
              </a:ext>
            </a:extLst>
          </p:cNvPr>
          <p:cNvGraphicFramePr>
            <a:graphicFrameLocks noGrp="1"/>
          </p:cNvGraphicFramePr>
          <p:nvPr>
            <p:extLst>
              <p:ext uri="{D42A27DB-BD31-4B8C-83A1-F6EECF244321}">
                <p14:modId xmlns:p14="http://schemas.microsoft.com/office/powerpoint/2010/main" val="1095107920"/>
              </p:ext>
            </p:extLst>
          </p:nvPr>
        </p:nvGraphicFramePr>
        <p:xfrm>
          <a:off x="838200" y="2030755"/>
          <a:ext cx="10515599" cy="3941077"/>
        </p:xfrm>
        <a:graphic>
          <a:graphicData uri="http://schemas.openxmlformats.org/drawingml/2006/table">
            <a:tbl>
              <a:tblPr/>
              <a:tblGrid>
                <a:gridCol w="3178290">
                  <a:extLst>
                    <a:ext uri="{9D8B030D-6E8A-4147-A177-3AD203B41FA5}">
                      <a16:colId xmlns:a16="http://schemas.microsoft.com/office/drawing/2014/main" val="1654944895"/>
                    </a:ext>
                  </a:extLst>
                </a:gridCol>
                <a:gridCol w="3169209">
                  <a:extLst>
                    <a:ext uri="{9D8B030D-6E8A-4147-A177-3AD203B41FA5}">
                      <a16:colId xmlns:a16="http://schemas.microsoft.com/office/drawing/2014/main" val="3124091912"/>
                    </a:ext>
                  </a:extLst>
                </a:gridCol>
                <a:gridCol w="4168100">
                  <a:extLst>
                    <a:ext uri="{9D8B030D-6E8A-4147-A177-3AD203B41FA5}">
                      <a16:colId xmlns:a16="http://schemas.microsoft.com/office/drawing/2014/main" val="962218749"/>
                    </a:ext>
                  </a:extLst>
                </a:gridCol>
              </a:tblGrid>
              <a:tr h="563011">
                <a:tc>
                  <a:txBody>
                    <a:bodyPr/>
                    <a:lstStyle/>
                    <a:p>
                      <a:pPr algn="ctr" rtl="0" fontAlgn="ctr">
                        <a:buNone/>
                      </a:pPr>
                      <a:r>
                        <a:rPr lang="en" sz="2000" b="1" i="0" u="none" strike="noStrike" dirty="0">
                          <a:solidFill>
                            <a:srgbClr val="F3F0DF"/>
                          </a:solidFill>
                          <a:effectLst/>
                          <a:latin typeface="+mj-lt"/>
                        </a:rPr>
                        <a:t>Type</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5088"/>
                    </a:solidFill>
                  </a:tcPr>
                </a:tc>
                <a:tc>
                  <a:txBody>
                    <a:bodyPr/>
                    <a:lstStyle/>
                    <a:p>
                      <a:pPr algn="ctr" rtl="0" fontAlgn="ctr">
                        <a:buNone/>
                      </a:pPr>
                      <a:r>
                        <a:rPr lang="en" sz="2000" b="1" i="0" u="none" strike="noStrike" dirty="0">
                          <a:solidFill>
                            <a:srgbClr val="F3F0DF"/>
                          </a:solidFill>
                          <a:effectLst/>
                          <a:latin typeface="+mj-lt"/>
                        </a:rPr>
                        <a:t>S-box</a:t>
                      </a:r>
                      <a:endParaRPr lang="ko-KR" altLang="en-US"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5088"/>
                    </a:solidFill>
                  </a:tcPr>
                </a:tc>
                <a:tc>
                  <a:txBody>
                    <a:bodyPr/>
                    <a:lstStyle/>
                    <a:p>
                      <a:pPr algn="ctr" rtl="0" fontAlgn="ctr">
                        <a:buNone/>
                      </a:pPr>
                      <a:r>
                        <a:rPr lang="en" sz="2000" b="1" i="0" u="none" strike="noStrike" dirty="0">
                          <a:solidFill>
                            <a:srgbClr val="F3F0DF"/>
                          </a:solidFill>
                          <a:effectLst/>
                          <a:latin typeface="+mj-lt"/>
                        </a:rPr>
                        <a:t>Round Keys</a:t>
                      </a:r>
                      <a:endParaRPr lang="ko-KR" altLang="en-US"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5088"/>
                    </a:solidFill>
                  </a:tcPr>
                </a:tc>
                <a:extLst>
                  <a:ext uri="{0D108BD9-81ED-4DB2-BD59-A6C34878D82A}">
                    <a16:rowId xmlns:a16="http://schemas.microsoft.com/office/drawing/2014/main" val="299214389"/>
                  </a:ext>
                </a:extLst>
              </a:tr>
              <a:tr h="563011">
                <a:tc>
                  <a:txBody>
                    <a:bodyPr/>
                    <a:lstStyle/>
                    <a:p>
                      <a:pPr algn="ctr" rtl="0" fontAlgn="ctr">
                        <a:buNone/>
                      </a:pPr>
                      <a:r>
                        <a:rPr lang="en" sz="1800" b="1" i="0" u="none" strike="noStrike" dirty="0">
                          <a:solidFill>
                            <a:srgbClr val="1E293B"/>
                          </a:solidFill>
                          <a:effectLst/>
                          <a:latin typeface="+mj-lt"/>
                        </a:rPr>
                        <a:t>Type 1 (Baseline)</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a:solidFill>
                            <a:srgbClr val="1E293B"/>
                          </a:solidFill>
                          <a:effectLst/>
                          <a:latin typeface="+mj-lt"/>
                        </a:rPr>
                        <a:t>device</a:t>
                      </a:r>
                      <a:endParaRPr lang="en" sz="240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a:solidFill>
                            <a:srgbClr val="1E293B"/>
                          </a:solidFill>
                          <a:effectLst/>
                          <a:latin typeface="+mj-lt"/>
                        </a:rPr>
                        <a:t>device</a:t>
                      </a:r>
                      <a:endParaRPr lang="en" sz="240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2970879989"/>
                  </a:ext>
                </a:extLst>
              </a:tr>
              <a:tr h="563011">
                <a:tc>
                  <a:txBody>
                    <a:bodyPr/>
                    <a:lstStyle/>
                    <a:p>
                      <a:pPr algn="ctr" rtl="0" fontAlgn="ctr">
                        <a:buNone/>
                      </a:pPr>
                      <a:r>
                        <a:rPr lang="en" sz="1800" b="1" i="0" u="none" strike="noStrike" dirty="0">
                          <a:solidFill>
                            <a:srgbClr val="1E293B"/>
                          </a:solidFill>
                          <a:effectLst/>
                          <a:latin typeface="+mj-lt"/>
                        </a:rPr>
                        <a:t>Type 2</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dirty="0">
                          <a:solidFill>
                            <a:srgbClr val="1E293B"/>
                          </a:solidFill>
                          <a:effectLst/>
                          <a:latin typeface="+mj-lt"/>
                        </a:rPr>
                        <a:t>threadgroup</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a:solidFill>
                            <a:srgbClr val="1E293B"/>
                          </a:solidFill>
                          <a:effectLst/>
                          <a:latin typeface="+mj-lt"/>
                        </a:rPr>
                        <a:t>device</a:t>
                      </a:r>
                      <a:endParaRPr lang="en" sz="240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3407437"/>
                  </a:ext>
                </a:extLst>
              </a:tr>
              <a:tr h="563011">
                <a:tc>
                  <a:txBody>
                    <a:bodyPr/>
                    <a:lstStyle/>
                    <a:p>
                      <a:pPr algn="ctr" rtl="0" fontAlgn="ctr">
                        <a:buNone/>
                      </a:pPr>
                      <a:r>
                        <a:rPr lang="en" sz="1800" b="1" i="0" u="none" strike="noStrike" dirty="0">
                          <a:solidFill>
                            <a:srgbClr val="1E293B"/>
                          </a:solidFill>
                          <a:effectLst/>
                          <a:latin typeface="+mj-lt"/>
                        </a:rPr>
                        <a:t>Type 3</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dirty="0">
                          <a:solidFill>
                            <a:srgbClr val="1E293B"/>
                          </a:solidFill>
                          <a:effectLst/>
                          <a:latin typeface="+mj-lt"/>
                        </a:rPr>
                        <a:t>constant</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a:solidFill>
                            <a:srgbClr val="1E293B"/>
                          </a:solidFill>
                          <a:effectLst/>
                          <a:latin typeface="+mj-lt"/>
                        </a:rPr>
                        <a:t>device</a:t>
                      </a:r>
                      <a:endParaRPr lang="en" sz="240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3109871818"/>
                  </a:ext>
                </a:extLst>
              </a:tr>
              <a:tr h="563011">
                <a:tc>
                  <a:txBody>
                    <a:bodyPr/>
                    <a:lstStyle/>
                    <a:p>
                      <a:pPr algn="ctr" rtl="0" fontAlgn="ctr">
                        <a:buNone/>
                      </a:pPr>
                      <a:r>
                        <a:rPr lang="en" sz="1800" b="1" i="0" u="none" strike="noStrike" dirty="0">
                          <a:solidFill>
                            <a:srgbClr val="1E293B"/>
                          </a:solidFill>
                          <a:effectLst/>
                          <a:latin typeface="+mj-lt"/>
                        </a:rPr>
                        <a:t>Type 4</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dirty="0">
                          <a:solidFill>
                            <a:srgbClr val="1E293B"/>
                          </a:solidFill>
                          <a:effectLst/>
                          <a:latin typeface="+mj-lt"/>
                        </a:rPr>
                        <a:t>threadgroup</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dirty="0">
                          <a:solidFill>
                            <a:srgbClr val="1E293B"/>
                          </a:solidFill>
                          <a:effectLst/>
                          <a:latin typeface="+mj-lt"/>
                        </a:rPr>
                        <a:t>threadgroup</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9179791"/>
                  </a:ext>
                </a:extLst>
              </a:tr>
              <a:tr h="563011">
                <a:tc>
                  <a:txBody>
                    <a:bodyPr/>
                    <a:lstStyle/>
                    <a:p>
                      <a:pPr algn="ctr" rtl="0" fontAlgn="ctr">
                        <a:buNone/>
                      </a:pPr>
                      <a:r>
                        <a:rPr lang="en" sz="1800" b="1" i="0" u="none" strike="noStrike" dirty="0">
                          <a:solidFill>
                            <a:srgbClr val="1E293B"/>
                          </a:solidFill>
                          <a:effectLst/>
                          <a:latin typeface="+mj-lt"/>
                        </a:rPr>
                        <a:t>Type 5</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dirty="0">
                          <a:solidFill>
                            <a:srgbClr val="1E293B"/>
                          </a:solidFill>
                          <a:effectLst/>
                          <a:latin typeface="+mj-lt"/>
                        </a:rPr>
                        <a:t>threadgroup</a:t>
                      </a:r>
                      <a:endParaRPr lang="en" sz="2400" b="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rtl="0" fontAlgn="ctr">
                        <a:buNone/>
                      </a:pPr>
                      <a:r>
                        <a:rPr lang="en" sz="1800" b="0" i="0" u="none" strike="noStrike" dirty="0">
                          <a:solidFill>
                            <a:srgbClr val="1E293B"/>
                          </a:solidFill>
                          <a:effectLst/>
                          <a:latin typeface="+mj-lt"/>
                        </a:rPr>
                        <a:t>constant</a:t>
                      </a:r>
                      <a:endParaRPr lang="en" sz="2400" b="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3586019759"/>
                  </a:ext>
                </a:extLst>
              </a:tr>
              <a:tr h="563011">
                <a:tc>
                  <a:txBody>
                    <a:bodyPr/>
                    <a:lstStyle/>
                    <a:p>
                      <a:pPr algn="ctr" rtl="0" fontAlgn="ctr">
                        <a:buNone/>
                      </a:pPr>
                      <a:r>
                        <a:rPr lang="en" sz="1800" b="1" i="0" u="none" strike="noStrike" dirty="0">
                          <a:solidFill>
                            <a:srgbClr val="1E293B"/>
                          </a:solidFill>
                          <a:effectLst/>
                          <a:latin typeface="+mj-lt"/>
                        </a:rPr>
                        <a:t>Type 6</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dirty="0">
                          <a:solidFill>
                            <a:srgbClr val="1E293B"/>
                          </a:solidFill>
                          <a:effectLst/>
                          <a:latin typeface="+mj-lt"/>
                        </a:rPr>
                        <a:t>device</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 sz="1800" b="0" i="0" u="none" strike="noStrike" dirty="0">
                          <a:solidFill>
                            <a:srgbClr val="1E293B"/>
                          </a:solidFill>
                          <a:effectLst/>
                          <a:latin typeface="+mj-lt"/>
                        </a:rPr>
                        <a:t>constant</a:t>
                      </a:r>
                      <a:endParaRPr lang="en" sz="2400" dirty="0">
                        <a:effectLst/>
                        <a:latin typeface="+mj-lt"/>
                      </a:endParaRPr>
                    </a:p>
                  </a:txBody>
                  <a:tcPr marL="63566" marR="63566" marT="27242" marB="2724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82893609"/>
                  </a:ext>
                </a:extLst>
              </a:tr>
            </a:tbl>
          </a:graphicData>
        </a:graphic>
      </p:graphicFrame>
    </p:spTree>
    <p:extLst>
      <p:ext uri="{BB962C8B-B14F-4D97-AF65-F5344CB8AC3E}">
        <p14:creationId xmlns:p14="http://schemas.microsoft.com/office/powerpoint/2010/main" val="968396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2B5C8CE-C16A-5B66-38F5-39B6BB33E5EF}"/>
              </a:ext>
            </a:extLst>
          </p:cNvPr>
          <p:cNvSpPr>
            <a:spLocks noGrp="1"/>
          </p:cNvSpPr>
          <p:nvPr>
            <p:ph type="title"/>
          </p:nvPr>
        </p:nvSpPr>
        <p:spPr/>
        <p:txBody>
          <a:bodyPr/>
          <a:lstStyle/>
          <a:p>
            <a:r>
              <a:rPr lang="en-US" altLang="ko-KR" dirty="0"/>
              <a:t>4. Performance Results and Analysis</a:t>
            </a:r>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289E7A2C-3CAF-2CA7-F9CC-FD829B294DEE}"/>
                  </a:ext>
                </a:extLst>
              </p:cNvPr>
              <p:cNvSpPr>
                <a:spLocks noGrp="1"/>
              </p:cNvSpPr>
              <p:nvPr>
                <p:ph type="body" sz="quarter" idx="10"/>
              </p:nvPr>
            </p:nvSpPr>
            <p:spPr/>
            <p:txBody>
              <a:bodyPr/>
              <a:lstStyle/>
              <a:p>
                <a:r>
                  <a:rPr lang="en-US" altLang="ko-KR" dirty="0"/>
                  <a:t> Test Environment</a:t>
                </a:r>
              </a:p>
              <a:p>
                <a:pPr lvl="1"/>
                <a:r>
                  <a:rPr lang="en-US" altLang="ko-KR" dirty="0"/>
                  <a:t>MacBook Pro (Apple M1)</a:t>
                </a:r>
              </a:p>
              <a:p>
                <a:pPr lvl="1"/>
                <a:r>
                  <a:rPr lang="en-US" altLang="ko-KR" dirty="0"/>
                  <a:t>Framework : Swift &amp; Metal API</a:t>
                </a:r>
              </a:p>
              <a:p>
                <a:pPr lvl="1"/>
                <a:r>
                  <a:rPr lang="en-US" altLang="ko-KR" dirty="0"/>
                  <a:t>Workload : </a:t>
                </a:r>
                <a14:m>
                  <m:oMath xmlns:m="http://schemas.openxmlformats.org/officeDocument/2006/math">
                    <m:sSup>
                      <m:sSupPr>
                        <m:ctrlPr>
                          <a:rPr lang="ar-AE" altLang="ko-KR" i="1">
                            <a:latin typeface="Cambria Math" panose="02040503050406030204" pitchFamily="18" charset="0"/>
                          </a:rPr>
                        </m:ctrlPr>
                      </m:sSupPr>
                      <m:e>
                        <m:r>
                          <a:rPr lang="ar-AE" altLang="ko-KR">
                            <a:latin typeface="Cambria Math" panose="02040503050406030204" pitchFamily="18" charset="0"/>
                          </a:rPr>
                          <m:t>2</m:t>
                        </m:r>
                      </m:e>
                      <m:sup>
                        <m:r>
                          <a:rPr lang="ar-AE" altLang="ko-KR">
                            <a:latin typeface="Cambria Math" panose="02040503050406030204" pitchFamily="18" charset="0"/>
                          </a:rPr>
                          <m:t>35</m:t>
                        </m:r>
                      </m:sup>
                    </m:sSup>
                  </m:oMath>
                </a14:m>
                <a:r>
                  <a:rPr lang="en-US" altLang="ko-KR" dirty="0"/>
                  <a:t>ARIA-CTR-128 block encryptions</a:t>
                </a:r>
              </a:p>
              <a:p>
                <a:pPr lvl="1"/>
                <a:r>
                  <a:rPr lang="en-US" altLang="ko-KR" dirty="0"/>
                  <a:t>GPU Grid</a:t>
                </a:r>
              </a:p>
              <a:p>
                <a:pPr lvl="2"/>
                <a:r>
                  <a:rPr lang="en-US" altLang="ko-KR" dirty="0"/>
                  <a:t>512 Threads</a:t>
                </a:r>
              </a:p>
              <a:p>
                <a:pPr lvl="2"/>
                <a:r>
                  <a:rPr lang="en-US" altLang="ko-KR" dirty="0"/>
                  <a:t>1024 </a:t>
                </a:r>
                <a:r>
                  <a:rPr lang="en-US" altLang="ko-KR" dirty="0" err="1"/>
                  <a:t>Threadgroups</a:t>
                </a:r>
                <a:endParaRPr lang="en-US" altLang="ko-KR" dirty="0"/>
              </a:p>
              <a:p>
                <a:pPr lvl="1"/>
                <a:r>
                  <a:rPr lang="en-US" altLang="ko-KR" dirty="0"/>
                  <a:t>Metric</a:t>
                </a:r>
              </a:p>
              <a:p>
                <a:pPr lvl="2"/>
                <a:r>
                  <a:rPr lang="en-US" altLang="ko-KR" dirty="0"/>
                  <a:t>Throughput, MB/s</a:t>
                </a:r>
              </a:p>
              <a:p>
                <a:pPr lvl="2"/>
                <a:r>
                  <a:rPr lang="en-US" altLang="ko-KR" dirty="0"/>
                  <a:t>Since the focus is on encrypting large volumes of data, throughput takes priority over latency.</a:t>
                </a:r>
                <a:endParaRPr lang="ko-KR" altLang="en-US" dirty="0"/>
              </a:p>
            </p:txBody>
          </p:sp>
        </mc:Choice>
        <mc:Fallback xmlns="">
          <p:sp>
            <p:nvSpPr>
              <p:cNvPr id="3" name="텍스트 개체 틀 2">
                <a:extLst>
                  <a:ext uri="{FF2B5EF4-FFF2-40B4-BE49-F238E27FC236}">
                    <a16:creationId xmlns:a16="http://schemas.microsoft.com/office/drawing/2014/main" id="{289E7A2C-3CAF-2CA7-F9CC-FD829B294DEE}"/>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911" t="-120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048156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F889-A49E-0379-2082-D0459355721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4ED7072-7B7D-9FE7-A892-E8902EDB6C1E}"/>
              </a:ext>
            </a:extLst>
          </p:cNvPr>
          <p:cNvSpPr>
            <a:spLocks noGrp="1"/>
          </p:cNvSpPr>
          <p:nvPr>
            <p:ph type="title"/>
          </p:nvPr>
        </p:nvSpPr>
        <p:spPr/>
        <p:txBody>
          <a:bodyPr/>
          <a:lstStyle/>
          <a:p>
            <a:r>
              <a:rPr lang="en-US" altLang="ko-KR" dirty="0"/>
              <a:t>4. Performance Results and Analysis</a:t>
            </a:r>
            <a:endParaRPr lang="ko-KR" altLang="en-US" dirty="0"/>
          </a:p>
        </p:txBody>
      </p:sp>
      <p:sp>
        <p:nvSpPr>
          <p:cNvPr id="3" name="텍스트 개체 틀 2">
            <a:extLst>
              <a:ext uri="{FF2B5EF4-FFF2-40B4-BE49-F238E27FC236}">
                <a16:creationId xmlns:a16="http://schemas.microsoft.com/office/drawing/2014/main" id="{D83C9D96-5180-EECF-0CB6-06336D0676A2}"/>
              </a:ext>
            </a:extLst>
          </p:cNvPr>
          <p:cNvSpPr>
            <a:spLocks noGrp="1"/>
          </p:cNvSpPr>
          <p:nvPr>
            <p:ph type="body" sz="quarter" idx="10"/>
          </p:nvPr>
        </p:nvSpPr>
        <p:spPr/>
        <p:txBody>
          <a:bodyPr/>
          <a:lstStyle/>
          <a:p>
            <a:r>
              <a:rPr lang="en-US" altLang="ko-KR" dirty="0"/>
              <a:t> Performance Results</a:t>
            </a:r>
          </a:p>
          <a:p>
            <a:pPr lvl="1"/>
            <a:r>
              <a:rPr lang="en-US" altLang="ko-KR" dirty="0"/>
              <a:t>Type n (S-box/Round key)</a:t>
            </a:r>
            <a:endParaRPr lang="ko-KR" altLang="en-US" dirty="0"/>
          </a:p>
        </p:txBody>
      </p:sp>
      <p:pic>
        <p:nvPicPr>
          <p:cNvPr id="4" name="Google Shape;388;p31" descr="image.png">
            <a:extLst>
              <a:ext uri="{FF2B5EF4-FFF2-40B4-BE49-F238E27FC236}">
                <a16:creationId xmlns:a16="http://schemas.microsoft.com/office/drawing/2014/main" id="{3639317B-F1E3-E67F-93B0-6A6E94BC95B1}"/>
              </a:ext>
            </a:extLst>
          </p:cNvPr>
          <p:cNvPicPr preferRelativeResize="0"/>
          <p:nvPr/>
        </p:nvPicPr>
        <p:blipFill rotWithShape="1">
          <a:blip r:embed="rId3">
            <a:alphaModFix/>
          </a:blip>
          <a:srcRect/>
          <a:stretch/>
        </p:blipFill>
        <p:spPr>
          <a:xfrm>
            <a:off x="411162" y="1925853"/>
            <a:ext cx="11049000" cy="4724400"/>
          </a:xfrm>
          <a:prstGeom prst="rect">
            <a:avLst/>
          </a:prstGeom>
          <a:noFill/>
          <a:ln>
            <a:noFill/>
          </a:ln>
        </p:spPr>
      </p:pic>
    </p:spTree>
    <p:extLst>
      <p:ext uri="{BB962C8B-B14F-4D97-AF65-F5344CB8AC3E}">
        <p14:creationId xmlns:p14="http://schemas.microsoft.com/office/powerpoint/2010/main" val="354313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98EB-663A-33B1-F059-D45A89BAEA7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057197F-C0A1-1530-CE48-F4B9DD2F1C16}"/>
              </a:ext>
            </a:extLst>
          </p:cNvPr>
          <p:cNvSpPr>
            <a:spLocks noGrp="1"/>
          </p:cNvSpPr>
          <p:nvPr>
            <p:ph type="title"/>
          </p:nvPr>
        </p:nvSpPr>
        <p:spPr/>
        <p:txBody>
          <a:bodyPr/>
          <a:lstStyle/>
          <a:p>
            <a:r>
              <a:rPr lang="en-US" altLang="ko-KR" dirty="0"/>
              <a:t>4. Performance Results and Analysis</a:t>
            </a:r>
            <a:endParaRPr lang="ko-KR" altLang="en-US" dirty="0"/>
          </a:p>
        </p:txBody>
      </p:sp>
      <p:sp>
        <p:nvSpPr>
          <p:cNvPr id="3" name="텍스트 개체 틀 2">
            <a:extLst>
              <a:ext uri="{FF2B5EF4-FFF2-40B4-BE49-F238E27FC236}">
                <a16:creationId xmlns:a16="http://schemas.microsoft.com/office/drawing/2014/main" id="{2DEC32A2-77F1-7EF2-950F-9F21C6EE35C8}"/>
              </a:ext>
            </a:extLst>
          </p:cNvPr>
          <p:cNvSpPr>
            <a:spLocks noGrp="1"/>
          </p:cNvSpPr>
          <p:nvPr>
            <p:ph type="body" sz="quarter" idx="10"/>
          </p:nvPr>
        </p:nvSpPr>
        <p:spPr>
          <a:xfrm>
            <a:off x="411163" y="1981468"/>
            <a:ext cx="5684837" cy="4043318"/>
          </a:xfrm>
        </p:spPr>
        <p:txBody>
          <a:bodyPr/>
          <a:lstStyle/>
          <a:p>
            <a:r>
              <a:rPr lang="en-US" altLang="ko-KR" dirty="0"/>
              <a:t> </a:t>
            </a:r>
            <a:r>
              <a:rPr lang="en-US" altLang="ko-KR" dirty="0">
                <a:highlight>
                  <a:srgbClr val="FFFF00"/>
                </a:highlight>
              </a:rPr>
              <a:t>Best Performance – Type 5</a:t>
            </a:r>
          </a:p>
          <a:p>
            <a:pPr lvl="1"/>
            <a:r>
              <a:rPr lang="en-US" altLang="ko-KR" dirty="0"/>
              <a:t>S-box : Threadgroup / RK : Constant</a:t>
            </a:r>
          </a:p>
          <a:p>
            <a:pPr lvl="1"/>
            <a:r>
              <a:rPr lang="en-US" altLang="ko-KR" dirty="0"/>
              <a:t>451.93 MB/s </a:t>
            </a:r>
            <a:r>
              <a:rPr lang="en-US" altLang="ko-KR" dirty="0">
                <a:solidFill>
                  <a:schemeClr val="accent5"/>
                </a:solidFill>
              </a:rPr>
              <a:t>(+47.07% (vs. Type 1))</a:t>
            </a:r>
          </a:p>
          <a:p>
            <a:pPr lvl="1"/>
            <a:r>
              <a:rPr lang="en-US" altLang="ko-KR" dirty="0"/>
              <a:t>This configuration optimally matches data access patterns: </a:t>
            </a:r>
            <a:r>
              <a:rPr lang="en-US" altLang="ko-KR" dirty="0">
                <a:solidFill>
                  <a:schemeClr val="accent5"/>
                </a:solidFill>
              </a:rPr>
              <a:t>irregular S-box </a:t>
            </a:r>
            <a:r>
              <a:rPr lang="en-US" altLang="ko-KR" dirty="0"/>
              <a:t>accesses leverage threadgroup memory's </a:t>
            </a:r>
            <a:r>
              <a:rPr lang="en-US" altLang="ko-KR" dirty="0">
                <a:solidFill>
                  <a:schemeClr val="accent5"/>
                </a:solidFill>
              </a:rPr>
              <a:t>low latency</a:t>
            </a:r>
            <a:r>
              <a:rPr lang="en-US" altLang="ko-KR" dirty="0"/>
              <a:t>, while </a:t>
            </a:r>
            <a:r>
              <a:rPr lang="en-US" altLang="ko-KR" dirty="0">
                <a:solidFill>
                  <a:schemeClr val="accent5"/>
                </a:solidFill>
              </a:rPr>
              <a:t>uniform round key</a:t>
            </a:r>
            <a:r>
              <a:rPr lang="en-US" altLang="ko-KR" dirty="0"/>
              <a:t> accesses exploit constant memory's </a:t>
            </a:r>
            <a:r>
              <a:rPr lang="en-US" altLang="ko-KR" dirty="0">
                <a:solidFill>
                  <a:schemeClr val="accent5"/>
                </a:solidFill>
              </a:rPr>
              <a:t>broadcast</a:t>
            </a:r>
            <a:r>
              <a:rPr lang="en-US" altLang="ko-KR" dirty="0"/>
              <a:t> optimization.</a:t>
            </a:r>
            <a:endParaRPr lang="ko-KR" altLang="en-US" dirty="0"/>
          </a:p>
        </p:txBody>
      </p:sp>
      <p:sp>
        <p:nvSpPr>
          <p:cNvPr id="4" name="텍스트 개체 틀 2">
            <a:extLst>
              <a:ext uri="{FF2B5EF4-FFF2-40B4-BE49-F238E27FC236}">
                <a16:creationId xmlns:a16="http://schemas.microsoft.com/office/drawing/2014/main" id="{03BCFA74-38E7-BA27-2916-83DB557D74B4}"/>
              </a:ext>
            </a:extLst>
          </p:cNvPr>
          <p:cNvSpPr txBox="1">
            <a:spLocks/>
          </p:cNvSpPr>
          <p:nvPr/>
        </p:nvSpPr>
        <p:spPr>
          <a:xfrm>
            <a:off x="6096000" y="1981468"/>
            <a:ext cx="5684837" cy="3718578"/>
          </a:xfrm>
          <a:prstGeom prst="rect">
            <a:avLst/>
          </a:prstGeom>
        </p:spPr>
        <p:txBody>
          <a:bodyPr vert="horz" lIns="91440" tIns="45720" rIns="91440" bIns="45720" rtlCol="0">
            <a:normAutofit/>
          </a:bodyPr>
          <a:lstStyle>
            <a:lvl1pPr marL="228600" indent="-228600" algn="l" defTabSz="914400" rtl="0" eaLnBrk="1" latinLnBrk="1" hangingPunct="1">
              <a:lnSpc>
                <a:spcPct val="100000"/>
              </a:lnSpc>
              <a:spcBef>
                <a:spcPts val="1000"/>
              </a:spcBef>
              <a:buFont typeface="Wingdings" pitchFamily="2" charset="2"/>
              <a:buChar char="Ø"/>
              <a:defRPr sz="2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1pPr>
            <a:lvl2pPr marL="685800" indent="-228600" algn="l" defTabSz="914400" rtl="0" eaLnBrk="1" latinLnBrk="1" hangingPunct="1">
              <a:lnSpc>
                <a:spcPct val="100000"/>
              </a:lnSpc>
              <a:spcBef>
                <a:spcPts val="500"/>
              </a:spcBef>
              <a:buFont typeface="Wingdings" pitchFamily="2" charset="2"/>
              <a:buChar char="§"/>
              <a:defRPr sz="24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2pPr>
            <a:lvl3pPr marL="1143000" indent="-228600" algn="l" defTabSz="914400" rtl="0" eaLnBrk="1" latinLnBrk="1" hangingPunct="1">
              <a:lnSpc>
                <a:spcPct val="100000"/>
              </a:lnSpc>
              <a:spcBef>
                <a:spcPts val="500"/>
              </a:spcBef>
              <a:buFont typeface="Arial" panose="020B0604020202020204" pitchFamily="34" charset="0"/>
              <a:buChar char="•"/>
              <a:defRPr sz="20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3pPr>
            <a:lvl4pPr marL="16002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4pPr>
            <a:lvl5pPr marL="2057400" indent="-228600" algn="l" defTabSz="914400" rtl="0" eaLnBrk="1" latinLnBrk="1" hangingPunct="1">
              <a:lnSpc>
                <a:spcPct val="100000"/>
              </a:lnSpc>
              <a:spcBef>
                <a:spcPts val="500"/>
              </a:spcBef>
              <a:buFont typeface="Arial" panose="020B0604020202020204" pitchFamily="34" charset="0"/>
              <a:buChar char="•"/>
              <a:defRPr sz="1800" b="0" i="0" kern="1200">
                <a:solidFill>
                  <a:schemeClr val="tx1"/>
                </a:solidFill>
                <a:latin typeface="Times New Roman" panose="02020603050405020304" pitchFamily="18" charset="0"/>
                <a:ea typeface="Paperlogy 4 Regular" pitchFamily="2" charset="-127"/>
                <a:cs typeface="Times New Roman" panose="02020603050405020304" pitchFamily="18"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dirty="0"/>
              <a:t> Worst Performance – Type 3</a:t>
            </a:r>
          </a:p>
          <a:p>
            <a:pPr lvl="1"/>
            <a:r>
              <a:rPr lang="en-US" altLang="ko-KR" dirty="0"/>
              <a:t>S-box : Constant / RK : Device</a:t>
            </a:r>
          </a:p>
          <a:p>
            <a:pPr lvl="1"/>
            <a:r>
              <a:rPr lang="en-US" altLang="ko-KR" dirty="0"/>
              <a:t>284.73 MB/s </a:t>
            </a:r>
            <a:r>
              <a:rPr lang="en-US" altLang="ko-KR" dirty="0">
                <a:solidFill>
                  <a:srgbClr val="FF0000"/>
                </a:solidFill>
              </a:rPr>
              <a:t>(-7.3% (vs. Type 1))</a:t>
            </a:r>
          </a:p>
          <a:p>
            <a:pPr lvl="1"/>
            <a:r>
              <a:rPr lang="en-US" altLang="ko-KR" dirty="0"/>
              <a:t>Irregular S-box access patterns led to decreased memory access efficiency, inducing a performance </a:t>
            </a:r>
            <a:r>
              <a:rPr lang="en-US" altLang="ko-KR" dirty="0">
                <a:solidFill>
                  <a:srgbClr val="FF0000"/>
                </a:solidFill>
              </a:rPr>
              <a:t>bottleneck</a:t>
            </a:r>
            <a:r>
              <a:rPr lang="en-US" altLang="ko-KR" dirty="0"/>
              <a:t> that yielded lower throughput than the device memory baseline</a:t>
            </a:r>
            <a:endParaRPr lang="ko-KR" altLang="en-US" dirty="0"/>
          </a:p>
        </p:txBody>
      </p:sp>
    </p:spTree>
    <p:extLst>
      <p:ext uri="{BB962C8B-B14F-4D97-AF65-F5344CB8AC3E}">
        <p14:creationId xmlns:p14="http://schemas.microsoft.com/office/powerpoint/2010/main" val="219896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380DF-8FBF-D1CE-4225-C91850AC389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1ACE14D-B51D-C5A2-06CD-E337EF8B5E8B}"/>
              </a:ext>
            </a:extLst>
          </p:cNvPr>
          <p:cNvSpPr>
            <a:spLocks noGrp="1"/>
          </p:cNvSpPr>
          <p:nvPr>
            <p:ph type="title"/>
          </p:nvPr>
        </p:nvSpPr>
        <p:spPr/>
        <p:txBody>
          <a:bodyPr/>
          <a:lstStyle/>
          <a:p>
            <a:r>
              <a:rPr lang="en-US" altLang="ko-KR" dirty="0"/>
              <a:t>4. Performance Results and Analysis</a:t>
            </a:r>
            <a:endParaRPr lang="ko-KR" altLang="en-US" dirty="0"/>
          </a:p>
        </p:txBody>
      </p:sp>
      <p:sp>
        <p:nvSpPr>
          <p:cNvPr id="3" name="텍스트 개체 틀 2">
            <a:extLst>
              <a:ext uri="{FF2B5EF4-FFF2-40B4-BE49-F238E27FC236}">
                <a16:creationId xmlns:a16="http://schemas.microsoft.com/office/drawing/2014/main" id="{DFD27088-6E5A-333C-83CA-8DF083CC1239}"/>
              </a:ext>
            </a:extLst>
          </p:cNvPr>
          <p:cNvSpPr>
            <a:spLocks noGrp="1"/>
          </p:cNvSpPr>
          <p:nvPr>
            <p:ph type="body" sz="quarter" idx="10"/>
          </p:nvPr>
        </p:nvSpPr>
        <p:spPr>
          <a:xfrm>
            <a:off x="411163" y="1152524"/>
            <a:ext cx="11369675" cy="5581561"/>
          </a:xfrm>
        </p:spPr>
        <p:txBody>
          <a:bodyPr>
            <a:normAutofit/>
          </a:bodyPr>
          <a:lstStyle/>
          <a:p>
            <a:r>
              <a:rPr lang="en-US" altLang="ko-KR" dirty="0"/>
              <a:t> Impact of S-box Memory Placement</a:t>
            </a:r>
          </a:p>
          <a:p>
            <a:pPr lvl="1"/>
            <a:r>
              <a:rPr lang="en-US" altLang="ko-KR" dirty="0"/>
              <a:t>Device vs Threadgroup</a:t>
            </a:r>
          </a:p>
          <a:p>
            <a:pPr lvl="2"/>
            <a:r>
              <a:rPr lang="en-US" altLang="ko-KR" dirty="0"/>
              <a:t>Type 1 (Dev/Dev) : 307.32 MB/s</a:t>
            </a:r>
          </a:p>
          <a:p>
            <a:pPr lvl="2"/>
            <a:r>
              <a:rPr lang="en-US" altLang="ko-KR" dirty="0"/>
              <a:t>Type 2 (</a:t>
            </a:r>
            <a:r>
              <a:rPr lang="en-US" altLang="ko-KR" dirty="0">
                <a:solidFill>
                  <a:schemeClr val="accent5"/>
                </a:solidFill>
              </a:rPr>
              <a:t>TG</a:t>
            </a:r>
            <a:r>
              <a:rPr lang="en-US" altLang="ko-KR" dirty="0"/>
              <a:t>/Dev) : 338.70 MB/s ( +10.2%)</a:t>
            </a:r>
          </a:p>
          <a:p>
            <a:pPr lvl="2"/>
            <a:r>
              <a:rPr lang="en-US" altLang="ko-KR" dirty="0"/>
              <a:t>Simply relocating S-box to threadgroup memory yields a substantial 10.2% performance improvement. </a:t>
            </a:r>
          </a:p>
          <a:p>
            <a:pPr lvl="2"/>
            <a:r>
              <a:rPr lang="en-US" altLang="ko-KR" dirty="0"/>
              <a:t>This demonstrates that optimizing memory hierarchy </a:t>
            </a:r>
            <a:r>
              <a:rPr lang="en-US" altLang="ko-KR" dirty="0">
                <a:solidFill>
                  <a:schemeClr val="accent5"/>
                </a:solidFill>
              </a:rPr>
              <a:t>for irregular access patterns remains critical even in UMA environments</a:t>
            </a:r>
            <a:endParaRPr lang="en-US" altLang="ko-KR" sz="1100" dirty="0">
              <a:solidFill>
                <a:schemeClr val="accent5"/>
              </a:solidFill>
            </a:endParaRPr>
          </a:p>
          <a:p>
            <a:pPr lvl="1"/>
            <a:r>
              <a:rPr lang="en-US" altLang="ko-KR" dirty="0"/>
              <a:t>Threadgroup vs Constant</a:t>
            </a:r>
          </a:p>
          <a:p>
            <a:pPr lvl="2"/>
            <a:r>
              <a:rPr lang="en-US" altLang="ko-KR" dirty="0"/>
              <a:t>Type 1 (Dev/Dev) : 307.32 MB/s</a:t>
            </a:r>
          </a:p>
          <a:p>
            <a:pPr lvl="2"/>
            <a:r>
              <a:rPr lang="en-US" altLang="ko-KR" dirty="0"/>
              <a:t>Type 3 (</a:t>
            </a:r>
            <a:r>
              <a:rPr lang="en-US" altLang="ko-KR" dirty="0">
                <a:solidFill>
                  <a:srgbClr val="FF0000"/>
                </a:solidFill>
              </a:rPr>
              <a:t>Const</a:t>
            </a:r>
            <a:r>
              <a:rPr lang="en-US" altLang="ko-KR" dirty="0"/>
              <a:t>/Dev) : 284.73 MB/s (-7.3%)</a:t>
            </a:r>
          </a:p>
          <a:p>
            <a:pPr lvl="2"/>
            <a:r>
              <a:rPr lang="en-US" altLang="ko-KR" dirty="0"/>
              <a:t>This illustrates the pitfall of memory misalignment: constant cache, optimized for uniform accesses, </a:t>
            </a:r>
            <a:r>
              <a:rPr lang="en-US" altLang="ko-KR" dirty="0">
                <a:solidFill>
                  <a:srgbClr val="FF0000"/>
                </a:solidFill>
              </a:rPr>
              <a:t>suffers from continuous cache misses</a:t>
            </a:r>
            <a:r>
              <a:rPr lang="en-US" altLang="ko-KR" dirty="0"/>
              <a:t> with irregular S-box lookups, yielding worse performance than device memory.</a:t>
            </a:r>
            <a:endParaRPr lang="ko-KR" altLang="en-US" dirty="0"/>
          </a:p>
        </p:txBody>
      </p:sp>
    </p:spTree>
    <p:extLst>
      <p:ext uri="{BB962C8B-B14F-4D97-AF65-F5344CB8AC3E}">
        <p14:creationId xmlns:p14="http://schemas.microsoft.com/office/powerpoint/2010/main" val="3011577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C21EA-D0B0-5A90-4122-C155CEAB683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4914BFA-91EA-5EF5-0B49-540BA2E7AFA5}"/>
              </a:ext>
            </a:extLst>
          </p:cNvPr>
          <p:cNvSpPr>
            <a:spLocks noGrp="1"/>
          </p:cNvSpPr>
          <p:nvPr>
            <p:ph type="title"/>
          </p:nvPr>
        </p:nvSpPr>
        <p:spPr/>
        <p:txBody>
          <a:bodyPr/>
          <a:lstStyle/>
          <a:p>
            <a:r>
              <a:rPr lang="en-US" altLang="ko-KR" dirty="0"/>
              <a:t>4. Performance Results and Analysis</a:t>
            </a:r>
            <a:endParaRPr lang="ko-KR" altLang="en-US" dirty="0"/>
          </a:p>
        </p:txBody>
      </p:sp>
      <p:sp>
        <p:nvSpPr>
          <p:cNvPr id="3" name="텍스트 개체 틀 2">
            <a:extLst>
              <a:ext uri="{FF2B5EF4-FFF2-40B4-BE49-F238E27FC236}">
                <a16:creationId xmlns:a16="http://schemas.microsoft.com/office/drawing/2014/main" id="{A2E297BA-1BAD-D06A-A23A-CEB013DF0D2A}"/>
              </a:ext>
            </a:extLst>
          </p:cNvPr>
          <p:cNvSpPr>
            <a:spLocks noGrp="1"/>
          </p:cNvSpPr>
          <p:nvPr>
            <p:ph type="body" sz="quarter" idx="10"/>
          </p:nvPr>
        </p:nvSpPr>
        <p:spPr>
          <a:xfrm>
            <a:off x="411163" y="1152525"/>
            <a:ext cx="11369675" cy="5497728"/>
          </a:xfrm>
        </p:spPr>
        <p:txBody>
          <a:bodyPr>
            <a:normAutofit/>
          </a:bodyPr>
          <a:lstStyle/>
          <a:p>
            <a:r>
              <a:rPr lang="en-US" altLang="ko-KR" dirty="0"/>
              <a:t> Impact of Round Key Memory Placement (regular Access)</a:t>
            </a:r>
          </a:p>
          <a:p>
            <a:pPr lvl="1"/>
            <a:r>
              <a:rPr lang="en-US" altLang="ko-KR" dirty="0"/>
              <a:t>Device vs Constant</a:t>
            </a:r>
          </a:p>
          <a:p>
            <a:pPr lvl="2"/>
            <a:r>
              <a:rPr lang="en-US" altLang="ko-KR" dirty="0"/>
              <a:t>Type 1 (Dev/Dev) : 307.32 MB/s</a:t>
            </a:r>
          </a:p>
          <a:p>
            <a:pPr lvl="2"/>
            <a:r>
              <a:rPr lang="en-US" altLang="ko-KR" dirty="0"/>
              <a:t>Type 6 (Dev/</a:t>
            </a:r>
            <a:r>
              <a:rPr lang="en-US" altLang="ko-KR" dirty="0">
                <a:solidFill>
                  <a:schemeClr val="accent5"/>
                </a:solidFill>
              </a:rPr>
              <a:t>Const</a:t>
            </a:r>
            <a:r>
              <a:rPr lang="en-US" altLang="ko-KR" dirty="0"/>
              <a:t>) : 406.90 MB/s ( </a:t>
            </a:r>
            <a:r>
              <a:rPr lang="en-US" altLang="ko-KR" dirty="0">
                <a:solidFill>
                  <a:schemeClr val="accent5"/>
                </a:solidFill>
              </a:rPr>
              <a:t>+32.4%)</a:t>
            </a:r>
          </a:p>
          <a:p>
            <a:pPr lvl="2"/>
            <a:r>
              <a:rPr lang="en-US" altLang="ko-KR" dirty="0"/>
              <a:t>Moving Round Key to constant memory produced even more dramatic performance gains than </a:t>
            </a:r>
            <a:br>
              <a:rPr lang="en-US" altLang="ko-KR" dirty="0"/>
            </a:br>
            <a:r>
              <a:rPr lang="en-US" altLang="ko-KR" dirty="0"/>
              <a:t>S-box optimization. </a:t>
            </a:r>
          </a:p>
          <a:p>
            <a:pPr lvl="2"/>
            <a:r>
              <a:rPr lang="en-US" altLang="ko-KR" dirty="0"/>
              <a:t>This suggests that M1's constant memory provides </a:t>
            </a:r>
            <a:r>
              <a:rPr lang="en-US" altLang="ko-KR" dirty="0">
                <a:solidFill>
                  <a:schemeClr val="accent5"/>
                </a:solidFill>
              </a:rPr>
              <a:t>highly efficient hardware broadcast optimization.</a:t>
            </a:r>
            <a:endParaRPr lang="en-US" altLang="ko-KR" sz="1100" dirty="0">
              <a:solidFill>
                <a:schemeClr val="accent5"/>
              </a:solidFill>
            </a:endParaRPr>
          </a:p>
          <a:p>
            <a:pPr lvl="1"/>
            <a:r>
              <a:rPr lang="en-US" altLang="ko-KR" dirty="0"/>
              <a:t>Threadgroup vs Constant</a:t>
            </a:r>
          </a:p>
          <a:p>
            <a:pPr lvl="2"/>
            <a:r>
              <a:rPr lang="en-US" altLang="ko-KR" dirty="0"/>
              <a:t>Type 4 (Dev / TG) : 445.12 MB/s</a:t>
            </a:r>
          </a:p>
          <a:p>
            <a:pPr lvl="2"/>
            <a:r>
              <a:rPr lang="en-US" altLang="ko-KR" dirty="0"/>
              <a:t>Type 5 (Dev /</a:t>
            </a:r>
            <a:r>
              <a:rPr lang="en-US" altLang="ko-KR" dirty="0">
                <a:solidFill>
                  <a:schemeClr val="accent5"/>
                </a:solidFill>
              </a:rPr>
              <a:t> Const</a:t>
            </a:r>
            <a:r>
              <a:rPr lang="en-US" altLang="ko-KR" dirty="0"/>
              <a:t>) : 451.93 MB/s (+1.5%)</a:t>
            </a:r>
          </a:p>
          <a:p>
            <a:pPr lvl="2"/>
            <a:r>
              <a:rPr lang="en-US" altLang="ko-KR" dirty="0"/>
              <a:t>Both strategies are effective, though constant memory achieves </a:t>
            </a:r>
            <a:r>
              <a:rPr lang="en-US" altLang="ko-KR" dirty="0">
                <a:solidFill>
                  <a:schemeClr val="accent5"/>
                </a:solidFill>
              </a:rPr>
              <a:t>slightly higher </a:t>
            </a:r>
            <a:r>
              <a:rPr lang="en-US" altLang="ko-KR" dirty="0"/>
              <a:t>performance than threadgroup (1.5% improvement). This demonstrates the efficiency of hardware cache optimization for uniform access patterns.</a:t>
            </a:r>
            <a:endParaRPr lang="ko-KR" altLang="en-US" dirty="0"/>
          </a:p>
        </p:txBody>
      </p:sp>
    </p:spTree>
    <p:extLst>
      <p:ext uri="{BB962C8B-B14F-4D97-AF65-F5344CB8AC3E}">
        <p14:creationId xmlns:p14="http://schemas.microsoft.com/office/powerpoint/2010/main" val="2180949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2160-7A98-440E-7602-B4B1802A6F5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8939C8B-94FF-0281-C903-338ACBD4F6D3}"/>
              </a:ext>
            </a:extLst>
          </p:cNvPr>
          <p:cNvSpPr>
            <a:spLocks noGrp="1"/>
          </p:cNvSpPr>
          <p:nvPr>
            <p:ph type="title"/>
          </p:nvPr>
        </p:nvSpPr>
        <p:spPr/>
        <p:txBody>
          <a:bodyPr/>
          <a:lstStyle/>
          <a:p>
            <a:r>
              <a:rPr lang="en-US" altLang="ko-KR" dirty="0"/>
              <a:t>5.</a:t>
            </a:r>
            <a:r>
              <a:rPr lang="ko-KR" altLang="en-US" dirty="0"/>
              <a:t> </a:t>
            </a:r>
            <a:r>
              <a:rPr lang="en-US" altLang="ko-KR" dirty="0"/>
              <a:t>Conclusion - Limitations</a:t>
            </a:r>
            <a:endParaRPr lang="ko-KR" altLang="en-US" dirty="0"/>
          </a:p>
        </p:txBody>
      </p:sp>
      <p:sp>
        <p:nvSpPr>
          <p:cNvPr id="3" name="텍스트 개체 틀 2">
            <a:extLst>
              <a:ext uri="{FF2B5EF4-FFF2-40B4-BE49-F238E27FC236}">
                <a16:creationId xmlns:a16="http://schemas.microsoft.com/office/drawing/2014/main" id="{6F4A7054-446C-2418-845D-3C40473105AB}"/>
              </a:ext>
            </a:extLst>
          </p:cNvPr>
          <p:cNvSpPr>
            <a:spLocks noGrp="1"/>
          </p:cNvSpPr>
          <p:nvPr>
            <p:ph type="body" sz="quarter" idx="10"/>
          </p:nvPr>
        </p:nvSpPr>
        <p:spPr>
          <a:xfrm>
            <a:off x="411920" y="2095826"/>
            <a:ext cx="11369675" cy="3410929"/>
          </a:xfrm>
        </p:spPr>
        <p:txBody>
          <a:bodyPr/>
          <a:lstStyle/>
          <a:p>
            <a:r>
              <a:rPr lang="en-US" altLang="ko-KR" dirty="0"/>
              <a:t> The scope of this research was limited to evaluating performance impacts of various memory locations for S-box and Round Key storage.</a:t>
            </a:r>
          </a:p>
          <a:p>
            <a:endParaRPr lang="en-US" altLang="ko-KR" dirty="0"/>
          </a:p>
          <a:p>
            <a:r>
              <a:rPr lang="en-US" altLang="ko-KR" dirty="0"/>
              <a:t> Workload Configuration: Threadgroup size was fixed at 512 threads. The impact of varying this parameter (e.g., 256, 1024) on GPU occupancy was not explored.</a:t>
            </a:r>
            <a:endParaRPr lang="ko-KR" altLang="en-US" dirty="0"/>
          </a:p>
        </p:txBody>
      </p:sp>
    </p:spTree>
    <p:extLst>
      <p:ext uri="{BB962C8B-B14F-4D97-AF65-F5344CB8AC3E}">
        <p14:creationId xmlns:p14="http://schemas.microsoft.com/office/powerpoint/2010/main" val="832502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695AE-8308-3FE4-42E6-159C4E1D25D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65FE165-2C75-C1D3-3109-1FE58F3E3DA6}"/>
              </a:ext>
            </a:extLst>
          </p:cNvPr>
          <p:cNvSpPr>
            <a:spLocks noGrp="1"/>
          </p:cNvSpPr>
          <p:nvPr>
            <p:ph type="title"/>
          </p:nvPr>
        </p:nvSpPr>
        <p:spPr/>
        <p:txBody>
          <a:bodyPr/>
          <a:lstStyle/>
          <a:p>
            <a:r>
              <a:rPr lang="en-US" altLang="ko-KR" dirty="0"/>
              <a:t>5. </a:t>
            </a:r>
            <a:r>
              <a:rPr kumimoji="1" lang="en-US" altLang="ko-KR" dirty="0"/>
              <a:t>Conclusion</a:t>
            </a:r>
            <a:r>
              <a:rPr lang="en-US" altLang="ko-KR" dirty="0"/>
              <a:t> </a:t>
            </a:r>
            <a:endParaRPr lang="ko-KR" altLang="en-US" dirty="0"/>
          </a:p>
        </p:txBody>
      </p:sp>
      <p:sp>
        <p:nvSpPr>
          <p:cNvPr id="3" name="텍스트 개체 틀 2">
            <a:extLst>
              <a:ext uri="{FF2B5EF4-FFF2-40B4-BE49-F238E27FC236}">
                <a16:creationId xmlns:a16="http://schemas.microsoft.com/office/drawing/2014/main" id="{9E7E04A9-8D3B-3FCA-D9FB-4D3217C971F7}"/>
              </a:ext>
            </a:extLst>
          </p:cNvPr>
          <p:cNvSpPr>
            <a:spLocks noGrp="1"/>
          </p:cNvSpPr>
          <p:nvPr>
            <p:ph type="body" sz="quarter" idx="10"/>
          </p:nvPr>
        </p:nvSpPr>
        <p:spPr>
          <a:xfrm>
            <a:off x="411163" y="1383262"/>
            <a:ext cx="11369675" cy="5057775"/>
          </a:xfrm>
        </p:spPr>
        <p:txBody>
          <a:bodyPr>
            <a:normAutofit/>
          </a:bodyPr>
          <a:lstStyle/>
          <a:p>
            <a:r>
              <a:rPr lang="en-US" altLang="ko-KR" sz="2400" dirty="0"/>
              <a:t> Hypothesis Validation: We confirmed that </a:t>
            </a:r>
            <a:r>
              <a:rPr lang="en-US" altLang="ko-KR" sz="2400" dirty="0">
                <a:solidFill>
                  <a:schemeClr val="accent5"/>
                </a:solidFill>
              </a:rPr>
              <a:t>access-pattern-optimized memory strategies </a:t>
            </a:r>
            <a:r>
              <a:rPr lang="en-US" altLang="ko-KR" sz="2400" dirty="0"/>
              <a:t>critically impact performance even in UMA environments.</a:t>
            </a:r>
          </a:p>
          <a:p>
            <a:pPr marL="0" indent="0">
              <a:buNone/>
            </a:pPr>
            <a:endParaRPr lang="en-US" altLang="ko-KR" sz="2400" dirty="0"/>
          </a:p>
          <a:p>
            <a:r>
              <a:rPr lang="en-US" altLang="ko-KR" sz="2400" dirty="0"/>
              <a:t>Optimal Strategy: A hybrid configuration—placing irregular S-box accesses in threadgroup memory and uniform Round Key broadcasts in constant memory—</a:t>
            </a:r>
            <a:r>
              <a:rPr lang="en-US" altLang="ko-KR" sz="2400" dirty="0">
                <a:solidFill>
                  <a:schemeClr val="accent5"/>
                </a:solidFill>
              </a:rPr>
              <a:t>achieves optimal performance</a:t>
            </a:r>
            <a:r>
              <a:rPr lang="en-US" altLang="ko-KR" sz="2400" dirty="0"/>
              <a:t>.</a:t>
            </a:r>
          </a:p>
          <a:p>
            <a:endParaRPr lang="en-US" altLang="ko-KR" sz="2400" dirty="0"/>
          </a:p>
          <a:p>
            <a:r>
              <a:rPr lang="ko-KR" altLang="en-US" sz="2400" dirty="0"/>
              <a:t> </a:t>
            </a:r>
            <a:r>
              <a:rPr lang="en-US" altLang="ko-KR" sz="2400" dirty="0"/>
              <a:t>Future research will pursue two directions: </a:t>
            </a:r>
          </a:p>
          <a:p>
            <a:pPr lvl="1"/>
            <a:r>
              <a:rPr lang="en-US" altLang="ko-KR" sz="2000" dirty="0"/>
              <a:t>(1) dynamic optimization of GPU execution </a:t>
            </a:r>
            <a:r>
              <a:rPr lang="en-US" altLang="ko-KR" sz="2000" dirty="0">
                <a:solidFill>
                  <a:schemeClr val="accent5"/>
                </a:solidFill>
              </a:rPr>
              <a:t>parameters</a:t>
            </a:r>
            <a:r>
              <a:rPr lang="en-US" altLang="ko-KR" sz="2000" dirty="0"/>
              <a:t> to maximize occupancy.</a:t>
            </a:r>
          </a:p>
          <a:p>
            <a:pPr lvl="1"/>
            <a:r>
              <a:rPr lang="en-US" altLang="ko-KR" sz="2000" dirty="0"/>
              <a:t>(2) adaptation of established </a:t>
            </a:r>
            <a:r>
              <a:rPr lang="en-US" altLang="ko-KR" sz="2000" dirty="0">
                <a:solidFill>
                  <a:schemeClr val="accent5"/>
                </a:solidFill>
              </a:rPr>
              <a:t>dGPU optimization strategies</a:t>
            </a:r>
            <a:r>
              <a:rPr lang="en-US" altLang="ko-KR" sz="2000" dirty="0"/>
              <a:t>, particularly bank conflict minimization techniques, to the UMA context.</a:t>
            </a:r>
            <a:endParaRPr lang="ko-KR" altLang="en-US" sz="2000" dirty="0"/>
          </a:p>
        </p:txBody>
      </p:sp>
    </p:spTree>
    <p:extLst>
      <p:ext uri="{BB962C8B-B14F-4D97-AF65-F5344CB8AC3E}">
        <p14:creationId xmlns:p14="http://schemas.microsoft.com/office/powerpoint/2010/main" val="2163704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E23F0F-D6F7-446E-F165-8294A7E08AA4}"/>
              </a:ext>
            </a:extLst>
          </p:cNvPr>
          <p:cNvSpPr txBox="1"/>
          <p:nvPr/>
        </p:nvSpPr>
        <p:spPr>
          <a:xfrm>
            <a:off x="4028764" y="4432852"/>
            <a:ext cx="4134465" cy="369332"/>
          </a:xfrm>
          <a:prstGeom prst="rect">
            <a:avLst/>
          </a:prstGeom>
          <a:noFill/>
        </p:spPr>
        <p:txBody>
          <a:bodyPr wrap="none" rtlCol="0">
            <a:spAutoFit/>
          </a:bodyPr>
          <a:lstStyle/>
          <a:p>
            <a:r>
              <a:rPr kumimoji="1" lang="en-US" altLang="ko-KR" dirty="0">
                <a:latin typeface="Times New Roman" panose="02020603050405020304" pitchFamily="18" charset="0"/>
                <a:cs typeface="Times New Roman" panose="02020603050405020304" pitchFamily="18" charset="0"/>
              </a:rPr>
              <a:t>Thank you for listening to</a:t>
            </a:r>
            <a:r>
              <a:rPr kumimoji="1" lang="ko-KR" altLang="en-US" dirty="0">
                <a:latin typeface="Times New Roman" panose="02020603050405020304" pitchFamily="18" charset="0"/>
                <a:cs typeface="Times New Roman" panose="02020603050405020304" pitchFamily="18" charset="0"/>
              </a:rPr>
              <a:t> </a:t>
            </a:r>
            <a:r>
              <a:rPr kumimoji="1" lang="en-US" altLang="ko-KR" dirty="0">
                <a:latin typeface="Times New Roman" panose="02020603050405020304" pitchFamily="18" charset="0"/>
                <a:cs typeface="Times New Roman" panose="02020603050405020304" pitchFamily="18" charset="0"/>
              </a:rPr>
              <a:t>my presentation</a:t>
            </a:r>
            <a:endParaRPr kumimoji="1" lang="ko-KR" alt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3ACB46F-F2E4-FD4A-42F0-D5627A316C8F}"/>
              </a:ext>
            </a:extLst>
          </p:cNvPr>
          <p:cNvSpPr txBox="1"/>
          <p:nvPr/>
        </p:nvSpPr>
        <p:spPr>
          <a:xfrm>
            <a:off x="4559296" y="6273801"/>
            <a:ext cx="3073399" cy="461665"/>
          </a:xfrm>
          <a:prstGeom prst="rect">
            <a:avLst/>
          </a:prstGeom>
          <a:noFill/>
        </p:spPr>
        <p:txBody>
          <a:bodyPr wrap="square" rtlCol="0">
            <a:spAutoFit/>
          </a:bodyPr>
          <a:lstStyle/>
          <a:p>
            <a:r>
              <a:rPr kumimoji="1" lang="en-US" altLang="ko-KR" sz="2400" dirty="0">
                <a:latin typeface="Times New Roman" panose="02020603050405020304" pitchFamily="18" charset="0"/>
                <a:cs typeface="Times New Roman" panose="02020603050405020304" pitchFamily="18" charset="0"/>
              </a:rPr>
              <a:t>shuraatum@gmail.com</a:t>
            </a:r>
            <a:endParaRPr kumimoji="1" lang="ko-KR"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4499981"/>
      </p:ext>
    </p:extLst>
  </p:cSld>
  <p:clrMapOvr>
    <a:masterClrMapping/>
  </p:clrMapOvr>
</p:sld>
</file>

<file path=ppt/theme/theme1.xml><?xml version="1.0" encoding="utf-8"?>
<a:theme xmlns:a="http://schemas.openxmlformats.org/drawingml/2006/main" name="CryptoCraft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2">
      <a:majorFont>
        <a:latin typeface="Arial"/>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제목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1513</TotalTime>
  <Words>3155</Words>
  <Application>Microsoft Office PowerPoint</Application>
  <PresentationFormat>와이드스크린</PresentationFormat>
  <Paragraphs>263</Paragraphs>
  <Slides>21</Slides>
  <Notes>21</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21</vt:i4>
      </vt:variant>
    </vt:vector>
  </HeadingPairs>
  <TitlesOfParts>
    <vt:vector size="27" baseType="lpstr">
      <vt:lpstr>맑은 고딕</vt:lpstr>
      <vt:lpstr>Arial</vt:lpstr>
      <vt:lpstr>Cambria Math</vt:lpstr>
      <vt:lpstr>Times New Roman</vt:lpstr>
      <vt:lpstr>CryptoCraft 테마</vt:lpstr>
      <vt:lpstr>제목 테마</vt:lpstr>
      <vt:lpstr>Maximizing ARIA-CTR Performance through  Kernel-Level Memory Optimization on the Apple M1 GPU</vt:lpstr>
      <vt:lpstr>CONTENT</vt:lpstr>
      <vt:lpstr>1. Introduction</vt:lpstr>
      <vt:lpstr>1. Introduction</vt:lpstr>
      <vt:lpstr>2. Related Work – SoC and dGPU</vt:lpstr>
      <vt:lpstr>2. Related Work – SoC and dGPU</vt:lpstr>
      <vt:lpstr>2. Related Work </vt:lpstr>
      <vt:lpstr>2. Related Work – ARIA Block Cipher</vt:lpstr>
      <vt:lpstr>2. Related Work – Counter Mode</vt:lpstr>
      <vt:lpstr>2. Related Work – Memory models of Metal</vt:lpstr>
      <vt:lpstr>3. Implementation Strategies</vt:lpstr>
      <vt:lpstr>3. Implementation Strategies</vt:lpstr>
      <vt:lpstr>3. Implementation Strategies</vt:lpstr>
      <vt:lpstr>4. Performance Results and Analysis</vt:lpstr>
      <vt:lpstr>4. Performance Results and Analysis</vt:lpstr>
      <vt:lpstr>4. Performance Results and Analysis</vt:lpstr>
      <vt:lpstr>4. Performance Results and Analysis</vt:lpstr>
      <vt:lpstr>4. Performance Results and Analysis</vt:lpstr>
      <vt:lpstr>5. Conclusion - Limitations</vt:lpstr>
      <vt:lpstr>5. Conclusion </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HD</dc:creator>
  <cp:lastModifiedBy>엄시우</cp:lastModifiedBy>
  <cp:revision>100</cp:revision>
  <dcterms:created xsi:type="dcterms:W3CDTF">2019-03-05T04:29:07Z</dcterms:created>
  <dcterms:modified xsi:type="dcterms:W3CDTF">2025-11-19T09:19:03Z</dcterms:modified>
</cp:coreProperties>
</file>