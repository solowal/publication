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29"/>
  </p:notesMasterIdLst>
  <p:handoutMasterIdLst>
    <p:handoutMasterId r:id="rId30"/>
  </p:handoutMasterIdLst>
  <p:sldIdLst>
    <p:sldId id="269" r:id="rId2"/>
    <p:sldId id="346" r:id="rId3"/>
    <p:sldId id="359" r:id="rId4"/>
    <p:sldId id="347" r:id="rId5"/>
    <p:sldId id="348" r:id="rId6"/>
    <p:sldId id="351" r:id="rId7"/>
    <p:sldId id="329" r:id="rId8"/>
    <p:sldId id="331" r:id="rId9"/>
    <p:sldId id="332" r:id="rId10"/>
    <p:sldId id="339" r:id="rId11"/>
    <p:sldId id="352" r:id="rId12"/>
    <p:sldId id="350" r:id="rId13"/>
    <p:sldId id="349" r:id="rId14"/>
    <p:sldId id="342" r:id="rId15"/>
    <p:sldId id="341" r:id="rId16"/>
    <p:sldId id="345" r:id="rId17"/>
    <p:sldId id="354" r:id="rId18"/>
    <p:sldId id="343" r:id="rId19"/>
    <p:sldId id="356" r:id="rId20"/>
    <p:sldId id="355" r:id="rId21"/>
    <p:sldId id="333" r:id="rId22"/>
    <p:sldId id="361" r:id="rId23"/>
    <p:sldId id="334" r:id="rId24"/>
    <p:sldId id="335" r:id="rId25"/>
    <p:sldId id="353" r:id="rId26"/>
    <p:sldId id="357" r:id="rId27"/>
    <p:sldId id="27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F22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55860"/>
  </p:normalViewPr>
  <p:slideViewPr>
    <p:cSldViewPr snapToGrid="0">
      <p:cViewPr varScale="1">
        <p:scale>
          <a:sx n="60" d="100"/>
          <a:sy n="60" d="100"/>
        </p:scale>
        <p:origin x="3112" y="176"/>
      </p:cViewPr>
      <p:guideLst>
        <p:guide orient="horz" pos="2160"/>
        <p:guide pos="3840"/>
      </p:guideLst>
    </p:cSldViewPr>
  </p:slideViewPr>
  <p:notesTextViewPr>
    <p:cViewPr>
      <p:scale>
        <a:sx n="155" d="100"/>
        <a:sy n="15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2025. 11. 24.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2025. 11. 24.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397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715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2780-0943-F97E-0A46-E1B7331D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BE4E47-E200-4A8E-4BE7-CE1AE1747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5CF38-C758-E77C-7BAD-D576C0352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D6F050-4C7A-07B9-14C9-A947B5F69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368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52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187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887AA-A43C-1E1D-AAAC-1B2A24F55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AECD8-AAA6-7C2D-6DF0-92F5353A5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C8B076-84F6-6CFB-5C81-830A4BDCB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D2E972-FC71-C0DF-9E2E-826432C17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32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29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913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4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51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348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3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474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279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093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206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D438E-0D80-AD77-1E72-99803939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0B666A-6599-C5FD-5CA5-37DFE5B9D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CF52BC-872F-0C76-8B0C-284B1F4D3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A942BC-B7A9-E23B-12FE-39F1BC73B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986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680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912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381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721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86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C4186-440C-0F94-FA93-B5BB4B68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DCD875-A1CE-1A91-EA31-446E43857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210A88-64A2-C96B-0790-AA19C56B6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9F604-FD06-1C50-7F2B-15E218747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950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942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388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1352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7802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899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>
                <a:latin typeface="+mj-lt"/>
              </a:rPr>
              <a:t>Q &amp; A</a:t>
            </a:r>
            <a:endParaRPr lang="ko-KR" altLang="en-US" sz="8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038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1014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ko-KR" sz="4800" dirty="0"/>
              <a:t>Quantum Circuit Implementation and Resource Analysis of AIM2</a:t>
            </a:r>
            <a:endParaRPr lang="ko-KR" altLang="en-US" sz="4800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5853C698-D1B4-6F42-0BC1-47D012588D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2200" b="1" dirty="0"/>
              <a:t>Gyeongju Song</a:t>
            </a:r>
            <a:r>
              <a:rPr lang="en-US" altLang="ko-KR" sz="2200" dirty="0"/>
              <a:t>, </a:t>
            </a:r>
            <a:r>
              <a:rPr lang="en-US" altLang="ko-KR" sz="2200" dirty="0" err="1"/>
              <a:t>Kyungbae</a:t>
            </a:r>
            <a:r>
              <a:rPr lang="en-US" altLang="ko-KR" sz="2200" dirty="0"/>
              <a:t> Jang, </a:t>
            </a:r>
            <a:r>
              <a:rPr lang="en-US" altLang="ko-KR" sz="2200" dirty="0" err="1"/>
              <a:t>Seyoung</a:t>
            </a:r>
            <a:r>
              <a:rPr lang="en-US" altLang="ko-KR" sz="2200" dirty="0"/>
              <a:t> Yoon, Minwoo Lee, and </a:t>
            </a:r>
            <a:r>
              <a:rPr lang="en-US" altLang="ko-KR" sz="2200" dirty="0" err="1"/>
              <a:t>Hwajeong</a:t>
            </a:r>
            <a:r>
              <a:rPr lang="en-US" altLang="ko-KR" sz="2200" dirty="0"/>
              <a:t> Seo</a:t>
            </a:r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A97BF-D828-E13F-745E-9BF710AD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Contribution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0244D5-3AF2-7ED4-F0F4-0FB66EB5D0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" altLang="ko-KR" sz="2400" b="1" dirty="0">
                <a:solidFill>
                  <a:schemeClr val="accent5"/>
                </a:solidFill>
              </a:rPr>
              <a:t>1. First Quantum Circuit Implementation of AIM2</a:t>
            </a:r>
            <a:endParaRPr kumimoji="1" lang="en-US" altLang="ko-KR" sz="2400" b="1" dirty="0">
              <a:solidFill>
                <a:schemeClr val="accent5"/>
              </a:solidFill>
            </a:endParaRPr>
          </a:p>
          <a:p>
            <a:pPr lvl="1"/>
            <a:r>
              <a:rPr kumimoji="1" lang="en-US" altLang="ko-KR" sz="2200" dirty="0"/>
              <a:t>We design </a:t>
            </a:r>
            <a:r>
              <a:rPr kumimoji="1" lang="en-US" altLang="ko-KR" sz="2200" b="1" dirty="0"/>
              <a:t>quantum circuits for all AIM2 </a:t>
            </a:r>
            <a:r>
              <a:rPr kumimoji="1" lang="en-US" altLang="ko-KR" sz="2200" dirty="0"/>
              <a:t>variants (AIM2-I, AIM2-III, AIM2-V)</a:t>
            </a:r>
          </a:p>
          <a:p>
            <a:pPr lvl="1"/>
            <a:endParaRPr kumimoji="1" lang="en-US" altLang="ko-KR" sz="2000" dirty="0"/>
          </a:p>
          <a:p>
            <a:pPr marL="0" indent="0">
              <a:buNone/>
            </a:pPr>
            <a:r>
              <a:rPr kumimoji="1" lang="en" altLang="ko-KR" sz="2400" b="1" dirty="0">
                <a:solidFill>
                  <a:schemeClr val="accent5"/>
                </a:solidFill>
              </a:rPr>
              <a:t>2. Quantum circuit optimization</a:t>
            </a:r>
            <a:endParaRPr kumimoji="1" lang="en-US" altLang="ko-KR" sz="2400" b="1" dirty="0">
              <a:solidFill>
                <a:schemeClr val="accent5"/>
              </a:solidFill>
            </a:endParaRPr>
          </a:p>
          <a:p>
            <a:pPr lvl="1"/>
            <a:r>
              <a:rPr kumimoji="1" lang="en" altLang="ko-KR" sz="2000" dirty="0"/>
              <a:t>Our optimization prioritizes </a:t>
            </a:r>
            <a:r>
              <a:rPr kumimoji="1" lang="en" altLang="ko-KR" sz="2000" b="1" dirty="0"/>
              <a:t>circuit depth </a:t>
            </a:r>
            <a:r>
              <a:rPr kumimoji="1" lang="en" altLang="ko-KR" sz="2000" dirty="0"/>
              <a:t>and secondarily </a:t>
            </a:r>
            <a:r>
              <a:rPr kumimoji="1" lang="en" altLang="ko-KR" sz="2000" b="1" dirty="0"/>
              <a:t>minimizes qubit</a:t>
            </a:r>
            <a:r>
              <a:rPr kumimoji="1" lang="en" altLang="ko-KR" sz="2000" dirty="0"/>
              <a:t>.</a:t>
            </a:r>
          </a:p>
          <a:p>
            <a:pPr lvl="1"/>
            <a:r>
              <a:rPr kumimoji="1" lang="en" altLang="ko-KR" sz="2000" dirty="0"/>
              <a:t>We introduce a qubit-reuse technique by performing inverse operations in parallel.</a:t>
            </a:r>
          </a:p>
          <a:p>
            <a:pPr lvl="1"/>
            <a:endParaRPr kumimoji="1" lang="en-US" altLang="ko-KR" sz="2000" dirty="0"/>
          </a:p>
          <a:p>
            <a:pPr marL="0" indent="0">
              <a:buNone/>
            </a:pPr>
            <a:r>
              <a:rPr kumimoji="1" lang="en" altLang="ko-KR" sz="2400" b="1" dirty="0">
                <a:solidFill>
                  <a:schemeClr val="accent5"/>
                </a:solidFill>
              </a:rPr>
              <a:t>3. Grover’s Algorithm Cost Estimation</a:t>
            </a:r>
            <a:endParaRPr kumimoji="1" lang="en-US" altLang="ko-KR" sz="2400" b="1" dirty="0">
              <a:solidFill>
                <a:schemeClr val="accent5"/>
              </a:solidFill>
            </a:endParaRPr>
          </a:p>
          <a:p>
            <a:pPr lvl="1"/>
            <a:r>
              <a:rPr kumimoji="1" lang="en" altLang="ko-KR" sz="2000" dirty="0"/>
              <a:t>Based on the proposed AIM2 circuits, we </a:t>
            </a:r>
            <a:r>
              <a:rPr kumimoji="1" lang="en" altLang="ko-KR" sz="2000" b="1" dirty="0"/>
              <a:t>estimate the quantum resources required for key search using Grover’s algorithm</a:t>
            </a:r>
            <a:r>
              <a:rPr kumimoji="1" lang="en" altLang="ko-KR" sz="2000" dirty="0"/>
              <a:t> and </a:t>
            </a:r>
            <a:r>
              <a:rPr kumimoji="1" lang="en" altLang="ko-KR" sz="2000" b="1" dirty="0"/>
              <a:t>calculate the total attack cost</a:t>
            </a:r>
            <a:r>
              <a:rPr kumimoji="1" lang="en" altLang="ko-KR" sz="2000" dirty="0"/>
              <a:t>.</a:t>
            </a: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pPr marL="0" indent="0">
              <a:buNone/>
            </a:pPr>
            <a:r>
              <a:rPr kumimoji="1" lang="en" altLang="ko-KR" sz="2400" b="1" dirty="0">
                <a:solidFill>
                  <a:schemeClr val="accent5"/>
                </a:solidFill>
              </a:rPr>
              <a:t>4. Post-Quantum Security Evaluation</a:t>
            </a:r>
            <a:endParaRPr kumimoji="1" lang="en-US" altLang="ko-KR" sz="2400" b="1" dirty="0">
              <a:solidFill>
                <a:schemeClr val="accent5"/>
              </a:solidFill>
            </a:endParaRPr>
          </a:p>
          <a:p>
            <a:pPr lvl="1"/>
            <a:r>
              <a:rPr kumimoji="1" lang="en-US" altLang="ko-KR" sz="2000" dirty="0"/>
              <a:t>We compare the estimated attack cost with NIST standards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and </a:t>
            </a:r>
            <a:r>
              <a:rPr kumimoji="1" lang="en-US" altLang="ko-KR" sz="2000" b="1" dirty="0"/>
              <a:t>confirm that AIM2-I, AIM2-III, and AIM2-V achieve Security Levels </a:t>
            </a:r>
            <a:r>
              <a:rPr kumimoji="1" lang="en-US" altLang="ko-KR" sz="2000" dirty="0"/>
              <a:t>1, 3, and 5,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406847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23E3-B6E0-E7D4-5D79-1B1852C6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64DFE4D-FE71-C2F2-1C75-244E1335BE5E}"/>
              </a:ext>
            </a:extLst>
          </p:cNvPr>
          <p:cNvSpPr/>
          <p:nvPr/>
        </p:nvSpPr>
        <p:spPr>
          <a:xfrm>
            <a:off x="193040" y="0"/>
            <a:ext cx="11805920" cy="6678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9AE5D-0FAA-609D-3BB2-5A32B9026C0A}"/>
              </a:ext>
            </a:extLst>
          </p:cNvPr>
          <p:cNvSpPr txBox="1"/>
          <p:nvPr/>
        </p:nvSpPr>
        <p:spPr>
          <a:xfrm>
            <a:off x="4358986" y="2508196"/>
            <a:ext cx="34740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4800" dirty="0"/>
              <a:t>Background</a:t>
            </a:r>
            <a:endParaRPr kumimoji="1" lang="ko-Kore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8027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8AA33-3250-5CBD-3F02-F6FE9054A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 – Grover’s algorithm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C50B79D-F2D0-C317-9789-8212C0B386CF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kumimoji="1" lang="en" altLang="ko-KR" sz="2400" b="1" dirty="0"/>
                  <a:t>A quantum search algorithm that reduces the cost of brute-force attacks on symmetric ciphers.</a:t>
                </a:r>
              </a:p>
              <a:p>
                <a:pPr lvl="1"/>
                <a:r>
                  <a:rPr kumimoji="1" lang="en-US" altLang="ko-KR" sz="2000" dirty="0"/>
                  <a:t>Classic search: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sz="2000" b="0" dirty="0"/>
              </a:p>
              <a:p>
                <a:pPr lvl="1"/>
                <a:r>
                  <a:rPr kumimoji="1" lang="en-US" altLang="ko-KR" sz="2000" b="1" dirty="0">
                    <a:solidFill>
                      <a:schemeClr val="accent5"/>
                    </a:solidFill>
                  </a:rPr>
                  <a:t>Grover’s search: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kumimoji="1" lang="en-US" altLang="ko-KR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kumimoji="1" lang="en-US" altLang="ko-KR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ko-KR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kumimoji="1" lang="en-US" altLang="ko-KR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</m:e>
                    </m:rad>
                    <m:r>
                      <a:rPr kumimoji="1" lang="en-US" altLang="ko-KR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b="1" dirty="0">
                  <a:solidFill>
                    <a:schemeClr val="accent5"/>
                  </a:solidFill>
                </a:endParaRPr>
              </a:p>
              <a:p>
                <a:pPr lvl="1">
                  <a:buFont typeface="Wingdings" pitchFamily="2" charset="2"/>
                  <a:buChar char="à"/>
                </a:pPr>
                <a:r>
                  <a:rPr kumimoji="1" lang="ko-KR" altLang="en-US" sz="2000" b="1" dirty="0">
                    <a:solidFill>
                      <a:schemeClr val="accent5"/>
                    </a:solidFill>
                    <a:sym typeface="Wingdings" pitchFamily="2" charset="2"/>
                  </a:rPr>
                  <a:t> </a:t>
                </a:r>
                <a:r>
                  <a:rPr kumimoji="1" lang="en" altLang="ko-KR" sz="2000" b="1" dirty="0">
                    <a:solidFill>
                      <a:schemeClr val="accent5"/>
                    </a:solidFill>
                    <a:sym typeface="Wingdings" pitchFamily="2" charset="2"/>
                  </a:rPr>
                  <a:t>Halves the security (e.g., AES-128 → 2⁶⁴ quantum steps)</a:t>
                </a:r>
              </a:p>
              <a:p>
                <a:pPr lvl="1">
                  <a:buFont typeface="Wingdings" pitchFamily="2" charset="2"/>
                  <a:buChar char="à"/>
                </a:pPr>
                <a:endParaRPr kumimoji="1" lang="en" altLang="ko-KR" dirty="0">
                  <a:sym typeface="Wingdings" pitchFamily="2" charset="2"/>
                </a:endParaRPr>
              </a:p>
              <a:p>
                <a:pPr lvl="1"/>
                <a:r>
                  <a:rPr kumimoji="1" lang="en" altLang="ko-KR" sz="2000" dirty="0">
                    <a:sym typeface="Wingdings" pitchFamily="2" charset="2"/>
                  </a:rPr>
                  <a:t>Step 1. Input Preparation</a:t>
                </a:r>
              </a:p>
              <a:p>
                <a:pPr lvl="2"/>
                <a:r>
                  <a:rPr kumimoji="1" lang="en" altLang="ko-KR" sz="1600" dirty="0">
                    <a:sym typeface="Wingdings" pitchFamily="2" charset="2"/>
                  </a:rPr>
                  <a:t>Apply Hadamard gates to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kumimoji="1" lang="en" altLang="ko-KR" sz="1600" dirty="0">
                    <a:sym typeface="Wingdings" pitchFamily="2" charset="2"/>
                  </a:rPr>
                  <a:t> qubits (</a:t>
                </a:r>
                <a:r>
                  <a:rPr kumimoji="1" lang="en-US" altLang="ko-KR" sz="1600" dirty="0">
                    <a:sym typeface="Wingdings" pitchFamily="2" charset="2"/>
                  </a:rPr>
                  <a:t>Create an equal superposition of all possible keys)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|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𝜓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𝑘</m:t>
                            </m:r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/2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=0</m:t>
                        </m:r>
                      </m:sub>
                      <m:sup>
                        <m:sSup>
                          <m:sSup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𝑘</m:t>
                            </m:r>
                          </m:sup>
                        </m:s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"/>
                            <m:endChr m:val="⟩"/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|</m:t>
                            </m:r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kumimoji="1" lang="en-US" altLang="ko-KR" sz="1600" dirty="0">
                  <a:sym typeface="Wingdings" pitchFamily="2" charset="2"/>
                </a:endParaRPr>
              </a:p>
              <a:p>
                <a:pPr lvl="1"/>
                <a:r>
                  <a:rPr kumimoji="1" lang="en-US" altLang="ko-KR" sz="2000" dirty="0">
                    <a:solidFill>
                      <a:srgbClr val="FF0000"/>
                    </a:solidFill>
                    <a:sym typeface="Wingdings" pitchFamily="2" charset="2"/>
                  </a:rPr>
                  <a:t>Step 2. Oracle  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Using quantum circuit</a:t>
                </a:r>
              </a:p>
              <a:p>
                <a:pPr lvl="2"/>
                <a:r>
                  <a:rPr kumimoji="1" lang="en-US" altLang="ko-KR" sz="1600" dirty="0">
                    <a:sym typeface="Wingdings" pitchFamily="2" charset="2"/>
                  </a:rPr>
                  <a:t>Checks if candidate key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kumimoji="1" lang="en-US" altLang="ko-KR" sz="1600" dirty="0">
                    <a:sym typeface="Wingdings" pitchFamily="2" charset="2"/>
                  </a:rPr>
                  <a:t>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𝐸𝑛𝑐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𝑃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𝐶</m:t>
                    </m:r>
                  </m:oMath>
                </a14:m>
                <a:endParaRPr kumimoji="1" lang="en-US" altLang="ko-KR" sz="1600" dirty="0">
                  <a:sym typeface="Wingdings" pitchFamily="2" charset="2"/>
                </a:endParaRPr>
              </a:p>
              <a:p>
                <a:pPr lvl="2"/>
                <a:r>
                  <a:rPr kumimoji="1" lang="en-US" altLang="ko-KR" sz="1600" dirty="0">
                    <a:sym typeface="Wingdings" pitchFamily="2" charset="2"/>
                  </a:rPr>
                  <a:t>Flips phase if true: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𝑈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</m:sSub>
                    <m:d>
                      <m:dPr>
                        <m:begChr m:val=""/>
                        <m:endChr m:val="⟩"/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|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p>
                      <m:sSup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(−1)</m:t>
                        </m:r>
                      </m:e>
                      <m: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(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)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|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ko-KR" sz="1600" dirty="0">
                  <a:sym typeface="Wingdings" pitchFamily="2" charset="2"/>
                </a:endParaRPr>
              </a:p>
              <a:p>
                <a:pPr lvl="1"/>
                <a:r>
                  <a:rPr kumimoji="1" lang="en-US" altLang="ko-KR" sz="2000" dirty="0">
                    <a:sym typeface="Wingdings" pitchFamily="2" charset="2"/>
                  </a:rPr>
                  <a:t>Step 3. Diffusion (Amplitude Amplification)</a:t>
                </a:r>
              </a:p>
              <a:p>
                <a:pPr lvl="2"/>
                <a:r>
                  <a:rPr kumimoji="1" lang="en-US" altLang="ko-KR" sz="1600" dirty="0">
                    <a:sym typeface="Wingdings" pitchFamily="2" charset="2"/>
                  </a:rPr>
                  <a:t>Inverts amplitudes about the mean to amplify the marked state</a:t>
                </a:r>
              </a:p>
              <a:p>
                <a:pPr lvl="2"/>
                <a:r>
                  <a:rPr kumimoji="1" lang="en-US" altLang="ko-KR" sz="1600" dirty="0">
                    <a:sym typeface="Wingdings" pitchFamily="2" charset="2"/>
                  </a:rPr>
                  <a:t>Increases probability of measuring the correct key</a:t>
                </a:r>
              </a:p>
              <a:p>
                <a:pPr lvl="1"/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C50B79D-F2D0-C317-9789-8212C0B38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781" t="-1357" r="-13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87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8886-5004-3064-A422-90EB9D0AA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1A14F-F893-900E-4012-F76BDA1E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 – AIM2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B0D28F4-2A1C-4E6D-C8EA-AEAF3B78680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" altLang="ko-KR" sz="2400" dirty="0"/>
                  <a:t>AIM2 is a tweakable one-way function designed for multi-target one-</a:t>
                </a:r>
                <a:r>
                  <a:rPr kumimoji="1" lang="en" altLang="ko-KR" sz="2400" dirty="0" err="1"/>
                  <a:t>wayness</a:t>
                </a:r>
                <a:r>
                  <a:rPr kumimoji="1" lang="en" altLang="ko-KR" sz="2400" dirty="0"/>
                  <a:t>.</a:t>
                </a:r>
              </a:p>
              <a:p>
                <a:r>
                  <a:rPr kumimoji="1" lang="en" altLang="ko-KR" sz="2400" dirty="0"/>
                  <a:t>Suitable for digital signature schemes, used in the </a:t>
                </a:r>
                <a:r>
                  <a:rPr kumimoji="1" lang="en" altLang="ko-KR" sz="2400" dirty="0" err="1"/>
                  <a:t>AIMer</a:t>
                </a:r>
                <a:r>
                  <a:rPr kumimoji="1" lang="en" altLang="ko-KR" sz="2400" dirty="0"/>
                  <a:t> signature proposal.</a:t>
                </a:r>
              </a:p>
              <a:p>
                <a:r>
                  <a:rPr kumimoji="1" lang="en" altLang="ko-KR" sz="2400" dirty="0"/>
                  <a:t>Construction combines:</a:t>
                </a:r>
              </a:p>
              <a:p>
                <a:pPr lvl="1"/>
                <a:r>
                  <a:rPr lang="en-US" altLang="ko-KR" sz="2000" b="1" dirty="0"/>
                  <a:t>non-linear operation:</a:t>
                </a:r>
                <a:r>
                  <a:rPr lang="ko-KR" altLang="en-US" sz="2000" dirty="0"/>
                  <a:t> 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𝑀𝑒𝑟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ko-KR" sz="2000" dirty="0"/>
                  <a:t> </a:t>
                </a:r>
                <a:r>
                  <a:rPr lang="ko-KR" altLang="en-US" sz="2000" dirty="0"/>
                  <a:t>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ko-KR" sz="2000" dirty="0"/>
                  <a:t> (</a:t>
                </a:r>
                <a:r>
                  <a:rPr kumimoji="1" lang="en-US" altLang="ko-KR" sz="2000" dirty="0"/>
                  <a:t>Mersenne-type S-boxes)</a:t>
                </a:r>
                <a:endParaRPr lang="en" altLang="ko-KR" sz="2000" dirty="0"/>
              </a:p>
              <a:p>
                <a:pPr lvl="1"/>
                <a:r>
                  <a:rPr lang="en-US" altLang="ko-KR" sz="2000" b="1" dirty="0"/>
                  <a:t>Linear layer</a:t>
                </a:r>
                <a:r>
                  <a:rPr lang="ko-KR" altLang="en-US" sz="2000" b="1" dirty="0"/>
                  <a:t> </a:t>
                </a:r>
                <a:r>
                  <a:rPr lang="en-US" altLang="ko-KR" sz="2000" b="1" dirty="0"/>
                  <a:t>(</a:t>
                </a:r>
                <a:r>
                  <a:rPr lang="en" altLang="ko-KR" sz="2000" b="1" dirty="0"/>
                  <a:t>Lin):</a:t>
                </a:r>
                <a:r>
                  <a:rPr lang="en" altLang="ko-KR" sz="2000" dirty="0"/>
                  <a:t> </a:t>
                </a:r>
                <a:r>
                  <a:rPr lang="en-US" altLang="ko-KR" sz="2000" dirty="0"/>
                  <a:t>constant addition, </a:t>
                </a:r>
                <a:r>
                  <a:rPr lang="en" altLang="ko-KR" sz="2000" dirty="0"/>
                  <a:t>affine layer</a:t>
                </a:r>
                <a:r>
                  <a:rPr lang="en-US" altLang="ko-KR" sz="2000" dirty="0"/>
                  <a:t>, </a:t>
                </a:r>
                <a:r>
                  <a:rPr lang="en" altLang="ko-KR" sz="2000" dirty="0"/>
                  <a:t>feed-forward</a:t>
                </a:r>
                <a:endParaRPr kumimoji="1" lang="ko-KR" altLang="en-US" sz="20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B0D28F4-2A1C-4E6D-C8EA-AEAF3B786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781" t="-1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80DE89C5-F549-7021-A6D1-1AF07A4A7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564" y="3429000"/>
            <a:ext cx="6904871" cy="32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2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16212-C1BD-CB75-D2C9-513C17D1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83728-CB53-2D59-D78D-ADE464CB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 – AIM vs AIM2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37E9DC-D62E-28CC-BD2D-55F3732EF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11" y="2137409"/>
            <a:ext cx="5074469" cy="23750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A5982F-BE9A-938F-4A8E-3B50184DA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20" y="2475835"/>
            <a:ext cx="5442699" cy="1408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9C8434-3EA1-8890-6CD8-80A74725BF03}"/>
              </a:ext>
            </a:extLst>
          </p:cNvPr>
          <p:cNvSpPr txBox="1"/>
          <p:nvPr/>
        </p:nvSpPr>
        <p:spPr>
          <a:xfrm>
            <a:off x="2841363" y="4720591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kumimoji="1"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0AFCE-B895-30E1-7935-CDA377E55790}"/>
              </a:ext>
            </a:extLst>
          </p:cNvPr>
          <p:cNvSpPr txBox="1"/>
          <p:nvPr/>
        </p:nvSpPr>
        <p:spPr>
          <a:xfrm>
            <a:off x="8899643" y="4720591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AIM2</a:t>
            </a:r>
            <a:endParaRPr kumimoji="1"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8E55-DCA5-9E26-72D0-1DFE3025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9A8F5-C3AA-D366-6C02-12F174B3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 – AIM vs AIM2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19AB50-0F9B-B6D2-C754-09F2D9E4C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11" y="2137409"/>
            <a:ext cx="5074469" cy="23750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A653B7-94ED-7DF8-6F30-075489EA0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20" y="2475835"/>
            <a:ext cx="5442699" cy="1408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FA579D-B56B-61AC-F8D7-7890E8BEA3C2}"/>
              </a:ext>
            </a:extLst>
          </p:cNvPr>
          <p:cNvSpPr txBox="1"/>
          <p:nvPr/>
        </p:nvSpPr>
        <p:spPr>
          <a:xfrm>
            <a:off x="2841363" y="4720591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kumimoji="1"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6A215-904F-08D4-DB16-48E2C8C8372E}"/>
              </a:ext>
            </a:extLst>
          </p:cNvPr>
          <p:cNvSpPr txBox="1"/>
          <p:nvPr/>
        </p:nvSpPr>
        <p:spPr>
          <a:xfrm>
            <a:off x="8899643" y="4720591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AIM2</a:t>
            </a:r>
            <a:endParaRPr kumimoji="1"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92A10B-7365-59B4-08DF-44EC58E760E2}"/>
              </a:ext>
            </a:extLst>
          </p:cNvPr>
          <p:cNvSpPr/>
          <p:nvPr/>
        </p:nvSpPr>
        <p:spPr>
          <a:xfrm>
            <a:off x="4033470" y="3114674"/>
            <a:ext cx="757606" cy="282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12787B-049D-0E7E-372F-2EAD6C4A3336}"/>
              </a:ext>
            </a:extLst>
          </p:cNvPr>
          <p:cNvSpPr/>
          <p:nvPr/>
        </p:nvSpPr>
        <p:spPr>
          <a:xfrm>
            <a:off x="1437504" y="2703079"/>
            <a:ext cx="757606" cy="282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18B9C5-E0D2-B277-91B7-0D19CB11C5D7}"/>
              </a:ext>
            </a:extLst>
          </p:cNvPr>
          <p:cNvSpPr/>
          <p:nvPr/>
        </p:nvSpPr>
        <p:spPr>
          <a:xfrm>
            <a:off x="1437504" y="3115918"/>
            <a:ext cx="757606" cy="282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7BAB3D-EAFC-463B-4203-CEA8A8965EEF}"/>
              </a:ext>
            </a:extLst>
          </p:cNvPr>
          <p:cNvSpPr/>
          <p:nvPr/>
        </p:nvSpPr>
        <p:spPr>
          <a:xfrm>
            <a:off x="1437504" y="3549421"/>
            <a:ext cx="757606" cy="282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8DEAE2-C187-2C9E-69D6-01F6DEFDC3E6}"/>
              </a:ext>
            </a:extLst>
          </p:cNvPr>
          <p:cNvSpPr/>
          <p:nvPr/>
        </p:nvSpPr>
        <p:spPr>
          <a:xfrm>
            <a:off x="7857480" y="2561791"/>
            <a:ext cx="862625" cy="429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446218-744A-F27E-1555-E3F21D86FDB9}"/>
              </a:ext>
            </a:extLst>
          </p:cNvPr>
          <p:cNvSpPr/>
          <p:nvPr/>
        </p:nvSpPr>
        <p:spPr>
          <a:xfrm>
            <a:off x="7857480" y="3065466"/>
            <a:ext cx="862625" cy="429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B5D3DA-810D-1286-C6D5-178E8E08DBB3}"/>
              </a:ext>
            </a:extLst>
          </p:cNvPr>
          <p:cNvSpPr/>
          <p:nvPr/>
        </p:nvSpPr>
        <p:spPr>
          <a:xfrm>
            <a:off x="7857480" y="3565582"/>
            <a:ext cx="862625" cy="429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2AF91B-8E3E-9248-9C13-37831E12102F}"/>
              </a:ext>
            </a:extLst>
          </p:cNvPr>
          <p:cNvSpPr/>
          <p:nvPr/>
        </p:nvSpPr>
        <p:spPr>
          <a:xfrm>
            <a:off x="10099073" y="3066469"/>
            <a:ext cx="862625" cy="429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953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CF65F28-767C-4712-152D-97E146070E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Background – </a:t>
                </a:r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𝑒𝑟</m:t>
                    </m:r>
                  </m:oMath>
                </a14:m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function in AIM2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CF65F28-767C-4712-152D-97E146070E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74" t="-6557" b="-18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8645730-1E8C-902D-A9EF-59584286C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95" y="1165385"/>
            <a:ext cx="4234748" cy="269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95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4E961D9F-5A15-217D-DB83-76AFE55379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Background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function in AIM2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4E961D9F-5A15-217D-DB83-76AFE5537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74" t="-6557" b="-18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E968342-48B0-3875-13DD-1D8E384EF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65" y="1110343"/>
            <a:ext cx="2618663" cy="42286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E65C74-F8E3-B4E7-D655-01A541CD0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0413" y="1179355"/>
            <a:ext cx="2688910" cy="49878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270C927-A955-04EF-878E-8ABC72583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67" b="-1"/>
          <a:stretch>
            <a:fillRect/>
          </a:stretch>
        </p:blipFill>
        <p:spPr>
          <a:xfrm>
            <a:off x="7755014" y="1110343"/>
            <a:ext cx="4073511" cy="49197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08FC735-7AF4-A523-8CBD-426B4D23C7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65" y="5338971"/>
            <a:ext cx="3911799" cy="13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6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8490F-56CC-BD9E-1331-01ADBEE4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 – </a:t>
            </a:r>
            <a:r>
              <a:rPr kumimoji="1" lang="en-US" altLang="ko-Kore-KR" dirty="0"/>
              <a:t>AIM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17132E5-6214-DC19-0E40-84EBD0434DA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ore-KR" sz="2400" dirty="0"/>
                  <a:t>AIM2-I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ore-KR" sz="2000" dirty="0"/>
                  <a:t>(49),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ore-KR" sz="2000" dirty="0"/>
                  <a:t>(91)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Linear layer,</a:t>
                </a:r>
                <a:r>
                  <a:rPr kumimoji="1" lang="en-US" altLang="ko-Kore-KR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𝑀𝑒𝑟</m:t>
                    </m:r>
                  </m:oMath>
                </a14:m>
                <a:r>
                  <a:rPr kumimoji="1" lang="en-US" altLang="ko-Kore-KR" sz="2000" dirty="0"/>
                  <a:t>(3)</a:t>
                </a:r>
              </a:p>
              <a:p>
                <a:pPr lvl="1"/>
                <a:endParaRPr kumimoji="1" lang="en-US" altLang="ko-Kore-KR" sz="2000" dirty="0"/>
              </a:p>
              <a:p>
                <a:r>
                  <a:rPr kumimoji="1" lang="en-US" altLang="ko-Kore-KR" sz="2400" dirty="0"/>
                  <a:t>AIM2-III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ore-KR" sz="2000" dirty="0"/>
                  <a:t>(17),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ore-KR" sz="2000" dirty="0"/>
                  <a:t>(47)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Linear layer,</a:t>
                </a:r>
                <a:r>
                  <a:rPr kumimoji="1"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𝑀𝑒𝑟</m:t>
                    </m:r>
                  </m:oMath>
                </a14:m>
                <a:r>
                  <a:rPr kumimoji="1" lang="en-US" altLang="ko-Kore-KR" sz="2000" dirty="0"/>
                  <a:t>(5)</a:t>
                </a:r>
              </a:p>
              <a:p>
                <a:pPr lvl="1"/>
                <a:endParaRPr kumimoji="1" lang="en-US" altLang="ko-Kore-KR" sz="2000" dirty="0"/>
              </a:p>
              <a:p>
                <a:r>
                  <a:rPr kumimoji="1" lang="en-US" altLang="ko-Kore-KR" sz="2400" dirty="0"/>
                  <a:t>AIM2-V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ore-KR" sz="2000" dirty="0"/>
                  <a:t>(11),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ore-KR" sz="2000" dirty="0"/>
                  <a:t>(141),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Linear layer,</a:t>
                </a:r>
                <a:r>
                  <a:rPr kumimoji="1" lang="en-US" altLang="ko-Kore-KR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ore-KR" sz="2000" dirty="0"/>
                  <a:t>(7</a:t>
                </a:r>
                <a:r>
                  <a:rPr kumimoji="1" lang="en-US" altLang="ko-KR" sz="2000" dirty="0"/>
                  <a:t>),</a:t>
                </a:r>
                <a:r>
                  <a:rPr kumimoji="1"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𝑀𝑒𝑟</m:t>
                    </m:r>
                  </m:oMath>
                </a14:m>
                <a:r>
                  <a:rPr kumimoji="1" lang="en-US" altLang="ko-Kore-KR" sz="2000" dirty="0"/>
                  <a:t>(3)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17132E5-6214-DC19-0E40-84EBD0434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781" t="-1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934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4DE1-0258-CB64-3DE9-B0AE2D67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 – NIST post-quantum security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EDA54D5-0FF1-373C-92AA-1FEFFB98986F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" altLang="ko-KR" sz="2000" dirty="0"/>
                  <a:t>To evaluate cipher security under quantum attacks, </a:t>
                </a:r>
                <a:r>
                  <a:rPr kumimoji="1" lang="en" altLang="ko-KR" sz="2000" b="1" dirty="0"/>
                  <a:t>NIST defines three post-quantum security levels based on AES key-search hardness.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1600" b="1" dirty="0"/>
                  <a:t>Level 1 (AES-128):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altLang="ko-KR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𝟏𝟕𝟎</m:t>
                        </m:r>
                      </m:sup>
                    </m:sSup>
                  </m:oMath>
                </a14:m>
                <a:r>
                  <a:rPr lang="en" altLang="ko-KR" sz="1600" b="1" dirty="0"/>
                  <a:t> </a:t>
                </a:r>
                <a:r>
                  <a:rPr lang="en" altLang="ko-KR" sz="1600" b="1" dirty="0">
                    <a:sym typeface="Wingdings" pitchFamily="2" charset="2"/>
                  </a:rPr>
                  <a:t> </a:t>
                </a:r>
                <a:r>
                  <a:rPr lang="en" altLang="ko-KR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altLang="ko-KR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𝟓𝟖</m:t>
                        </m:r>
                      </m:sup>
                    </m:sSup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600" b="1" dirty="0"/>
              </a:p>
              <a:p>
                <a:pPr lvl="1">
                  <a:lnSpc>
                    <a:spcPct val="150000"/>
                  </a:lnSpc>
                </a:pPr>
                <a:r>
                  <a:rPr lang="en" altLang="ko-KR" sz="1600" b="1" dirty="0"/>
                  <a:t>Level 3 (AES-192):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altLang="ko-KR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𝟐𝟑𝟑</m:t>
                        </m:r>
                      </m:sup>
                    </m:sSup>
                  </m:oMath>
                </a14:m>
                <a:r>
                  <a:rPr lang="en" altLang="ko-KR" sz="1600" b="1" dirty="0"/>
                  <a:t> </a:t>
                </a:r>
                <a:r>
                  <a:rPr lang="en" altLang="ko-KR" sz="1600" b="1" dirty="0">
                    <a:sym typeface="Wingdings" pitchFamily="2" charset="2"/>
                  </a:rPr>
                  <a:t> </a:t>
                </a:r>
                <a:r>
                  <a:rPr lang="en" altLang="ko-KR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altLang="ko-KR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𝟐𝟐𝟏</m:t>
                        </m:r>
                      </m:sup>
                    </m:sSup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600" b="1" dirty="0"/>
              </a:p>
              <a:p>
                <a:pPr lvl="1">
                  <a:lnSpc>
                    <a:spcPct val="150000"/>
                  </a:lnSpc>
                </a:pPr>
                <a:r>
                  <a:rPr lang="en" altLang="ko-KR" sz="1600" b="1" dirty="0"/>
                  <a:t>Level 5 (AES-256):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altLang="ko-KR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𝟗𝟖</m:t>
                        </m:r>
                      </m:sup>
                    </m:sSup>
                  </m:oMath>
                </a14:m>
                <a:r>
                  <a:rPr lang="en" altLang="ko-KR" sz="1600" b="1" dirty="0"/>
                  <a:t> </a:t>
                </a:r>
                <a:r>
                  <a:rPr lang="en" altLang="ko-KR" sz="1600" b="1" dirty="0">
                    <a:sym typeface="Wingdings" pitchFamily="2" charset="2"/>
                  </a:rPr>
                  <a:t> </a:t>
                </a:r>
                <a:r>
                  <a:rPr lang="en" altLang="ko-KR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altLang="ko-KR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𝟖𝟓</m:t>
                        </m:r>
                      </m:sup>
                    </m:sSup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600" b="1" dirty="0"/>
              </a:p>
              <a:p>
                <a:pPr lvl="1">
                  <a:lnSpc>
                    <a:spcPct val="150000"/>
                  </a:lnSpc>
                </a:pPr>
                <a:endParaRPr lang="en-US" altLang="ko-KR" sz="1800" b="1" dirty="0"/>
              </a:p>
              <a:p>
                <a:r>
                  <a:rPr lang="en-US" altLang="ko-KR" sz="2000" b="1" dirty="0">
                    <a:solidFill>
                      <a:schemeClr val="accent5"/>
                    </a:solidFill>
                  </a:rPr>
                  <a:t>NIST’s estimation is based on Grover’s key-search cost for AES.</a:t>
                </a:r>
              </a:p>
              <a:p>
                <a:pPr lvl="1"/>
                <a:r>
                  <a:rPr lang="en-US" altLang="ko-KR" sz="1800" b="1" dirty="0"/>
                  <a:t>PQCrypto 2016[1] → </a:t>
                </a:r>
                <a:r>
                  <a:rPr lang="en-US" altLang="ko-KR" sz="1800" b="1" dirty="0" err="1"/>
                  <a:t>Eurocrypt</a:t>
                </a:r>
                <a:r>
                  <a:rPr lang="en-US" altLang="ko-KR" sz="1800" b="1" dirty="0"/>
                  <a:t> 2020[2] updates lowered the quantum estimates.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EDA54D5-0FF1-373C-92AA-1FEFFB9898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446" t="-1131" r="-112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58F0EF9-F8F5-2AEB-0BA7-1DE063C3DDE8}"/>
              </a:ext>
            </a:extLst>
          </p:cNvPr>
          <p:cNvSpPr txBox="1"/>
          <p:nvPr/>
        </p:nvSpPr>
        <p:spPr>
          <a:xfrm>
            <a:off x="0" y="6027003"/>
            <a:ext cx="12183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/>
              <a:t>[1] Grassl, M., Langenberg, B., </a:t>
            </a:r>
            <a:r>
              <a:rPr kumimoji="1" lang="en-US" altLang="ko-KR" sz="1200" dirty="0" err="1"/>
              <a:t>Roetteler</a:t>
            </a:r>
            <a:r>
              <a:rPr kumimoji="1" lang="en-US" altLang="ko-KR" sz="1200" dirty="0"/>
              <a:t>, M., </a:t>
            </a:r>
            <a:r>
              <a:rPr kumimoji="1" lang="en-US" altLang="ko-KR" sz="1200" dirty="0" err="1"/>
              <a:t>Steinwandt</a:t>
            </a:r>
            <a:r>
              <a:rPr kumimoji="1" lang="en-US" altLang="ko-KR" sz="1200" dirty="0"/>
              <a:t>, R.: Applying Grover’s al- </a:t>
            </a:r>
            <a:r>
              <a:rPr kumimoji="1" lang="en-US" altLang="ko-KR" sz="1200" dirty="0" err="1"/>
              <a:t>gorithm</a:t>
            </a:r>
            <a:r>
              <a:rPr kumimoji="1" lang="en-US" altLang="ko-KR" sz="1200" dirty="0"/>
              <a:t> to AES: quantum resource estimates. In: International Workshop on Post- Quantum Cryptography. pp. 29–43. Springer (2016)</a:t>
            </a:r>
          </a:p>
          <a:p>
            <a:r>
              <a:rPr kumimoji="1" lang="en-US" altLang="ko-KR" sz="1200" dirty="0"/>
              <a:t>[2] Jaques, S., </a:t>
            </a:r>
            <a:r>
              <a:rPr kumimoji="1" lang="en-US" altLang="ko-KR" sz="1200" dirty="0" err="1"/>
              <a:t>Naehrig</a:t>
            </a:r>
            <a:r>
              <a:rPr kumimoji="1" lang="en-US" altLang="ko-KR" sz="1200" dirty="0"/>
              <a:t>, M., </a:t>
            </a:r>
            <a:r>
              <a:rPr kumimoji="1" lang="en-US" altLang="ko-KR" sz="1200" dirty="0" err="1"/>
              <a:t>Roetteler</a:t>
            </a:r>
            <a:r>
              <a:rPr kumimoji="1" lang="en-US" altLang="ko-KR" sz="1200" dirty="0"/>
              <a:t>, M., Virdia, F.: Implementing </a:t>
            </a:r>
            <a:r>
              <a:rPr kumimoji="1" lang="en-US" altLang="ko-KR" sz="1200" dirty="0" err="1"/>
              <a:t>grover</a:t>
            </a:r>
            <a:r>
              <a:rPr kumimoji="1" lang="en-US" altLang="ko-KR" sz="1200" dirty="0"/>
              <a:t> oracles for quantum key search on AES and </a:t>
            </a:r>
            <a:r>
              <a:rPr kumimoji="1" lang="en-US" altLang="ko-KR" sz="1200" dirty="0" err="1"/>
              <a:t>LowMC</a:t>
            </a:r>
            <a:r>
              <a:rPr kumimoji="1" lang="en-US" altLang="ko-KR" sz="1200" dirty="0"/>
              <a:t>. In: Annual International Conference on the Theory and Applications of Cryptographic Techniques. pp. 280–310. Springer (2020)</a:t>
            </a:r>
          </a:p>
        </p:txBody>
      </p:sp>
    </p:spTree>
    <p:extLst>
      <p:ext uri="{BB962C8B-B14F-4D97-AF65-F5344CB8AC3E}">
        <p14:creationId xmlns:p14="http://schemas.microsoft.com/office/powerpoint/2010/main" val="169165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B7EF48B-3C8F-A63A-24C6-C15C787249FD}"/>
              </a:ext>
            </a:extLst>
          </p:cNvPr>
          <p:cNvSpPr/>
          <p:nvPr/>
        </p:nvSpPr>
        <p:spPr>
          <a:xfrm>
            <a:off x="193040" y="0"/>
            <a:ext cx="11805920" cy="6678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503C2-F805-6BA3-416C-4528F39605E6}"/>
              </a:ext>
            </a:extLst>
          </p:cNvPr>
          <p:cNvSpPr txBox="1"/>
          <p:nvPr/>
        </p:nvSpPr>
        <p:spPr>
          <a:xfrm>
            <a:off x="1584989" y="2185031"/>
            <a:ext cx="902202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4800" dirty="0"/>
              <a:t>Quantum Circuit Implementation</a:t>
            </a:r>
          </a:p>
          <a:p>
            <a:pPr algn="ctr"/>
            <a:r>
              <a:rPr kumimoji="1" lang="en-US" altLang="ko-KR" sz="4800" dirty="0"/>
              <a:t>&amp;</a:t>
            </a:r>
          </a:p>
          <a:p>
            <a:pPr algn="ctr"/>
            <a:r>
              <a:rPr kumimoji="1" lang="en-US" altLang="ko-Kore-KR" sz="4800" dirty="0"/>
              <a:t>Resource Analysis</a:t>
            </a:r>
            <a:endParaRPr kumimoji="1" lang="ko-Kore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754618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3428B-F94F-4001-21BA-A4AB41719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Quantum circuit optimization for AIM2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0BEAE7-F90D-2363-B5CF-CB60CFEEF9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008825" cy="5603875"/>
          </a:xfrm>
        </p:spPr>
        <p:txBody>
          <a:bodyPr>
            <a:normAutofit/>
          </a:bodyPr>
          <a:lstStyle/>
          <a:p>
            <a:r>
              <a:rPr kumimoji="1" lang="en-US" altLang="ko-Kore-KR" sz="2200" b="1" dirty="0">
                <a:solidFill>
                  <a:schemeClr val="accent5"/>
                </a:solidFill>
              </a:rPr>
              <a:t>Depth optimization</a:t>
            </a:r>
          </a:p>
          <a:p>
            <a:pPr marL="971550" lvl="1" indent="-514350">
              <a:buAutoNum type="arabicPeriod"/>
            </a:pPr>
            <a:r>
              <a:rPr lang="en" altLang="ko-Kore-KR" sz="2000" dirty="0"/>
              <a:t>Using </a:t>
            </a:r>
            <a:r>
              <a:rPr lang="en" altLang="ko-Kore-KR" sz="2000" b="1" dirty="0"/>
              <a:t>Low-depth multiplication and squaring</a:t>
            </a:r>
            <a:r>
              <a:rPr lang="en" altLang="ko-Kore-KR" sz="2000" dirty="0"/>
              <a:t> modules as basic components.</a:t>
            </a:r>
          </a:p>
          <a:p>
            <a:pPr marL="971550" lvl="1" indent="-514350">
              <a:buAutoNum type="arabicPeriod"/>
            </a:pPr>
            <a:r>
              <a:rPr kumimoji="1" lang="en" altLang="ko-KR" sz="2000" dirty="0"/>
              <a:t>Increased parallelism through optimized </a:t>
            </a:r>
            <a:r>
              <a:rPr kumimoji="1" lang="en" altLang="ko-KR" sz="2000" b="1" dirty="0"/>
              <a:t>scheduling of multiplication and squaring operations.</a:t>
            </a:r>
          </a:p>
          <a:p>
            <a:pPr marL="971550" lvl="1" indent="-514350">
              <a:buAutoNum type="arabicPeriod"/>
            </a:pPr>
            <a:r>
              <a:rPr lang="en" altLang="ko-Kore-KR" sz="2000" dirty="0"/>
              <a:t>Implemented </a:t>
            </a:r>
            <a:r>
              <a:rPr lang="en" altLang="ko-Kore-KR" sz="2000" b="1" dirty="0"/>
              <a:t>parallel execution</a:t>
            </a:r>
            <a:r>
              <a:rPr lang="en" altLang="ko-Kore-KR" sz="2000" dirty="0"/>
              <a:t> for sequential dependencies by copying intermediate operands (e.g., shared partial products).</a:t>
            </a:r>
          </a:p>
          <a:p>
            <a:pPr marL="971550" lvl="1" indent="-514350">
              <a:buAutoNum type="arabicPeriod"/>
            </a:pPr>
            <a:endParaRPr kumimoji="1" lang="en-US" altLang="ko-Kore-KR" sz="2000" dirty="0"/>
          </a:p>
          <a:p>
            <a:r>
              <a:rPr kumimoji="1" lang="en-US" altLang="ko-Kore-KR" sz="2200" b="1" dirty="0">
                <a:solidFill>
                  <a:schemeClr val="accent5"/>
                </a:solidFill>
              </a:rPr>
              <a:t>Qubit optimization</a:t>
            </a:r>
          </a:p>
          <a:p>
            <a:pPr marL="971550" lvl="1" indent="-514350">
              <a:buAutoNum type="arabicPeriod"/>
            </a:pPr>
            <a:r>
              <a:rPr kumimoji="1" lang="en-US" altLang="ko-Kore-KR" sz="2000" b="1" dirty="0"/>
              <a:t>Reused qubits</a:t>
            </a:r>
            <a:r>
              <a:rPr kumimoji="1" lang="en-US" altLang="ko-Kore-KR" sz="2000" dirty="0"/>
              <a:t> generated from multiplication and squaring operations.</a:t>
            </a:r>
            <a:endParaRPr kumimoji="1" lang="en-US" altLang="ko-KR" sz="2000" dirty="0"/>
          </a:p>
          <a:p>
            <a:pPr marL="971550" lvl="1" indent="-514350">
              <a:buAutoNum type="arabicPeriod"/>
            </a:pPr>
            <a:r>
              <a:rPr kumimoji="1" lang="en-US" altLang="ko-KR" sz="2000" dirty="0"/>
              <a:t>In Mer⁻¹ circuit, qubits used for sequential operations are cleaned up via inverse operations once their information is no longer needed, enabling </a:t>
            </a:r>
            <a:r>
              <a:rPr kumimoji="1" lang="en-US" altLang="ko-KR" sz="2000" b="1" dirty="0"/>
              <a:t>qubit reuse without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increasing circuit depth.</a:t>
            </a:r>
          </a:p>
        </p:txBody>
      </p:sp>
    </p:spTree>
    <p:extLst>
      <p:ext uri="{BB962C8B-B14F-4D97-AF65-F5344CB8AC3E}">
        <p14:creationId xmlns:p14="http://schemas.microsoft.com/office/powerpoint/2010/main" val="4069008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07A53-1701-17E6-7405-E80607F2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Components for quantum circuits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03CA0B-C970-4E75-9A1A-A91654C2E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381760"/>
            <a:ext cx="11868943" cy="5374640"/>
          </a:xfrm>
        </p:spPr>
        <p:txBody>
          <a:bodyPr>
            <a:normAutofit/>
          </a:bodyPr>
          <a:lstStyle/>
          <a:p>
            <a:r>
              <a:rPr kumimoji="1" lang="en-US" altLang="ko-Kore-KR" sz="2000" b="1" dirty="0"/>
              <a:t>Multiplication</a:t>
            </a:r>
            <a:r>
              <a:rPr kumimoji="1" lang="en-US" altLang="ko-Kore-KR" sz="2000" dirty="0"/>
              <a:t>: out-of-place quantum circuit (Karatsuba algorithm [1])</a:t>
            </a:r>
          </a:p>
          <a:p>
            <a:r>
              <a:rPr kumimoji="1" lang="en-US" altLang="ko-Kore-KR" sz="2000" b="1" dirty="0"/>
              <a:t>Squaring</a:t>
            </a:r>
            <a:r>
              <a:rPr kumimoji="1" lang="en-US" altLang="ko-Kore-KR" sz="2000" dirty="0"/>
              <a:t>: In-place quantum circuit</a:t>
            </a:r>
          </a:p>
          <a:p>
            <a:pPr marL="457200" lvl="1" indent="0">
              <a:buNone/>
            </a:pPr>
            <a:endParaRPr kumimoji="1" lang="en-US" altLang="ko-Kore-KR" sz="2000" dirty="0"/>
          </a:p>
          <a:p>
            <a:pPr marL="0" indent="0">
              <a:buNone/>
            </a:pPr>
            <a:r>
              <a:rPr kumimoji="1" lang="en-US" altLang="ko-Kore-KR" sz="2000" b="1" dirty="0">
                <a:sym typeface="Wingdings" pitchFamily="2" charset="2"/>
              </a:rPr>
              <a:t> </a:t>
            </a:r>
            <a:r>
              <a:rPr kumimoji="1" lang="en-US" altLang="ko-KR" sz="2000" b="1" dirty="0">
                <a:sym typeface="Wingdings" pitchFamily="2" charset="2"/>
              </a:rPr>
              <a:t>Adopts Low-depth multiplication and squaring</a:t>
            </a:r>
            <a:r>
              <a:rPr kumimoji="1" lang="ko-KR" altLang="en-US" sz="2000" b="1" dirty="0">
                <a:sym typeface="Wingdings" pitchFamily="2" charset="2"/>
              </a:rPr>
              <a:t> </a:t>
            </a:r>
            <a:r>
              <a:rPr kumimoji="1" lang="en-US" altLang="ko-KR" sz="2000" b="1" dirty="0">
                <a:sym typeface="Wingdings" pitchFamily="2" charset="2"/>
              </a:rPr>
              <a:t>(same as in the previous AIM quantum circuit)</a:t>
            </a:r>
            <a:endParaRPr kumimoji="1" lang="ko-Kore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B6CF24-38C3-D86A-416C-1D6C47FAA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853" y="3344655"/>
            <a:ext cx="7192293" cy="23760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B46BDE-619A-3023-A15C-E91AFB39ABA7}"/>
              </a:ext>
            </a:extLst>
          </p:cNvPr>
          <p:cNvSpPr txBox="1"/>
          <p:nvPr/>
        </p:nvSpPr>
        <p:spPr>
          <a:xfrm>
            <a:off x="0" y="6396335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200"/>
              <a:t>[1] Jang, K., Kim, W., Lim, S., Kang, Y., Yang, Y., Seo, H.: Optimized implementation of quantum binary field multiplication with </a:t>
            </a:r>
            <a:r>
              <a:rPr kumimoji="1" lang="en-US" altLang="ko-Kore-KR" sz="1200" err="1"/>
              <a:t>toffoli</a:t>
            </a:r>
            <a:r>
              <a:rPr kumimoji="1" lang="en-US" altLang="ko-Kore-KR" sz="1200"/>
              <a:t> depth one. In: International Conference on Information Security Applications. pp. 251–264. Springer (2022) </a:t>
            </a:r>
            <a:endParaRPr kumimoji="1" lang="ko-Kore-KR" altLang="en-US" sz="1200"/>
          </a:p>
        </p:txBody>
      </p:sp>
    </p:spTree>
    <p:extLst>
      <p:ext uri="{BB962C8B-B14F-4D97-AF65-F5344CB8AC3E}">
        <p14:creationId xmlns:p14="http://schemas.microsoft.com/office/powerpoint/2010/main" val="942620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C890559-2583-3BB0-67A4-E0632C1C7B8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Quantum circuit for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en-US" dirty="0"/>
                  <a:t> (</a:t>
                </a:r>
                <a:r>
                  <a:rPr kumimoji="1" lang="en" altLang="ko-KR" dirty="0"/>
                  <a:t>Qubit optimization)</a:t>
                </a:r>
                <a:endParaRPr kumimoji="1" lang="ko-Kore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C890559-2583-3BB0-67A4-E0632C1C7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74" t="-6557" b="-1803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D191F1AD-2952-433D-9FC3-68AD959E1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20" y="1297937"/>
            <a:ext cx="6105396" cy="5184323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E5396F6-6794-6419-E2B3-E175FD1CB60B}"/>
              </a:ext>
            </a:extLst>
          </p:cNvPr>
          <p:cNvSpPr/>
          <p:nvPr/>
        </p:nvSpPr>
        <p:spPr>
          <a:xfrm>
            <a:off x="678230" y="3372985"/>
            <a:ext cx="4596223" cy="1980192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25CC7-EEC6-6270-F8A1-D02D66B9457C}"/>
              </a:ext>
            </a:extLst>
          </p:cNvPr>
          <p:cNvSpPr txBox="1"/>
          <p:nvPr/>
        </p:nvSpPr>
        <p:spPr>
          <a:xfrm>
            <a:off x="6723100" y="2874435"/>
            <a:ext cx="50569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en-US" dirty="0"/>
              <a:t>In the Mer⁻¹ operation, intermediate values t1 and table_5 computed in lines 4–10 are no    longer needed after line 31. (Algorithm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en-US" dirty="0"/>
              <a:t>These qubits can be reset in parallel and       reused in the subsequent linear layer.</a:t>
            </a:r>
            <a:r>
              <a:rPr kumimoji="1" lang="ko-KR" altLang="en-US" dirty="0"/>
              <a:t> </a:t>
            </a:r>
            <a:r>
              <a:rPr kumimoji="1" lang="en-US" altLang="ko-KR" dirty="0"/>
              <a:t>   </a:t>
            </a:r>
            <a:r>
              <a:rPr kumimoji="1" lang="en-US" altLang="ko-KR" b="1" dirty="0">
                <a:solidFill>
                  <a:schemeClr val="accent5"/>
                </a:solidFill>
              </a:rPr>
              <a:t>(Qubit reuse to reduce ancilla)</a:t>
            </a:r>
            <a:endParaRPr kumimoji="1" lang="en-US" alt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745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4E53-00BD-FF73-4BD0-AB3F3B0C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FDA98C6E-2D2E-3285-6D28-EA7CD9A9C6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Quantum circuit for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en-US" dirty="0"/>
                  <a:t> (</a:t>
                </a:r>
                <a:r>
                  <a:rPr kumimoji="1" lang="en" altLang="ko-KR" dirty="0"/>
                  <a:t>Depth optimization)</a:t>
                </a:r>
                <a:endParaRPr kumimoji="1" lang="ko-Kore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FDA98C6E-2D2E-3285-6D28-EA7CD9A9C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74" t="-6557" b="-1803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9779C9F-C06B-9EA2-9A9D-3A14014F9476}"/>
              </a:ext>
            </a:extLst>
          </p:cNvPr>
          <p:cNvSpPr txBox="1"/>
          <p:nvPr/>
        </p:nvSpPr>
        <p:spPr>
          <a:xfrm>
            <a:off x="253075" y="1795016"/>
            <a:ext cx="7906891" cy="419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Multiplications at lines 26 and 29 both use the same input </a:t>
            </a:r>
            <a:r>
              <a:rPr kumimoji="1" lang="en-US" altLang="ko-KR" sz="2000" i="1" dirty="0" err="1"/>
              <a:t>table_b</a:t>
            </a:r>
            <a:r>
              <a:rPr kumimoji="1" lang="en-US" altLang="ko-KR" sz="2000" dirty="0"/>
              <a:t> → </a:t>
            </a:r>
            <a:r>
              <a:rPr kumimoji="1" lang="en-US" altLang="ko-KR" sz="2000" b="1" dirty="0">
                <a:solidFill>
                  <a:schemeClr val="accent5"/>
                </a:solidFill>
              </a:rPr>
              <a:t>Normally sequential</a:t>
            </a:r>
            <a:r>
              <a:rPr kumimoji="1" lang="en-US" altLang="ko-KR" sz="2000" dirty="0">
                <a:solidFill>
                  <a:schemeClr val="accent5"/>
                </a:solidFill>
              </a:rPr>
              <a:t> </a:t>
            </a:r>
            <a:r>
              <a:rPr kumimoji="1" lang="en-US" altLang="en-US" sz="2000" dirty="0"/>
              <a:t>(Algorithm 1)</a:t>
            </a:r>
            <a:endParaRPr kumimoji="1" lang="en-US" altLang="ko-KR" sz="2000" dirty="0">
              <a:solidFill>
                <a:schemeClr val="accent5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By applying fan-out to generate a temporary </a:t>
            </a:r>
            <a:r>
              <a:rPr kumimoji="1" lang="en-US" altLang="ko-KR" sz="2000" i="1" dirty="0"/>
              <a:t>t1_copy</a:t>
            </a:r>
            <a:r>
              <a:rPr kumimoji="1" lang="en-US" altLang="ko-KR" sz="2000" dirty="0"/>
              <a:t>, these multiplications are </a:t>
            </a:r>
            <a:r>
              <a:rPr kumimoji="1" lang="en-US" altLang="ko-KR" sz="2000" b="1" dirty="0">
                <a:solidFill>
                  <a:schemeClr val="accent5"/>
                </a:solidFill>
              </a:rPr>
              <a:t>executed in parallel</a:t>
            </a:r>
            <a:r>
              <a:rPr kumimoji="1" lang="en-US" altLang="ko-KR" sz="20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After finishing the multiplication, </a:t>
            </a:r>
            <a:r>
              <a:rPr kumimoji="1" lang="en-US" altLang="ko-KR" sz="2000" i="1" dirty="0"/>
              <a:t>t1_copy</a:t>
            </a:r>
            <a:r>
              <a:rPr kumimoji="1" lang="en-US" altLang="ko-KR" sz="2000" dirty="0"/>
              <a:t> ​ is </a:t>
            </a:r>
            <a:r>
              <a:rPr kumimoji="1" lang="en-US" altLang="ko-KR" sz="2000" b="1" dirty="0"/>
              <a:t>reset (clean-up) and reused</a:t>
            </a:r>
            <a:r>
              <a:rPr kumimoji="1" lang="en-US" altLang="ko-KR" sz="2000" dirty="0"/>
              <a:t> at line 32 </a:t>
            </a:r>
            <a:r>
              <a:rPr kumimoji="1" lang="en-US" altLang="en-US" sz="2000" dirty="0"/>
              <a:t>(Algorithm 1)</a:t>
            </a:r>
            <a:r>
              <a:rPr kumimoji="1" lang="en-US" altLang="ko-KR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i="1" dirty="0"/>
              <a:t>t1_copy</a:t>
            </a:r>
            <a:r>
              <a:rPr kumimoji="1" lang="en-US" altLang="ko-KR" sz="2000" dirty="0"/>
              <a:t>​ is later reused, so no additional qubit resources are consumed; </a:t>
            </a:r>
            <a:r>
              <a:rPr kumimoji="1" lang="en-US" altLang="ko-KR" sz="2000" b="1" dirty="0"/>
              <a:t>only 2𝑛 CNOT gates are required, with a depth of 2</a:t>
            </a:r>
            <a:r>
              <a:rPr kumimoji="1" lang="en-US" altLang="ko-KR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B2B70-1D46-D48A-BB36-8F71261AAFF5}"/>
              </a:ext>
            </a:extLst>
          </p:cNvPr>
          <p:cNvSpPr txBox="1"/>
          <p:nvPr/>
        </p:nvSpPr>
        <p:spPr>
          <a:xfrm>
            <a:off x="8273017" y="1433616"/>
            <a:ext cx="3555670" cy="4708981"/>
          </a:xfrm>
          <a:prstGeom prst="rect">
            <a:avLst/>
          </a:prstGeom>
          <a:solidFill>
            <a:srgbClr val="1D1F2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  <a:t># </a:t>
            </a:r>
            <a:r>
              <a:rPr lang="en" altLang="ko-Kore-KR" sz="1000" dirty="0" err="1">
                <a:solidFill>
                  <a:srgbClr val="7A7E85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  <a:t> = in ^ (0xb6), table_5 = in ^ (0xb5)</a:t>
            </a:r>
            <a:b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" altLang="ko-Kore-KR" sz="10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" altLang="ko-Kore-KR" sz="10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Squaring_temp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sqr_temp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sqr_index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lang="en-US" altLang="ko-Kore-KR" sz="1000" dirty="0">
              <a:solidFill>
                <a:srgbClr val="7A7E85"/>
              </a:solidFill>
              <a:latin typeface="Menlo-Regular" panose="020B0609030804020204" pitchFamily="49" charset="0"/>
            </a:endParaRPr>
          </a:p>
          <a:p>
            <a:pPr>
              <a:buNone/>
            </a:pPr>
            <a:r>
              <a:rPr lang="en" altLang="ko-Kore-KR" sz="1000" dirty="0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" altLang="ko-Kore-KR" sz="1000" dirty="0" err="1">
                <a:solidFill>
                  <a:srgbClr val="BCBEC4"/>
                </a:solidFill>
                <a:latin typeface="JetBrains Mono"/>
              </a:rPr>
              <a:t>sqr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_index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 += </a:t>
            </a:r>
            <a:r>
              <a:rPr lang="en" altLang="ko-Kore-KR" sz="10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br>
              <a:rPr lang="en" altLang="ko-Kore-KR" sz="1000" dirty="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t1_copy =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eng.allocate_qureg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copy(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t1_copy, </a:t>
            </a:r>
            <a:r>
              <a:rPr lang="en" altLang="ko-Kore-KR" sz="10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count4_1 = </a:t>
            </a:r>
            <a:r>
              <a:rPr lang="en" altLang="ko-Kore-KR" sz="10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" altLang="ko-Kore-KR" sz="10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6F737A"/>
                </a:solidFill>
                <a:effectLst/>
                <a:latin typeface="JetBrains Mono"/>
              </a:rPr>
              <a:t>table_b_2 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= []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table_b_2, count4_1, ancilla =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recursive_karatsuba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table_6, n, count4_1, ancilla)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Reduction(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table_b_2)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count4_2 = </a:t>
            </a:r>
            <a:r>
              <a:rPr lang="en" altLang="ko-Kore-KR" sz="10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" altLang="ko-Kore-KR" sz="10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6F737A"/>
                </a:solidFill>
                <a:effectLst/>
                <a:latin typeface="JetBrains Mono"/>
              </a:rPr>
              <a:t>table_5_2 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= []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table_5_2, count4_2, ancilla =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recursive_karatsuba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t1_copy, table_5_1, n, count4_2, ancilla)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Reduction(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table_5_2)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copy(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, t1_copy, </a:t>
            </a:r>
            <a:r>
              <a:rPr lang="en" altLang="ko-Kore-KR" sz="10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table_b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))   </a:t>
            </a:r>
            <a: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  <a:t># t1_copy: clean-up</a:t>
            </a:r>
            <a:b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Uncompute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0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  <a:t># # table_d_1: clean-up</a:t>
            </a:r>
            <a:b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" altLang="ko-Kore-KR" sz="1000" dirty="0">
                <a:solidFill>
                  <a:srgbClr val="7A7E85"/>
                </a:solidFill>
                <a:effectLst/>
                <a:latin typeface="JetBrains Mono"/>
              </a:rPr>
              <a:t># # t1: clean-up</a:t>
            </a:r>
            <a:endParaRPr lang="en" altLang="ko-Kore-KR" sz="1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370DD84-D45C-2CB4-4EB0-373E75717BA9}"/>
              </a:ext>
            </a:extLst>
          </p:cNvPr>
          <p:cNvSpPr/>
          <p:nvPr/>
        </p:nvSpPr>
        <p:spPr>
          <a:xfrm>
            <a:off x="8346242" y="2217916"/>
            <a:ext cx="2288078" cy="332248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2296299-BD15-79A1-99BE-A2C3101DA919}"/>
              </a:ext>
            </a:extLst>
          </p:cNvPr>
          <p:cNvSpPr/>
          <p:nvPr/>
        </p:nvSpPr>
        <p:spPr>
          <a:xfrm>
            <a:off x="11262617" y="2990619"/>
            <a:ext cx="421103" cy="172276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43E0A3DA-F0C2-214D-8F9F-DC202F10543F}"/>
              </a:ext>
            </a:extLst>
          </p:cNvPr>
          <p:cNvSpPr/>
          <p:nvPr/>
        </p:nvSpPr>
        <p:spPr>
          <a:xfrm>
            <a:off x="11262617" y="4068975"/>
            <a:ext cx="421103" cy="172276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F2EACAC0-7ED2-A04E-9D03-7FF673CD8DF7}"/>
              </a:ext>
            </a:extLst>
          </p:cNvPr>
          <p:cNvCxnSpPr>
            <a:cxnSpLocks/>
          </p:cNvCxnSpPr>
          <p:nvPr/>
        </p:nvCxnSpPr>
        <p:spPr>
          <a:xfrm>
            <a:off x="8362245" y="4996787"/>
            <a:ext cx="320060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5DC82B66-BFD7-1229-82FC-8DBA936CF8C6}"/>
              </a:ext>
            </a:extLst>
          </p:cNvPr>
          <p:cNvCxnSpPr>
            <a:cxnSpLocks/>
          </p:cNvCxnSpPr>
          <p:nvPr/>
        </p:nvCxnSpPr>
        <p:spPr>
          <a:xfrm>
            <a:off x="8362245" y="5302446"/>
            <a:ext cx="85075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614F6868-AF32-F8FC-D013-BD4F11A47819}"/>
              </a:ext>
            </a:extLst>
          </p:cNvPr>
          <p:cNvCxnSpPr>
            <a:cxnSpLocks/>
          </p:cNvCxnSpPr>
          <p:nvPr/>
        </p:nvCxnSpPr>
        <p:spPr>
          <a:xfrm>
            <a:off x="8362245" y="5751715"/>
            <a:ext cx="120759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1C3F3ED0-0DEB-F18B-3D4C-4CAB957609B9}"/>
              </a:ext>
            </a:extLst>
          </p:cNvPr>
          <p:cNvCxnSpPr>
            <a:cxnSpLocks/>
          </p:cNvCxnSpPr>
          <p:nvPr/>
        </p:nvCxnSpPr>
        <p:spPr>
          <a:xfrm>
            <a:off x="8362245" y="5900472"/>
            <a:ext cx="120759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254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718FF18-9784-5F5A-ACA8-90F2607730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Resource Analysis of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𝑀𝑒𝑟</m:t>
                        </m:r>
                      </m:e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kumimoji="1" lang="ko-Kore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718FF18-9784-5F5A-ACA8-90F260773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74" t="-6557" b="-1803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36E26B-DA48-80A3-D147-D6065053A0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ko-KR" sz="2200" dirty="0"/>
              <a:t>In Mer⁻¹, a </a:t>
            </a:r>
            <a:r>
              <a:rPr kumimoji="1" lang="en" altLang="ko-KR" sz="2200" b="1" dirty="0"/>
              <a:t>large number of multiplication and squaring operations are executed sequentially, resulting in a very </a:t>
            </a:r>
            <a:r>
              <a:rPr kumimoji="1" lang="en" altLang="ko-KR" sz="2200" b="1" dirty="0">
                <a:solidFill>
                  <a:schemeClr val="accent5"/>
                </a:solidFill>
              </a:rPr>
              <a:t>large circuit depth.</a:t>
            </a:r>
            <a:endParaRPr kumimoji="1" lang="en-US" altLang="ko-KR" sz="2200" b="1" dirty="0">
              <a:solidFill>
                <a:schemeClr val="accent5"/>
              </a:solidFill>
            </a:endParaRPr>
          </a:p>
          <a:p>
            <a:r>
              <a:rPr kumimoji="1" lang="en-US" altLang="ko-KR" sz="2200" dirty="0"/>
              <a:t>Designed using out-of-place multiplication and in-place squaring. </a:t>
            </a:r>
          </a:p>
          <a:p>
            <a:r>
              <a:rPr kumimoji="1" lang="en-US" altLang="ko-KR" sz="2200" dirty="0"/>
              <a:t>Each AIM2 variant includes the following Mer⁻¹ exponentiation operations:</a:t>
            </a:r>
            <a:endParaRPr kumimoji="1" lang="en-US" altLang="ko-KR" sz="100" dirty="0"/>
          </a:p>
          <a:p>
            <a:pPr lvl="1"/>
            <a:r>
              <a:rPr kumimoji="1" lang="en-US" altLang="ko-KR" sz="1600" b="1" dirty="0"/>
              <a:t>AIM2-I: </a:t>
            </a:r>
            <a:r>
              <a:rPr kumimoji="1" lang="en" altLang="ko-KR" sz="1600" b="1" dirty="0"/>
              <a:t>Mer⁻¹(49), Mer⁻¹(91)</a:t>
            </a:r>
          </a:p>
          <a:p>
            <a:pPr lvl="1"/>
            <a:r>
              <a:rPr kumimoji="1" lang="en-US" altLang="ko-KR" sz="1600" b="1" dirty="0"/>
              <a:t>AIM2-III: </a:t>
            </a:r>
            <a:r>
              <a:rPr kumimoji="1" lang="en" altLang="ko-KR" sz="1600" b="1" dirty="0"/>
              <a:t>Mer⁻¹(17), Mer⁻¹(47) </a:t>
            </a:r>
          </a:p>
          <a:p>
            <a:pPr lvl="1"/>
            <a:r>
              <a:rPr kumimoji="1" lang="en-US" altLang="ko-KR" sz="1600" b="1" dirty="0"/>
              <a:t>AIM2-V: </a:t>
            </a:r>
            <a:r>
              <a:rPr kumimoji="1" lang="en" altLang="ko-KR" sz="1600" b="1" dirty="0"/>
              <a:t>Mer⁻¹(11), Mer⁻¹(141) , Mer⁻¹(7)</a:t>
            </a:r>
            <a:endParaRPr kumimoji="1" lang="en-US" altLang="ko-KR" sz="1600" b="1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94C38B-01E0-2208-6A37-2CCDCBAC3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3825875"/>
            <a:ext cx="7299960" cy="27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73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D95FE-8B5D-7714-09ED-ABE1B151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Quantum circuit for</a:t>
            </a:r>
            <a:r>
              <a:rPr kumimoji="1" lang="ko-KR" altLang="en-US" dirty="0"/>
              <a:t> </a:t>
            </a:r>
            <a:r>
              <a:rPr kumimoji="1" lang="en-US" altLang="ko-Kore-KR" dirty="0"/>
              <a:t>Linear Layer </a:t>
            </a:r>
            <a:r>
              <a:rPr kumimoji="1" lang="en-US" altLang="en-US" dirty="0"/>
              <a:t>(</a:t>
            </a:r>
            <a:r>
              <a:rPr kumimoji="1" lang="en" altLang="ko-KR" dirty="0"/>
              <a:t>Qubit optimization)</a:t>
            </a:r>
            <a:endParaRPr kumimoji="1" lang="ko-Kore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9AE9CD-9066-71B8-A429-420445B634DB}"/>
              </a:ext>
            </a:extLst>
          </p:cNvPr>
          <p:cNvGrpSpPr/>
          <p:nvPr/>
        </p:nvGrpSpPr>
        <p:grpSpPr>
          <a:xfrm>
            <a:off x="411919" y="3994797"/>
            <a:ext cx="6550159" cy="1540643"/>
            <a:chOff x="411919" y="3637842"/>
            <a:chExt cx="6217042" cy="146229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B818B4C-9D3F-293F-C37D-77A32AF0E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919" y="3637842"/>
              <a:ext cx="6217042" cy="146229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A865E08-A5CF-976C-AE53-688AA1A0B693}"/>
                </a:ext>
              </a:extLst>
            </p:cNvPr>
            <p:cNvSpPr/>
            <p:nvPr/>
          </p:nvSpPr>
          <p:spPr>
            <a:xfrm>
              <a:off x="1915600" y="3690807"/>
              <a:ext cx="1648002" cy="18038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211C33F-4078-D127-2393-28D8C8AD30BE}"/>
                </a:ext>
              </a:extLst>
            </p:cNvPr>
            <p:cNvSpPr/>
            <p:nvPr/>
          </p:nvSpPr>
          <p:spPr>
            <a:xfrm>
              <a:off x="4922934" y="4884256"/>
              <a:ext cx="1665589" cy="18038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747B8F-98AE-EA8E-0949-203589B1447D}"/>
                  </a:ext>
                </a:extLst>
              </p:cNvPr>
              <p:cNvSpPr txBox="1"/>
              <p:nvPr/>
            </p:nvSpPr>
            <p:spPr>
              <a:xfrm>
                <a:off x="411919" y="1076705"/>
                <a:ext cx="11323851" cy="1974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/>
                  <a:t>The Linear Layer performs matrix–vector multiplication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kumimoji="1" lang="en-US" altLang="ko-KR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kumimoji="1" lang="en-US" altLang="ko-KR" sz="22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/>
                  <a:t>Two 𝑛-bit clean ancilla qubits returned from Mer⁻¹ are reused in Linear layer.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/>
                  <a:t>The Linear Layer reuses qubits that were previously allocated during Mer⁻¹ execution.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b="1" dirty="0"/>
                  <a:t>AIM2-I, AIM2-III: 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</a:rPr>
                  <a:t>reuse 2n qubits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b="1" dirty="0"/>
                  <a:t>AIM2-V: 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</a:rPr>
                  <a:t>reuse 3n qubits</a:t>
                </a:r>
                <a:endParaRPr kumimoji="1" lang="en-US" altLang="ko-K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747B8F-98AE-EA8E-0949-203589B14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19" y="1076705"/>
                <a:ext cx="11323851" cy="1974323"/>
              </a:xfrm>
              <a:prstGeom prst="rect">
                <a:avLst/>
              </a:prstGeom>
              <a:blipFill>
                <a:blip r:embed="rId4"/>
                <a:stretch>
                  <a:fillRect l="-672" t="-1911" b="-44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609D5D1-5511-C5EC-40B1-1F1CBDAF23FE}"/>
              </a:ext>
            </a:extLst>
          </p:cNvPr>
          <p:cNvSpPr txBox="1"/>
          <p:nvPr/>
        </p:nvSpPr>
        <p:spPr>
          <a:xfrm>
            <a:off x="7136486" y="2873031"/>
            <a:ext cx="4643594" cy="3777222"/>
          </a:xfrm>
          <a:prstGeom prst="rect">
            <a:avLst/>
          </a:prstGeom>
          <a:solidFill>
            <a:srgbClr val="1D1F2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" altLang="ko-Kore-KR" sz="1400" dirty="0" err="1">
                <a:solidFill>
                  <a:srgbClr val="56A8F5"/>
                </a:solidFill>
                <a:effectLst/>
                <a:latin typeface="JetBrains Mono"/>
              </a:rPr>
              <a:t>Matrix_Mul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, state0, state1, temp_U0, temp_U1):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n = </a:t>
            </a:r>
            <a:r>
              <a:rPr lang="en" altLang="ko-Kore-KR" sz="1400" dirty="0">
                <a:solidFill>
                  <a:srgbClr val="2AACB8"/>
                </a:solidFill>
                <a:effectLst/>
                <a:latin typeface="JetBrains Mono"/>
              </a:rPr>
              <a:t>128</a:t>
            </a:r>
            <a:br>
              <a:rPr lang="en" altLang="ko-Kore-KR" sz="1400" dirty="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" altLang="ko-Kore-KR" sz="14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, state0, temp_U0, matrix_U0)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out1 =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eng.allocate_qureg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(n)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, temp_U0, out1, matrix_L0)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, state1, temp_U1, matrix_U1)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temp_L1 =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eng.allocate_qureg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(n)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, temp_U1, temp_L1, matrix_L1)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" altLang="ko-Kore-KR" sz="14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(n):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    CNOT | (temp_L1[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], out1[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out1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711AC0-3B82-FDBA-668B-308113206E2C}"/>
              </a:ext>
            </a:extLst>
          </p:cNvPr>
          <p:cNvSpPr/>
          <p:nvPr/>
        </p:nvSpPr>
        <p:spPr>
          <a:xfrm>
            <a:off x="9793191" y="2903487"/>
            <a:ext cx="1458389" cy="2662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13360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D5609-041E-B5F2-D1A3-643C5E1F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Quantum circuit for</a:t>
            </a:r>
            <a:r>
              <a:rPr kumimoji="1" lang="ko-KR" altLang="en-US" dirty="0"/>
              <a:t> </a:t>
            </a:r>
            <a:r>
              <a:rPr kumimoji="1" lang="en-US" altLang="ko-Kore-KR" dirty="0"/>
              <a:t>Linear Layer</a:t>
            </a:r>
            <a:r>
              <a:rPr kumimoji="1" lang="ko-KR" altLang="en-US" dirty="0"/>
              <a:t> </a:t>
            </a:r>
            <a:r>
              <a:rPr kumimoji="1" lang="en-US" altLang="ko-KR" dirty="0"/>
              <a:t>(Optimization)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FA73EE-D39C-532F-173F-936E5A0741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ko-Kore-KR" sz="2200" dirty="0"/>
              <a:t>The Linear Layer multiplies the input vector by a predefined binary matrix. </a:t>
            </a:r>
          </a:p>
          <a:p>
            <a:r>
              <a:rPr kumimoji="1" lang="en" altLang="ko-Kore-KR" sz="2200" dirty="0"/>
              <a:t>This matrix is derived from the hash input using: </a:t>
            </a:r>
          </a:p>
          <a:p>
            <a:pPr lvl="1"/>
            <a:r>
              <a:rPr kumimoji="1" lang="en" altLang="ko-Kore-KR" sz="2000" b="1" dirty="0"/>
              <a:t>SHAKE-128 for AIM-I </a:t>
            </a:r>
          </a:p>
          <a:p>
            <a:pPr lvl="1"/>
            <a:r>
              <a:rPr kumimoji="1" lang="en" altLang="ko-Kore-KR" sz="2000" b="1" dirty="0"/>
              <a:t>SHAKE-256 for AIM-III and AIM-V</a:t>
            </a:r>
          </a:p>
          <a:p>
            <a:r>
              <a:rPr kumimoji="1" lang="en" altLang="ko-Kore-KR" sz="2200" dirty="0"/>
              <a:t>Therefore, the operation is a </a:t>
            </a:r>
            <a:r>
              <a:rPr kumimoji="1" lang="en" altLang="ko-Kore-KR" sz="2200" b="1" dirty="0"/>
              <a:t>classical(matrix vector)-quantum</a:t>
            </a:r>
            <a:r>
              <a:rPr kumimoji="1" lang="en-US" altLang="ko-KR" sz="22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7FD7F-EBDB-8844-9781-4DD9EB3AB916}"/>
              </a:ext>
            </a:extLst>
          </p:cNvPr>
          <p:cNvSpPr txBox="1"/>
          <p:nvPr/>
        </p:nvSpPr>
        <p:spPr>
          <a:xfrm>
            <a:off x="1729601" y="3378919"/>
            <a:ext cx="3951521" cy="3231654"/>
          </a:xfrm>
          <a:prstGeom prst="rect">
            <a:avLst/>
          </a:prstGeom>
          <a:solidFill>
            <a:srgbClr val="1D1F2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ore-KR" sz="12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" altLang="ko-Kore-KR" sz="1200" dirty="0" err="1">
                <a:solidFill>
                  <a:srgbClr val="56A8F5"/>
                </a:solidFill>
                <a:effectLst/>
                <a:latin typeface="JetBrains Mono"/>
              </a:rPr>
              <a:t>Matrix_Mul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, state0, state1, temp_U0, temp_U1):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n = </a:t>
            </a:r>
            <a:r>
              <a:rPr lang="en" altLang="ko-Kore-KR" sz="1200" dirty="0">
                <a:solidFill>
                  <a:srgbClr val="2AACB8"/>
                </a:solidFill>
                <a:effectLst/>
                <a:latin typeface="JetBrains Mono"/>
              </a:rPr>
              <a:t>128</a:t>
            </a:r>
            <a:br>
              <a:rPr lang="en" altLang="ko-Kore-KR" sz="1200" dirty="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" altLang="ko-Kore-KR" sz="12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, state0, temp_U0, matrix_U0)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out1 = 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eng.allocate_qureg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(n)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, temp_U0, out1, matrix_L0)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, state1, temp_U1, matrix_U1)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temp_L1 = 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eng.allocate_qureg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(n)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eng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, temp_U1, temp_L1, matrix_L1)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2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" altLang="ko-Kore-KR" sz="12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" altLang="ko-Kore-KR" sz="12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(n):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    CNOT | (temp_L1[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], out1[</a:t>
            </a:r>
            <a:r>
              <a:rPr lang="en" altLang="ko-Kore-KR" sz="12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" altLang="ko-Kore-KR" sz="1200" dirty="0">
                <a:solidFill>
                  <a:srgbClr val="BCBEC4"/>
                </a:solidFill>
                <a:effectLst/>
                <a:latin typeface="JetBrains Mono"/>
              </a:rPr>
              <a:t>out1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1A9EE-7C78-D58E-D79D-6A9D3BFFD287}"/>
              </a:ext>
            </a:extLst>
          </p:cNvPr>
          <p:cNvSpPr txBox="1"/>
          <p:nvPr/>
        </p:nvSpPr>
        <p:spPr>
          <a:xfrm>
            <a:off x="6096000" y="4325907"/>
            <a:ext cx="5124410" cy="1169551"/>
          </a:xfrm>
          <a:prstGeom prst="rect">
            <a:avLst/>
          </a:prstGeom>
          <a:solidFill>
            <a:srgbClr val="1D1F2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" altLang="ko-Kore-KR" sz="1400" dirty="0" err="1">
                <a:solidFill>
                  <a:srgbClr val="56A8F5"/>
                </a:solidFill>
                <a:effectLst/>
                <a:latin typeface="JetBrains Mono"/>
              </a:rPr>
              <a:t>Matrix_Mul_General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400" dirty="0" err="1">
                <a:solidFill>
                  <a:srgbClr val="6F737A"/>
                </a:solidFill>
                <a:effectLst/>
                <a:latin typeface="JetBrains Mono"/>
              </a:rPr>
              <a:t>eng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input_qubits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output_qubits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, matrix):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" altLang="ko-Kore-KR" sz="14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400" dirty="0">
                <a:solidFill>
                  <a:srgbClr val="2AACB8"/>
                </a:solidFill>
                <a:effectLst/>
                <a:latin typeface="JetBrains Mono"/>
              </a:rPr>
              <a:t>128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j </a:t>
            </a: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" altLang="ko-Kore-KR" sz="14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" altLang="ko-Kore-KR" sz="1400" dirty="0">
                <a:solidFill>
                  <a:srgbClr val="2AACB8"/>
                </a:solidFill>
                <a:effectLst/>
                <a:latin typeface="JetBrains Mono"/>
              </a:rPr>
              <a:t>128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" altLang="ko-Kore-KR" sz="14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((matrix[j] &gt;&gt;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) &amp; </a:t>
            </a:r>
            <a:r>
              <a:rPr lang="en" altLang="ko-Kore-KR" sz="14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                CNOT | (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input_qubits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[j], 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output_qubits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" altLang="ko-Kore-KR" sz="14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" altLang="ko-Kore-KR" sz="14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936065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E07D2-52C8-FE17-7D82-B0E6C153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8FE52-C551-F3CC-B673-FE401D60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Resource Analysis of</a:t>
            </a:r>
            <a:r>
              <a:rPr kumimoji="1" lang="ko-KR" altLang="en-US" dirty="0"/>
              <a:t> </a:t>
            </a:r>
            <a:r>
              <a:rPr kumimoji="1" lang="en-US" altLang="ko-KR" dirty="0"/>
              <a:t>Linear layer</a:t>
            </a:r>
            <a:endParaRPr kumimoji="1" lang="ko-Kore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8E261F-2CE5-896A-01BB-145F869FD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083" y="4615907"/>
            <a:ext cx="6905834" cy="1871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개체 틀 2">
                <a:extLst>
                  <a:ext uri="{FF2B5EF4-FFF2-40B4-BE49-F238E27FC236}">
                    <a16:creationId xmlns:a16="http://schemas.microsoft.com/office/drawing/2014/main" id="{2F2FC523-7D01-51DD-AD9F-A05126B9D54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0405" y="1170371"/>
                <a:ext cx="11273595" cy="3116487"/>
              </a:xfrm>
            </p:spPr>
            <p:txBody>
              <a:bodyPr>
                <a:normAutofit/>
              </a:bodyPr>
              <a:lstStyle/>
              <a:p>
                <a:r>
                  <a:rPr lang="en" altLang="ko-Kore-KR" sz="2000" dirty="0"/>
                  <a:t>The </a:t>
                </a:r>
                <a:r>
                  <a:rPr lang="en" altLang="ko-Kore-KR" sz="2000" b="1" dirty="0"/>
                  <a:t>#Qubit </a:t>
                </a:r>
                <a:r>
                  <a:rPr lang="en" altLang="ko-Kore-KR" sz="2000" dirty="0"/>
                  <a:t>denotes the </a:t>
                </a:r>
                <a:r>
                  <a:rPr lang="en" altLang="ko-Kore-KR" sz="2000" b="1" dirty="0"/>
                  <a:t>total number of qubits </a:t>
                </a:r>
                <a:r>
                  <a:rPr lang="en" altLang="ko-Kore-KR" sz="2000" dirty="0"/>
                  <a:t>required for the Linear Layer, and the values in </a:t>
                </a:r>
                <a:r>
                  <a:rPr lang="en" altLang="ko-Kore-KR" sz="2000" b="1" dirty="0"/>
                  <a:t>parentheses indicate qubits reused from previous operation</a:t>
                </a:r>
                <a:r>
                  <a:rPr lang="en-US" altLang="ko-KR" sz="2000" dirty="0"/>
                  <a:t>.</a:t>
                </a:r>
                <a:endParaRPr lang="en" altLang="ko-Kore-KR" sz="2000" dirty="0"/>
              </a:p>
              <a:p>
                <a:r>
                  <a:rPr lang="en" altLang="ko-Kore-KR" sz="2000" dirty="0"/>
                  <a:t>Each AIM2 variant defines a </a:t>
                </a:r>
                <a:r>
                  <a:rPr lang="en" altLang="ko-Kore-KR" sz="2000" b="1" dirty="0"/>
                  <a:t>different number of matrix arrays</a:t>
                </a:r>
                <a:r>
                  <a:rPr lang="en" altLang="ko-Kore-KR" sz="2000" dirty="0"/>
                  <a:t> for the Linear Layer. </a:t>
                </a:r>
              </a:p>
              <a:p>
                <a:endParaRPr lang="en" altLang="ko-Kore-KR" sz="1000" dirty="0"/>
              </a:p>
              <a:p>
                <a:r>
                  <a:rPr lang="en" altLang="ko-Kore-KR" sz="2000" dirty="0"/>
                  <a:t>AIM2-I and AIM2-III use two matrices for each of the L and U sets: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ore-KR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ko-Kore-KR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ore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ore-KR" sz="20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ko-Kore-KR" sz="2000" b="1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ko-Kore-KR" sz="20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ko-Kore-KR" sz="20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ore-K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ore-KR" sz="2000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" altLang="ko-Kore-KR" sz="2000" b="1" dirty="0"/>
                  <a:t> : </a:t>
                </a:r>
                <a:r>
                  <a:rPr lang="en" altLang="ko-Kore-KR" sz="2000" b="1" dirty="0">
                    <a:solidFill>
                      <a:schemeClr val="accent5"/>
                    </a:solidFill>
                  </a:rPr>
                  <a:t>Total of 4 matrix arrays (using 4n ancilla qubits)</a:t>
                </a:r>
              </a:p>
              <a:p>
                <a:pPr lvl="1"/>
                <a:endParaRPr lang="en" altLang="ko-Kore-KR" sz="1000" b="1" dirty="0">
                  <a:solidFill>
                    <a:schemeClr val="accent5"/>
                  </a:solidFill>
                </a:endParaRPr>
              </a:p>
              <a:p>
                <a:r>
                  <a:rPr lang="en" altLang="ko-Kore-KR" sz="2000" dirty="0"/>
                  <a:t>AIM2-V extends each set to three matrices: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ore-KR" sz="2000" b="1" i="1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ko-Kore-KR" sz="20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ore-K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ore-KR" sz="2000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ko-Kore-KR" sz="2000" b="1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ko-Kore-KR" sz="20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ko-Kore-KR" sz="20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ore-K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ore-KR" sz="2000" b="1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ore-KR" sz="20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2000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ko-Kore-KR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" altLang="ko-Kore-KR" sz="2000" b="1" dirty="0"/>
                  <a:t> : </a:t>
                </a:r>
                <a:r>
                  <a:rPr lang="en" altLang="ko-Kore-KR" sz="2000" b="1" dirty="0">
                    <a:solidFill>
                      <a:schemeClr val="accent5"/>
                    </a:solidFill>
                  </a:rPr>
                  <a:t>Total of 6 matrix arrays (using 6n ancilla qubits)</a:t>
                </a:r>
              </a:p>
            </p:txBody>
          </p:sp>
        </mc:Choice>
        <mc:Fallback xmlns="">
          <p:sp>
            <p:nvSpPr>
              <p:cNvPr id="10" name="텍스트 개체 틀 2">
                <a:extLst>
                  <a:ext uri="{FF2B5EF4-FFF2-40B4-BE49-F238E27FC236}">
                    <a16:creationId xmlns:a16="http://schemas.microsoft.com/office/drawing/2014/main" id="{2F2FC523-7D01-51DD-AD9F-A05126B9D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0405" y="1170371"/>
                <a:ext cx="11273595" cy="3116487"/>
              </a:xfrm>
              <a:blipFill>
                <a:blip r:embed="rId4"/>
                <a:stretch>
                  <a:fillRect l="-450" t="-2033" r="-337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373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3364A2A-13A2-C65E-4702-7B3CB5C75D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Quantum circuit for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𝑀𝑒𝑟</m:t>
                    </m:r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3364A2A-13A2-C65E-4702-7B3CB5C75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74" t="-6557" b="-1803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0236F623-C9AD-E0E9-25D1-789D6240C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9" y="3954462"/>
            <a:ext cx="7043886" cy="1570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145C404-3C39-520C-4FD0-9772710D606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63698" cy="56038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</a:rPr>
                      <m:t>𝑴𝒆𝒓</m:t>
                    </m:r>
                  </m:oMath>
                </a14:m>
                <a:r>
                  <a:rPr kumimoji="1" lang="en-US" altLang="ko-KR" sz="2200" b="1" dirty="0"/>
                  <a:t> is a non-linear transformation consisting of multiple multiplications and </a:t>
                </a:r>
                <a:r>
                  <a:rPr kumimoji="1" lang="en-US" altLang="ko-KR" sz="2200" b="1" dirty="0" err="1"/>
                  <a:t>squarings</a:t>
                </a:r>
                <a:r>
                  <a:rPr kumimoji="1" lang="en-US" altLang="ko-KR" sz="2200" b="1" dirty="0"/>
                  <a:t>.</a:t>
                </a:r>
              </a:p>
              <a:p>
                <a:r>
                  <a:rPr kumimoji="1" lang="en-US" altLang="ko-KR" sz="2200" b="1" dirty="0">
                    <a:solidFill>
                      <a:schemeClr val="accent5"/>
                    </a:solidFill>
                  </a:rPr>
                  <a:t>Compared to Mer⁻¹, the Mer operation involves fewer computations and therefore consumes fewer quantum resources.</a:t>
                </a:r>
              </a:p>
              <a:p>
                <a:pPr lvl="1"/>
                <a:endParaRPr kumimoji="1" lang="en-US" altLang="ko-KR" sz="22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145C404-3C39-520C-4FD0-9772710D6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663698" cy="5603875"/>
              </a:xfrm>
              <a:blipFill>
                <a:blip r:embed="rId5"/>
                <a:stretch>
                  <a:fillRect l="-653" t="-113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606E3272-0FB9-97B2-177A-5A3D2384F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1025" y="2442313"/>
            <a:ext cx="4619810" cy="431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90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9551-4765-6A13-EF90-7971E108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549EDD4-5246-0748-01E5-D3E9B9753934}"/>
              </a:ext>
            </a:extLst>
          </p:cNvPr>
          <p:cNvSpPr/>
          <p:nvPr/>
        </p:nvSpPr>
        <p:spPr>
          <a:xfrm>
            <a:off x="193040" y="0"/>
            <a:ext cx="11805920" cy="6678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303D9-4EA3-69C3-7F98-CC1FB67AB5E3}"/>
              </a:ext>
            </a:extLst>
          </p:cNvPr>
          <p:cNvSpPr txBox="1"/>
          <p:nvPr/>
        </p:nvSpPr>
        <p:spPr>
          <a:xfrm>
            <a:off x="4564971" y="2598003"/>
            <a:ext cx="30620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4800" dirty="0"/>
              <a:t>Evaluation</a:t>
            </a:r>
            <a:endParaRPr kumimoji="1" lang="ko-Kore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84879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7FE3E-FB9B-55EE-BBE5-DEB30925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Evaluation – AIM vs AIM2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8D877A-FD74-BD09-52B4-E54C441DB4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587248" cy="2822249"/>
          </a:xfrm>
        </p:spPr>
        <p:txBody>
          <a:bodyPr>
            <a:normAutofit/>
          </a:bodyPr>
          <a:lstStyle/>
          <a:p>
            <a:r>
              <a:rPr kumimoji="1" lang="en-US" altLang="ko-KR" sz="2000" dirty="0"/>
              <a:t>We </a:t>
            </a:r>
            <a:r>
              <a:rPr kumimoji="1" lang="en-US" altLang="ko-KR" sz="2000" b="1" dirty="0"/>
              <a:t>evaluate the </a:t>
            </a:r>
            <a:r>
              <a:rPr kumimoji="1" lang="en-US" altLang="ko-KR" sz="2000" b="1" dirty="0">
                <a:solidFill>
                  <a:schemeClr val="accent5"/>
                </a:solidFill>
              </a:rPr>
              <a:t>post-quantum security of AIM2</a:t>
            </a:r>
            <a:r>
              <a:rPr kumimoji="1" lang="en-US" altLang="ko-KR" sz="2000" b="1" dirty="0"/>
              <a:t> </a:t>
            </a:r>
            <a:r>
              <a:rPr kumimoji="1" lang="en-US" altLang="ko-KR" sz="2000" dirty="0"/>
              <a:t>by analyzing its quantum resource requirements.</a:t>
            </a:r>
          </a:p>
          <a:p>
            <a:r>
              <a:rPr kumimoji="1" lang="en-US" altLang="ko-KR" sz="2000" dirty="0"/>
              <a:t>Key design difference: </a:t>
            </a:r>
          </a:p>
          <a:p>
            <a:pPr lvl="1"/>
            <a:r>
              <a:rPr kumimoji="1" lang="en-US" altLang="ko-KR" sz="1800" b="1" dirty="0"/>
              <a:t>AIM: Mer before and after the linear layer</a:t>
            </a:r>
          </a:p>
          <a:p>
            <a:pPr lvl="1"/>
            <a:r>
              <a:rPr kumimoji="1" lang="en-US" altLang="ko-KR" sz="1800" b="1" dirty="0"/>
              <a:t>AIM2: Mer⁻¹ before the linear layer, Mer afterwards (with optimization)</a:t>
            </a:r>
          </a:p>
          <a:p>
            <a:pPr lvl="1"/>
            <a:endParaRPr kumimoji="1" lang="en-US" altLang="ko-KR" sz="1800" dirty="0"/>
          </a:p>
          <a:p>
            <a:r>
              <a:rPr kumimoji="1" lang="en-US" altLang="ko-KR" sz="2000" b="1" dirty="0">
                <a:solidFill>
                  <a:schemeClr val="accent5"/>
                </a:solidFill>
              </a:rPr>
              <a:t>Since Mer⁻¹ is significantly more expensive than Mer, AIM2 circuits require more resources than AIM.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CA272-1187-2497-771D-F7DFF0723954}"/>
              </a:ext>
            </a:extLst>
          </p:cNvPr>
          <p:cNvSpPr txBox="1"/>
          <p:nvPr/>
        </p:nvSpPr>
        <p:spPr>
          <a:xfrm>
            <a:off x="0" y="6596390"/>
            <a:ext cx="8262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100" dirty="0"/>
              <a:t>[7] Jang, K., Oh, Y., Kim, H., Seo, H.: Quantum implementation of AIM: aiming for low-depth. Applied Sciences 14(7), 2824 (2024)</a:t>
            </a:r>
            <a:endParaRPr kumimoji="1" lang="ko-KR" altLang="en-US" sz="11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E6CEA6-460A-268C-BD12-B6DF48A09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160" y="3807841"/>
            <a:ext cx="8033679" cy="255352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89A1EF8-9742-EA01-F92B-45AEA0A8F502}"/>
              </a:ext>
            </a:extLst>
          </p:cNvPr>
          <p:cNvSpPr/>
          <p:nvPr/>
        </p:nvSpPr>
        <p:spPr>
          <a:xfrm>
            <a:off x="2136311" y="5381625"/>
            <a:ext cx="7903040" cy="9416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580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EC498-07CF-9832-7D07-A9B66791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Evaluation – AIM2 Grover cost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956DE6-A8D6-6271-8741-AA131B935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45" y="4265242"/>
            <a:ext cx="8461310" cy="2385011"/>
          </a:xfrm>
          <a:prstGeom prst="rect">
            <a:avLst/>
          </a:prstGeom>
        </p:spPr>
      </p:pic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7F11E652-6F3A-B2A7-D3DA-5AC23DCFA5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780837" cy="3733982"/>
          </a:xfrm>
        </p:spPr>
        <p:txBody>
          <a:bodyPr>
            <a:normAutofit/>
          </a:bodyPr>
          <a:lstStyle/>
          <a:p>
            <a:r>
              <a:rPr kumimoji="1" lang="en-US" altLang="ko-KR" sz="2000" b="1" dirty="0"/>
              <a:t>We estimate the Grover search cost of AIM2.</a:t>
            </a:r>
          </a:p>
          <a:p>
            <a:r>
              <a:rPr kumimoji="1" lang="en-US" altLang="ko-KR" sz="2000" dirty="0"/>
              <a:t>Grover Oracle Cost Model</a:t>
            </a:r>
          </a:p>
          <a:p>
            <a:pPr lvl="1"/>
            <a:r>
              <a:rPr kumimoji="1" lang="en-US" altLang="ko-KR" sz="1800" dirty="0"/>
              <a:t>Oracle = </a:t>
            </a:r>
          </a:p>
          <a:p>
            <a:pPr marL="1257300" lvl="2" indent="-342900">
              <a:lnSpc>
                <a:spcPct val="100000"/>
              </a:lnSpc>
              <a:buAutoNum type="arabicPeriod"/>
            </a:pPr>
            <a:r>
              <a:rPr kumimoji="1" lang="en-US" altLang="ko-KR" sz="1600" dirty="0"/>
              <a:t>AIM2 quantum encryption circuit </a:t>
            </a:r>
          </a:p>
          <a:p>
            <a:pPr marL="1257300" lvl="2" indent="-342900">
              <a:lnSpc>
                <a:spcPct val="100000"/>
              </a:lnSpc>
              <a:buAutoNum type="arabicPeriod"/>
            </a:pPr>
            <a:r>
              <a:rPr kumimoji="1" lang="en-US" altLang="ko-KR" sz="1600" dirty="0"/>
              <a:t>n-controlled NOT for ciphertext comparison </a:t>
            </a:r>
          </a:p>
          <a:p>
            <a:pPr marL="1257300" lvl="2" indent="-342900">
              <a:lnSpc>
                <a:spcPct val="100000"/>
              </a:lnSpc>
              <a:buAutoNum type="arabicPeriod"/>
            </a:pPr>
            <a:r>
              <a:rPr kumimoji="1" lang="en-US" altLang="ko-KR" sz="1600" dirty="0"/>
              <a:t>inverse AIM2 circuit</a:t>
            </a:r>
          </a:p>
          <a:p>
            <a:pPr>
              <a:lnSpc>
                <a:spcPct val="100000"/>
              </a:lnSpc>
            </a:pPr>
            <a:r>
              <a:rPr kumimoji="1" lang="en-US" altLang="ko-KR" sz="2000" dirty="0"/>
              <a:t>Grover complexity grows with parameter size.</a:t>
            </a:r>
          </a:p>
          <a:p>
            <a:pPr>
              <a:lnSpc>
                <a:spcPct val="100000"/>
              </a:lnSpc>
            </a:pPr>
            <a:r>
              <a:rPr kumimoji="1" lang="en-US" altLang="ko-KR" sz="2000" b="1" dirty="0">
                <a:solidFill>
                  <a:schemeClr val="accent5"/>
                </a:solidFill>
              </a:rPr>
              <a:t>These values will be used to determine whether AIM2 meets NIST PQC security levels.</a:t>
            </a:r>
          </a:p>
        </p:txBody>
      </p:sp>
    </p:spTree>
    <p:extLst>
      <p:ext uri="{BB962C8B-B14F-4D97-AF65-F5344CB8AC3E}">
        <p14:creationId xmlns:p14="http://schemas.microsoft.com/office/powerpoint/2010/main" val="2814766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BDE8F-8384-F7D7-3491-86B5130A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C78AD-6633-BB19-7BD8-DC8D1EF4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Evaluation – AIM2 post-quantum security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D2713A-7978-0481-80B1-263CCF67E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367" y="3352800"/>
            <a:ext cx="7205084" cy="2030915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C4AD0-367B-1A01-F0CC-D4F6170523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697493" cy="3733982"/>
          </a:xfrm>
        </p:spPr>
        <p:txBody>
          <a:bodyPr>
            <a:normAutofit/>
          </a:bodyPr>
          <a:lstStyle/>
          <a:p>
            <a:r>
              <a:rPr kumimoji="1" lang="en-US" altLang="ko-KR" sz="2000" dirty="0"/>
              <a:t>We compare the Grover key-search cost of AIM2 with NIST’s Post-Quantum security levels.</a:t>
            </a:r>
          </a:p>
          <a:p>
            <a:r>
              <a:rPr lang="en" altLang="ko-KR" sz="2000" dirty="0"/>
              <a:t>NIST originally provided estimates in 2016, but these were revised in 2022 due to updated AES Grover cost results.</a:t>
            </a:r>
          </a:p>
          <a:p>
            <a:r>
              <a:rPr kumimoji="1" lang="en-US" altLang="ko-KR" sz="2000" b="1" dirty="0">
                <a:solidFill>
                  <a:schemeClr val="accent5"/>
                </a:solidFill>
              </a:rPr>
              <a:t>AIM2 is evaluated against updated NIST’22 values</a:t>
            </a:r>
            <a:r>
              <a:rPr kumimoji="1" lang="en-US" altLang="ko-KR" sz="2000" dirty="0"/>
              <a:t> for a fair comparison.</a:t>
            </a:r>
          </a:p>
          <a:p>
            <a:r>
              <a:rPr kumimoji="1" lang="en-US" altLang="ko-KR" sz="2000" dirty="0"/>
              <a:t>Using the revised estimates, </a:t>
            </a:r>
            <a:r>
              <a:rPr kumimoji="1" lang="en-US" altLang="ko-KR" sz="2000" b="1" dirty="0">
                <a:solidFill>
                  <a:schemeClr val="accent5"/>
                </a:solidFill>
              </a:rPr>
              <a:t>AIM2-I, AIM2-III, and AIM2-V meet the Post-Quantum security levels 1, 3, and 5, respectively</a:t>
            </a:r>
            <a:r>
              <a:rPr kumimoji="1" lang="en-US" altLang="ko-KR" sz="2000" b="1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58D3A-939A-B064-417C-B9F1765E8CCE}"/>
              </a:ext>
            </a:extLst>
          </p:cNvPr>
          <p:cNvSpPr txBox="1"/>
          <p:nvPr/>
        </p:nvSpPr>
        <p:spPr>
          <a:xfrm>
            <a:off x="97234" y="5473005"/>
            <a:ext cx="123253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50" dirty="0"/>
              <a:t>[14] NIST.: Submission requirements and evaluation criteria for the post- quantum cryptography standardization process (2016), https://</a:t>
            </a:r>
            <a:r>
              <a:rPr kumimoji="1" lang="en-US" altLang="ko-KR" sz="1050" dirty="0" err="1"/>
              <a:t>csrc</a:t>
            </a:r>
            <a:r>
              <a:rPr kumimoji="1" lang="en-US" altLang="ko-KR" sz="1050" dirty="0"/>
              <a:t>. </a:t>
            </a:r>
            <a:r>
              <a:rPr kumimoji="1" lang="en-US" altLang="ko-KR" sz="1050" dirty="0" err="1"/>
              <a:t>nist.gov</a:t>
            </a:r>
            <a:r>
              <a:rPr kumimoji="1" lang="en-US" altLang="ko-KR" sz="1050" dirty="0"/>
              <a:t>/CSRC/media/Projects/Post-Quantum-Cryptography/documents/ call-for-proposals-final-dec-2016.pdf</a:t>
            </a:r>
          </a:p>
          <a:p>
            <a:r>
              <a:rPr kumimoji="1" lang="en-US" altLang="ko-KR" sz="1050" dirty="0"/>
              <a:t>[15] NIST.: Call for additional digital signature schemes for the post-quantum </a:t>
            </a:r>
            <a:r>
              <a:rPr kumimoji="1" lang="en-US" altLang="ko-KR" sz="1050" dirty="0" err="1"/>
              <a:t>cryp</a:t>
            </a:r>
            <a:r>
              <a:rPr kumimoji="1" lang="en-US" altLang="ko-KR" sz="1050" dirty="0"/>
              <a:t>- </a:t>
            </a:r>
            <a:r>
              <a:rPr kumimoji="1" lang="en-US" altLang="ko-KR" sz="1050" dirty="0" err="1"/>
              <a:t>tography</a:t>
            </a:r>
            <a:r>
              <a:rPr kumimoji="1" lang="en-US" altLang="ko-KR" sz="1050" dirty="0"/>
              <a:t> standardization process (2022), https://</a:t>
            </a:r>
            <a:r>
              <a:rPr kumimoji="1" lang="en-US" altLang="ko-KR" sz="1050" dirty="0" err="1"/>
              <a:t>csrc.nist.gov</a:t>
            </a:r>
            <a:r>
              <a:rPr kumimoji="1" lang="en-US" altLang="ko-KR" sz="1050" dirty="0"/>
              <a:t>/</a:t>
            </a:r>
            <a:r>
              <a:rPr kumimoji="1" lang="en-US" altLang="ko-KR" sz="1050" dirty="0" err="1"/>
              <a:t>csrc</a:t>
            </a:r>
            <a:r>
              <a:rPr kumimoji="1" lang="en-US" altLang="ko-KR" sz="1050" dirty="0"/>
              <a:t>/media/ Projects/</a:t>
            </a:r>
            <a:r>
              <a:rPr kumimoji="1" lang="en-US" altLang="ko-KR" sz="1050" dirty="0" err="1"/>
              <a:t>pqc</a:t>
            </a:r>
            <a:r>
              <a:rPr kumimoji="1" lang="en-US" altLang="ko-KR" sz="1050" dirty="0"/>
              <a:t>-dig-sig/documents/call-for-proposals-dig-sig-sept-2022. pdf</a:t>
            </a:r>
          </a:p>
          <a:p>
            <a:r>
              <a:rPr kumimoji="1" lang="en-US" altLang="ko-KR" sz="1050" dirty="0"/>
              <a:t>[3] Grassl, M., Langenberg, B., </a:t>
            </a:r>
            <a:r>
              <a:rPr kumimoji="1" lang="en-US" altLang="ko-KR" sz="1050" dirty="0" err="1"/>
              <a:t>Roetteler</a:t>
            </a:r>
            <a:r>
              <a:rPr kumimoji="1" lang="en-US" altLang="ko-KR" sz="1050" dirty="0"/>
              <a:t>, M., </a:t>
            </a:r>
            <a:r>
              <a:rPr kumimoji="1" lang="en-US" altLang="ko-KR" sz="1050" dirty="0" err="1"/>
              <a:t>Steinwandt</a:t>
            </a:r>
            <a:r>
              <a:rPr kumimoji="1" lang="en-US" altLang="ko-KR" sz="1050" dirty="0"/>
              <a:t>, R.: Applying Grover’s al- </a:t>
            </a:r>
            <a:r>
              <a:rPr kumimoji="1" lang="en-US" altLang="ko-KR" sz="1050" dirty="0" err="1"/>
              <a:t>gorithm</a:t>
            </a:r>
            <a:r>
              <a:rPr kumimoji="1" lang="en-US" altLang="ko-KR" sz="1050" dirty="0"/>
              <a:t> to AES: quantum resource estimates. In: International Workshop on Post- Quantum Cryptography. pp. 29–43. Springer (2016)</a:t>
            </a:r>
          </a:p>
          <a:p>
            <a:r>
              <a:rPr kumimoji="1" lang="en-US" altLang="ko-KR" sz="1050" dirty="0"/>
              <a:t>[8] Jaques, S., </a:t>
            </a:r>
            <a:r>
              <a:rPr kumimoji="1" lang="en-US" altLang="ko-KR" sz="1050" dirty="0" err="1"/>
              <a:t>Naehrig</a:t>
            </a:r>
            <a:r>
              <a:rPr kumimoji="1" lang="en-US" altLang="ko-KR" sz="1050" dirty="0"/>
              <a:t>, M., </a:t>
            </a:r>
            <a:r>
              <a:rPr kumimoji="1" lang="en-US" altLang="ko-KR" sz="1050" dirty="0" err="1"/>
              <a:t>Roetteler</a:t>
            </a:r>
            <a:r>
              <a:rPr kumimoji="1" lang="en-US" altLang="ko-KR" sz="1050" dirty="0"/>
              <a:t>, M., Virdia, F.: Implementing </a:t>
            </a:r>
            <a:r>
              <a:rPr kumimoji="1" lang="en-US" altLang="ko-KR" sz="1050" dirty="0" err="1"/>
              <a:t>grover</a:t>
            </a:r>
            <a:r>
              <a:rPr kumimoji="1" lang="en-US" altLang="ko-KR" sz="1050" dirty="0"/>
              <a:t> oracles for quantum key search on AES and </a:t>
            </a:r>
            <a:r>
              <a:rPr kumimoji="1" lang="en-US" altLang="ko-KR" sz="1050" dirty="0" err="1"/>
              <a:t>LowMC</a:t>
            </a:r>
            <a:r>
              <a:rPr kumimoji="1" lang="en-US" altLang="ko-KR" sz="1050" dirty="0"/>
              <a:t>. In: Annual International Conference on the Theory and Applications of Cryptographic Techniques. pp. 280–310. Springer (2020)</a:t>
            </a:r>
          </a:p>
        </p:txBody>
      </p:sp>
    </p:spTree>
    <p:extLst>
      <p:ext uri="{BB962C8B-B14F-4D97-AF65-F5344CB8AC3E}">
        <p14:creationId xmlns:p14="http://schemas.microsoft.com/office/powerpoint/2010/main" val="314876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1D926-A48E-1C06-7CEB-3812297C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ore-KR" dirty="0"/>
              <a:t>Conclusion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9BB449-0337-21E0-06BA-CD2449061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8161" cy="56038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" altLang="ko-Kore-KR" sz="2000" dirty="0"/>
              <a:t>In this work, we</a:t>
            </a:r>
            <a:r>
              <a:rPr kumimoji="1" lang="en" altLang="ko-Kore-KR" sz="2000" b="1" dirty="0"/>
              <a:t> </a:t>
            </a:r>
            <a:r>
              <a:rPr kumimoji="1" lang="en" altLang="ko-Kore-KR" sz="2000" dirty="0"/>
              <a:t>proposed</a:t>
            </a:r>
            <a:r>
              <a:rPr kumimoji="1" lang="en" altLang="ko-Kore-KR" sz="2000" b="1" dirty="0"/>
              <a:t> quantum circuit implementations of AIM2.</a:t>
            </a:r>
          </a:p>
          <a:p>
            <a:pPr>
              <a:lnSpc>
                <a:spcPct val="150000"/>
              </a:lnSpc>
            </a:pPr>
            <a:r>
              <a:rPr kumimoji="1" lang="en" altLang="ko-Kore-KR" sz="2000" dirty="0"/>
              <a:t>For all AIM2 variants (AIM-I, AIM-III, AIM-V), we optimized quantum circuits  for the internal          operations</a:t>
            </a:r>
          </a:p>
          <a:p>
            <a:pPr>
              <a:lnSpc>
                <a:spcPct val="150000"/>
              </a:lnSpc>
            </a:pPr>
            <a:r>
              <a:rPr kumimoji="1" lang="en" altLang="ko-Kore-KR" sz="2000" dirty="0"/>
              <a:t>Based on the proposed circuits, we estimate the cost of </a:t>
            </a:r>
            <a:r>
              <a:rPr kumimoji="1" lang="en" altLang="ko-Kore-KR" sz="2000" b="1" dirty="0"/>
              <a:t>Grover’s algorithm  for key search and    confirm post-quantum security levels.</a:t>
            </a:r>
          </a:p>
          <a:p>
            <a:pPr>
              <a:lnSpc>
                <a:spcPct val="150000"/>
              </a:lnSpc>
            </a:pPr>
            <a:r>
              <a:rPr kumimoji="1" lang="en" altLang="ko-Kore-KR" sz="2000" dirty="0"/>
              <a:t>As a result, AIM2-I, -III, and -V meet Level-1, -3, and -5 security levels.</a:t>
            </a:r>
          </a:p>
          <a:p>
            <a:pPr>
              <a:lnSpc>
                <a:spcPct val="150000"/>
              </a:lnSpc>
            </a:pPr>
            <a:r>
              <a:rPr kumimoji="1" lang="en" altLang="ko-Kore-KR" sz="2000" b="1" dirty="0">
                <a:solidFill>
                  <a:srgbClr val="FF0000"/>
                </a:solidFill>
              </a:rPr>
              <a:t>These results show that AIM2 provides strong post-quantum security.</a:t>
            </a:r>
          </a:p>
        </p:txBody>
      </p:sp>
    </p:spTree>
    <p:extLst>
      <p:ext uri="{BB962C8B-B14F-4D97-AF65-F5344CB8AC3E}">
        <p14:creationId xmlns:p14="http://schemas.microsoft.com/office/powerpoint/2010/main" val="2469675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2452</Words>
  <Application>Microsoft Macintosh PowerPoint</Application>
  <PresentationFormat>와이드스크린</PresentationFormat>
  <Paragraphs>188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JetBrains Mono</vt:lpstr>
      <vt:lpstr>맑은 고딕</vt:lpstr>
      <vt:lpstr>Arial</vt:lpstr>
      <vt:lpstr>Cambria Math</vt:lpstr>
      <vt:lpstr>Menlo-Regular</vt:lpstr>
      <vt:lpstr>Times New Roman</vt:lpstr>
      <vt:lpstr>Wingdings</vt:lpstr>
      <vt:lpstr>제목 테마</vt:lpstr>
      <vt:lpstr>Quantum Circuit Implementation and Resource Analysis of AIM2</vt:lpstr>
      <vt:lpstr>Contribution</vt:lpstr>
      <vt:lpstr>PowerPoint 프레젠테이션</vt:lpstr>
      <vt:lpstr>Background – Grover’s algorithm</vt:lpstr>
      <vt:lpstr>Background – AIM2</vt:lpstr>
      <vt:lpstr>Background – AIM vs AIM2</vt:lpstr>
      <vt:lpstr>Background – AIM vs AIM2</vt:lpstr>
      <vt:lpstr>Background – Mer function in AIM2</vt:lpstr>
      <vt:lpstr>Background – 〖Mer〗^(-1) function in AIM2</vt:lpstr>
      <vt:lpstr>Background – AIM2</vt:lpstr>
      <vt:lpstr>Background – NIST post-quantum security</vt:lpstr>
      <vt:lpstr>PowerPoint 프레젠테이션</vt:lpstr>
      <vt:lpstr>Quantum circuit optimization for AIM2</vt:lpstr>
      <vt:lpstr>Components for quantum circuits</vt:lpstr>
      <vt:lpstr>Quantum circuit for 〖Mer〗^(-1) (Qubit optimization)</vt:lpstr>
      <vt:lpstr>Quantum circuit for 〖Mer〗^(-1) (Depth optimization)</vt:lpstr>
      <vt:lpstr>Resource Analysis of 〖Mer〗^(-1)</vt:lpstr>
      <vt:lpstr>Quantum circuit for Linear Layer (Qubit optimization)</vt:lpstr>
      <vt:lpstr>Quantum circuit for Linear Layer (Optimization)</vt:lpstr>
      <vt:lpstr>Resource Analysis of Linear layer</vt:lpstr>
      <vt:lpstr>Quantum circuit for Mer</vt:lpstr>
      <vt:lpstr>PowerPoint 프레젠테이션</vt:lpstr>
      <vt:lpstr>Evaluation – AIM vs AIM2</vt:lpstr>
      <vt:lpstr>Evaluation – AIM2 Grover cost</vt:lpstr>
      <vt:lpstr>Evaluation – AIM2 post-quantum security</vt:lpstr>
      <vt:lpstr>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송경주</cp:lastModifiedBy>
  <cp:revision>11</cp:revision>
  <dcterms:created xsi:type="dcterms:W3CDTF">2019-03-05T04:29:07Z</dcterms:created>
  <dcterms:modified xsi:type="dcterms:W3CDTF">2025-11-24T03:12:14Z</dcterms:modified>
</cp:coreProperties>
</file>