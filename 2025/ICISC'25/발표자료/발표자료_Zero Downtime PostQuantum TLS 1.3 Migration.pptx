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96" r:id="rId1"/>
  </p:sldMasterIdLst>
  <p:notesMasterIdLst>
    <p:notesMasterId r:id="rId32"/>
  </p:notesMasterIdLst>
  <p:handoutMasterIdLst>
    <p:handoutMasterId r:id="rId33"/>
  </p:handoutMasterIdLst>
  <p:sldIdLst>
    <p:sldId id="272" r:id="rId2"/>
    <p:sldId id="274" r:id="rId3"/>
    <p:sldId id="281" r:id="rId4"/>
    <p:sldId id="282" r:id="rId5"/>
    <p:sldId id="283" r:id="rId6"/>
    <p:sldId id="284" r:id="rId7"/>
    <p:sldId id="290" r:id="rId8"/>
    <p:sldId id="285" r:id="rId9"/>
    <p:sldId id="286" r:id="rId10"/>
    <p:sldId id="287" r:id="rId11"/>
    <p:sldId id="288" r:id="rId12"/>
    <p:sldId id="289" r:id="rId13"/>
    <p:sldId id="291" r:id="rId14"/>
    <p:sldId id="293" r:id="rId15"/>
    <p:sldId id="294" r:id="rId16"/>
    <p:sldId id="295" r:id="rId17"/>
    <p:sldId id="292" r:id="rId18"/>
    <p:sldId id="311" r:id="rId19"/>
    <p:sldId id="297" r:id="rId20"/>
    <p:sldId id="298" r:id="rId21"/>
    <p:sldId id="299" r:id="rId22"/>
    <p:sldId id="307" r:id="rId23"/>
    <p:sldId id="309" r:id="rId24"/>
    <p:sldId id="308" r:id="rId25"/>
    <p:sldId id="301" r:id="rId26"/>
    <p:sldId id="302" r:id="rId27"/>
    <p:sldId id="303" r:id="rId28"/>
    <p:sldId id="304" r:id="rId29"/>
    <p:sldId id="310" r:id="rId30"/>
    <p:sldId id="313" r:id="rId31"/>
  </p:sldIdLst>
  <p:sldSz cx="12192000" cy="6858000"/>
  <p:notesSz cx="6858000" cy="9144000"/>
  <p:embeddedFontLst>
    <p:embeddedFont>
      <p:font typeface="Cambria Math" panose="02040503050406030204" pitchFamily="18" charset="0"/>
      <p:regular r:id="rId34"/>
    </p:embeddedFont>
    <p:embeddedFont>
      <p:font typeface="Wingdings 2" panose="05020102010507070707" pitchFamily="18" charset="2"/>
      <p:regular r:id="rId35"/>
    </p:embeddedFont>
    <p:embeddedFont>
      <p:font typeface="맑은 고딕" panose="020B0503020000020004" pitchFamily="50" charset="-127"/>
      <p:regular r:id="rId36"/>
      <p:bold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66AC"/>
    <a:srgbClr val="629D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52" autoAdjust="0"/>
    <p:restoredTop sz="85362" autoAdjust="0"/>
  </p:normalViewPr>
  <p:slideViewPr>
    <p:cSldViewPr snapToGrid="0">
      <p:cViewPr>
        <p:scale>
          <a:sx n="50" d="100"/>
          <a:sy n="50" d="100"/>
        </p:scale>
        <p:origin x="208" y="996"/>
      </p:cViewPr>
      <p:guideLst/>
    </p:cSldViewPr>
  </p:slideViewPr>
  <p:outlineViewPr>
    <p:cViewPr>
      <p:scale>
        <a:sx n="33" d="100"/>
        <a:sy n="33" d="100"/>
      </p:scale>
      <p:origin x="0" y="-1266"/>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0" d="100"/>
          <a:sy n="90" d="100"/>
        </p:scale>
        <p:origin x="3774"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dirty="0"/>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F6C602-A42E-4384-BB6E-89F049D03FDB}" type="datetime4">
              <a:rPr lang="ko-KR" altLang="en-US" smtClean="0"/>
              <a:t>2025년 11월 19일</a:t>
            </a:fld>
            <a:endParaRPr lang="ko-KR" altLang="en-US" dirty="0"/>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dirty="0"/>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97CD97-4686-4F5B-85EE-B28BF11E1991}" type="slidenum">
              <a:rPr lang="en-US" altLang="ko-KR" smtClean="0"/>
              <a:t>‹#›</a:t>
            </a:fld>
            <a:endParaRPr lang="ko-KR" altLang="en-US" dirty="0"/>
          </a:p>
        </p:txBody>
      </p:sp>
    </p:spTree>
    <p:extLst>
      <p:ext uri="{BB962C8B-B14F-4D97-AF65-F5344CB8AC3E}">
        <p14:creationId xmlns:p14="http://schemas.microsoft.com/office/powerpoint/2010/main" val="32537984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맑은 고딕" panose="020B0503020000020004" pitchFamily="50" charset="-127"/>
              </a:defRPr>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맑은 고딕" panose="020B0503020000020004" pitchFamily="50" charset="-127"/>
              </a:defRPr>
            </a:lvl1pPr>
          </a:lstStyle>
          <a:p>
            <a:fld id="{0F05460B-EF4C-45B4-AEA8-01340485D332}" type="datetime4">
              <a:rPr lang="ko-KR" altLang="en-US" smtClean="0"/>
              <a:pPr/>
              <a:t>2025년 11월 19일</a:t>
            </a:fld>
            <a:endParaRPr lang="ko-KR" alt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ko-KR" altLang="en-US" dirty="0"/>
              <a:t>마스터 텍스트 스타일을 편집하려면 클릭하세요</a:t>
            </a:r>
            <a:r>
              <a:rPr lang="en-US" altLang="ko-KR" dirty="0"/>
              <a:t>.</a:t>
            </a:r>
          </a:p>
          <a:p>
            <a:pPr lvl="1" rtl="0"/>
            <a:r>
              <a:rPr lang="ko-KR" altLang="en-US" dirty="0"/>
              <a:t>둘째 수준</a:t>
            </a:r>
          </a:p>
          <a:p>
            <a:pPr lvl="2" rtl="0"/>
            <a:r>
              <a:rPr lang="ko-KR" altLang="en-US" dirty="0"/>
              <a:t>셋째 수준</a:t>
            </a:r>
          </a:p>
          <a:p>
            <a:pPr lvl="3" rtl="0"/>
            <a:r>
              <a:rPr lang="ko-KR" altLang="en-US" dirty="0"/>
              <a:t>넷째 수준</a:t>
            </a:r>
          </a:p>
          <a:p>
            <a:pPr lvl="4" rtl="0"/>
            <a:r>
              <a:rPr lang="ko-KR" altLang="en-US" dirty="0"/>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맑은 고딕" panose="020B0503020000020004" pitchFamily="50" charset="-127"/>
              </a:defRPr>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맑은 고딕" panose="020B0503020000020004" pitchFamily="50" charset="-127"/>
              </a:defRPr>
            </a:lvl1pPr>
          </a:lstStyle>
          <a:p>
            <a:fld id="{893B0CF2-7F87-4E02-A248-870047730F99}" type="slidenum">
              <a:rPr lang="en-US" altLang="ko-KR" smtClean="0"/>
              <a:pPr/>
              <a:t>‹#›</a:t>
            </a:fld>
            <a:endParaRPr lang="ko-KR" altLang="en-US" dirty="0"/>
          </a:p>
        </p:txBody>
      </p:sp>
    </p:spTree>
    <p:extLst>
      <p:ext uri="{BB962C8B-B14F-4D97-AF65-F5344CB8AC3E}">
        <p14:creationId xmlns:p14="http://schemas.microsoft.com/office/powerpoint/2010/main" val="36149813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맑은 고딕" panose="020B0503020000020004" pitchFamily="50" charset="-127"/>
        <a:ea typeface="+mn-ea"/>
        <a:cs typeface="+mn-cs"/>
      </a:defRPr>
    </a:lvl1pPr>
    <a:lvl2pPr marL="457200" algn="l" defTabSz="914400" rtl="0" eaLnBrk="1" latinLnBrk="0" hangingPunct="1">
      <a:defRPr sz="1200" kern="1200">
        <a:solidFill>
          <a:schemeClr val="tx1"/>
        </a:solidFill>
        <a:latin typeface="맑은 고딕" panose="020B0503020000020004" pitchFamily="50" charset="-127"/>
        <a:ea typeface="+mn-ea"/>
        <a:cs typeface="+mn-cs"/>
      </a:defRPr>
    </a:lvl2pPr>
    <a:lvl3pPr marL="914400" algn="l" defTabSz="914400" rtl="0" eaLnBrk="1" latinLnBrk="0" hangingPunct="1">
      <a:defRPr sz="1200" kern="1200">
        <a:solidFill>
          <a:schemeClr val="tx1"/>
        </a:solidFill>
        <a:latin typeface="맑은 고딕" panose="020B0503020000020004" pitchFamily="50" charset="-127"/>
        <a:ea typeface="+mn-ea"/>
        <a:cs typeface="+mn-cs"/>
      </a:defRPr>
    </a:lvl3pPr>
    <a:lvl4pPr marL="1371600" algn="l" defTabSz="914400" rtl="0" eaLnBrk="1" latinLnBrk="0" hangingPunct="1">
      <a:defRPr sz="1200" kern="1200">
        <a:solidFill>
          <a:schemeClr val="tx1"/>
        </a:solidFill>
        <a:latin typeface="맑은 고딕" panose="020B0503020000020004" pitchFamily="50" charset="-127"/>
        <a:ea typeface="+mn-ea"/>
        <a:cs typeface="+mn-cs"/>
      </a:defRPr>
    </a:lvl4pPr>
    <a:lvl5pPr marL="1828800" algn="l" defTabSz="914400" rtl="0" eaLnBrk="1" latinLnBrk="0" hangingPunct="1">
      <a:defRPr sz="1200" kern="1200">
        <a:solidFill>
          <a:schemeClr val="tx1"/>
        </a:solidFill>
        <a:latin typeface="맑은 고딕" panose="020B0503020000020004" pitchFamily="50" charset="-12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kern="1200">
                <a:solidFill>
                  <a:schemeClr val="tx1"/>
                </a:solidFill>
                <a:effectLst/>
                <a:latin typeface="맑은 고딕" panose="020B0503020000020004" pitchFamily="50" charset="-127"/>
                <a:ea typeface="+mn-ea"/>
                <a:cs typeface="+mn-cs"/>
              </a:rPr>
              <a:t>Hello. We are pleased to present our research on “Zero-Downtime Post-Quantum TLS 1.3 Migration: A Bridge Server Approach.” My name is Subeen Cho.</a:t>
            </a:r>
            <a:endParaRPr lang="ko-KR" altLang="ko-KR" sz="1200" kern="1200">
              <a:solidFill>
                <a:schemeClr val="tx1"/>
              </a:solidFill>
              <a:effectLst/>
              <a:latin typeface="맑은 고딕" panose="020B0503020000020004" pitchFamily="50" charset="-127"/>
              <a:ea typeface="+mn-ea"/>
              <a:cs typeface="+mn-cs"/>
            </a:endParaRPr>
          </a:p>
          <a:p>
            <a:pPr rtl="0"/>
            <a:endParaRPr lang="en-US" altLang="ko-KR"/>
          </a:p>
          <a:p>
            <a:pPr rtl="0"/>
            <a:endParaRPr lang="ko-KR" altLang="en-US" dirty="0"/>
          </a:p>
        </p:txBody>
      </p:sp>
      <p:sp>
        <p:nvSpPr>
          <p:cNvPr id="4" name="슬라이드 번호 개체 틀 3"/>
          <p:cNvSpPr>
            <a:spLocks noGrp="1"/>
          </p:cNvSpPr>
          <p:nvPr>
            <p:ph type="sldNum" sz="quarter" idx="10"/>
          </p:nvPr>
        </p:nvSpPr>
        <p:spPr/>
        <p:txBody>
          <a:bodyPr rtlCol="0"/>
          <a:lstStyle/>
          <a:p>
            <a:pPr rtl="0"/>
            <a:fld id="{893B0CF2-7F87-4E02-A248-870047730F99}" type="slidenum">
              <a:rPr lang="en-US" altLang="ko-KR" smtClean="0"/>
              <a:t>1</a:t>
            </a:fld>
            <a:endParaRPr lang="ko-KR" altLang="en-US" dirty="0"/>
          </a:p>
        </p:txBody>
      </p:sp>
    </p:spTree>
    <p:extLst>
      <p:ext uri="{BB962C8B-B14F-4D97-AF65-F5344CB8AC3E}">
        <p14:creationId xmlns:p14="http://schemas.microsoft.com/office/powerpoint/2010/main" val="149513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First, This is the motivation.</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Quantum computing’s rapid advances threaten existing public-key cryptography. This urgency pushes migration to post-quantum cryptography (PQC) standards. However, integrating PQC into TLS 1.3 presents operational challenges. Current migration methods are designed around RSA and ECC and do not fully address PQC environments.</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ko-KR" altLang="en-US"/>
              <a:t>양자 컴퓨팅의 급속한 발전으로 인해 현재 광범위하게 사용되고 있는 공개키 암호 시스템의 보안 위협</a:t>
            </a:r>
            <a:endParaRPr lang="en-US" altLang="ko-KR"/>
          </a:p>
          <a:p>
            <a:r>
              <a:rPr lang="en-US" altLang="ko-KR"/>
              <a:t>- PQC </a:t>
            </a:r>
            <a:r>
              <a:rPr lang="ko-KR" altLang="en-US"/>
              <a:t>표준으로의 전환이 시급하게 요구되고 있으나</a:t>
            </a:r>
            <a:r>
              <a:rPr lang="en-US" altLang="ko-KR"/>
              <a:t>, </a:t>
            </a:r>
            <a:r>
              <a:rPr lang="ko-KR" altLang="en-US"/>
              <a:t>이를 현재 주로 사용하고 있는 </a:t>
            </a:r>
            <a:r>
              <a:rPr lang="en-US" altLang="ko-KR"/>
              <a:t>TLS 1.3</a:t>
            </a:r>
            <a:r>
              <a:rPr lang="ko-KR" altLang="en-US"/>
              <a:t>에 통합하는 것은 운영상 어려움을 수반</a:t>
            </a:r>
            <a:endParaRPr lang="en-US" altLang="ko-KR"/>
          </a:p>
          <a:p>
            <a:r>
              <a:rPr lang="en-US" altLang="ko-KR"/>
              <a:t>- </a:t>
            </a:r>
            <a:r>
              <a:rPr lang="ko-KR" altLang="en-US"/>
              <a:t>기존 환경에서도 핫 리로드를 활용한 전환을 지원해왔으나 이는 </a:t>
            </a:r>
            <a:r>
              <a:rPr lang="en-US" altLang="ko-KR"/>
              <a:t>RSA/ECC</a:t>
            </a:r>
            <a:r>
              <a:rPr lang="ko-KR" altLang="en-US"/>
              <a:t>를 기반으로 함</a:t>
            </a:r>
            <a:endParaRPr lang="ko-KR" altLang="en-US" dirty="0"/>
          </a:p>
        </p:txBody>
      </p:sp>
      <p:sp>
        <p:nvSpPr>
          <p:cNvPr id="4" name="슬라이드 번호 개체 틀 3"/>
          <p:cNvSpPr>
            <a:spLocks noGrp="1"/>
          </p:cNvSpPr>
          <p:nvPr>
            <p:ph type="sldNum" sz="quarter" idx="10"/>
          </p:nvPr>
        </p:nvSpPr>
        <p:spPr/>
        <p:txBody>
          <a:bodyPr/>
          <a:lstStyle/>
          <a:p>
            <a:fld id="{893B0CF2-7F87-4E02-A248-870047730F99}" type="slidenum">
              <a:rPr lang="en-US" altLang="ko-KR" smtClean="0"/>
              <a:pPr/>
              <a:t>2</a:t>
            </a:fld>
            <a:endParaRPr lang="ko-KR" altLang="en-US" dirty="0"/>
          </a:p>
        </p:txBody>
      </p:sp>
    </p:spTree>
    <p:extLst>
      <p:ext uri="{BB962C8B-B14F-4D97-AF65-F5344CB8AC3E}">
        <p14:creationId xmlns:p14="http://schemas.microsoft.com/office/powerpoint/2010/main" val="2452345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2C6B7-ADDC-8B84-78AC-F10B360EFDD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9980E16-0202-BC28-471B-5C1D49F8D78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26FCF8D-EAF0-39C2-B069-E00B6540CD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kern="1200">
                <a:solidFill>
                  <a:schemeClr val="tx1"/>
                </a:solidFill>
                <a:effectLst/>
                <a:latin typeface="맑은 고딕" panose="020B0503020000020004" pitchFamily="50" charset="-127"/>
                <a:ea typeface="+mn-ea"/>
                <a:cs typeface="+mn-cs"/>
              </a:rPr>
              <a:t>This bridge-based approach suggests the following contributions. First, it enables fine-grained, session-level migration by creating a dedicated SSL_CTX instance per session, allowing precise control over cryptographic transitions. In addition, it supports policy-driven progressive transition and rollback mechanisms, ensuring secure and flexible migration. Furthermore, it incorporates hot-reload techniques tailored for PQC environments, and the resulting service availability has been empirically validated through experimental evaluation. </a:t>
            </a:r>
            <a:endParaRPr lang="en-US" altLang="ko-KR"/>
          </a:p>
          <a:p>
            <a:endParaRPr lang="en-US" altLang="ko-KR"/>
          </a:p>
          <a:p>
            <a:r>
              <a:rPr lang="ko-KR" altLang="en-US"/>
              <a:t>우리는 브리지 서버 접근법을 통한 다음과 같은 기여점을 제공한다</a:t>
            </a:r>
            <a:r>
              <a:rPr lang="en-US" altLang="ko-KR"/>
              <a:t>.</a:t>
            </a:r>
          </a:p>
          <a:p>
            <a:pPr marL="171450" indent="-171450">
              <a:buFontTx/>
              <a:buChar char="-"/>
            </a:pPr>
            <a:r>
              <a:rPr lang="en-US" altLang="ko-KR"/>
              <a:t>TLS </a:t>
            </a:r>
            <a:r>
              <a:rPr lang="ko-KR" altLang="en-US"/>
              <a:t>라이브러리 수준에서 직접 동작하는 브리지를 통해 세션 단위의 마이그레이션을 가능하도록 함</a:t>
            </a:r>
            <a:endParaRPr lang="en-US" altLang="ko-KR"/>
          </a:p>
          <a:p>
            <a:pPr marL="171450" indent="-171450">
              <a:buFontTx/>
              <a:buChar char="-"/>
            </a:pPr>
            <a:r>
              <a:rPr lang="ko-KR" altLang="en-US"/>
              <a:t>정책 기반 상태 머신에 따른 단계적 마이그레이션을 통해 전환 과정에서의 안전성과 유연성을 제공</a:t>
            </a:r>
            <a:endParaRPr lang="en-US" altLang="ko-KR"/>
          </a:p>
          <a:p>
            <a:pPr marL="171450" indent="-171450">
              <a:buFontTx/>
              <a:buChar char="-"/>
            </a:pPr>
            <a:r>
              <a:rPr lang="en-US" altLang="ko-KR"/>
              <a:t>PQC </a:t>
            </a:r>
            <a:r>
              <a:rPr lang="ko-KR" altLang="en-US"/>
              <a:t>환경에서의 핫 리로드 환경 </a:t>
            </a:r>
            <a:endParaRPr lang="en-US" altLang="ko-KR"/>
          </a:p>
          <a:p>
            <a:pPr marL="171450" indent="-171450">
              <a:buFontTx/>
              <a:buChar char="-"/>
            </a:pPr>
            <a:r>
              <a:rPr lang="ko-KR" altLang="en-US"/>
              <a:t>실험적 평가를 통한 서비스 가용성 유지 확인</a:t>
            </a:r>
            <a:endParaRPr lang="ko-KR" altLang="en-US" dirty="0"/>
          </a:p>
        </p:txBody>
      </p:sp>
      <p:sp>
        <p:nvSpPr>
          <p:cNvPr id="4" name="슬라이드 번호 개체 틀 3">
            <a:extLst>
              <a:ext uri="{FF2B5EF4-FFF2-40B4-BE49-F238E27FC236}">
                <a16:creationId xmlns:a16="http://schemas.microsoft.com/office/drawing/2014/main" id="{465C8F90-C7D4-AB2B-06A0-5C0E5CA11DC5}"/>
              </a:ext>
            </a:extLst>
          </p:cNvPr>
          <p:cNvSpPr>
            <a:spLocks noGrp="1"/>
          </p:cNvSpPr>
          <p:nvPr>
            <p:ph type="sldNum" sz="quarter" idx="10"/>
          </p:nvPr>
        </p:nvSpPr>
        <p:spPr/>
        <p:txBody>
          <a:bodyPr/>
          <a:lstStyle/>
          <a:p>
            <a:fld id="{893B0CF2-7F87-4E02-A248-870047730F99}" type="slidenum">
              <a:rPr lang="en-US" altLang="ko-KR" smtClean="0"/>
              <a:pPr/>
              <a:t>3</a:t>
            </a:fld>
            <a:endParaRPr lang="ko-KR" altLang="en-US" dirty="0"/>
          </a:p>
        </p:txBody>
      </p:sp>
    </p:spTree>
    <p:extLst>
      <p:ext uri="{BB962C8B-B14F-4D97-AF65-F5344CB8AC3E}">
        <p14:creationId xmlns:p14="http://schemas.microsoft.com/office/powerpoint/2010/main" val="1677801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E75D-BCBE-FBFD-585B-C189A9DCCD5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AE05274-C1AB-07EF-17F3-237930FC5F1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460D431-B3E0-C4C6-0ED3-B67AF3A32828}"/>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This is related work.</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The research on hot-reload technologies for zero-downtime service updates continues actively, but studies specifically targeting cryptographic algorithm migration to PQC are scarce. The table compares existing work supporting both hot-reload and PQC migration with our system. Existing hot-reload systems enable uninterrupted low-latency updates but usually only support global updates and limited PQC migration in experimental settings. Most prior studies focus on global migration without guaranteeing session-level policies or reliable rollbacks, making stable migration challenging. Our system overcomes these by enabling stable, gradual PQC transition with session-specific control. </a:t>
            </a:r>
            <a:endParaRPr lang="en-US" altLang="ko-KR"/>
          </a:p>
          <a:p>
            <a:endParaRPr lang="en-US" altLang="ko-KR"/>
          </a:p>
          <a:p>
            <a:r>
              <a:rPr lang="ko-KR" altLang="en-US"/>
              <a:t>핫 리로드를 활용한 서비스 무중단 업데이트에 대한 연구는 활발히 진행되고 있다</a:t>
            </a:r>
            <a:r>
              <a:rPr lang="en-US" altLang="ko-KR"/>
              <a:t>.</a:t>
            </a:r>
          </a:p>
          <a:p>
            <a:pPr marL="171450" indent="-171450">
              <a:buFontTx/>
              <a:buChar char="-"/>
            </a:pPr>
            <a:r>
              <a:rPr lang="ko-KR" altLang="en-US"/>
              <a:t>그러나 </a:t>
            </a:r>
            <a:r>
              <a:rPr lang="en-US" altLang="ko-KR"/>
              <a:t>TLS </a:t>
            </a:r>
            <a:r>
              <a:rPr lang="ko-KR" altLang="en-US"/>
              <a:t>수준에서 </a:t>
            </a:r>
            <a:r>
              <a:rPr lang="en-US" altLang="ko-KR"/>
              <a:t>PQC</a:t>
            </a:r>
            <a:r>
              <a:rPr lang="ko-KR" altLang="en-US"/>
              <a:t> 암호 알고리즘으로의 교체를 진행하는 연구는 매우 드물다</a:t>
            </a:r>
            <a:r>
              <a:rPr lang="en-US" altLang="ko-KR"/>
              <a:t>. </a:t>
            </a:r>
          </a:p>
          <a:p>
            <a:pPr marL="171450" indent="-171450">
              <a:buFontTx/>
              <a:buChar char="-"/>
            </a:pPr>
            <a:r>
              <a:rPr lang="ko-KR" altLang="en-US"/>
              <a:t>또한 대부분의 연구는 전역 정책 기반으로</a:t>
            </a:r>
            <a:r>
              <a:rPr lang="en-US" altLang="ko-KR"/>
              <a:t>, </a:t>
            </a:r>
            <a:r>
              <a:rPr lang="ko-KR" altLang="en-US"/>
              <a:t>세션 단위의 세밀한 정책의 롤백의 부재로 안정성을 확보하기 어렵다</a:t>
            </a:r>
            <a:endParaRPr lang="en-US" altLang="ko-KR"/>
          </a:p>
        </p:txBody>
      </p:sp>
      <p:sp>
        <p:nvSpPr>
          <p:cNvPr id="4" name="슬라이드 번호 개체 틀 3">
            <a:extLst>
              <a:ext uri="{FF2B5EF4-FFF2-40B4-BE49-F238E27FC236}">
                <a16:creationId xmlns:a16="http://schemas.microsoft.com/office/drawing/2014/main" id="{7CB4E08D-3F1F-E51D-B240-3FA456A047BE}"/>
              </a:ext>
            </a:extLst>
          </p:cNvPr>
          <p:cNvSpPr>
            <a:spLocks noGrp="1"/>
          </p:cNvSpPr>
          <p:nvPr>
            <p:ph type="sldNum" sz="quarter" idx="10"/>
          </p:nvPr>
        </p:nvSpPr>
        <p:spPr/>
        <p:txBody>
          <a:bodyPr/>
          <a:lstStyle/>
          <a:p>
            <a:fld id="{893B0CF2-7F87-4E02-A248-870047730F99}" type="slidenum">
              <a:rPr lang="en-US" altLang="ko-KR" smtClean="0"/>
              <a:pPr/>
              <a:t>4</a:t>
            </a:fld>
            <a:endParaRPr lang="ko-KR" altLang="en-US" dirty="0"/>
          </a:p>
        </p:txBody>
      </p:sp>
    </p:spTree>
    <p:extLst>
      <p:ext uri="{BB962C8B-B14F-4D97-AF65-F5344CB8AC3E}">
        <p14:creationId xmlns:p14="http://schemas.microsoft.com/office/powerpoint/2010/main" val="2877221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5B241-CB93-D260-3E10-0ED4294E9AE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F54FBAD-DE0D-B07D-3B77-2540397F8F8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72E482A-3E60-EE0F-1B77-E4F8AB3FF3CD}"/>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In TLS 1.2, a cipher suite includes the key exchange, authentication, encryption, and MAC, so everything is negotiated as a single bundle. This means multiple exchanges are needed just to establish exact cryptographic parameters.</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From TLS 1.3 onward, cipher suites specify only the record protection algorithm and HKDF, while key exchange and group selection are negotiated separately. Thanks to this design, we can introduce post-quantum KEMs or swap the certificate signature for a PQC algorithm—without changing the cipher suite itself. </a:t>
            </a:r>
            <a:endParaRPr lang="en-US" altLang="ko-KR"/>
          </a:p>
          <a:p>
            <a:endParaRPr lang="en-US" altLang="ko-KR"/>
          </a:p>
          <a:p>
            <a:r>
              <a:rPr lang="en-US" altLang="ko-KR"/>
              <a:t>TLS</a:t>
            </a:r>
            <a:r>
              <a:rPr lang="ko-KR" altLang="en-US"/>
              <a:t> </a:t>
            </a:r>
            <a:r>
              <a:rPr lang="en-US" altLang="ko-KR"/>
              <a:t>1.2</a:t>
            </a:r>
            <a:r>
              <a:rPr lang="ko-KR" altLang="en-US"/>
              <a:t>에서는 암호를 협상하는 </a:t>
            </a:r>
            <a:r>
              <a:rPr lang="en-US" altLang="ko-KR"/>
              <a:t>cipher suite</a:t>
            </a:r>
            <a:r>
              <a:rPr lang="ko-KR" altLang="en-US"/>
              <a:t>에 키 교환</a:t>
            </a:r>
            <a:r>
              <a:rPr lang="en-US" altLang="ko-KR"/>
              <a:t>, </a:t>
            </a:r>
            <a:r>
              <a:rPr lang="ko-KR" altLang="en-US"/>
              <a:t>인증을 함께 포함하여 협상했다</a:t>
            </a:r>
            <a:r>
              <a:rPr lang="en-US" altLang="ko-KR"/>
              <a:t>.</a:t>
            </a:r>
          </a:p>
          <a:p>
            <a:r>
              <a:rPr lang="en-US" altLang="ko-KR"/>
              <a:t>- </a:t>
            </a:r>
            <a:r>
              <a:rPr lang="en-US" altLang="ko-KR" sz="1200" b="0" i="0" kern="1200">
                <a:solidFill>
                  <a:schemeClr val="tx1"/>
                </a:solidFill>
                <a:effectLst/>
                <a:latin typeface="맑은 고딕" panose="020B0503020000020004" pitchFamily="50" charset="-127"/>
                <a:ea typeface="+mn-ea"/>
                <a:cs typeface="+mn-cs"/>
              </a:rPr>
              <a:t>TLS 1.2</a:t>
            </a:r>
            <a:r>
              <a:rPr lang="ko-KR" altLang="en-US" sz="1200" b="0" i="0" kern="1200">
                <a:solidFill>
                  <a:schemeClr val="tx1"/>
                </a:solidFill>
                <a:effectLst/>
                <a:latin typeface="맑은 고딕" panose="020B0503020000020004" pitchFamily="50" charset="-127"/>
                <a:ea typeface="+mn-ea"/>
                <a:cs typeface="+mn-cs"/>
              </a:rPr>
              <a:t>에서는 키 교환 알고리즘</a:t>
            </a:r>
            <a:r>
              <a:rPr lang="en-US" altLang="ko-KR" sz="1200" b="0" i="0" kern="1200">
                <a:solidFill>
                  <a:schemeClr val="tx1"/>
                </a:solidFill>
                <a:effectLst/>
                <a:latin typeface="맑은 고딕" panose="020B0503020000020004" pitchFamily="50" charset="-127"/>
                <a:ea typeface="+mn-ea"/>
                <a:cs typeface="+mn-cs"/>
              </a:rPr>
              <a:t>, </a:t>
            </a:r>
            <a:r>
              <a:rPr lang="ko-KR" altLang="en-US" sz="1200" b="0" i="0" kern="1200">
                <a:solidFill>
                  <a:schemeClr val="tx1"/>
                </a:solidFill>
                <a:effectLst/>
                <a:latin typeface="맑은 고딕" panose="020B0503020000020004" pitchFamily="50" charset="-127"/>
                <a:ea typeface="+mn-ea"/>
                <a:cs typeface="+mn-cs"/>
              </a:rPr>
              <a:t>인증 알고리즘</a:t>
            </a:r>
            <a:r>
              <a:rPr lang="en-US" altLang="ko-KR" sz="1200" b="0" i="0" kern="1200">
                <a:solidFill>
                  <a:schemeClr val="tx1"/>
                </a:solidFill>
                <a:effectLst/>
                <a:latin typeface="맑은 고딕" panose="020B0503020000020004" pitchFamily="50" charset="-127"/>
                <a:ea typeface="+mn-ea"/>
                <a:cs typeface="+mn-cs"/>
              </a:rPr>
              <a:t>, </a:t>
            </a:r>
            <a:r>
              <a:rPr lang="ko-KR" altLang="en-US" sz="1200" b="0" i="0" kern="1200">
                <a:solidFill>
                  <a:schemeClr val="tx1"/>
                </a:solidFill>
                <a:effectLst/>
                <a:latin typeface="맑은 고딕" panose="020B0503020000020004" pitchFamily="50" charset="-127"/>
                <a:ea typeface="+mn-ea"/>
                <a:cs typeface="+mn-cs"/>
              </a:rPr>
              <a:t>대칭 암호화 알고리즘</a:t>
            </a:r>
            <a:r>
              <a:rPr lang="en-US" altLang="ko-KR" sz="1200" b="0" i="0" kern="1200">
                <a:solidFill>
                  <a:schemeClr val="tx1"/>
                </a:solidFill>
                <a:effectLst/>
                <a:latin typeface="맑은 고딕" panose="020B0503020000020004" pitchFamily="50" charset="-127"/>
                <a:ea typeface="+mn-ea"/>
                <a:cs typeface="+mn-cs"/>
              </a:rPr>
              <a:t>, </a:t>
            </a:r>
            <a:r>
              <a:rPr lang="ko-KR" altLang="en-US" sz="1200" b="0" i="0" kern="1200">
                <a:solidFill>
                  <a:schemeClr val="tx1"/>
                </a:solidFill>
                <a:effectLst/>
                <a:latin typeface="맑은 고딕" panose="020B0503020000020004" pitchFamily="50" charset="-127"/>
                <a:ea typeface="+mn-ea"/>
                <a:cs typeface="+mn-cs"/>
              </a:rPr>
              <a:t>그리고 메시지 인증 코드</a:t>
            </a:r>
            <a:r>
              <a:rPr lang="en-US" altLang="ko-KR" sz="1200" b="0" i="0" kern="1200">
                <a:solidFill>
                  <a:schemeClr val="tx1"/>
                </a:solidFill>
                <a:effectLst/>
                <a:latin typeface="맑은 고딕" panose="020B0503020000020004" pitchFamily="50" charset="-127"/>
                <a:ea typeface="+mn-ea"/>
                <a:cs typeface="+mn-cs"/>
              </a:rPr>
              <a:t>(MAC) </a:t>
            </a:r>
            <a:r>
              <a:rPr lang="ko-KR" altLang="en-US" sz="1200" b="0" i="0" kern="1200">
                <a:solidFill>
                  <a:schemeClr val="tx1"/>
                </a:solidFill>
                <a:effectLst/>
                <a:latin typeface="맑은 고딕" panose="020B0503020000020004" pitchFamily="50" charset="-127"/>
                <a:ea typeface="+mn-ea"/>
                <a:cs typeface="+mn-cs"/>
              </a:rPr>
              <a:t>또는 해시 함수가 모두 하나의 </a:t>
            </a:r>
            <a:r>
              <a:rPr lang="en-US" altLang="ko-KR" sz="1200" b="0" i="0" kern="1200">
                <a:solidFill>
                  <a:schemeClr val="tx1"/>
                </a:solidFill>
                <a:effectLst/>
                <a:latin typeface="맑은 고딕" panose="020B0503020000020004" pitchFamily="50" charset="-127"/>
                <a:ea typeface="+mn-ea"/>
                <a:cs typeface="+mn-cs"/>
              </a:rPr>
              <a:t>cipher suite</a:t>
            </a:r>
            <a:r>
              <a:rPr lang="ko-KR" altLang="en-US" sz="1200" b="0" i="0" kern="1200">
                <a:solidFill>
                  <a:schemeClr val="tx1"/>
                </a:solidFill>
                <a:effectLst/>
                <a:latin typeface="맑은 고딕" panose="020B0503020000020004" pitchFamily="50" charset="-127"/>
                <a:ea typeface="+mn-ea"/>
                <a:cs typeface="+mn-cs"/>
              </a:rPr>
              <a:t>로 함께 정의되어 있습니다</a:t>
            </a:r>
            <a:r>
              <a:rPr lang="en-US" altLang="ko-KR" sz="1200" b="0" i="0" kern="1200">
                <a:solidFill>
                  <a:schemeClr val="tx1"/>
                </a:solidFill>
                <a:effectLst/>
                <a:latin typeface="맑은 고딕" panose="020B0503020000020004" pitchFamily="50" charset="-127"/>
                <a:ea typeface="+mn-ea"/>
                <a:cs typeface="+mn-cs"/>
              </a:rPr>
              <a:t>.</a:t>
            </a:r>
            <a:r>
              <a:rPr lang="ko-KR" altLang="en-US"/>
              <a:t> </a:t>
            </a:r>
            <a:endParaRPr lang="en-US" altLang="ko-KR"/>
          </a:p>
          <a:p>
            <a:r>
              <a:rPr lang="en-US" altLang="ko-KR"/>
              <a:t>- </a:t>
            </a:r>
            <a:r>
              <a:rPr lang="en-US" altLang="ko-KR" sz="1200" b="0" i="0" kern="1200">
                <a:solidFill>
                  <a:schemeClr val="tx1"/>
                </a:solidFill>
                <a:effectLst/>
                <a:latin typeface="맑은 고딕" panose="020B0503020000020004" pitchFamily="50" charset="-127"/>
                <a:ea typeface="+mn-ea"/>
                <a:cs typeface="+mn-cs"/>
              </a:rPr>
              <a:t>TLS 1.2</a:t>
            </a:r>
            <a:r>
              <a:rPr lang="ko-KR" altLang="en-US" sz="1200" b="0" i="0" kern="1200">
                <a:solidFill>
                  <a:schemeClr val="tx1"/>
                </a:solidFill>
                <a:effectLst/>
                <a:latin typeface="맑은 고딕" panose="020B0503020000020004" pitchFamily="50" charset="-127"/>
                <a:ea typeface="+mn-ea"/>
                <a:cs typeface="+mn-cs"/>
              </a:rPr>
              <a:t>에서는 암호화 협상을 위해 여러 번의 왕복이 필요했습니다</a:t>
            </a:r>
            <a:r>
              <a:rPr lang="en-US" altLang="ko-KR" sz="1200" b="0" i="0" kern="1200">
                <a:solidFill>
                  <a:schemeClr val="tx1"/>
                </a:solidFill>
                <a:effectLst/>
                <a:latin typeface="맑은 고딕" panose="020B0503020000020004" pitchFamily="50" charset="-127"/>
                <a:ea typeface="+mn-ea"/>
                <a:cs typeface="+mn-cs"/>
              </a:rPr>
              <a:t>.</a:t>
            </a:r>
            <a:endParaRPr lang="en-US" altLang="ko-KR"/>
          </a:p>
          <a:p>
            <a:r>
              <a:rPr lang="ko-KR" altLang="en-US"/>
              <a:t>그러나 </a:t>
            </a:r>
            <a:r>
              <a:rPr lang="en-US" altLang="ko-KR"/>
              <a:t>TLS 1.3</a:t>
            </a:r>
            <a:r>
              <a:rPr lang="ko-KR" altLang="en-US"/>
              <a:t>부터 </a:t>
            </a:r>
            <a:r>
              <a:rPr lang="en-US" altLang="ko-KR"/>
              <a:t>Cipher suite</a:t>
            </a:r>
            <a:r>
              <a:rPr lang="ko-KR" altLang="en-US"/>
              <a:t>는 레코드 보호 알고리즘과 </a:t>
            </a:r>
            <a:r>
              <a:rPr lang="en-US" altLang="ko-KR"/>
              <a:t>HKDF </a:t>
            </a:r>
            <a:r>
              <a:rPr lang="ko-KR" altLang="en-US"/>
              <a:t>만을 지정하며</a:t>
            </a:r>
            <a:r>
              <a:rPr lang="en-US" altLang="ko-KR"/>
              <a:t>, </a:t>
            </a:r>
            <a:r>
              <a:rPr lang="ko-KR" altLang="en-US"/>
              <a:t>키 교환과 협상된 그룹은 별도의 필드에서 지정한다</a:t>
            </a:r>
            <a:r>
              <a:rPr lang="en-US" altLang="ko-KR"/>
              <a:t>. </a:t>
            </a:r>
          </a:p>
          <a:p>
            <a:r>
              <a:rPr lang="en-US" altLang="ko-KR"/>
              <a:t>- </a:t>
            </a:r>
            <a:r>
              <a:rPr lang="ko-KR" altLang="en-US"/>
              <a:t>따라서 </a:t>
            </a:r>
            <a:r>
              <a:rPr lang="en-US" altLang="ko-KR"/>
              <a:t>TLS 1.3</a:t>
            </a:r>
            <a:r>
              <a:rPr lang="ko-KR" altLang="en-US"/>
              <a:t>의 이 부분을 활용하면 직접적으로 사이퍼 스위트를 변경하지 않고도 </a:t>
            </a:r>
            <a:r>
              <a:rPr lang="en-US" altLang="ko-KR"/>
              <a:t>PQC KEM</a:t>
            </a:r>
            <a:r>
              <a:rPr lang="ko-KR" altLang="en-US"/>
              <a:t>을 배포하거나 인증서의 서명 알고리즘만을 </a:t>
            </a:r>
            <a:r>
              <a:rPr lang="en-US" altLang="ko-KR"/>
              <a:t>PQC </a:t>
            </a:r>
            <a:r>
              <a:rPr lang="ko-KR" altLang="en-US"/>
              <a:t>기반 인증으로 변경할 수 있다</a:t>
            </a:r>
            <a:r>
              <a:rPr lang="en-US" altLang="ko-KR"/>
              <a:t>. </a:t>
            </a:r>
            <a:endParaRPr lang="ko-KR" altLang="en-US" dirty="0"/>
          </a:p>
        </p:txBody>
      </p:sp>
      <p:sp>
        <p:nvSpPr>
          <p:cNvPr id="4" name="슬라이드 번호 개체 틀 3">
            <a:extLst>
              <a:ext uri="{FF2B5EF4-FFF2-40B4-BE49-F238E27FC236}">
                <a16:creationId xmlns:a16="http://schemas.microsoft.com/office/drawing/2014/main" id="{E18ECB2B-8B0B-495A-BD9E-F2E73A9CC30F}"/>
              </a:ext>
            </a:extLst>
          </p:cNvPr>
          <p:cNvSpPr>
            <a:spLocks noGrp="1"/>
          </p:cNvSpPr>
          <p:nvPr>
            <p:ph type="sldNum" sz="quarter" idx="10"/>
          </p:nvPr>
        </p:nvSpPr>
        <p:spPr/>
        <p:txBody>
          <a:bodyPr/>
          <a:lstStyle/>
          <a:p>
            <a:fld id="{893B0CF2-7F87-4E02-A248-870047730F99}" type="slidenum">
              <a:rPr lang="en-US" altLang="ko-KR" smtClean="0"/>
              <a:pPr/>
              <a:t>5</a:t>
            </a:fld>
            <a:endParaRPr lang="ko-KR" altLang="en-US" dirty="0"/>
          </a:p>
        </p:txBody>
      </p:sp>
    </p:spTree>
    <p:extLst>
      <p:ext uri="{BB962C8B-B14F-4D97-AF65-F5344CB8AC3E}">
        <p14:creationId xmlns:p14="http://schemas.microsoft.com/office/powerpoint/2010/main" val="1842841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55045-5C3F-A470-8F53-36B04A16F87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838C787-0B97-1119-3F47-DB0BBEBBD82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F845665-3B7A-2A0F-C064-01D31BE9F7ED}"/>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Next is post-quantum cryptography.</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The rapid development of quantum computing has made the transition to PQC standards increasingly urgent. In 2016, NIST highlighted that the advancement of quantum computing would significantly increase the vulnerability of RSA and ECC algorithms—which are the main public-key algorithms used in TLS key exchange negotiations. This represents a grave security concern.</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In response, NIST officially announced its first PQC standards in August 2024, with additional algorithms under ongoing consideration to further diversify the PQC landscape. In South Korea, the KpqC initiative was launched in 2022 to establish domestic PQC standards. </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Our system has been engineered to support both the latest NIST PQC standards and the KpqC standards.</a:t>
            </a:r>
            <a:endParaRPr lang="en-US" altLang="ko-KR"/>
          </a:p>
          <a:p>
            <a:endParaRPr lang="en-US" altLang="ko-KR"/>
          </a:p>
          <a:p>
            <a:r>
              <a:rPr lang="ko-KR" altLang="en-US"/>
              <a:t>최근 양자 컴퓨팅의 급속한 발전으로 </a:t>
            </a:r>
            <a:r>
              <a:rPr lang="en-US" altLang="ko-KR"/>
              <a:t>PQC </a:t>
            </a:r>
            <a:r>
              <a:rPr lang="ko-KR" altLang="en-US"/>
              <a:t>표준으로의 전환이 시급하게 요구되고 있다</a:t>
            </a:r>
            <a:r>
              <a:rPr lang="en-US" altLang="ko-KR"/>
              <a:t>.</a:t>
            </a:r>
          </a:p>
          <a:p>
            <a:pPr marL="171450" indent="-171450">
              <a:buFontTx/>
              <a:buChar char="-"/>
            </a:pPr>
            <a:r>
              <a:rPr lang="en-US" altLang="ko-KR" sz="1200" b="0" i="0" kern="1200">
                <a:solidFill>
                  <a:schemeClr val="tx1"/>
                </a:solidFill>
                <a:effectLst/>
                <a:latin typeface="맑은 고딕" panose="020B0503020000020004" pitchFamily="50" charset="-127"/>
                <a:ea typeface="+mn-ea"/>
                <a:cs typeface="+mn-cs"/>
              </a:rPr>
              <a:t>2016</a:t>
            </a:r>
            <a:r>
              <a:rPr lang="ko-KR" altLang="en-US" sz="1200" b="0" i="0" kern="1200">
                <a:solidFill>
                  <a:schemeClr val="tx1"/>
                </a:solidFill>
                <a:effectLst/>
                <a:latin typeface="맑은 고딕" panose="020B0503020000020004" pitchFamily="50" charset="-127"/>
                <a:ea typeface="+mn-ea"/>
                <a:cs typeface="+mn-cs"/>
              </a:rPr>
              <a:t>년에 </a:t>
            </a:r>
            <a:r>
              <a:rPr lang="en-US" altLang="ko-KR" sz="1200" b="0" i="0" kern="1200">
                <a:solidFill>
                  <a:schemeClr val="tx1"/>
                </a:solidFill>
                <a:effectLst/>
                <a:latin typeface="맑은 고딕" panose="020B0503020000020004" pitchFamily="50" charset="-127"/>
                <a:ea typeface="+mn-ea"/>
                <a:cs typeface="+mn-cs"/>
              </a:rPr>
              <a:t>NIST</a:t>
            </a:r>
            <a:r>
              <a:rPr lang="ko-KR" altLang="en-US" sz="1200" b="0" i="0" kern="1200">
                <a:solidFill>
                  <a:schemeClr val="tx1"/>
                </a:solidFill>
                <a:effectLst/>
                <a:latin typeface="맑은 고딕" panose="020B0503020000020004" pitchFamily="50" charset="-127"/>
                <a:ea typeface="+mn-ea"/>
                <a:cs typeface="+mn-cs"/>
              </a:rPr>
              <a:t>는 양자 컴퓨팅의 발전으로 인해 </a:t>
            </a:r>
            <a:r>
              <a:rPr lang="en-US" altLang="ko-KR" sz="1200" b="0" i="0" kern="1200">
                <a:solidFill>
                  <a:schemeClr val="tx1"/>
                </a:solidFill>
                <a:effectLst/>
                <a:latin typeface="맑은 고딕" panose="020B0503020000020004" pitchFamily="50" charset="-127"/>
                <a:ea typeface="+mn-ea"/>
                <a:cs typeface="+mn-cs"/>
              </a:rPr>
              <a:t>RSA </a:t>
            </a:r>
            <a:r>
              <a:rPr lang="ko-KR" altLang="en-US" sz="1200" b="0" i="0" kern="1200">
                <a:solidFill>
                  <a:schemeClr val="tx1"/>
                </a:solidFill>
                <a:effectLst/>
                <a:latin typeface="맑은 고딕" panose="020B0503020000020004" pitchFamily="50" charset="-127"/>
                <a:ea typeface="+mn-ea"/>
                <a:cs typeface="+mn-cs"/>
              </a:rPr>
              <a:t>알고리즘이 취약해질 가능성이 점점 높아지고 있음을 강조</a:t>
            </a:r>
            <a:r>
              <a:rPr lang="en-US" altLang="ko-KR"/>
              <a:t> ‘</a:t>
            </a:r>
          </a:p>
          <a:p>
            <a:pPr marL="171450" indent="-171450">
              <a:buFontTx/>
              <a:buChar char="-"/>
            </a:pPr>
            <a:r>
              <a:rPr lang="en-US" altLang="ko-KR" sz="1200" b="0" i="0" kern="1200">
                <a:solidFill>
                  <a:schemeClr val="tx1"/>
                </a:solidFill>
                <a:effectLst/>
                <a:latin typeface="맑은 고딕" panose="020B0503020000020004" pitchFamily="50" charset="-127"/>
                <a:ea typeface="+mn-ea"/>
                <a:cs typeface="+mn-cs"/>
              </a:rPr>
              <a:t>RSA</a:t>
            </a:r>
            <a:r>
              <a:rPr lang="ko-KR" altLang="en-US" sz="1200" b="0" i="0" kern="1200">
                <a:solidFill>
                  <a:schemeClr val="tx1"/>
                </a:solidFill>
                <a:effectLst/>
                <a:latin typeface="맑은 고딕" panose="020B0503020000020004" pitchFamily="50" charset="-127"/>
                <a:ea typeface="+mn-ea"/>
                <a:cs typeface="+mn-cs"/>
              </a:rPr>
              <a:t>와 </a:t>
            </a:r>
            <a:r>
              <a:rPr lang="en-US" altLang="ko-KR" sz="1200" b="0" i="0" kern="1200">
                <a:solidFill>
                  <a:schemeClr val="tx1"/>
                </a:solidFill>
                <a:effectLst/>
                <a:latin typeface="맑은 고딕" panose="020B0503020000020004" pitchFamily="50" charset="-127"/>
                <a:ea typeface="+mn-ea"/>
                <a:cs typeface="+mn-cs"/>
              </a:rPr>
              <a:t>ECC</a:t>
            </a:r>
            <a:r>
              <a:rPr lang="ko-KR" altLang="en-US" sz="1200" b="0" i="0" kern="1200">
                <a:solidFill>
                  <a:schemeClr val="tx1"/>
                </a:solidFill>
                <a:effectLst/>
                <a:latin typeface="맑은 고딕" panose="020B0503020000020004" pitchFamily="50" charset="-127"/>
                <a:ea typeface="+mn-ea"/>
                <a:cs typeface="+mn-cs"/>
              </a:rPr>
              <a:t>는 </a:t>
            </a:r>
            <a:r>
              <a:rPr lang="en-US" altLang="ko-KR" sz="1200" b="0" i="0" kern="1200">
                <a:solidFill>
                  <a:schemeClr val="tx1"/>
                </a:solidFill>
                <a:effectLst/>
                <a:latin typeface="맑은 고딕" panose="020B0503020000020004" pitchFamily="50" charset="-127"/>
                <a:ea typeface="+mn-ea"/>
                <a:cs typeface="+mn-cs"/>
              </a:rPr>
              <a:t>TLS </a:t>
            </a:r>
            <a:r>
              <a:rPr lang="ko-KR" altLang="en-US" sz="1200" b="0" i="0" kern="1200">
                <a:solidFill>
                  <a:schemeClr val="tx1"/>
                </a:solidFill>
                <a:effectLst/>
                <a:latin typeface="맑은 고딕" panose="020B0503020000020004" pitchFamily="50" charset="-127"/>
                <a:ea typeface="+mn-ea"/>
                <a:cs typeface="+mn-cs"/>
              </a:rPr>
              <a:t>암호화 협상에서 주요 공개키 알고리즘으로 널리 사용됨</a:t>
            </a:r>
            <a:endParaRPr lang="en-US" altLang="ko-KR"/>
          </a:p>
          <a:p>
            <a:pPr marL="171450" indent="-171450">
              <a:buFontTx/>
              <a:buChar char="-"/>
            </a:pPr>
            <a:r>
              <a:rPr lang="en-US" altLang="ko-KR"/>
              <a:t>2024</a:t>
            </a:r>
            <a:r>
              <a:rPr lang="ko-KR" altLang="en-US"/>
              <a:t>년</a:t>
            </a:r>
            <a:r>
              <a:rPr lang="en-US" altLang="ko-KR"/>
              <a:t>, NIST</a:t>
            </a:r>
            <a:r>
              <a:rPr lang="ko-KR" altLang="en-US"/>
              <a:t>는 첫번째 </a:t>
            </a:r>
            <a:r>
              <a:rPr lang="en-US" altLang="ko-KR"/>
              <a:t>PQC </a:t>
            </a:r>
            <a:r>
              <a:rPr lang="ko-KR" altLang="en-US"/>
              <a:t>표준을 확정하였으며</a:t>
            </a:r>
            <a:r>
              <a:rPr lang="en-US" altLang="ko-KR"/>
              <a:t>, </a:t>
            </a:r>
            <a:r>
              <a:rPr lang="ko-KR" altLang="en-US"/>
              <a:t>추가적으로 </a:t>
            </a:r>
            <a:r>
              <a:rPr lang="en-US" altLang="ko-KR"/>
              <a:t>PQC</a:t>
            </a:r>
            <a:r>
              <a:rPr lang="ko-KR" altLang="en-US"/>
              <a:t>를 다변화하고 있다</a:t>
            </a:r>
            <a:r>
              <a:rPr lang="en-US" altLang="ko-KR"/>
              <a:t>. </a:t>
            </a:r>
          </a:p>
          <a:p>
            <a:pPr marL="171450" indent="-171450">
              <a:buFontTx/>
              <a:buChar char="-"/>
            </a:pPr>
            <a:r>
              <a:rPr lang="en-US" altLang="ko-KR"/>
              <a:t>2022</a:t>
            </a:r>
            <a:r>
              <a:rPr lang="ko-KR" altLang="en-US"/>
              <a:t>년 대한민국은 국내 암호 표준을 확립하기 위해 </a:t>
            </a:r>
            <a:r>
              <a:rPr lang="en-US" altLang="ko-KR"/>
              <a:t>KpqC</a:t>
            </a:r>
            <a:r>
              <a:rPr lang="ko-KR" altLang="en-US"/>
              <a:t>를 개최하여 두 가지 </a:t>
            </a:r>
            <a:r>
              <a:rPr lang="en-US" altLang="ko-KR"/>
              <a:t>KEM(NTRU+, SMAUG-t)</a:t>
            </a:r>
            <a:r>
              <a:rPr lang="ko-KR" altLang="en-US"/>
              <a:t>과 두 가지 디지털 서명 알고리즘</a:t>
            </a:r>
            <a:r>
              <a:rPr lang="en-US" altLang="ko-KR"/>
              <a:t>(AIMer, HAETAE)</a:t>
            </a:r>
            <a:r>
              <a:rPr lang="ko-KR" altLang="en-US"/>
              <a:t>를 표준으로 제정</a:t>
            </a:r>
            <a:endParaRPr lang="en-US" altLang="ko-KR"/>
          </a:p>
          <a:p>
            <a:pPr marL="171450" indent="-171450">
              <a:buFontTx/>
              <a:buChar char="-"/>
            </a:pPr>
            <a:r>
              <a:rPr lang="ko-KR" altLang="en-US" sz="1200" b="0" i="0" kern="1200">
                <a:solidFill>
                  <a:schemeClr val="tx1"/>
                </a:solidFill>
                <a:effectLst/>
                <a:latin typeface="맑은 고딕" panose="020B0503020000020004" pitchFamily="50" charset="-127"/>
                <a:ea typeface="+mn-ea"/>
                <a:cs typeface="+mn-cs"/>
              </a:rPr>
              <a:t>따라서</a:t>
            </a:r>
            <a:r>
              <a:rPr lang="en-US" altLang="ko-KR" sz="1200" b="0" i="0" kern="1200">
                <a:solidFill>
                  <a:schemeClr val="tx1"/>
                </a:solidFill>
                <a:effectLst/>
                <a:latin typeface="맑은 고딕" panose="020B0503020000020004" pitchFamily="50" charset="-127"/>
                <a:ea typeface="+mn-ea"/>
                <a:cs typeface="+mn-cs"/>
              </a:rPr>
              <a:t>, </a:t>
            </a:r>
            <a:r>
              <a:rPr lang="ko-KR" altLang="en-US" sz="1200" b="0" i="0" kern="1200">
                <a:solidFill>
                  <a:schemeClr val="tx1"/>
                </a:solidFill>
                <a:effectLst/>
                <a:latin typeface="맑은 고딕" panose="020B0503020000020004" pitchFamily="50" charset="-127"/>
                <a:ea typeface="+mn-ea"/>
                <a:cs typeface="+mn-cs"/>
              </a:rPr>
              <a:t>포스트 양자 암호</a:t>
            </a:r>
            <a:r>
              <a:rPr lang="en-US" altLang="ko-KR" sz="1200" b="0" i="0" kern="1200">
                <a:solidFill>
                  <a:schemeClr val="tx1"/>
                </a:solidFill>
                <a:effectLst/>
                <a:latin typeface="맑은 고딕" panose="020B0503020000020004" pitchFamily="50" charset="-127"/>
                <a:ea typeface="+mn-ea"/>
                <a:cs typeface="+mn-cs"/>
              </a:rPr>
              <a:t>(PQC)</a:t>
            </a:r>
            <a:r>
              <a:rPr lang="ko-KR" altLang="en-US" sz="1200" b="0" i="0" kern="1200">
                <a:solidFill>
                  <a:schemeClr val="tx1"/>
                </a:solidFill>
                <a:effectLst/>
                <a:latin typeface="맑은 고딕" panose="020B0503020000020004" pitchFamily="50" charset="-127"/>
                <a:ea typeface="+mn-ea"/>
                <a:cs typeface="+mn-cs"/>
              </a:rPr>
              <a:t>로의 점진적인 전환 방법론이 필요</a:t>
            </a:r>
            <a:endParaRPr lang="ko-KR" altLang="en-US" dirty="0"/>
          </a:p>
        </p:txBody>
      </p:sp>
      <p:sp>
        <p:nvSpPr>
          <p:cNvPr id="4" name="슬라이드 번호 개체 틀 3">
            <a:extLst>
              <a:ext uri="{FF2B5EF4-FFF2-40B4-BE49-F238E27FC236}">
                <a16:creationId xmlns:a16="http://schemas.microsoft.com/office/drawing/2014/main" id="{FDE8F6B9-D851-1D13-DAE3-F0B4B08AE5EB}"/>
              </a:ext>
            </a:extLst>
          </p:cNvPr>
          <p:cNvSpPr>
            <a:spLocks noGrp="1"/>
          </p:cNvSpPr>
          <p:nvPr>
            <p:ph type="sldNum" sz="quarter" idx="10"/>
          </p:nvPr>
        </p:nvSpPr>
        <p:spPr/>
        <p:txBody>
          <a:bodyPr/>
          <a:lstStyle/>
          <a:p>
            <a:fld id="{893B0CF2-7F87-4E02-A248-870047730F99}" type="slidenum">
              <a:rPr lang="en-US" altLang="ko-KR" smtClean="0"/>
              <a:pPr/>
              <a:t>6</a:t>
            </a:fld>
            <a:endParaRPr lang="ko-KR" altLang="en-US" dirty="0"/>
          </a:p>
        </p:txBody>
      </p:sp>
    </p:spTree>
    <p:extLst>
      <p:ext uri="{BB962C8B-B14F-4D97-AF65-F5344CB8AC3E}">
        <p14:creationId xmlns:p14="http://schemas.microsoft.com/office/powerpoint/2010/main" val="3751111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C595F-8A54-C282-1AEE-EAAEE59107A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0CF49D3-0043-9614-A7D5-DC8F60C0312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0C9522D-DB7C-7CDD-4040-CDDDA336185F}"/>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In this study, we utilize the CLOQS library for PQC implementation.</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CLOQS is a post-quantum cryptographic library provided through the Korean PQC migration platform, built on top of liboqs, which is widely recognized for its comprehensive support of NIST PQC algorithms. CLOQS is optimized for a variety of platforms and, most importantly, supports both NIST standards and KpqC domestic standards.​</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Additionally, we leverage the migration platform’s oqs-provider library for enabling the integration of PQC algorithms within the TLS protocol. </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ko-KR" altLang="en-US"/>
              <a:t>본 시스템은 </a:t>
            </a:r>
            <a:r>
              <a:rPr lang="en-US" altLang="ko-KR"/>
              <a:t>NIST PQC</a:t>
            </a:r>
            <a:r>
              <a:rPr lang="ko-KR" altLang="en-US"/>
              <a:t>와 </a:t>
            </a:r>
            <a:r>
              <a:rPr lang="en-US" altLang="ko-KR"/>
              <a:t>KpqC</a:t>
            </a:r>
            <a:r>
              <a:rPr lang="ko-KR" altLang="en-US"/>
              <a:t>를 모두 적용하기 위해 </a:t>
            </a:r>
            <a:r>
              <a:rPr lang="en-US" altLang="ko-KR"/>
              <a:t>CLOQS</a:t>
            </a:r>
            <a:r>
              <a:rPr lang="ko-KR" altLang="en-US"/>
              <a:t> 라이브러리를 활용한다</a:t>
            </a:r>
            <a:endParaRPr lang="en-US" altLang="ko-KR"/>
          </a:p>
          <a:p>
            <a:pPr marL="171450" indent="-171450">
              <a:buFontTx/>
              <a:buChar char="-"/>
            </a:pPr>
            <a:r>
              <a:rPr lang="en-US" altLang="ko-KR"/>
              <a:t>CLOQS</a:t>
            </a:r>
            <a:br>
              <a:rPr lang="en-US" altLang="ko-KR"/>
            </a:br>
            <a:r>
              <a:rPr lang="en-US" altLang="ko-KR"/>
              <a:t>LG U+</a:t>
            </a:r>
            <a:r>
              <a:rPr lang="ko-KR" altLang="en-US"/>
              <a:t>에서 제공하는 </a:t>
            </a:r>
            <a:r>
              <a:rPr lang="en-US" altLang="ko-KR"/>
              <a:t>PQC Migration Platform</a:t>
            </a:r>
            <a:r>
              <a:rPr lang="ko-KR" altLang="en-US"/>
              <a:t>의 </a:t>
            </a:r>
            <a:r>
              <a:rPr lang="en-US" altLang="ko-KR"/>
              <a:t>PQC </a:t>
            </a:r>
            <a:r>
              <a:rPr lang="ko-KR" altLang="en-US"/>
              <a:t>통합 라이브러리로</a:t>
            </a:r>
            <a:r>
              <a:rPr lang="en-US" altLang="ko-KR"/>
              <a:t>, </a:t>
            </a:r>
            <a:r>
              <a:rPr lang="ko-KR" altLang="en-US"/>
              <a:t>기존 </a:t>
            </a:r>
            <a:r>
              <a:rPr lang="en-US" altLang="ko-KR"/>
              <a:t>liboqs </a:t>
            </a:r>
            <a:r>
              <a:rPr lang="ko-KR" altLang="en-US"/>
              <a:t>위에 구축되어 다양한 운영체제 및 저전력 환경에 최적화된 구현을 제공한다</a:t>
            </a:r>
            <a:r>
              <a:rPr lang="en-US" altLang="ko-KR"/>
              <a:t>.</a:t>
            </a:r>
          </a:p>
          <a:p>
            <a:pPr marL="171450" indent="-171450">
              <a:buFontTx/>
              <a:buChar char="-"/>
            </a:pPr>
            <a:r>
              <a:rPr lang="en-US" altLang="ko-KR"/>
              <a:t>NIST PQC(ML-KEM, ML-DSA) </a:t>
            </a:r>
            <a:r>
              <a:rPr lang="ko-KR" altLang="en-US"/>
              <a:t>뿐만 아니라 </a:t>
            </a:r>
            <a:r>
              <a:rPr lang="en-US" altLang="ko-KR"/>
              <a:t>KpqC </a:t>
            </a:r>
            <a:r>
              <a:rPr lang="ko-KR" altLang="en-US"/>
              <a:t>표준 알고리즘</a:t>
            </a:r>
            <a:r>
              <a:rPr lang="en-US" altLang="ko-KR"/>
              <a:t>()</a:t>
            </a:r>
            <a:r>
              <a:rPr lang="ko-KR" altLang="en-US"/>
              <a:t>을 추가로 지원한다</a:t>
            </a:r>
            <a:r>
              <a:rPr lang="en-US" altLang="ko-KR"/>
              <a:t>.</a:t>
            </a:r>
          </a:p>
          <a:p>
            <a:pPr marL="171450" indent="-171450">
              <a:buFontTx/>
              <a:buChar char="-"/>
            </a:pPr>
            <a:r>
              <a:rPr lang="en-US" altLang="ko-KR"/>
              <a:t>oqs-provider</a:t>
            </a:r>
          </a:p>
          <a:p>
            <a:pPr marL="171450" indent="-171450">
              <a:buFontTx/>
              <a:buChar char="-"/>
            </a:pPr>
            <a:r>
              <a:rPr lang="en-US" altLang="ko-KR"/>
              <a:t>OpenS</a:t>
            </a:r>
            <a:r>
              <a:rPr lang="ko-KR" altLang="en-US"/>
              <a:t>니</a:t>
            </a:r>
            <a:r>
              <a:rPr lang="en-US" altLang="ko-KR"/>
              <a:t> 3.x </a:t>
            </a:r>
            <a:r>
              <a:rPr lang="ko-KR" altLang="en-US"/>
              <a:t>이상에서 </a:t>
            </a:r>
            <a:r>
              <a:rPr lang="en-US" altLang="ko-KR"/>
              <a:t>PQC</a:t>
            </a:r>
            <a:r>
              <a:rPr lang="ko-KR" altLang="en-US"/>
              <a:t>를 활성화하기 위해 설계된 라이브러리로</a:t>
            </a:r>
            <a:r>
              <a:rPr lang="en-US" altLang="ko-KR"/>
              <a:t>, TLS </a:t>
            </a:r>
            <a:r>
              <a:rPr lang="ko-KR" altLang="en-US"/>
              <a:t>통신 시 </a:t>
            </a:r>
            <a:r>
              <a:rPr lang="en-US" altLang="ko-KR"/>
              <a:t>PQC KEM </a:t>
            </a:r>
            <a:r>
              <a:rPr lang="ko-KR" altLang="en-US"/>
              <a:t>및 서명 알고리즘을 사용하기로 한다</a:t>
            </a:r>
            <a:r>
              <a:rPr lang="en-US" altLang="ko-KR"/>
              <a:t>.</a:t>
            </a:r>
          </a:p>
          <a:p>
            <a:pPr marL="171450" indent="-171450">
              <a:buFontTx/>
              <a:buChar char="-"/>
            </a:pPr>
            <a:r>
              <a:rPr lang="ko-KR" altLang="en-US"/>
              <a:t>마찬가지로 공식적인 </a:t>
            </a:r>
            <a:r>
              <a:rPr lang="en-US" altLang="ko-KR"/>
              <a:t>oqs-provider</a:t>
            </a:r>
            <a:r>
              <a:rPr lang="ko-KR" altLang="en-US"/>
              <a:t>는 </a:t>
            </a:r>
            <a:r>
              <a:rPr lang="en-US" altLang="ko-KR"/>
              <a:t>KpqC</a:t>
            </a:r>
            <a:r>
              <a:rPr lang="ko-KR" altLang="en-US"/>
              <a:t>를 제공하지 않으므로</a:t>
            </a:r>
            <a:r>
              <a:rPr lang="en-US" altLang="ko-KR"/>
              <a:t>, Migration Platform</a:t>
            </a:r>
            <a:r>
              <a:rPr lang="ko-KR" altLang="en-US"/>
              <a:t>에서 제공하는 </a:t>
            </a:r>
            <a:r>
              <a:rPr lang="en-US" altLang="ko-KR"/>
              <a:t>KpqC </a:t>
            </a:r>
            <a:r>
              <a:rPr lang="ko-KR" altLang="en-US"/>
              <a:t>호환 </a:t>
            </a:r>
            <a:r>
              <a:rPr lang="en-US" altLang="ko-KR"/>
              <a:t>oqs-provider</a:t>
            </a:r>
            <a:r>
              <a:rPr lang="ko-KR" altLang="en-US"/>
              <a:t>를 사용한다</a:t>
            </a:r>
            <a:r>
              <a:rPr lang="en-US" altLang="ko-KR"/>
              <a:t>.</a:t>
            </a:r>
          </a:p>
        </p:txBody>
      </p:sp>
      <p:sp>
        <p:nvSpPr>
          <p:cNvPr id="4" name="슬라이드 번호 개체 틀 3">
            <a:extLst>
              <a:ext uri="{FF2B5EF4-FFF2-40B4-BE49-F238E27FC236}">
                <a16:creationId xmlns:a16="http://schemas.microsoft.com/office/drawing/2014/main" id="{F7C085D7-CCAA-8967-DD64-41EA3F80F961}"/>
              </a:ext>
            </a:extLst>
          </p:cNvPr>
          <p:cNvSpPr>
            <a:spLocks noGrp="1"/>
          </p:cNvSpPr>
          <p:nvPr>
            <p:ph type="sldNum" sz="quarter" idx="10"/>
          </p:nvPr>
        </p:nvSpPr>
        <p:spPr/>
        <p:txBody>
          <a:bodyPr/>
          <a:lstStyle/>
          <a:p>
            <a:fld id="{893B0CF2-7F87-4E02-A248-870047730F99}" type="slidenum">
              <a:rPr lang="en-US" altLang="ko-KR" smtClean="0"/>
              <a:pPr/>
              <a:t>7</a:t>
            </a:fld>
            <a:endParaRPr lang="ko-KR" altLang="en-US" dirty="0"/>
          </a:p>
        </p:txBody>
      </p:sp>
    </p:spTree>
    <p:extLst>
      <p:ext uri="{BB962C8B-B14F-4D97-AF65-F5344CB8AC3E}">
        <p14:creationId xmlns:p14="http://schemas.microsoft.com/office/powerpoint/2010/main" val="2243075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04BA7-A82E-CBEC-64FD-CB3A5BAE4EF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2B60E3F-9669-D392-8FCB-2C6FB539F53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F595475-2AFE-A4C7-5B18-67E4053B9189}"/>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Crypto agility refers to the ability to flexibly apply a variety of cryptographic algorithms in response to emerging security threats.​</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In our research, we support crypto agility by enabling runtime transitions of cryptographic algorithms and parameters according to defined policies, without any service interruption.</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Furthermore, as previously described, we leverage the modular characteristics of TLS cipher suites to facilitate such flexible and zero-downtime transitions. </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en-US" altLang="ko-KR"/>
              <a:t>Crypto Agility</a:t>
            </a:r>
            <a:r>
              <a:rPr lang="ko-KR" altLang="en-US"/>
              <a:t>는 보안 위협에 따라 다양한 암호 기술을 유연하게 적용할 수 있는 능력을 의미</a:t>
            </a:r>
            <a:endParaRPr lang="en-US" altLang="ko-KR"/>
          </a:p>
          <a:p>
            <a:pPr marL="171450" indent="-171450">
              <a:buFontTx/>
              <a:buChar char="-"/>
            </a:pPr>
            <a:r>
              <a:rPr lang="ko-KR" altLang="en-US"/>
              <a:t>본 프레임워크에서는 서비스 중단 없이 정책에 따라 암호 알고리즘과 파라미터를 런타임 중에 유연하게 전환함으로써 </a:t>
            </a:r>
            <a:r>
              <a:rPr lang="en-US" altLang="ko-KR"/>
              <a:t>Crypto Agility</a:t>
            </a:r>
            <a:r>
              <a:rPr lang="ko-KR" altLang="en-US"/>
              <a:t>를 지원</a:t>
            </a:r>
            <a:endParaRPr lang="en-US" altLang="ko-KR"/>
          </a:p>
          <a:p>
            <a:pPr marL="0" indent="0">
              <a:buFontTx/>
              <a:buNone/>
            </a:pPr>
            <a:r>
              <a:rPr lang="en-US" altLang="ko-KR"/>
              <a:t>Crypto Agility in TLS 1.3</a:t>
            </a:r>
          </a:p>
          <a:p>
            <a:r>
              <a:rPr lang="en-US" altLang="ko-KR"/>
              <a:t>- TLS 1.3</a:t>
            </a:r>
            <a:r>
              <a:rPr lang="ko-KR" altLang="en-US"/>
              <a:t>에서는 </a:t>
            </a:r>
            <a:r>
              <a:rPr lang="en-US" altLang="ko-KR"/>
              <a:t>cipher suite</a:t>
            </a:r>
            <a:r>
              <a:rPr lang="ko-KR" altLang="en-US"/>
              <a:t>와 키 교환</a:t>
            </a:r>
            <a:r>
              <a:rPr lang="en-US" altLang="ko-KR"/>
              <a:t>, </a:t>
            </a:r>
            <a:r>
              <a:rPr lang="ko-KR" altLang="en-US"/>
              <a:t>인증이 독립적으로 동작하므로 </a:t>
            </a:r>
            <a:r>
              <a:rPr lang="en-US" altLang="ko-KR"/>
              <a:t>cipher suite </a:t>
            </a:r>
            <a:r>
              <a:rPr lang="ko-KR" altLang="en-US"/>
              <a:t>변경 없이 </a:t>
            </a:r>
            <a:r>
              <a:rPr lang="en-US" altLang="ko-KR"/>
              <a:t>PQC KEM</a:t>
            </a:r>
            <a:r>
              <a:rPr lang="ko-KR" altLang="en-US"/>
              <a:t> 및 </a:t>
            </a:r>
            <a:r>
              <a:rPr lang="en-US" altLang="ko-KR"/>
              <a:t>PQC </a:t>
            </a:r>
            <a:r>
              <a:rPr lang="ko-KR" altLang="en-US"/>
              <a:t>기반 인증을 채택함으로써 구현하도록 함</a:t>
            </a:r>
            <a:endParaRPr lang="ko-KR" altLang="en-US" dirty="0"/>
          </a:p>
        </p:txBody>
      </p:sp>
      <p:sp>
        <p:nvSpPr>
          <p:cNvPr id="4" name="슬라이드 번호 개체 틀 3">
            <a:extLst>
              <a:ext uri="{FF2B5EF4-FFF2-40B4-BE49-F238E27FC236}">
                <a16:creationId xmlns:a16="http://schemas.microsoft.com/office/drawing/2014/main" id="{973A2562-5972-1A21-E720-D769F4B58773}"/>
              </a:ext>
            </a:extLst>
          </p:cNvPr>
          <p:cNvSpPr>
            <a:spLocks noGrp="1"/>
          </p:cNvSpPr>
          <p:nvPr>
            <p:ph type="sldNum" sz="quarter" idx="10"/>
          </p:nvPr>
        </p:nvSpPr>
        <p:spPr/>
        <p:txBody>
          <a:bodyPr/>
          <a:lstStyle/>
          <a:p>
            <a:fld id="{893B0CF2-7F87-4E02-A248-870047730F99}" type="slidenum">
              <a:rPr lang="en-US" altLang="ko-KR" smtClean="0"/>
              <a:pPr/>
              <a:t>8</a:t>
            </a:fld>
            <a:endParaRPr lang="ko-KR" altLang="en-US" dirty="0"/>
          </a:p>
        </p:txBody>
      </p:sp>
    </p:spTree>
    <p:extLst>
      <p:ext uri="{BB962C8B-B14F-4D97-AF65-F5344CB8AC3E}">
        <p14:creationId xmlns:p14="http://schemas.microsoft.com/office/powerpoint/2010/main" val="4168724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70E3B-02A7-A72D-0085-E99311ECEAF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F141EB3-DAE0-7B86-45C6-867755F7560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8C8D045-7201-CCB8-DBEF-B5CEDCC65D1C}"/>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Next, I will describe the proposed system architecture.</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The system consists of three core components: the client, the bridge, and the server.</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Clients connect through the bridge and are routed to the appropriate server according to predefined policies.</a:t>
            </a:r>
            <a:endParaRPr lang="en-US" altLang="ko-KR"/>
          </a:p>
          <a:p>
            <a:endParaRPr lang="en-US" altLang="ko-KR"/>
          </a:p>
          <a:p>
            <a:r>
              <a:rPr lang="ko-KR" altLang="en-US"/>
              <a:t>클라이언트의 사용 중인 암호 프로토콜과 브릿지의 정책에 따라 브리지가 적절한 서버로 라우팅한다</a:t>
            </a:r>
            <a:r>
              <a:rPr lang="en-US" altLang="ko-KR"/>
              <a:t>. </a:t>
            </a:r>
            <a:endParaRPr lang="ko-KR" altLang="en-US" dirty="0"/>
          </a:p>
        </p:txBody>
      </p:sp>
      <p:sp>
        <p:nvSpPr>
          <p:cNvPr id="4" name="슬라이드 번호 개체 틀 3">
            <a:extLst>
              <a:ext uri="{FF2B5EF4-FFF2-40B4-BE49-F238E27FC236}">
                <a16:creationId xmlns:a16="http://schemas.microsoft.com/office/drawing/2014/main" id="{12C77384-0DDE-E30B-B2A3-CFE1D953848A}"/>
              </a:ext>
            </a:extLst>
          </p:cNvPr>
          <p:cNvSpPr>
            <a:spLocks noGrp="1"/>
          </p:cNvSpPr>
          <p:nvPr>
            <p:ph type="sldNum" sz="quarter" idx="10"/>
          </p:nvPr>
        </p:nvSpPr>
        <p:spPr/>
        <p:txBody>
          <a:bodyPr/>
          <a:lstStyle/>
          <a:p>
            <a:fld id="{893B0CF2-7F87-4E02-A248-870047730F99}" type="slidenum">
              <a:rPr lang="en-US" altLang="ko-KR" smtClean="0"/>
              <a:pPr/>
              <a:t>9</a:t>
            </a:fld>
            <a:endParaRPr lang="ko-KR" altLang="en-US" dirty="0"/>
          </a:p>
        </p:txBody>
      </p:sp>
    </p:spTree>
    <p:extLst>
      <p:ext uri="{BB962C8B-B14F-4D97-AF65-F5344CB8AC3E}">
        <p14:creationId xmlns:p14="http://schemas.microsoft.com/office/powerpoint/2010/main" val="916067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BDE52-CB55-37A4-612D-7AA898FDA83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80EE5A7-CE56-7616-C35E-BE0486BCAD3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1B81D85-A4B8-AB38-09BC-9E4B45FE3DF0}"/>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Clients are classified as either Classic TLS clients or PQC TLS clients. During the TLS handshake process, clients negotiate cryptographic capabilities via the bridge.</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The bridge serves as a TLS-to-TLS between the client and server. According to administrator-defined policies, it routes each client to the most suitable backend server.</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Servers, like clients, are divided into those using Classic TLS and PQC TLS. These two types of servers coexist independently. In our implementation, the classic TLS server operates under traditional ECC-based cryptography, whereas the PQC TLS server adopts the KpqC SMAUG-T algorithm for post-quantum key encapsulation.</a:t>
            </a:r>
            <a:endParaRPr lang="en-US" altLang="ko-KR"/>
          </a:p>
          <a:p>
            <a:endParaRPr lang="en-US" altLang="ko-KR"/>
          </a:p>
          <a:p>
            <a:r>
              <a:rPr lang="ko-KR" altLang="en-US"/>
              <a:t>시스템은 클라이언트</a:t>
            </a:r>
            <a:r>
              <a:rPr lang="en-US" altLang="ko-KR"/>
              <a:t>, </a:t>
            </a:r>
            <a:r>
              <a:rPr lang="ko-KR" altLang="en-US"/>
              <a:t>브리지</a:t>
            </a:r>
            <a:r>
              <a:rPr lang="en-US" altLang="ko-KR"/>
              <a:t> </a:t>
            </a:r>
            <a:r>
              <a:rPr lang="ko-KR" altLang="en-US"/>
              <a:t>그리고 서버로 구성된다</a:t>
            </a:r>
            <a:r>
              <a:rPr lang="en-US" altLang="ko-KR"/>
              <a:t>.</a:t>
            </a:r>
          </a:p>
          <a:p>
            <a:pPr marL="171450" indent="-171450">
              <a:buFontTx/>
              <a:buChar char="-"/>
            </a:pPr>
            <a:r>
              <a:rPr lang="ko-KR" altLang="en-US"/>
              <a:t>클라이언트</a:t>
            </a:r>
            <a:r>
              <a:rPr lang="en-US" altLang="ko-KR"/>
              <a:t>: </a:t>
            </a:r>
            <a:r>
              <a:rPr lang="ko-KR" altLang="en-US"/>
              <a:t>서비스를 요청하는 주체로</a:t>
            </a:r>
            <a:r>
              <a:rPr lang="en-US" altLang="ko-KR"/>
              <a:t>, PQC TLS </a:t>
            </a:r>
            <a:r>
              <a:rPr lang="ko-KR" altLang="en-US"/>
              <a:t>를 사용하는 클라이언트와 기존 </a:t>
            </a:r>
            <a:r>
              <a:rPr lang="en-US" altLang="ko-KR"/>
              <a:t>TLS</a:t>
            </a:r>
            <a:r>
              <a:rPr lang="ko-KR" altLang="en-US"/>
              <a:t>를 사용하는 클라이언트로 구분한다</a:t>
            </a:r>
            <a:r>
              <a:rPr lang="en-US" altLang="ko-KR"/>
              <a:t>. TLS </a:t>
            </a:r>
            <a:r>
              <a:rPr lang="ko-KR" altLang="en-US"/>
              <a:t>핸드셰이크 과정에서 브리지를 통해 암호화 기능을 협상한다</a:t>
            </a:r>
            <a:r>
              <a:rPr lang="en-US" altLang="ko-KR"/>
              <a:t>.</a:t>
            </a:r>
          </a:p>
          <a:p>
            <a:pPr marL="171450" indent="-171450">
              <a:buFontTx/>
              <a:buChar char="-"/>
            </a:pPr>
            <a:r>
              <a:rPr lang="ko-KR" altLang="en-US"/>
              <a:t>브리지</a:t>
            </a:r>
            <a:r>
              <a:rPr lang="en-US" altLang="ko-KR"/>
              <a:t>: </a:t>
            </a:r>
            <a:r>
              <a:rPr lang="ko-KR" altLang="en-US"/>
              <a:t>클라이언트와 서버간 </a:t>
            </a:r>
            <a:r>
              <a:rPr lang="en-US" altLang="ko-KR"/>
              <a:t>TLS-to-TLS</a:t>
            </a:r>
            <a:r>
              <a:rPr lang="ko-KR" altLang="en-US"/>
              <a:t>ㅇ 역할을 수행한다</a:t>
            </a:r>
            <a:r>
              <a:rPr lang="en-US" altLang="ko-KR"/>
              <a:t>. </a:t>
            </a:r>
            <a:r>
              <a:rPr lang="ko-KR" altLang="en-US"/>
              <a:t>관리자가 정의한 정책에 따라</a:t>
            </a:r>
            <a:r>
              <a:rPr lang="en-US" altLang="ko-KR"/>
              <a:t>, </a:t>
            </a:r>
            <a:r>
              <a:rPr lang="ko-KR" altLang="en-US"/>
              <a:t>클라이언트를 적절한 서버로 라우팅한다</a:t>
            </a:r>
            <a:r>
              <a:rPr lang="en-US" altLang="ko-KR"/>
              <a:t>. </a:t>
            </a:r>
          </a:p>
          <a:p>
            <a:pPr marL="171450" indent="-171450">
              <a:buFontTx/>
              <a:buChar char="-"/>
            </a:pPr>
            <a:r>
              <a:rPr lang="ko-KR" altLang="en-US"/>
              <a:t>서버</a:t>
            </a:r>
            <a:r>
              <a:rPr lang="en-US" altLang="ko-KR"/>
              <a:t>: </a:t>
            </a:r>
            <a:r>
              <a:rPr lang="ko-KR" altLang="en-US"/>
              <a:t>기존 </a:t>
            </a:r>
            <a:r>
              <a:rPr lang="en-US" altLang="ko-KR"/>
              <a:t>TLS(v1)</a:t>
            </a:r>
            <a:r>
              <a:rPr lang="ko-KR" altLang="en-US"/>
              <a:t>와 </a:t>
            </a:r>
            <a:r>
              <a:rPr lang="en-US" altLang="ko-KR"/>
              <a:t>KpqC</a:t>
            </a:r>
            <a:r>
              <a:rPr lang="ko-KR" altLang="en-US"/>
              <a:t>를 포함한 </a:t>
            </a:r>
            <a:r>
              <a:rPr lang="en-US" altLang="ko-KR"/>
              <a:t>PQC TLS(v2)</a:t>
            </a:r>
            <a:r>
              <a:rPr lang="ko-KR" altLang="en-US"/>
              <a:t>가 활성화된 서버 두 개가 독립적으로 공존한다</a:t>
            </a:r>
            <a:r>
              <a:rPr lang="en-US" altLang="ko-KR"/>
              <a:t>. </a:t>
            </a:r>
            <a:r>
              <a:rPr lang="ko-KR" altLang="en-US"/>
              <a:t>본 시스템에서는 기존 암호화 정책으로 </a:t>
            </a:r>
            <a:r>
              <a:rPr lang="en-US" altLang="ko-KR"/>
              <a:t>v1</a:t>
            </a:r>
            <a:r>
              <a:rPr lang="ko-KR" altLang="en-US"/>
              <a:t>에는 </a:t>
            </a:r>
            <a:r>
              <a:rPr lang="en-US" altLang="ko-KR"/>
              <a:t>ECC </a:t>
            </a:r>
            <a:r>
              <a:rPr lang="ko-KR" altLang="en-US"/>
              <a:t>기반</a:t>
            </a:r>
            <a:r>
              <a:rPr lang="en-US" altLang="ko-KR"/>
              <a:t>, v2</a:t>
            </a:r>
            <a:r>
              <a:rPr lang="ko-KR" altLang="en-US"/>
              <a:t>는 </a:t>
            </a:r>
            <a:r>
              <a:rPr lang="en-US" altLang="ko-KR"/>
              <a:t>SMUAG-T</a:t>
            </a:r>
            <a:r>
              <a:rPr lang="ko-KR" altLang="en-US"/>
              <a:t>를 적용하였다</a:t>
            </a:r>
            <a:r>
              <a:rPr lang="en-US" altLang="ko-KR"/>
              <a:t>. </a:t>
            </a:r>
          </a:p>
          <a:p>
            <a:pPr marL="171450" indent="-171450">
              <a:buFontTx/>
              <a:buChar char="-"/>
            </a:pPr>
            <a:endParaRPr lang="en-US" altLang="ko-KR"/>
          </a:p>
        </p:txBody>
      </p:sp>
      <p:sp>
        <p:nvSpPr>
          <p:cNvPr id="4" name="슬라이드 번호 개체 틀 3">
            <a:extLst>
              <a:ext uri="{FF2B5EF4-FFF2-40B4-BE49-F238E27FC236}">
                <a16:creationId xmlns:a16="http://schemas.microsoft.com/office/drawing/2014/main" id="{EA12B0D7-576E-3B9B-8A64-981F5E5700BC}"/>
              </a:ext>
            </a:extLst>
          </p:cNvPr>
          <p:cNvSpPr>
            <a:spLocks noGrp="1"/>
          </p:cNvSpPr>
          <p:nvPr>
            <p:ph type="sldNum" sz="quarter" idx="10"/>
          </p:nvPr>
        </p:nvSpPr>
        <p:spPr/>
        <p:txBody>
          <a:bodyPr/>
          <a:lstStyle/>
          <a:p>
            <a:fld id="{893B0CF2-7F87-4E02-A248-870047730F99}" type="slidenum">
              <a:rPr lang="en-US" altLang="ko-KR" smtClean="0"/>
              <a:pPr/>
              <a:t>10</a:t>
            </a:fld>
            <a:endParaRPr lang="ko-KR" altLang="en-US" dirty="0"/>
          </a:p>
        </p:txBody>
      </p:sp>
    </p:spTree>
    <p:extLst>
      <p:ext uri="{BB962C8B-B14F-4D97-AF65-F5344CB8AC3E}">
        <p14:creationId xmlns:p14="http://schemas.microsoft.com/office/powerpoint/2010/main" val="3409458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AA0DE-B362-C2A6-69DE-E2E6FDDB040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D9AA47-D008-D5A7-95D9-0CA6FC47804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FCC0AEC-BC87-CFFD-F12C-845A7559B3FC}"/>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The hot reload mechanism utilized in our system is a technology that allows code changes to be applied instantly during application execution, without requiring a service restart. This enables rapid deployment of updates while preserving application state.</a:t>
            </a:r>
          </a:p>
          <a:p>
            <a:pPr latinLnBrk="1"/>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In this study, we implemented the hot reload mechanism by utilizing SIGHUP signals and a parent-child process model. SIGHUP notifications are used to trigger changes upon network or policy updates. This setup allows for dynamic policy reconfiguration without restarting the entire process.</a:t>
            </a:r>
          </a:p>
          <a:p>
            <a:pPr latinLnBrk="1"/>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Furthermore, the bridge is structured using a parent-child process model: ongoing sessions handled by the active process remain unaffected, while newly spawned child processes incorporate updated configurations. As a result, only new connections reflect the most recent policies, ensuring uninterrupted service for existing sessions.</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ko-KR" altLang="en-US"/>
              <a:t>핫 리로드는 애플리케이션 실행 중에 코드 변경 사항을 애플리케이션을 중지하지 않고 즉시 적용함으로써</a:t>
            </a:r>
            <a:r>
              <a:rPr lang="en-US" altLang="ko-KR"/>
              <a:t>, </a:t>
            </a:r>
            <a:r>
              <a:rPr lang="ko-KR" altLang="en-US"/>
              <a:t>애플리케이션의 상태를 유지한 채 변경 결과를 빠르게 확인할 수 있도록 하는 기술이다</a:t>
            </a:r>
            <a:r>
              <a:rPr lang="en-US" altLang="ko-KR"/>
              <a:t>. </a:t>
            </a:r>
          </a:p>
          <a:p>
            <a:r>
              <a:rPr lang="ko-KR" altLang="en-US"/>
              <a:t>핫 리로드 메커니즘은 다음과 같은 기술을 활용한다</a:t>
            </a:r>
            <a:r>
              <a:rPr lang="en-US" altLang="ko-KR"/>
              <a:t>.</a:t>
            </a:r>
          </a:p>
          <a:p>
            <a:pPr marL="171450" indent="-171450">
              <a:buFontTx/>
              <a:buChar char="-"/>
            </a:pPr>
            <a:r>
              <a:rPr lang="en-US" altLang="ko-KR"/>
              <a:t>SIGHUP</a:t>
            </a:r>
            <a:r>
              <a:rPr lang="ko-KR" altLang="en-US"/>
              <a:t>을 통해 네트워크 변경 및 정책 변경 시 알림을 받는다</a:t>
            </a:r>
            <a:r>
              <a:rPr lang="en-US" altLang="ko-KR"/>
              <a:t>. </a:t>
            </a:r>
            <a:r>
              <a:rPr lang="ko-KR" altLang="en-US" sz="1200" b="0" i="0" kern="1200">
                <a:solidFill>
                  <a:schemeClr val="tx1"/>
                </a:solidFill>
                <a:effectLst/>
                <a:latin typeface="맑은 고딕" panose="020B0503020000020004" pitchFamily="50" charset="-127"/>
                <a:ea typeface="+mn-ea"/>
                <a:cs typeface="+mn-cs"/>
              </a:rPr>
              <a:t>이를 활용하면</a:t>
            </a:r>
            <a:r>
              <a:rPr lang="en-US" altLang="ko-KR" sz="1200" b="0" i="0" kern="1200">
                <a:solidFill>
                  <a:schemeClr val="tx1"/>
                </a:solidFill>
                <a:effectLst/>
                <a:latin typeface="맑은 고딕" panose="020B0503020000020004" pitchFamily="50" charset="-127"/>
                <a:ea typeface="+mn-ea"/>
                <a:cs typeface="+mn-cs"/>
              </a:rPr>
              <a:t>, </a:t>
            </a:r>
            <a:r>
              <a:rPr lang="ko-KR" altLang="en-US" sz="1200" b="0" i="0" kern="1200">
                <a:solidFill>
                  <a:schemeClr val="tx1"/>
                </a:solidFill>
                <a:effectLst/>
                <a:latin typeface="맑은 고딕" panose="020B0503020000020004" pitchFamily="50" charset="-127"/>
                <a:ea typeface="+mn-ea"/>
                <a:cs typeface="+mn-cs"/>
              </a:rPr>
              <a:t>감지 시 프로세스를 재시작하지 않고도 정책을 동적으로 구성할 수 있음</a:t>
            </a:r>
            <a:endParaRPr lang="en-US" altLang="ko-KR" sz="1200" b="0" i="0" kern="1200">
              <a:solidFill>
                <a:schemeClr val="tx1"/>
              </a:solidFill>
              <a:effectLst/>
              <a:latin typeface="맑은 고딕" panose="020B0503020000020004" pitchFamily="50" charset="-127"/>
              <a:ea typeface="+mn-ea"/>
              <a:cs typeface="+mn-cs"/>
            </a:endParaRPr>
          </a:p>
          <a:p>
            <a:pPr marL="171450" indent="-171450">
              <a:buFontTx/>
              <a:buChar char="-"/>
            </a:pPr>
            <a:r>
              <a:rPr lang="ko-KR" altLang="en-US"/>
              <a:t>브리지를 부모</a:t>
            </a:r>
            <a:r>
              <a:rPr lang="en-US" altLang="ko-KR"/>
              <a:t>-</a:t>
            </a:r>
            <a:r>
              <a:rPr lang="ko-KR" altLang="en-US"/>
              <a:t>자식 프로세스 모델로 구조화하여 실행 중인 프로세스의 세션은 기존 연결을 유지하되</a:t>
            </a:r>
            <a:r>
              <a:rPr lang="en-US" altLang="ko-KR"/>
              <a:t>, </a:t>
            </a:r>
            <a:r>
              <a:rPr lang="ko-KR" altLang="en-US"/>
              <a:t>새롭게 생성되는 자식 프로세스는 업데이트된 정책을 즉시 적용하도록 한다</a:t>
            </a:r>
            <a:r>
              <a:rPr lang="en-US" altLang="ko-KR"/>
              <a:t>.</a:t>
            </a:r>
            <a:endParaRPr lang="ko-KR" altLang="en-US" dirty="0"/>
          </a:p>
        </p:txBody>
      </p:sp>
      <p:sp>
        <p:nvSpPr>
          <p:cNvPr id="4" name="슬라이드 번호 개체 틀 3">
            <a:extLst>
              <a:ext uri="{FF2B5EF4-FFF2-40B4-BE49-F238E27FC236}">
                <a16:creationId xmlns:a16="http://schemas.microsoft.com/office/drawing/2014/main" id="{992D5644-9381-7788-8848-96864BC3C3C1}"/>
              </a:ext>
            </a:extLst>
          </p:cNvPr>
          <p:cNvSpPr>
            <a:spLocks noGrp="1"/>
          </p:cNvSpPr>
          <p:nvPr>
            <p:ph type="sldNum" sz="quarter" idx="10"/>
          </p:nvPr>
        </p:nvSpPr>
        <p:spPr/>
        <p:txBody>
          <a:bodyPr/>
          <a:lstStyle/>
          <a:p>
            <a:fld id="{893B0CF2-7F87-4E02-A248-870047730F99}" type="slidenum">
              <a:rPr lang="en-US" altLang="ko-KR" smtClean="0"/>
              <a:pPr/>
              <a:t>11</a:t>
            </a:fld>
            <a:endParaRPr lang="ko-KR" altLang="en-US" dirty="0"/>
          </a:p>
        </p:txBody>
      </p:sp>
    </p:spTree>
    <p:extLst>
      <p:ext uri="{BB962C8B-B14F-4D97-AF65-F5344CB8AC3E}">
        <p14:creationId xmlns:p14="http://schemas.microsoft.com/office/powerpoint/2010/main" val="3703131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EC64E-918B-001A-C329-A09C0F34E7F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4A12FB1-34A5-697B-86F5-DF89BD64C1B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AEEFEDE-9E80-EEC1-7986-EE17BD1A5F2F}"/>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o enable a stable and flexible transition to PQC, we have designed a comprehensive policy system.</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This system is structured into three policy layers: security, routing and network management, and content transformation.</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The security policy manages PQC migration strategies and preferred cryptographic algorithms.</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The routing and network management policy governs tasks such as server routing based on client versions, port mapping, and overall network connectivity.</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The content transformation policy covers real-time message transformation and UI modifications.</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These policies are organized hierarchically: security policies dictate routing and network management, which in turn guide content transformation.</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When a new session is established, the system applies the most appropriate instance based on the current policy state. To achieve this, we provision multiple SSL_CTX instances in advance, selecting and applying the optimal instance for each situation, rather than applying a single global SSL_CTX instance across all sessions.</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ko-KR" altLang="en-US"/>
              <a:t>본 시스템에서는 정책을 계층적으로 분리하고</a:t>
            </a:r>
            <a:r>
              <a:rPr lang="en-US" altLang="ko-KR"/>
              <a:t>, </a:t>
            </a:r>
            <a:r>
              <a:rPr lang="ko-KR" altLang="en-US"/>
              <a:t>각 계층을 독립적으로 변경할 수 있도록 한다</a:t>
            </a:r>
            <a:r>
              <a:rPr lang="en-US" altLang="ko-KR"/>
              <a:t>.</a:t>
            </a:r>
          </a:p>
          <a:p>
            <a:pPr marL="171450" indent="-171450">
              <a:buFontTx/>
              <a:buChar char="-"/>
            </a:pPr>
            <a:r>
              <a:rPr lang="ko-KR" altLang="en-US"/>
              <a:t>보안 정책</a:t>
            </a:r>
            <a:r>
              <a:rPr lang="en-US" altLang="ko-KR"/>
              <a:t>: PQC </a:t>
            </a:r>
            <a:r>
              <a:rPr lang="ko-KR" altLang="en-US"/>
              <a:t>마이그레이션</a:t>
            </a:r>
            <a:r>
              <a:rPr lang="en-US" altLang="ko-KR"/>
              <a:t>, </a:t>
            </a:r>
            <a:r>
              <a:rPr lang="ko-KR" altLang="en-US"/>
              <a:t>우선 선택 암호 알고리즘</a:t>
            </a:r>
            <a:r>
              <a:rPr lang="en-US" altLang="ko-KR"/>
              <a:t>, TLS </a:t>
            </a:r>
            <a:r>
              <a:rPr lang="ko-KR" altLang="en-US"/>
              <a:t>버전 등의 보안 매개 변수를 관리한다</a:t>
            </a:r>
            <a:r>
              <a:rPr lang="en-US" altLang="ko-KR"/>
              <a:t>.</a:t>
            </a:r>
          </a:p>
          <a:p>
            <a:pPr marL="171450" indent="-171450">
              <a:buFontTx/>
              <a:buChar char="-"/>
            </a:pPr>
            <a:r>
              <a:rPr lang="ko-KR" altLang="en-US"/>
              <a:t>라우팅 및 네트워크 연결 관리</a:t>
            </a:r>
            <a:r>
              <a:rPr lang="en-US" altLang="ko-KR"/>
              <a:t>: </a:t>
            </a:r>
            <a:r>
              <a:rPr lang="ko-KR" altLang="en-US"/>
              <a:t>클라이언트 버전에 따른 서버 라우팅</a:t>
            </a:r>
            <a:r>
              <a:rPr lang="en-US" altLang="ko-KR"/>
              <a:t>, </a:t>
            </a:r>
            <a:r>
              <a:rPr lang="ko-KR" altLang="en-US"/>
              <a:t>포트 매핑</a:t>
            </a:r>
            <a:r>
              <a:rPr lang="en-US" altLang="ko-KR"/>
              <a:t>, </a:t>
            </a:r>
            <a:r>
              <a:rPr lang="ko-KR" altLang="en-US"/>
              <a:t>부하 분산 등의 네트워크 연결 관리를 담당한다</a:t>
            </a:r>
            <a:r>
              <a:rPr lang="en-US" altLang="ko-KR"/>
              <a:t>.</a:t>
            </a:r>
          </a:p>
          <a:p>
            <a:pPr marL="171450" indent="-171450">
              <a:buFontTx/>
              <a:buChar char="-"/>
            </a:pPr>
            <a:r>
              <a:rPr lang="ko-KR" altLang="en-US"/>
              <a:t>콘텐츠 변환</a:t>
            </a:r>
            <a:r>
              <a:rPr lang="en-US" altLang="ko-KR"/>
              <a:t>: </a:t>
            </a:r>
            <a:r>
              <a:rPr lang="ko-KR" altLang="en-US"/>
              <a:t>실시간 메시지 변환 및 </a:t>
            </a:r>
            <a:r>
              <a:rPr lang="en-US" altLang="ko-KR"/>
              <a:t>UI </a:t>
            </a:r>
            <a:r>
              <a:rPr lang="ko-KR" altLang="en-US"/>
              <a:t>등의 사용자 콘텐츠 관리 기능을 담당한다</a:t>
            </a:r>
            <a:r>
              <a:rPr lang="en-US" altLang="ko-KR"/>
              <a:t>. </a:t>
            </a:r>
          </a:p>
          <a:p>
            <a:pPr marL="0" indent="0">
              <a:buFontTx/>
              <a:buNone/>
            </a:pPr>
            <a:r>
              <a:rPr lang="ko-KR" altLang="en-US"/>
              <a:t>보안 정책 </a:t>
            </a:r>
            <a:r>
              <a:rPr lang="en-US" altLang="ko-KR"/>
              <a:t>– </a:t>
            </a:r>
            <a:r>
              <a:rPr lang="ko-KR" altLang="en-US"/>
              <a:t>라우팅 </a:t>
            </a:r>
            <a:r>
              <a:rPr lang="en-US" altLang="ko-KR"/>
              <a:t>– </a:t>
            </a:r>
            <a:r>
              <a:rPr lang="ko-KR" altLang="en-US"/>
              <a:t>콘텐츠 변환 순의 계층 구조를 가지며</a:t>
            </a:r>
            <a:r>
              <a:rPr lang="en-US" altLang="ko-KR"/>
              <a:t>, </a:t>
            </a:r>
            <a:r>
              <a:rPr lang="ko-KR" altLang="en-US"/>
              <a:t>상위 계층이 하위 계층을 결정한다</a:t>
            </a:r>
            <a:r>
              <a:rPr lang="en-US" altLang="ko-KR"/>
              <a:t>.</a:t>
            </a:r>
          </a:p>
          <a:p>
            <a:pPr marL="0" indent="0">
              <a:buFontTx/>
              <a:buNone/>
            </a:pPr>
            <a:r>
              <a:rPr lang="en-US" altLang="ko-KR"/>
              <a:t>- </a:t>
            </a:r>
            <a:r>
              <a:rPr lang="ko-KR" altLang="en-US" sz="1200" b="0" i="0" kern="1200">
                <a:solidFill>
                  <a:schemeClr val="tx1"/>
                </a:solidFill>
                <a:effectLst/>
                <a:latin typeface="맑은 고딕" panose="020B0503020000020004" pitchFamily="50" charset="-127"/>
                <a:ea typeface="+mn-ea"/>
                <a:cs typeface="+mn-cs"/>
              </a:rPr>
              <a:t>정책이 로딩되면</a:t>
            </a:r>
            <a:r>
              <a:rPr lang="en-US" altLang="ko-KR" sz="1200" b="0" i="0" kern="1200">
                <a:solidFill>
                  <a:schemeClr val="tx1"/>
                </a:solidFill>
                <a:effectLst/>
                <a:latin typeface="맑은 고딕" panose="020B0503020000020004" pitchFamily="50" charset="-127"/>
                <a:ea typeface="+mn-ea"/>
                <a:cs typeface="+mn-cs"/>
              </a:rPr>
              <a:t>, </a:t>
            </a:r>
            <a:r>
              <a:rPr lang="ko-KR" altLang="en-US" sz="1200" b="0" i="0" kern="1200">
                <a:solidFill>
                  <a:schemeClr val="tx1"/>
                </a:solidFill>
                <a:effectLst/>
                <a:latin typeface="맑은 고딕" panose="020B0503020000020004" pitchFamily="50" charset="-127"/>
                <a:ea typeface="+mn-ea"/>
                <a:cs typeface="+mn-cs"/>
              </a:rPr>
              <a:t>상황에 따라 적합한 </a:t>
            </a:r>
            <a:r>
              <a:rPr lang="en-US" altLang="ko-KR" sz="1200" b="0" i="0" kern="1200">
                <a:solidFill>
                  <a:schemeClr val="tx1"/>
                </a:solidFill>
                <a:effectLst/>
                <a:latin typeface="맑은 고딕" panose="020B0503020000020004" pitchFamily="50" charset="-127"/>
                <a:ea typeface="+mn-ea"/>
                <a:cs typeface="+mn-cs"/>
              </a:rPr>
              <a:t>SSL_CTX</a:t>
            </a:r>
            <a:r>
              <a:rPr lang="ko-KR" altLang="en-US" sz="1200" b="0" i="0" kern="1200">
                <a:solidFill>
                  <a:schemeClr val="tx1"/>
                </a:solidFill>
                <a:effectLst/>
                <a:latin typeface="맑은 고딕" panose="020B0503020000020004" pitchFamily="50" charset="-127"/>
                <a:ea typeface="+mn-ea"/>
                <a:cs typeface="+mn-cs"/>
              </a:rPr>
              <a:t>를 사용할 수 있도록 여러 개의 </a:t>
            </a:r>
            <a:r>
              <a:rPr lang="en-US" altLang="ko-KR" sz="1200" b="0" i="0" kern="1200">
                <a:solidFill>
                  <a:schemeClr val="tx1"/>
                </a:solidFill>
                <a:effectLst/>
                <a:latin typeface="맑은 고딕" panose="020B0503020000020004" pitchFamily="50" charset="-127"/>
                <a:ea typeface="+mn-ea"/>
                <a:cs typeface="+mn-cs"/>
              </a:rPr>
              <a:t>SSL_CTX</a:t>
            </a:r>
            <a:r>
              <a:rPr lang="ko-KR" altLang="en-US" sz="1200" b="0" i="0" kern="1200">
                <a:solidFill>
                  <a:schemeClr val="tx1"/>
                </a:solidFill>
                <a:effectLst/>
                <a:latin typeface="맑은 고딕" panose="020B0503020000020004" pitchFamily="50" charset="-127"/>
                <a:ea typeface="+mn-ea"/>
                <a:cs typeface="+mn-cs"/>
              </a:rPr>
              <a:t>를 미리 준비해둡니다</a:t>
            </a:r>
            <a:r>
              <a:rPr lang="en-US" altLang="ko-KR" sz="1200" b="0" i="0" kern="1200">
                <a:solidFill>
                  <a:schemeClr val="tx1"/>
                </a:solidFill>
                <a:effectLst/>
                <a:latin typeface="맑은 고딕" panose="020B0503020000020004" pitchFamily="50" charset="-127"/>
                <a:ea typeface="+mn-ea"/>
                <a:cs typeface="+mn-cs"/>
              </a:rPr>
              <a:t>. </a:t>
            </a:r>
            <a:r>
              <a:rPr lang="ko-KR" altLang="en-US" sz="1200" b="0" i="0" kern="1200">
                <a:solidFill>
                  <a:schemeClr val="tx1"/>
                </a:solidFill>
                <a:effectLst/>
                <a:latin typeface="맑은 고딕" panose="020B0503020000020004" pitchFamily="50" charset="-127"/>
                <a:ea typeface="+mn-ea"/>
                <a:cs typeface="+mn-cs"/>
              </a:rPr>
              <a:t>하나의 </a:t>
            </a:r>
            <a:r>
              <a:rPr lang="en-US" altLang="ko-KR" sz="1200" b="0" i="0" kern="1200">
                <a:solidFill>
                  <a:schemeClr val="tx1"/>
                </a:solidFill>
                <a:effectLst/>
                <a:latin typeface="맑은 고딕" panose="020B0503020000020004" pitchFamily="50" charset="-127"/>
                <a:ea typeface="+mn-ea"/>
                <a:cs typeface="+mn-cs"/>
              </a:rPr>
              <a:t>SSL_CTX</a:t>
            </a:r>
            <a:r>
              <a:rPr lang="ko-KR" altLang="en-US" sz="1200" b="0" i="0" kern="1200">
                <a:solidFill>
                  <a:schemeClr val="tx1"/>
                </a:solidFill>
                <a:effectLst/>
                <a:latin typeface="맑은 고딕" panose="020B0503020000020004" pitchFamily="50" charset="-127"/>
                <a:ea typeface="+mn-ea"/>
                <a:cs typeface="+mn-cs"/>
              </a:rPr>
              <a:t>만 사용하는 것이 아니라</a:t>
            </a:r>
            <a:r>
              <a:rPr lang="en-US" altLang="ko-KR" sz="1200" b="0" i="0" kern="1200">
                <a:solidFill>
                  <a:schemeClr val="tx1"/>
                </a:solidFill>
                <a:effectLst/>
                <a:latin typeface="맑은 고딕" panose="020B0503020000020004" pitchFamily="50" charset="-127"/>
                <a:ea typeface="+mn-ea"/>
                <a:cs typeface="+mn-cs"/>
              </a:rPr>
              <a:t>, </a:t>
            </a:r>
            <a:r>
              <a:rPr lang="ko-KR" altLang="en-US" sz="1200" b="0" i="0" kern="1200">
                <a:solidFill>
                  <a:schemeClr val="tx1"/>
                </a:solidFill>
                <a:effectLst/>
                <a:latin typeface="맑은 고딕" panose="020B0503020000020004" pitchFamily="50" charset="-127"/>
                <a:ea typeface="+mn-ea"/>
                <a:cs typeface="+mn-cs"/>
              </a:rPr>
              <a:t>미리 준비된 여러 </a:t>
            </a:r>
            <a:r>
              <a:rPr lang="en-US" altLang="ko-KR" sz="1200" b="0" i="0" kern="1200">
                <a:solidFill>
                  <a:schemeClr val="tx1"/>
                </a:solidFill>
                <a:effectLst/>
                <a:latin typeface="맑은 고딕" panose="020B0503020000020004" pitchFamily="50" charset="-127"/>
                <a:ea typeface="+mn-ea"/>
                <a:cs typeface="+mn-cs"/>
              </a:rPr>
              <a:t>SSL_CTX </a:t>
            </a:r>
            <a:r>
              <a:rPr lang="ko-KR" altLang="en-US" sz="1200" b="0" i="0" kern="1200">
                <a:solidFill>
                  <a:schemeClr val="tx1"/>
                </a:solidFill>
                <a:effectLst/>
                <a:latin typeface="맑은 고딕" panose="020B0503020000020004" pitchFamily="50" charset="-127"/>
                <a:ea typeface="+mn-ea"/>
                <a:cs typeface="+mn-cs"/>
              </a:rPr>
              <a:t>중에서 각 상황에 가장 적합한 </a:t>
            </a:r>
            <a:r>
              <a:rPr lang="en-US" altLang="ko-KR" sz="1200" b="0" i="0" kern="1200">
                <a:solidFill>
                  <a:schemeClr val="tx1"/>
                </a:solidFill>
                <a:effectLst/>
                <a:latin typeface="맑은 고딕" panose="020B0503020000020004" pitchFamily="50" charset="-127"/>
                <a:ea typeface="+mn-ea"/>
                <a:cs typeface="+mn-cs"/>
              </a:rPr>
              <a:t>SSL_CTX</a:t>
            </a:r>
            <a:r>
              <a:rPr lang="ko-KR" altLang="en-US" sz="1200" b="0" i="0" kern="1200">
                <a:solidFill>
                  <a:schemeClr val="tx1"/>
                </a:solidFill>
                <a:effectLst/>
                <a:latin typeface="맑은 고딕" panose="020B0503020000020004" pitchFamily="50" charset="-127"/>
                <a:ea typeface="+mn-ea"/>
                <a:cs typeface="+mn-cs"/>
              </a:rPr>
              <a:t>를 선택하여 적용하는 방식으로 구성합니다</a:t>
            </a:r>
            <a:r>
              <a:rPr lang="en-US" altLang="ko-KR" sz="1200" b="0" i="0" kern="1200">
                <a:solidFill>
                  <a:schemeClr val="tx1"/>
                </a:solidFill>
                <a:effectLst/>
                <a:latin typeface="맑은 고딕" panose="020B0503020000020004" pitchFamily="50" charset="-127"/>
                <a:ea typeface="+mn-ea"/>
                <a:cs typeface="+mn-cs"/>
              </a:rPr>
              <a:t>.</a:t>
            </a:r>
            <a:endParaRPr lang="en-US" altLang="ko-KR"/>
          </a:p>
        </p:txBody>
      </p:sp>
      <p:sp>
        <p:nvSpPr>
          <p:cNvPr id="4" name="슬라이드 번호 개체 틀 3">
            <a:extLst>
              <a:ext uri="{FF2B5EF4-FFF2-40B4-BE49-F238E27FC236}">
                <a16:creationId xmlns:a16="http://schemas.microsoft.com/office/drawing/2014/main" id="{0BD207CD-FACE-9A56-E7D0-C0E5A6D432A9}"/>
              </a:ext>
            </a:extLst>
          </p:cNvPr>
          <p:cNvSpPr>
            <a:spLocks noGrp="1"/>
          </p:cNvSpPr>
          <p:nvPr>
            <p:ph type="sldNum" sz="quarter" idx="10"/>
          </p:nvPr>
        </p:nvSpPr>
        <p:spPr/>
        <p:txBody>
          <a:bodyPr/>
          <a:lstStyle/>
          <a:p>
            <a:fld id="{893B0CF2-7F87-4E02-A248-870047730F99}" type="slidenum">
              <a:rPr lang="en-US" altLang="ko-KR" smtClean="0"/>
              <a:pPr/>
              <a:t>12</a:t>
            </a:fld>
            <a:endParaRPr lang="ko-KR" altLang="en-US" dirty="0"/>
          </a:p>
        </p:txBody>
      </p:sp>
    </p:spTree>
    <p:extLst>
      <p:ext uri="{BB962C8B-B14F-4D97-AF65-F5344CB8AC3E}">
        <p14:creationId xmlns:p14="http://schemas.microsoft.com/office/powerpoint/2010/main" val="310137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0532A-E62E-C736-042F-D3F4DB0E01E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53C2FAF-2C75-8F86-EFE2-28B9B97A0DF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BD6D396-3B24-C0DE-DDAD-8BBACAB39165}"/>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Based on the policies, we aim to achieve the following gradual migration strategy.</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We utilize the “Prefer” phase, which is a weighted stage, encouraging clients to progressively use PQC TLS servers.</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In case issues arise during this phase, the routing environment can be rolled back to its previous state to maintain service reliability.</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The migration process consists of three stages: Announce, Prefer, and Require.</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ko-KR" altLang="en-US"/>
              <a:t>본 시스템은 정책을 기반으로</a:t>
            </a:r>
            <a:r>
              <a:rPr lang="en-US" altLang="ko-KR"/>
              <a:t>, </a:t>
            </a:r>
            <a:r>
              <a:rPr lang="ko-KR" altLang="en-US"/>
              <a:t>다음과 같은 점진적인 전환을 목표로 한다</a:t>
            </a:r>
            <a:r>
              <a:rPr lang="en-US" altLang="ko-KR"/>
              <a:t>. </a:t>
            </a:r>
          </a:p>
          <a:p>
            <a:pPr marL="171450" indent="-171450">
              <a:buFontTx/>
              <a:buChar char="-"/>
            </a:pPr>
            <a:r>
              <a:rPr lang="ko-KR" altLang="en-US"/>
              <a:t>가중치 기반 정책을 활용하여 클라이언트가 점진적으로 </a:t>
            </a:r>
            <a:r>
              <a:rPr lang="en-US" altLang="ko-KR"/>
              <a:t>PQC TLS </a:t>
            </a:r>
            <a:r>
              <a:rPr lang="ko-KR" altLang="en-US"/>
              <a:t>서버를 사용하도록 유도한다</a:t>
            </a:r>
            <a:r>
              <a:rPr lang="en-US" altLang="ko-KR"/>
              <a:t>. </a:t>
            </a:r>
          </a:p>
          <a:p>
            <a:pPr marL="171450" indent="-171450">
              <a:buFontTx/>
              <a:buChar char="-"/>
            </a:pPr>
            <a:r>
              <a:rPr lang="ko-KR" altLang="en-US"/>
              <a:t>문제가 발생할 경우 언제든지 라우팅 환경을 이전 상태로 롤백하도록 하여 서비스 안전성을 유지하도록 한다</a:t>
            </a:r>
            <a:r>
              <a:rPr lang="en-US" altLang="ko-KR"/>
              <a:t>. </a:t>
            </a:r>
            <a:endParaRPr lang="ko-KR" altLang="en-US" dirty="0"/>
          </a:p>
        </p:txBody>
      </p:sp>
      <p:sp>
        <p:nvSpPr>
          <p:cNvPr id="4" name="슬라이드 번호 개체 틀 3">
            <a:extLst>
              <a:ext uri="{FF2B5EF4-FFF2-40B4-BE49-F238E27FC236}">
                <a16:creationId xmlns:a16="http://schemas.microsoft.com/office/drawing/2014/main" id="{0EF99E65-C2C3-8096-694F-E6D416308BD6}"/>
              </a:ext>
            </a:extLst>
          </p:cNvPr>
          <p:cNvSpPr>
            <a:spLocks noGrp="1"/>
          </p:cNvSpPr>
          <p:nvPr>
            <p:ph type="sldNum" sz="quarter" idx="10"/>
          </p:nvPr>
        </p:nvSpPr>
        <p:spPr/>
        <p:txBody>
          <a:bodyPr/>
          <a:lstStyle/>
          <a:p>
            <a:fld id="{893B0CF2-7F87-4E02-A248-870047730F99}" type="slidenum">
              <a:rPr lang="en-US" altLang="ko-KR" smtClean="0"/>
              <a:pPr/>
              <a:t>13</a:t>
            </a:fld>
            <a:endParaRPr lang="ko-KR" altLang="en-US" dirty="0"/>
          </a:p>
        </p:txBody>
      </p:sp>
    </p:spTree>
    <p:extLst>
      <p:ext uri="{BB962C8B-B14F-4D97-AF65-F5344CB8AC3E}">
        <p14:creationId xmlns:p14="http://schemas.microsoft.com/office/powerpoint/2010/main" val="2430219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DB33C-C0E7-8A0D-BB52-CA1FA531AF9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085F26E-0C67-42B5-1BFC-B1D8E490B28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630BD8D-89BB-C1C8-D480-4EB3167DFF5E}"/>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In the Announce stage, clients are simply informed that PQC server support is available; however, no direct routing to PQC servers takes place at this stage.</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Specifically, classic TLS to classic TLS, PQC TLS to PQC TLS.</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en-US" altLang="ko-KR"/>
              <a:t>Announce </a:t>
            </a:r>
            <a:r>
              <a:rPr lang="ko-KR" altLang="en-US"/>
              <a:t>정책 단계는 클라이언트에게 </a:t>
            </a:r>
            <a:r>
              <a:rPr lang="en-US" altLang="ko-KR"/>
              <a:t>PQC </a:t>
            </a:r>
            <a:r>
              <a:rPr lang="ko-KR" altLang="en-US"/>
              <a:t>서버 지원이 가능함을 알리지만</a:t>
            </a:r>
            <a:r>
              <a:rPr lang="en-US" altLang="ko-KR"/>
              <a:t>, </a:t>
            </a:r>
          </a:p>
          <a:p>
            <a:r>
              <a:rPr lang="ko-KR" altLang="en-US"/>
              <a:t>실제 라우팅은 클래식 </a:t>
            </a:r>
            <a:r>
              <a:rPr lang="en-US" altLang="ko-KR"/>
              <a:t>TLS </a:t>
            </a:r>
            <a:r>
              <a:rPr lang="ko-KR" altLang="en-US"/>
              <a:t>클라이언트는 클래식 </a:t>
            </a:r>
            <a:r>
              <a:rPr lang="en-US" altLang="ko-KR"/>
              <a:t>TLS </a:t>
            </a:r>
            <a:r>
              <a:rPr lang="ko-KR" altLang="en-US"/>
              <a:t>서버로</a:t>
            </a:r>
            <a:r>
              <a:rPr lang="en-US" altLang="ko-KR"/>
              <a:t>, PQC TLS </a:t>
            </a:r>
            <a:r>
              <a:rPr lang="ko-KR" altLang="en-US"/>
              <a:t>클라이언트는 </a:t>
            </a:r>
            <a:r>
              <a:rPr lang="en-US" altLang="ko-KR"/>
              <a:t>PQC TLS </a:t>
            </a:r>
            <a:r>
              <a:rPr lang="ko-KR" altLang="en-US"/>
              <a:t>서버로 라우팅된다</a:t>
            </a:r>
            <a:r>
              <a:rPr lang="en-US" altLang="ko-KR"/>
              <a:t>.</a:t>
            </a:r>
          </a:p>
          <a:p>
            <a:endParaRPr lang="en-US" altLang="ko-KR"/>
          </a:p>
          <a:p>
            <a:r>
              <a:rPr lang="ko-KR" altLang="en-US"/>
              <a:t>캡션</a:t>
            </a:r>
            <a:r>
              <a:rPr lang="en-US" altLang="ko-KR"/>
              <a:t>: </a:t>
            </a:r>
            <a:r>
              <a:rPr lang="ko-KR" altLang="en-US"/>
              <a:t>클래식 </a:t>
            </a:r>
            <a:r>
              <a:rPr lang="en-US" altLang="ko-KR"/>
              <a:t>TLS </a:t>
            </a:r>
            <a:r>
              <a:rPr lang="ko-KR" altLang="en-US"/>
              <a:t>서버는 클래식 </a:t>
            </a:r>
            <a:r>
              <a:rPr lang="en-US" altLang="ko-KR"/>
              <a:t>TLS </a:t>
            </a:r>
            <a:r>
              <a:rPr lang="ko-KR" altLang="en-US"/>
              <a:t>서버로 라우팅된다</a:t>
            </a:r>
            <a:r>
              <a:rPr lang="en-US" altLang="ko-KR"/>
              <a:t>.</a:t>
            </a:r>
            <a:endParaRPr lang="ko-KR" altLang="en-US" dirty="0"/>
          </a:p>
        </p:txBody>
      </p:sp>
      <p:sp>
        <p:nvSpPr>
          <p:cNvPr id="4" name="슬라이드 번호 개체 틀 3">
            <a:extLst>
              <a:ext uri="{FF2B5EF4-FFF2-40B4-BE49-F238E27FC236}">
                <a16:creationId xmlns:a16="http://schemas.microsoft.com/office/drawing/2014/main" id="{EA8F7BDA-69CF-116B-9C5F-A15D894B78CC}"/>
              </a:ext>
            </a:extLst>
          </p:cNvPr>
          <p:cNvSpPr>
            <a:spLocks noGrp="1"/>
          </p:cNvSpPr>
          <p:nvPr>
            <p:ph type="sldNum" sz="quarter" idx="10"/>
          </p:nvPr>
        </p:nvSpPr>
        <p:spPr/>
        <p:txBody>
          <a:bodyPr/>
          <a:lstStyle/>
          <a:p>
            <a:fld id="{893B0CF2-7F87-4E02-A248-870047730F99}" type="slidenum">
              <a:rPr lang="en-US" altLang="ko-KR" smtClean="0"/>
              <a:pPr/>
              <a:t>14</a:t>
            </a:fld>
            <a:endParaRPr lang="ko-KR" altLang="en-US" dirty="0"/>
          </a:p>
        </p:txBody>
      </p:sp>
    </p:spTree>
    <p:extLst>
      <p:ext uri="{BB962C8B-B14F-4D97-AF65-F5344CB8AC3E}">
        <p14:creationId xmlns:p14="http://schemas.microsoft.com/office/powerpoint/2010/main" val="1121076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F06DA-20F4-B3CC-45CB-E07DA7DC24E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0439E31-272F-FA81-A8D9-39B646F7981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B600718-B19B-A7F1-E1B7-5A4C233055B8}"/>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In the Prefer stage, new sessions are gradually routed to PQC servers according to the predefined preference ratio. In other words, classic TLS clients initiating new sessions are distributed between classic TLS servers and PQC TLS servers based on the current PQC server allocation ratio.</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In our study, we adjust the Prefer stage incrementally—specifically at 25%, 50%, and 75%—to ensure a smooth and controlled migration process.</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en-US" altLang="ko-KR"/>
              <a:t>Prefer </a:t>
            </a:r>
            <a:r>
              <a:rPr lang="ko-KR" altLang="en-US"/>
              <a:t>단계에서는 새로운 핸드셰이크를 </a:t>
            </a:r>
            <a:r>
              <a:rPr lang="en-US" altLang="ko-KR"/>
              <a:t>Prefer </a:t>
            </a:r>
            <a:r>
              <a:rPr lang="ko-KR" altLang="en-US"/>
              <a:t>비율에 맞게 점진적으로 </a:t>
            </a:r>
            <a:r>
              <a:rPr lang="en-US" altLang="ko-KR"/>
              <a:t>PQC </a:t>
            </a:r>
            <a:r>
              <a:rPr lang="ko-KR" altLang="en-US"/>
              <a:t>서버로 라우팅한다</a:t>
            </a:r>
            <a:r>
              <a:rPr lang="en-US" altLang="ko-KR"/>
              <a:t>.</a:t>
            </a:r>
          </a:p>
          <a:p>
            <a:pPr marL="171450" indent="-171450">
              <a:buFontTx/>
              <a:buChar char="-"/>
            </a:pPr>
            <a:r>
              <a:rPr lang="ko-KR" altLang="en-US"/>
              <a:t>본 시스템에서는 </a:t>
            </a:r>
            <a:r>
              <a:rPr lang="en-US" altLang="ko-KR"/>
              <a:t>Prefer </a:t>
            </a:r>
            <a:r>
              <a:rPr lang="ko-KR" altLang="en-US"/>
              <a:t>단계를 </a:t>
            </a:r>
            <a:r>
              <a:rPr lang="en-US" altLang="ko-KR"/>
              <a:t>25% - 50% - 75%</a:t>
            </a:r>
            <a:r>
              <a:rPr lang="ko-KR" altLang="en-US"/>
              <a:t>로 조정하여 점진적으로 라우팅한다</a:t>
            </a:r>
            <a:r>
              <a:rPr lang="en-US" altLang="ko-KR"/>
              <a:t>.</a:t>
            </a:r>
          </a:p>
          <a:p>
            <a:pPr marL="171450" indent="-171450">
              <a:buFontTx/>
              <a:buChar char="-"/>
            </a:pPr>
            <a:r>
              <a:rPr lang="ko-KR" altLang="en-US"/>
              <a:t>새로 접속했을 때의 </a:t>
            </a:r>
            <a:r>
              <a:rPr lang="en-US" altLang="ko-KR"/>
              <a:t>PQC </a:t>
            </a:r>
            <a:r>
              <a:rPr lang="ko-KR" altLang="en-US"/>
              <a:t>서버로의 라우팅 비율을 측정하여 선택적으로 라우팅하여 비율을 맞춘다</a:t>
            </a:r>
            <a:r>
              <a:rPr lang="en-US" altLang="ko-KR"/>
              <a:t>.</a:t>
            </a:r>
          </a:p>
          <a:p>
            <a:pPr marL="0" indent="0">
              <a:buFontTx/>
              <a:buNone/>
            </a:pPr>
            <a:endParaRPr lang="en-US" altLang="ko-KR"/>
          </a:p>
          <a:p>
            <a:pPr marL="0" indent="0">
              <a:buFontTx/>
              <a:buNone/>
            </a:pPr>
            <a:r>
              <a:rPr lang="ko-KR" altLang="en-US"/>
              <a:t>캡션</a:t>
            </a:r>
            <a:r>
              <a:rPr lang="en-US" altLang="ko-KR"/>
              <a:t>: </a:t>
            </a:r>
            <a:r>
              <a:rPr lang="ko-KR" altLang="en-US"/>
              <a:t>정책의 </a:t>
            </a:r>
            <a:r>
              <a:rPr lang="en-US" altLang="ko-KR"/>
              <a:t>Prefer </a:t>
            </a:r>
            <a:r>
              <a:rPr lang="ko-KR" altLang="en-US"/>
              <a:t>비율에 따라</a:t>
            </a:r>
            <a:r>
              <a:rPr lang="en-US" altLang="ko-KR"/>
              <a:t>, </a:t>
            </a:r>
            <a:r>
              <a:rPr lang="ko-KR" altLang="en-US"/>
              <a:t>클래식 </a:t>
            </a:r>
            <a:r>
              <a:rPr lang="en-US" altLang="ko-KR"/>
              <a:t>TLS </a:t>
            </a:r>
            <a:r>
              <a:rPr lang="ko-KR" altLang="en-US"/>
              <a:t>클라이언트는 클래식 </a:t>
            </a:r>
            <a:r>
              <a:rPr lang="en-US" altLang="ko-KR"/>
              <a:t>TLS </a:t>
            </a:r>
            <a:r>
              <a:rPr lang="ko-KR" altLang="en-US"/>
              <a:t>서버와 </a:t>
            </a:r>
            <a:r>
              <a:rPr lang="en-US" altLang="ko-KR"/>
              <a:t>PQC TLS </a:t>
            </a:r>
            <a:r>
              <a:rPr lang="ko-KR" altLang="en-US"/>
              <a:t>서버로 적절히 나뉘어 라우팅된다</a:t>
            </a:r>
            <a:r>
              <a:rPr lang="en-US" altLang="ko-KR"/>
              <a:t>. </a:t>
            </a:r>
            <a:endParaRPr lang="ko-KR" altLang="en-US" dirty="0"/>
          </a:p>
        </p:txBody>
      </p:sp>
      <p:sp>
        <p:nvSpPr>
          <p:cNvPr id="4" name="슬라이드 번호 개체 틀 3">
            <a:extLst>
              <a:ext uri="{FF2B5EF4-FFF2-40B4-BE49-F238E27FC236}">
                <a16:creationId xmlns:a16="http://schemas.microsoft.com/office/drawing/2014/main" id="{076EF172-6FF4-18E4-F897-2C152B30B3E4}"/>
              </a:ext>
            </a:extLst>
          </p:cNvPr>
          <p:cNvSpPr>
            <a:spLocks noGrp="1"/>
          </p:cNvSpPr>
          <p:nvPr>
            <p:ph type="sldNum" sz="quarter" idx="10"/>
          </p:nvPr>
        </p:nvSpPr>
        <p:spPr/>
        <p:txBody>
          <a:bodyPr/>
          <a:lstStyle/>
          <a:p>
            <a:fld id="{893B0CF2-7F87-4E02-A248-870047730F99}" type="slidenum">
              <a:rPr lang="en-US" altLang="ko-KR" smtClean="0"/>
              <a:pPr/>
              <a:t>15</a:t>
            </a:fld>
            <a:endParaRPr lang="ko-KR" altLang="en-US" dirty="0"/>
          </a:p>
        </p:txBody>
      </p:sp>
    </p:spTree>
    <p:extLst>
      <p:ext uri="{BB962C8B-B14F-4D97-AF65-F5344CB8AC3E}">
        <p14:creationId xmlns:p14="http://schemas.microsoft.com/office/powerpoint/2010/main" val="1388705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302AF-9F89-40D6-F7DE-D6FDEB8A913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26BC06B-649C-500F-0189-F1EF72D54BA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19015EF-7902-89C3-38EA-5E6D4D3269D5}"/>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The Require stage is identical to the Prefer 100% stage, in which all clients are forcibly routed to PQC TLS servers.</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This stage signifies the complete transition to PQC servers.</a:t>
            </a:r>
            <a:endParaRPr lang="en-US" altLang="ko-KR"/>
          </a:p>
          <a:p>
            <a:endParaRPr lang="en-US" altLang="ko-KR"/>
          </a:p>
          <a:p>
            <a:r>
              <a:rPr lang="en-US" altLang="ko-KR"/>
              <a:t>Require</a:t>
            </a:r>
            <a:r>
              <a:rPr lang="ko-KR" altLang="en-US"/>
              <a:t> 정책 단계는 완전한 </a:t>
            </a:r>
            <a:r>
              <a:rPr lang="en-US" altLang="ko-KR"/>
              <a:t>PQC </a:t>
            </a:r>
            <a:r>
              <a:rPr lang="ko-KR" altLang="en-US"/>
              <a:t>서버로의 전환을 의미한다</a:t>
            </a:r>
            <a:r>
              <a:rPr lang="en-US" altLang="ko-KR"/>
              <a:t>.</a:t>
            </a:r>
          </a:p>
          <a:p>
            <a:pPr marL="171450" indent="-171450">
              <a:buFontTx/>
              <a:buChar char="-"/>
            </a:pPr>
            <a:r>
              <a:rPr lang="ko-KR" altLang="en-US"/>
              <a:t>모든 클라이언트가 </a:t>
            </a:r>
            <a:r>
              <a:rPr lang="en-US" altLang="ko-KR"/>
              <a:t>PQC TLS </a:t>
            </a:r>
            <a:r>
              <a:rPr lang="ko-KR" altLang="en-US"/>
              <a:t>서버로 강제 라우팅하도록 한다</a:t>
            </a:r>
            <a:r>
              <a:rPr lang="en-US" altLang="ko-KR"/>
              <a:t>. </a:t>
            </a:r>
          </a:p>
          <a:p>
            <a:pPr marL="0" indent="0">
              <a:buFontTx/>
              <a:buNone/>
            </a:pPr>
            <a:endParaRPr lang="en-US" altLang="ko-KR"/>
          </a:p>
          <a:p>
            <a:pPr marL="0" indent="0">
              <a:buFontTx/>
              <a:buNone/>
            </a:pPr>
            <a:r>
              <a:rPr lang="ko-KR" altLang="en-US"/>
              <a:t>캡션</a:t>
            </a:r>
            <a:r>
              <a:rPr lang="en-US" altLang="ko-KR"/>
              <a:t>: </a:t>
            </a:r>
            <a:r>
              <a:rPr lang="ko-KR" altLang="en-US"/>
              <a:t>모든 클래식 </a:t>
            </a:r>
            <a:r>
              <a:rPr lang="en-US" altLang="ko-KR"/>
              <a:t>TLS </a:t>
            </a:r>
            <a:r>
              <a:rPr lang="ko-KR" altLang="en-US"/>
              <a:t>클라이언트는 </a:t>
            </a:r>
            <a:r>
              <a:rPr lang="en-US" altLang="ko-KR"/>
              <a:t>PQC TLS </a:t>
            </a:r>
            <a:r>
              <a:rPr lang="ko-KR" altLang="en-US"/>
              <a:t>서버로 라우팅된다</a:t>
            </a:r>
            <a:r>
              <a:rPr lang="en-US" altLang="ko-KR"/>
              <a:t>.</a:t>
            </a:r>
          </a:p>
        </p:txBody>
      </p:sp>
      <p:sp>
        <p:nvSpPr>
          <p:cNvPr id="4" name="슬라이드 번호 개체 틀 3">
            <a:extLst>
              <a:ext uri="{FF2B5EF4-FFF2-40B4-BE49-F238E27FC236}">
                <a16:creationId xmlns:a16="http://schemas.microsoft.com/office/drawing/2014/main" id="{56C5096C-AEC6-10CF-D497-696490A6458C}"/>
              </a:ext>
            </a:extLst>
          </p:cNvPr>
          <p:cNvSpPr>
            <a:spLocks noGrp="1"/>
          </p:cNvSpPr>
          <p:nvPr>
            <p:ph type="sldNum" sz="quarter" idx="10"/>
          </p:nvPr>
        </p:nvSpPr>
        <p:spPr/>
        <p:txBody>
          <a:bodyPr/>
          <a:lstStyle/>
          <a:p>
            <a:fld id="{893B0CF2-7F87-4E02-A248-870047730F99}" type="slidenum">
              <a:rPr lang="en-US" altLang="ko-KR" smtClean="0"/>
              <a:pPr/>
              <a:t>16</a:t>
            </a:fld>
            <a:endParaRPr lang="ko-KR" altLang="en-US" dirty="0"/>
          </a:p>
        </p:txBody>
      </p:sp>
    </p:spTree>
    <p:extLst>
      <p:ext uri="{BB962C8B-B14F-4D97-AF65-F5344CB8AC3E}">
        <p14:creationId xmlns:p14="http://schemas.microsoft.com/office/powerpoint/2010/main" val="7650918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57F89-C7A1-71BA-59B5-E166AD53E76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C37814D-26ED-9E3F-7BC0-8ED1C28B7FF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CB4C113-01BD-6603-FE22-8F9C3A294342}"/>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The key focus of this gradual migration is ensuring operational safety. </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To achieve this, we use two evaluation methods: periodic long-window assessments and short-window evaluations for rapid rollback. </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The criteria are client compatibility, latency overhead, and critical error rate. Client Compatibility measures the success of migrating clients to PQC TLS servers under the current Prefer policy. For example, if the Prefer ratio is 25% but fewer than 20% of clients actually connect to PQC servers consistently, migration is considered unsuccessful. Latency evaluates the overhead when ECC clients switch to PQC; if the average overhead ratio of 5.81x exceeds a 7x threshold, the session is flagged as having abnormal latency. Critical Error Rate tracks direct session failures caused by migration. Long-window assessments occur every hour and trigger rollback when the compatibility drops more than 5% below the Prefer target, PQC client ratios remain below 20%, sessions with abnormal latency exceed 5% of total, or critical error rates stay above 0.1% for an hour.</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ko-KR" altLang="en-US"/>
              <a:t>본 시스템은 </a:t>
            </a:r>
            <a:r>
              <a:rPr lang="en-US" altLang="ko-KR"/>
              <a:t>Long Window(1 hours)</a:t>
            </a:r>
            <a:r>
              <a:rPr lang="ko-KR" altLang="en-US"/>
              <a:t>를 통한 주기적인 안전성 평가와 </a:t>
            </a:r>
            <a:r>
              <a:rPr lang="en-US" altLang="ko-KR"/>
              <a:t>Short Window(5 minutes)</a:t>
            </a:r>
            <a:r>
              <a:rPr lang="ko-KR" altLang="en-US"/>
              <a:t>를 통한 단기 롤백 평가를 수행한다</a:t>
            </a:r>
            <a:r>
              <a:rPr lang="en-US" altLang="ko-KR"/>
              <a:t>. </a:t>
            </a:r>
            <a:endParaRPr lang="en-US" altLang="ko-KR" dirty="0"/>
          </a:p>
          <a:p>
            <a:pPr marL="171450" indent="-171450">
              <a:buFontTx/>
              <a:buChar char="-"/>
            </a:pPr>
            <a:r>
              <a:rPr lang="en-US" altLang="ko-KR"/>
              <a:t>Long Window: </a:t>
            </a:r>
            <a:r>
              <a:rPr lang="ko-KR" altLang="en-US"/>
              <a:t>지속적인 안정성을 보장하기 위함이다</a:t>
            </a:r>
            <a:r>
              <a:rPr lang="en-US" altLang="ko-KR"/>
              <a:t>.</a:t>
            </a:r>
          </a:p>
          <a:p>
            <a:pPr marL="171450" indent="-171450">
              <a:buFontTx/>
              <a:buChar char="-"/>
            </a:pPr>
            <a:r>
              <a:rPr lang="en-US" altLang="ko-KR"/>
              <a:t>Short Window: </a:t>
            </a:r>
            <a:r>
              <a:rPr lang="ko-KR" altLang="en-US"/>
              <a:t>시스템이 지속되지 못할 정도의 치명적인 결함이 발견될 경우 즉시 롤백을 진행하기 위함이다</a:t>
            </a:r>
            <a:r>
              <a:rPr lang="en-US" altLang="ko-KR"/>
              <a:t>.</a:t>
            </a:r>
            <a:endParaRPr lang="en-US" altLang="ko-KR" dirty="0"/>
          </a:p>
          <a:p>
            <a:r>
              <a:rPr lang="ko-KR" altLang="en-US"/>
              <a:t>정의된 임계값을 충족하지 못할 경우 시스템은 이전 단계로 롤백된다</a:t>
            </a:r>
            <a:r>
              <a:rPr lang="en-US" altLang="ko-KR"/>
              <a:t>.</a:t>
            </a:r>
          </a:p>
        </p:txBody>
      </p:sp>
      <p:sp>
        <p:nvSpPr>
          <p:cNvPr id="4" name="슬라이드 번호 개체 틀 3">
            <a:extLst>
              <a:ext uri="{FF2B5EF4-FFF2-40B4-BE49-F238E27FC236}">
                <a16:creationId xmlns:a16="http://schemas.microsoft.com/office/drawing/2014/main" id="{6315C8B9-B574-D292-1FD2-51F95FF6FF28}"/>
              </a:ext>
            </a:extLst>
          </p:cNvPr>
          <p:cNvSpPr>
            <a:spLocks noGrp="1"/>
          </p:cNvSpPr>
          <p:nvPr>
            <p:ph type="sldNum" sz="quarter" idx="10"/>
          </p:nvPr>
        </p:nvSpPr>
        <p:spPr/>
        <p:txBody>
          <a:bodyPr/>
          <a:lstStyle/>
          <a:p>
            <a:fld id="{893B0CF2-7F87-4E02-A248-870047730F99}" type="slidenum">
              <a:rPr lang="en-US" altLang="ko-KR" smtClean="0"/>
              <a:pPr/>
              <a:t>17</a:t>
            </a:fld>
            <a:endParaRPr lang="ko-KR" altLang="en-US" dirty="0"/>
          </a:p>
        </p:txBody>
      </p:sp>
    </p:spTree>
    <p:extLst>
      <p:ext uri="{BB962C8B-B14F-4D97-AF65-F5344CB8AC3E}">
        <p14:creationId xmlns:p14="http://schemas.microsoft.com/office/powerpoint/2010/main" val="568364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524B5-4F20-09C7-D5A0-ED551DA90DA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9E16CA0-9824-AA6A-8E16-0CEBFF8C679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743B5E8-4326-1EA9-8475-F57B984141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kern="1200">
                <a:solidFill>
                  <a:schemeClr val="tx1"/>
                </a:solidFill>
                <a:effectLst/>
                <a:latin typeface="맑은 고딕" panose="020B0503020000020004" pitchFamily="50" charset="-127"/>
                <a:ea typeface="+mn-ea"/>
                <a:cs typeface="+mn-cs"/>
              </a:rPr>
              <a:t>The short window evaluation is designed to enable immediate rollback whenever a critical defect is detected and the system is no longer operating normally. This assessment is conducted every five minutes. If the PQC communication success rate for clients falls to less than half of the target value set by the current Prefer policy, or if the latency increases by more than 30 percent, or if the handshake failure rate exceeds one percent, we initiate an immediate rollback of the migration process. This rapid response mechanism is essential for maintaining system stability in the presence of sudden and severe faults.</a:t>
            </a:r>
            <a:endParaRPr lang="en-US" altLang="ko-KR"/>
          </a:p>
          <a:p>
            <a:endParaRPr lang="en-US" altLang="ko-KR"/>
          </a:p>
          <a:p>
            <a:r>
              <a:rPr lang="ko-KR" altLang="en-US"/>
              <a:t>본 시스템은 </a:t>
            </a:r>
            <a:r>
              <a:rPr lang="en-US" altLang="ko-KR"/>
              <a:t>Long Window(1 hours)</a:t>
            </a:r>
            <a:r>
              <a:rPr lang="ko-KR" altLang="en-US"/>
              <a:t>를 통한 주기적인 안전성 평가와 </a:t>
            </a:r>
            <a:r>
              <a:rPr lang="en-US" altLang="ko-KR"/>
              <a:t>Short Window(5 minutes)</a:t>
            </a:r>
            <a:r>
              <a:rPr lang="ko-KR" altLang="en-US"/>
              <a:t>를 통한 단기 롤백 평가를 수행한다</a:t>
            </a:r>
            <a:r>
              <a:rPr lang="en-US" altLang="ko-KR"/>
              <a:t>. </a:t>
            </a:r>
            <a:endParaRPr lang="en-US" altLang="ko-KR" dirty="0"/>
          </a:p>
          <a:p>
            <a:pPr marL="171450" indent="-171450">
              <a:buFontTx/>
              <a:buChar char="-"/>
            </a:pPr>
            <a:r>
              <a:rPr lang="en-US" altLang="ko-KR"/>
              <a:t>Long Window: </a:t>
            </a:r>
            <a:r>
              <a:rPr lang="ko-KR" altLang="en-US"/>
              <a:t>지속적인 안정성을 보장하기 위함이다</a:t>
            </a:r>
            <a:r>
              <a:rPr lang="en-US" altLang="ko-KR"/>
              <a:t>.</a:t>
            </a:r>
          </a:p>
          <a:p>
            <a:pPr marL="171450" indent="-171450">
              <a:buFontTx/>
              <a:buChar char="-"/>
            </a:pPr>
            <a:r>
              <a:rPr lang="en-US" altLang="ko-KR"/>
              <a:t>Short Window: </a:t>
            </a:r>
            <a:r>
              <a:rPr lang="ko-KR" altLang="en-US"/>
              <a:t>시스템이 지속되지 못할 정도의 치명적인 결함이 발견될 경우 즉시 롤백을 진행하기 위함이다</a:t>
            </a:r>
            <a:r>
              <a:rPr lang="en-US" altLang="ko-KR"/>
              <a:t>.</a:t>
            </a:r>
            <a:endParaRPr lang="en-US" altLang="ko-KR" dirty="0"/>
          </a:p>
          <a:p>
            <a:r>
              <a:rPr lang="ko-KR" altLang="en-US"/>
              <a:t>정의된 임계값을 충족하지 못할 경우 시스템은 이전 단계로 롤백된다</a:t>
            </a:r>
            <a:r>
              <a:rPr lang="en-US" altLang="ko-KR"/>
              <a:t>.</a:t>
            </a:r>
          </a:p>
        </p:txBody>
      </p:sp>
      <p:sp>
        <p:nvSpPr>
          <p:cNvPr id="4" name="슬라이드 번호 개체 틀 3">
            <a:extLst>
              <a:ext uri="{FF2B5EF4-FFF2-40B4-BE49-F238E27FC236}">
                <a16:creationId xmlns:a16="http://schemas.microsoft.com/office/drawing/2014/main" id="{BEC84AB5-EDE0-028A-4BAB-34EE25E7D5EF}"/>
              </a:ext>
            </a:extLst>
          </p:cNvPr>
          <p:cNvSpPr>
            <a:spLocks noGrp="1"/>
          </p:cNvSpPr>
          <p:nvPr>
            <p:ph type="sldNum" sz="quarter" idx="10"/>
          </p:nvPr>
        </p:nvSpPr>
        <p:spPr/>
        <p:txBody>
          <a:bodyPr/>
          <a:lstStyle/>
          <a:p>
            <a:fld id="{893B0CF2-7F87-4E02-A248-870047730F99}" type="slidenum">
              <a:rPr lang="en-US" altLang="ko-KR" smtClean="0"/>
              <a:pPr/>
              <a:t>18</a:t>
            </a:fld>
            <a:endParaRPr lang="ko-KR" altLang="en-US" dirty="0"/>
          </a:p>
        </p:txBody>
      </p:sp>
    </p:spTree>
    <p:extLst>
      <p:ext uri="{BB962C8B-B14F-4D97-AF65-F5344CB8AC3E}">
        <p14:creationId xmlns:p14="http://schemas.microsoft.com/office/powerpoint/2010/main" val="483361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41D93-5A22-3FE6-52BD-461518C07B6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AED14E8-EAEF-37C9-15CE-78381E52AE6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0DA279A-E1A4-016F-4CC2-A0DD423392F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kern="1200">
                <a:solidFill>
                  <a:schemeClr val="tx1"/>
                </a:solidFill>
                <a:effectLst/>
                <a:latin typeface="맑은 고딕" panose="020B0503020000020004" pitchFamily="50" charset="-127"/>
                <a:ea typeface="+mn-ea"/>
                <a:cs typeface="+mn-cs"/>
              </a:rPr>
              <a:t>In our study, we also considered scenarios involving simple errors, such as typos, to ensure the practical utility of the gradual migration system. If such an error occurs it can be corrected by transform map and applied immediately using the hot reload mechanism, without requiring any server downtime. Importantly, these changes do not affect ongoing sessions; the updated configuration only applies to new sessions established after the modification. </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ko-KR" altLang="en-US"/>
              <a:t>관리자는 오타같은 단순한 오류 발생 시 </a:t>
            </a:r>
            <a:r>
              <a:rPr lang="en-US" altLang="ko-KR"/>
              <a:t>Transform_map</a:t>
            </a:r>
            <a:r>
              <a:rPr lang="ko-KR" altLang="en-US"/>
              <a:t>을 수정함으로써 서버 중단 없이 문제를 해결한다</a:t>
            </a:r>
            <a:r>
              <a:rPr lang="en-US" altLang="ko-KR"/>
              <a:t>. </a:t>
            </a:r>
          </a:p>
          <a:p>
            <a:pPr marL="171450" indent="-171450">
              <a:buFontTx/>
              <a:buChar char="-"/>
            </a:pPr>
            <a:r>
              <a:rPr lang="ko-KR" altLang="en-US"/>
              <a:t>이러한 변경 사항은 기존 세션에는 적용되지 않으며</a:t>
            </a:r>
            <a:r>
              <a:rPr lang="en-US" altLang="ko-KR"/>
              <a:t>, </a:t>
            </a:r>
            <a:r>
              <a:rPr lang="ko-KR" altLang="en-US"/>
              <a:t>새롭게 생성되는 세션부터 반영된다</a:t>
            </a:r>
            <a:r>
              <a:rPr lang="en-US" altLang="ko-KR"/>
              <a:t>.</a:t>
            </a:r>
          </a:p>
          <a:p>
            <a:pPr marL="0" indent="0">
              <a:buFontTx/>
              <a:buNone/>
            </a:pPr>
            <a:endParaRPr lang="en-US" altLang="ko-KR"/>
          </a:p>
          <a:p>
            <a:pPr marL="0" indent="0">
              <a:buFontTx/>
              <a:buNone/>
            </a:pPr>
            <a:r>
              <a:rPr lang="ko-KR" altLang="en-US"/>
              <a:t>캡션</a:t>
            </a:r>
            <a:r>
              <a:rPr lang="en-US" altLang="ko-KR"/>
              <a:t>: </a:t>
            </a:r>
            <a:r>
              <a:rPr lang="ko-KR" altLang="en-US"/>
              <a:t>마이너 업데이트 시나리오</a:t>
            </a:r>
            <a:r>
              <a:rPr lang="en-US" altLang="ko-KR"/>
              <a:t>. </a:t>
            </a:r>
            <a:r>
              <a:rPr lang="ko-KR" altLang="en-US"/>
              <a:t>관리자가 정책 변경 시 서버 중단이나 지연 없이 오류 수정이 즉시 반영된다</a:t>
            </a:r>
            <a:r>
              <a:rPr lang="en-US" altLang="ko-KR"/>
              <a:t>. </a:t>
            </a:r>
          </a:p>
        </p:txBody>
      </p:sp>
      <p:sp>
        <p:nvSpPr>
          <p:cNvPr id="4" name="슬라이드 번호 개체 틀 3">
            <a:extLst>
              <a:ext uri="{FF2B5EF4-FFF2-40B4-BE49-F238E27FC236}">
                <a16:creationId xmlns:a16="http://schemas.microsoft.com/office/drawing/2014/main" id="{2CE73D96-3D56-3EDE-1F9E-F183EF84B442}"/>
              </a:ext>
            </a:extLst>
          </p:cNvPr>
          <p:cNvSpPr>
            <a:spLocks noGrp="1"/>
          </p:cNvSpPr>
          <p:nvPr>
            <p:ph type="sldNum" sz="quarter" idx="10"/>
          </p:nvPr>
        </p:nvSpPr>
        <p:spPr/>
        <p:txBody>
          <a:bodyPr/>
          <a:lstStyle/>
          <a:p>
            <a:fld id="{893B0CF2-7F87-4E02-A248-870047730F99}" type="slidenum">
              <a:rPr lang="en-US" altLang="ko-KR" smtClean="0"/>
              <a:pPr/>
              <a:t>19</a:t>
            </a:fld>
            <a:endParaRPr lang="ko-KR" altLang="en-US" dirty="0"/>
          </a:p>
        </p:txBody>
      </p:sp>
    </p:spTree>
    <p:extLst>
      <p:ext uri="{BB962C8B-B14F-4D97-AF65-F5344CB8AC3E}">
        <p14:creationId xmlns:p14="http://schemas.microsoft.com/office/powerpoint/2010/main" val="23636846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DB2F9-E4CA-CA7B-F7FE-8A4A214B1D8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D89E674-CFE6-7C90-6A85-41B7E5AB2AB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15834A3-526F-75A8-D60D-09FC9241DA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kern="1200">
                <a:solidFill>
                  <a:schemeClr val="tx1"/>
                </a:solidFill>
                <a:effectLst/>
                <a:latin typeface="맑은 고딕" panose="020B0503020000020004" pitchFamily="50" charset="-127"/>
                <a:ea typeface="+mn-ea"/>
                <a:cs typeface="+mn-cs"/>
              </a:rPr>
              <a:t>In our study, we also considered scenarios involving simple errors, such as typos, to ensure the practical utility of the gradual migration system. If such an error occurs it can be corrected by transform map and applied immediately using the hot reload mechanism, without requiring any server downtime. Importantly, these changes do not affect ongoing sessions; the updated configuration only applies to new sessions established after the modification. </a:t>
            </a:r>
            <a:endParaRPr lang="en-US" altLang="ko-KR"/>
          </a:p>
          <a:p>
            <a:endParaRPr lang="en-US" altLang="ko-KR"/>
          </a:p>
          <a:p>
            <a:r>
              <a:rPr lang="ko-KR" altLang="en-US"/>
              <a:t>핸드셰이크 성능은 지연 시간을 </a:t>
            </a:r>
            <a:r>
              <a:rPr lang="en-US" altLang="ko-KR"/>
              <a:t>200</a:t>
            </a:r>
            <a:r>
              <a:rPr lang="ko-KR" altLang="en-US"/>
              <a:t>회 반복 측정하여 분석하였다</a:t>
            </a:r>
            <a:r>
              <a:rPr lang="en-US" altLang="ko-KR"/>
              <a:t>. </a:t>
            </a:r>
          </a:p>
          <a:p>
            <a:r>
              <a:rPr lang="en-US" altLang="ko-KR"/>
              <a:t>- ECC </a:t>
            </a:r>
            <a:r>
              <a:rPr lang="ko-KR" altLang="en-US"/>
              <a:t>기반의 키 교환을 사용하는 클래식 </a:t>
            </a:r>
            <a:r>
              <a:rPr lang="en-US" altLang="ko-KR"/>
              <a:t>TLS </a:t>
            </a:r>
            <a:r>
              <a:rPr lang="ko-KR" altLang="en-US"/>
              <a:t>성능을 평가하였다</a:t>
            </a:r>
            <a:r>
              <a:rPr lang="en-US" altLang="ko-KR"/>
              <a:t>.</a:t>
            </a:r>
            <a:endParaRPr lang="ko-KR" altLang="en-US" dirty="0"/>
          </a:p>
        </p:txBody>
      </p:sp>
      <p:sp>
        <p:nvSpPr>
          <p:cNvPr id="4" name="슬라이드 번호 개체 틀 3">
            <a:extLst>
              <a:ext uri="{FF2B5EF4-FFF2-40B4-BE49-F238E27FC236}">
                <a16:creationId xmlns:a16="http://schemas.microsoft.com/office/drawing/2014/main" id="{5AE805FE-8208-F38E-A73D-813ABA432738}"/>
              </a:ext>
            </a:extLst>
          </p:cNvPr>
          <p:cNvSpPr>
            <a:spLocks noGrp="1"/>
          </p:cNvSpPr>
          <p:nvPr>
            <p:ph type="sldNum" sz="quarter" idx="10"/>
          </p:nvPr>
        </p:nvSpPr>
        <p:spPr/>
        <p:txBody>
          <a:bodyPr/>
          <a:lstStyle/>
          <a:p>
            <a:fld id="{893B0CF2-7F87-4E02-A248-870047730F99}" type="slidenum">
              <a:rPr lang="en-US" altLang="ko-KR" smtClean="0"/>
              <a:pPr/>
              <a:t>20</a:t>
            </a:fld>
            <a:endParaRPr lang="ko-KR" altLang="en-US" dirty="0"/>
          </a:p>
        </p:txBody>
      </p:sp>
    </p:spTree>
    <p:extLst>
      <p:ext uri="{BB962C8B-B14F-4D97-AF65-F5344CB8AC3E}">
        <p14:creationId xmlns:p14="http://schemas.microsoft.com/office/powerpoint/2010/main" val="3574798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A7320-24A7-5574-A9D6-55526A7D58C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10F260A-3AD5-3194-16EC-F859DBCE4DF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7F85FE6-A4B0-8C6B-2BD7-E17B53D5C7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kern="1200">
                <a:solidFill>
                  <a:schemeClr val="tx1"/>
                </a:solidFill>
                <a:effectLst/>
                <a:latin typeface="맑은 고딕" panose="020B0503020000020004" pitchFamily="50" charset="-127"/>
                <a:ea typeface="+mn-ea"/>
                <a:cs typeface="+mn-cs"/>
              </a:rPr>
              <a:t>Next, I will discuss the performance of PQC handshakes. In our measurements, the latency was approximately 550 milliseconds.</a:t>
            </a:r>
            <a:endParaRPr lang="en-US" altLang="ko-KR"/>
          </a:p>
          <a:p>
            <a:endParaRPr lang="en-US" altLang="ko-KR"/>
          </a:p>
          <a:p>
            <a:r>
              <a:rPr lang="en-US" altLang="ko-KR"/>
              <a:t>PQC </a:t>
            </a:r>
            <a:r>
              <a:rPr lang="ko-KR" altLang="en-US"/>
              <a:t>핸드셰이크 성능은 약 </a:t>
            </a:r>
            <a:r>
              <a:rPr lang="en-US" altLang="ko-KR"/>
              <a:t>600ms </a:t>
            </a:r>
            <a:r>
              <a:rPr lang="ko-KR" altLang="en-US"/>
              <a:t>대의 상대적으로 높은 지연 시간을 보였다</a:t>
            </a:r>
            <a:r>
              <a:rPr lang="en-US" altLang="ko-KR"/>
              <a:t>.</a:t>
            </a:r>
            <a:endParaRPr lang="ko-KR" altLang="en-US" dirty="0"/>
          </a:p>
        </p:txBody>
      </p:sp>
      <p:sp>
        <p:nvSpPr>
          <p:cNvPr id="4" name="슬라이드 번호 개체 틀 3">
            <a:extLst>
              <a:ext uri="{FF2B5EF4-FFF2-40B4-BE49-F238E27FC236}">
                <a16:creationId xmlns:a16="http://schemas.microsoft.com/office/drawing/2014/main" id="{FB834010-5AEB-F325-5F6C-DADD52C86879}"/>
              </a:ext>
            </a:extLst>
          </p:cNvPr>
          <p:cNvSpPr>
            <a:spLocks noGrp="1"/>
          </p:cNvSpPr>
          <p:nvPr>
            <p:ph type="sldNum" sz="quarter" idx="10"/>
          </p:nvPr>
        </p:nvSpPr>
        <p:spPr/>
        <p:txBody>
          <a:bodyPr/>
          <a:lstStyle/>
          <a:p>
            <a:fld id="{893B0CF2-7F87-4E02-A248-870047730F99}" type="slidenum">
              <a:rPr lang="en-US" altLang="ko-KR" smtClean="0"/>
              <a:pPr/>
              <a:t>21</a:t>
            </a:fld>
            <a:endParaRPr lang="ko-KR" altLang="en-US" dirty="0"/>
          </a:p>
        </p:txBody>
      </p:sp>
    </p:spTree>
    <p:extLst>
      <p:ext uri="{BB962C8B-B14F-4D97-AF65-F5344CB8AC3E}">
        <p14:creationId xmlns:p14="http://schemas.microsoft.com/office/powerpoint/2010/main" val="1334989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8135E-AEBC-338D-F16D-0D3A568F0E1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E916E7E-4C12-1CD2-C92C-A4A99F9DDA3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31E0EB8-7C67-5AF7-2DDF-AF47539CC3C6}"/>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Next, the performance of hybrid PQC handshakes. The measured latency was approximately 550 to 560 milliseconds, which is slightly higher than that of PQC handshakes, though the difference is not significant.</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I would also like to note that in some cases, measurements of hybrid PQC handshakes using NTRU+ failed. This was likely due to key size compatibility issues or excessive computational overhead during the handshake process.</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ko-KR" altLang="en-US"/>
              <a:t>하이브리드 </a:t>
            </a:r>
            <a:r>
              <a:rPr lang="en-US" altLang="ko-KR"/>
              <a:t>PQC</a:t>
            </a:r>
            <a:r>
              <a:rPr lang="ko-KR" altLang="en-US"/>
              <a:t>도 마찬가지로 높은 지연 시간을 보였으며</a:t>
            </a:r>
            <a:r>
              <a:rPr lang="en-US" altLang="ko-KR"/>
              <a:t>, </a:t>
            </a:r>
            <a:r>
              <a:rPr lang="ko-KR" altLang="en-US"/>
              <a:t>일부 알고리즘에서는 유효햔 측정값을 얻지 못하였다</a:t>
            </a:r>
            <a:r>
              <a:rPr lang="en-US" altLang="ko-KR"/>
              <a:t>.</a:t>
            </a:r>
            <a:endParaRPr lang="ko-KR" altLang="en-US" dirty="0"/>
          </a:p>
        </p:txBody>
      </p:sp>
      <p:sp>
        <p:nvSpPr>
          <p:cNvPr id="4" name="슬라이드 번호 개체 틀 3">
            <a:extLst>
              <a:ext uri="{FF2B5EF4-FFF2-40B4-BE49-F238E27FC236}">
                <a16:creationId xmlns:a16="http://schemas.microsoft.com/office/drawing/2014/main" id="{96E4AC21-7578-E186-8032-F2967CD7BCF1}"/>
              </a:ext>
            </a:extLst>
          </p:cNvPr>
          <p:cNvSpPr>
            <a:spLocks noGrp="1"/>
          </p:cNvSpPr>
          <p:nvPr>
            <p:ph type="sldNum" sz="quarter" idx="10"/>
          </p:nvPr>
        </p:nvSpPr>
        <p:spPr/>
        <p:txBody>
          <a:bodyPr/>
          <a:lstStyle/>
          <a:p>
            <a:fld id="{893B0CF2-7F87-4E02-A248-870047730F99}" type="slidenum">
              <a:rPr lang="en-US" altLang="ko-KR" smtClean="0"/>
              <a:pPr/>
              <a:t>22</a:t>
            </a:fld>
            <a:endParaRPr lang="ko-KR" altLang="en-US" dirty="0"/>
          </a:p>
        </p:txBody>
      </p:sp>
    </p:spTree>
    <p:extLst>
      <p:ext uri="{BB962C8B-B14F-4D97-AF65-F5344CB8AC3E}">
        <p14:creationId xmlns:p14="http://schemas.microsoft.com/office/powerpoint/2010/main" val="7037570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822E1-F488-C1E3-7B31-373A98CFE12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3245807-F0E3-EB1B-93B4-36B5D84B441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236F086-AAB9-BF3E-C3C9-13B64CB0B83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kern="1200">
                <a:solidFill>
                  <a:schemeClr val="tx1"/>
                </a:solidFill>
                <a:effectLst/>
                <a:latin typeface="맑은 고딕" panose="020B0503020000020004" pitchFamily="50" charset="-127"/>
                <a:ea typeface="+mn-ea"/>
                <a:cs typeface="+mn-cs"/>
              </a:rPr>
              <a:t>Based on these results, we measured the overhead of PQC compared to ECC. The evaluation revealed that PQC incurred approximately 5.8 times greater overhead compared to ECC.</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en-US" altLang="ko-KR"/>
              <a:t>ECC</a:t>
            </a:r>
            <a:r>
              <a:rPr lang="ko-KR" altLang="en-US"/>
              <a:t>와 비교했을 때 </a:t>
            </a:r>
            <a:r>
              <a:rPr lang="en-US" altLang="ko-KR"/>
              <a:t>PQC</a:t>
            </a:r>
            <a:r>
              <a:rPr lang="ko-KR" altLang="en-US"/>
              <a:t>는 약 </a:t>
            </a:r>
            <a:r>
              <a:rPr lang="en-US" altLang="ko-KR"/>
              <a:t>5.8</a:t>
            </a:r>
            <a:r>
              <a:rPr lang="ko-KR" altLang="en-US"/>
              <a:t>배의 오버헤드를 초래하였다</a:t>
            </a:r>
            <a:r>
              <a:rPr lang="en-US" altLang="ko-KR"/>
              <a:t>.</a:t>
            </a:r>
            <a:endParaRPr lang="ko-KR" altLang="en-US" dirty="0"/>
          </a:p>
        </p:txBody>
      </p:sp>
      <p:sp>
        <p:nvSpPr>
          <p:cNvPr id="4" name="슬라이드 번호 개체 틀 3">
            <a:extLst>
              <a:ext uri="{FF2B5EF4-FFF2-40B4-BE49-F238E27FC236}">
                <a16:creationId xmlns:a16="http://schemas.microsoft.com/office/drawing/2014/main" id="{AB8F52E9-AC3E-18F0-7C1B-C40662799A63}"/>
              </a:ext>
            </a:extLst>
          </p:cNvPr>
          <p:cNvSpPr>
            <a:spLocks noGrp="1"/>
          </p:cNvSpPr>
          <p:nvPr>
            <p:ph type="sldNum" sz="quarter" idx="10"/>
          </p:nvPr>
        </p:nvSpPr>
        <p:spPr/>
        <p:txBody>
          <a:bodyPr/>
          <a:lstStyle/>
          <a:p>
            <a:fld id="{893B0CF2-7F87-4E02-A248-870047730F99}" type="slidenum">
              <a:rPr lang="en-US" altLang="ko-KR" smtClean="0"/>
              <a:pPr/>
              <a:t>23</a:t>
            </a:fld>
            <a:endParaRPr lang="ko-KR" altLang="en-US" dirty="0"/>
          </a:p>
        </p:txBody>
      </p:sp>
    </p:spTree>
    <p:extLst>
      <p:ext uri="{BB962C8B-B14F-4D97-AF65-F5344CB8AC3E}">
        <p14:creationId xmlns:p14="http://schemas.microsoft.com/office/powerpoint/2010/main" val="16665834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AAD19-3BDF-E018-E4D9-5A99768116B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90B6865-B3EB-B53D-462D-0255F1AC142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F5D17F1-6830-B11E-48D1-DBAF43FFC93E}"/>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When we measured the overhead of ECC and hybrid PQC handshakes, we observed that hybrid PQC incurred approximately six times the overhead compared to ECC</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But Given that our tests were conducted in a virtual environment and include transmission latency, there is still considerable room for performance optimization in future implementations.</a:t>
            </a:r>
            <a:endParaRPr lang="ko-KR" altLang="ko-KR" sz="1200" kern="1200">
              <a:solidFill>
                <a:schemeClr val="tx1"/>
              </a:solidFill>
              <a:effectLst/>
              <a:latin typeface="맑은 고딕" panose="020B0503020000020004" pitchFamily="50" charset="-127"/>
              <a:ea typeface="+mn-ea"/>
              <a:cs typeface="+mn-cs"/>
            </a:endParaRPr>
          </a:p>
          <a:p>
            <a:endParaRPr lang="en-US" altLang="ko-KR"/>
          </a:p>
          <a:p>
            <a:r>
              <a:rPr lang="ko-KR" altLang="en-US"/>
              <a:t>하이브리드 </a:t>
            </a:r>
            <a:r>
              <a:rPr lang="en-US" altLang="ko-KR"/>
              <a:t>KEM</a:t>
            </a:r>
            <a:r>
              <a:rPr lang="ko-KR" altLang="en-US"/>
              <a:t>은 </a:t>
            </a:r>
            <a:r>
              <a:rPr lang="en-US" altLang="ko-KR"/>
              <a:t>PQC </a:t>
            </a:r>
            <a:r>
              <a:rPr lang="ko-KR" altLang="en-US"/>
              <a:t>대비 약간 더 높은 오버헤드를 보이지만</a:t>
            </a:r>
            <a:r>
              <a:rPr lang="en-US" altLang="ko-KR"/>
              <a:t>, </a:t>
            </a:r>
            <a:r>
              <a:rPr lang="ko-KR" altLang="en-US"/>
              <a:t>서비스 연속성을 유지할 수준으로 볼 수 있다</a:t>
            </a:r>
            <a:r>
              <a:rPr lang="en-US" altLang="ko-KR"/>
              <a:t>.</a:t>
            </a:r>
            <a:endParaRPr lang="ko-KR" altLang="en-US" dirty="0"/>
          </a:p>
        </p:txBody>
      </p:sp>
      <p:sp>
        <p:nvSpPr>
          <p:cNvPr id="4" name="슬라이드 번호 개체 틀 3">
            <a:extLst>
              <a:ext uri="{FF2B5EF4-FFF2-40B4-BE49-F238E27FC236}">
                <a16:creationId xmlns:a16="http://schemas.microsoft.com/office/drawing/2014/main" id="{61B54330-A2B9-D584-9F16-0B39F70D1C35}"/>
              </a:ext>
            </a:extLst>
          </p:cNvPr>
          <p:cNvSpPr>
            <a:spLocks noGrp="1"/>
          </p:cNvSpPr>
          <p:nvPr>
            <p:ph type="sldNum" sz="quarter" idx="10"/>
          </p:nvPr>
        </p:nvSpPr>
        <p:spPr/>
        <p:txBody>
          <a:bodyPr/>
          <a:lstStyle/>
          <a:p>
            <a:fld id="{893B0CF2-7F87-4E02-A248-870047730F99}" type="slidenum">
              <a:rPr lang="en-US" altLang="ko-KR" smtClean="0"/>
              <a:pPr/>
              <a:t>24</a:t>
            </a:fld>
            <a:endParaRPr lang="ko-KR" altLang="en-US" dirty="0"/>
          </a:p>
        </p:txBody>
      </p:sp>
    </p:spTree>
    <p:extLst>
      <p:ext uri="{BB962C8B-B14F-4D97-AF65-F5344CB8AC3E}">
        <p14:creationId xmlns:p14="http://schemas.microsoft.com/office/powerpoint/2010/main" val="30319287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C72E4-BF2A-B6A1-540A-E3E6D85844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40804D9-4BE4-E2A2-0634-A6A9F0AA54C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471868C-A56F-8508-B76C-1900E116D0D2}"/>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Next, we measured the migration time at each stage to evaluate performance. The values for the gradual transition process were also measured 200 times. Migration time was defined as the period from when the PQC configuration was changed and the SIGHUP signal was sent, until the settings were applied.</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To account for the scenario where a new configuration could be activated before the bridge settings were applied, we intentionally added a 2-second delay and then subtracted this value from the measured results to calculate the actual estimated migration time. The results showed that the actual estimated migration time ranged from 25 to 35 milliseconds, demonstrating that updates can be made zero-delay and downtime.</a:t>
            </a:r>
            <a:endParaRPr lang="ko-KR" altLang="ko-KR" sz="1200" kern="1200">
              <a:solidFill>
                <a:schemeClr val="tx1"/>
              </a:solidFill>
              <a:effectLst/>
              <a:latin typeface="맑은 고딕" panose="020B0503020000020004" pitchFamily="50" charset="-127"/>
              <a:ea typeface="+mn-ea"/>
              <a:cs typeface="+mn-cs"/>
            </a:endParaRPr>
          </a:p>
          <a:p>
            <a:endParaRPr lang="en-US" altLang="ko-KR"/>
          </a:p>
          <a:p>
            <a:endParaRPr lang="en-US" altLang="ko-KR"/>
          </a:p>
          <a:p>
            <a:r>
              <a:rPr lang="ko-KR" altLang="en-US"/>
              <a:t>각 단계에서의 마이그레이션 시간을 측정하여 성능을 평가</a:t>
            </a:r>
            <a:endParaRPr lang="en-US" altLang="ko-KR"/>
          </a:p>
          <a:p>
            <a:r>
              <a:rPr lang="en-US" altLang="ko-KR"/>
              <a:t>- </a:t>
            </a:r>
            <a:r>
              <a:rPr lang="ko-KR" altLang="en-US"/>
              <a:t>이 때 마이그레이션 시간은</a:t>
            </a:r>
            <a:r>
              <a:rPr lang="en-US" altLang="ko-KR"/>
              <a:t>, PQC </a:t>
            </a:r>
            <a:r>
              <a:rPr lang="ko-KR" altLang="en-US"/>
              <a:t>구성을 변경한 시점부터 브리지에 </a:t>
            </a:r>
            <a:r>
              <a:rPr lang="en-US" altLang="ko-KR"/>
              <a:t>SIGHUP </a:t>
            </a:r>
            <a:r>
              <a:rPr lang="ko-KR" altLang="en-US"/>
              <a:t>신호를 전송하고</a:t>
            </a:r>
            <a:r>
              <a:rPr lang="en-US" altLang="ko-KR"/>
              <a:t>, </a:t>
            </a:r>
            <a:r>
              <a:rPr lang="ko-KR" altLang="en-US"/>
              <a:t>설정이 적용될 때까지의 기간을 의미</a:t>
            </a:r>
            <a:endParaRPr lang="en-US" altLang="ko-KR"/>
          </a:p>
          <a:p>
            <a:pPr marL="171450" indent="-171450">
              <a:buFontTx/>
              <a:buChar char="-"/>
            </a:pPr>
            <a:r>
              <a:rPr lang="ko-KR" altLang="en-US"/>
              <a:t>브리지 설정이 적용되기 전 새로운 구성이 활성화되는 상황을 고려하여</a:t>
            </a:r>
            <a:r>
              <a:rPr lang="en-US" altLang="ko-KR"/>
              <a:t>, </a:t>
            </a:r>
            <a:r>
              <a:rPr lang="ko-KR" altLang="en-US"/>
              <a:t>인위적인 지연</a:t>
            </a:r>
            <a:r>
              <a:rPr lang="en-US" altLang="ko-KR"/>
              <a:t>(2000ms)</a:t>
            </a:r>
            <a:r>
              <a:rPr lang="ko-KR" altLang="en-US"/>
              <a:t>을 부여하고</a:t>
            </a:r>
            <a:r>
              <a:rPr lang="en-US" altLang="ko-KR"/>
              <a:t>, </a:t>
            </a:r>
            <a:r>
              <a:rPr lang="ko-KR" altLang="en-US"/>
              <a:t>실제 추정 마이그레이션 시간을 산출</a:t>
            </a:r>
            <a:endParaRPr lang="en-US" altLang="ko-KR"/>
          </a:p>
          <a:p>
            <a:pPr marL="171450" indent="-171450">
              <a:buFontTx/>
              <a:buChar char="-"/>
            </a:pPr>
            <a:endParaRPr lang="ko-KR" altLang="en-US" dirty="0"/>
          </a:p>
        </p:txBody>
      </p:sp>
      <p:sp>
        <p:nvSpPr>
          <p:cNvPr id="4" name="슬라이드 번호 개체 틀 3">
            <a:extLst>
              <a:ext uri="{FF2B5EF4-FFF2-40B4-BE49-F238E27FC236}">
                <a16:creationId xmlns:a16="http://schemas.microsoft.com/office/drawing/2014/main" id="{A4D1E41E-0464-F595-668E-9743CF8433BF}"/>
              </a:ext>
            </a:extLst>
          </p:cNvPr>
          <p:cNvSpPr>
            <a:spLocks noGrp="1"/>
          </p:cNvSpPr>
          <p:nvPr>
            <p:ph type="sldNum" sz="quarter" idx="10"/>
          </p:nvPr>
        </p:nvSpPr>
        <p:spPr/>
        <p:txBody>
          <a:bodyPr/>
          <a:lstStyle/>
          <a:p>
            <a:fld id="{893B0CF2-7F87-4E02-A248-870047730F99}" type="slidenum">
              <a:rPr lang="en-US" altLang="ko-KR" smtClean="0"/>
              <a:pPr/>
              <a:t>25</a:t>
            </a:fld>
            <a:endParaRPr lang="ko-KR" altLang="en-US" dirty="0"/>
          </a:p>
        </p:txBody>
      </p:sp>
    </p:spTree>
    <p:extLst>
      <p:ext uri="{BB962C8B-B14F-4D97-AF65-F5344CB8AC3E}">
        <p14:creationId xmlns:p14="http://schemas.microsoft.com/office/powerpoint/2010/main" val="34086421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DD1B0-3853-2589-C69E-9A0B8A172D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5221036-95E9-DAD9-1AD2-4733980C7FC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389746F-FE32-1CA9-AEF5-03606C477F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kern="1200">
                <a:solidFill>
                  <a:schemeClr val="tx1"/>
                </a:solidFill>
                <a:effectLst/>
                <a:latin typeface="맑은 고딕" panose="020B0503020000020004" pitchFamily="50" charset="-127"/>
                <a:ea typeface="+mn-ea"/>
                <a:cs typeface="+mn-cs"/>
              </a:rPr>
              <a:t>Next, I present the results of minor text transformation scenarios. The measurement conditions were identical to those used in the previous migration stages. These scenarios also showed transformation times of approximately 40 milliseconds, indicating that the changes were applied without no delay.</a:t>
            </a:r>
            <a:endParaRPr lang="en-US" altLang="ko-KR"/>
          </a:p>
          <a:p>
            <a:endParaRPr lang="en-US" altLang="ko-KR"/>
          </a:p>
          <a:p>
            <a:r>
              <a:rPr lang="ko-KR" altLang="en-US"/>
              <a:t>경미한 시나리오는 서버 진행 중 텍스트가 수정되는 상황을 가정하여 평가하였다</a:t>
            </a:r>
            <a:r>
              <a:rPr lang="en-US" altLang="ko-KR"/>
              <a:t>. </a:t>
            </a:r>
          </a:p>
          <a:p>
            <a:pPr marL="171450" indent="-171450">
              <a:buFontTx/>
              <a:buChar char="-"/>
            </a:pPr>
            <a:r>
              <a:rPr lang="ko-KR" altLang="en-US"/>
              <a:t>메시지를 변경한 시점부터 실제 서버에 반영되기까지의 성능을 측정하였다</a:t>
            </a:r>
            <a:r>
              <a:rPr lang="en-US" altLang="ko-KR"/>
              <a:t>. </a:t>
            </a:r>
          </a:p>
          <a:p>
            <a:pPr marL="171450" indent="-171450">
              <a:buFontTx/>
              <a:buChar char="-"/>
            </a:pPr>
            <a:r>
              <a:rPr lang="ko-KR" altLang="en-US"/>
              <a:t>클래식 </a:t>
            </a:r>
            <a:r>
              <a:rPr lang="en-US" altLang="ko-KR"/>
              <a:t>TLS </a:t>
            </a:r>
            <a:r>
              <a:rPr lang="ko-KR" altLang="en-US"/>
              <a:t>서버와 </a:t>
            </a:r>
            <a:r>
              <a:rPr lang="en-US" altLang="ko-KR"/>
              <a:t>PQC TLS </a:t>
            </a:r>
            <a:r>
              <a:rPr lang="ko-KR" altLang="en-US"/>
              <a:t>서버 모두 평균 </a:t>
            </a:r>
            <a:r>
              <a:rPr lang="en-US" altLang="ko-KR"/>
              <a:t>40ms</a:t>
            </a:r>
            <a:r>
              <a:rPr lang="ko-KR" altLang="en-US"/>
              <a:t>의 지연 없는 업데이트 성능을 보였다</a:t>
            </a:r>
            <a:r>
              <a:rPr lang="en-US" altLang="ko-KR"/>
              <a:t>. </a:t>
            </a:r>
            <a:endParaRPr lang="ko-KR" altLang="en-US" dirty="0"/>
          </a:p>
        </p:txBody>
      </p:sp>
      <p:sp>
        <p:nvSpPr>
          <p:cNvPr id="4" name="슬라이드 번호 개체 틀 3">
            <a:extLst>
              <a:ext uri="{FF2B5EF4-FFF2-40B4-BE49-F238E27FC236}">
                <a16:creationId xmlns:a16="http://schemas.microsoft.com/office/drawing/2014/main" id="{5C7FE2E4-614C-8043-9F2F-FE579987253F}"/>
              </a:ext>
            </a:extLst>
          </p:cNvPr>
          <p:cNvSpPr>
            <a:spLocks noGrp="1"/>
          </p:cNvSpPr>
          <p:nvPr>
            <p:ph type="sldNum" sz="quarter" idx="10"/>
          </p:nvPr>
        </p:nvSpPr>
        <p:spPr/>
        <p:txBody>
          <a:bodyPr/>
          <a:lstStyle/>
          <a:p>
            <a:fld id="{893B0CF2-7F87-4E02-A248-870047730F99}" type="slidenum">
              <a:rPr lang="en-US" altLang="ko-KR" smtClean="0"/>
              <a:pPr/>
              <a:t>26</a:t>
            </a:fld>
            <a:endParaRPr lang="ko-KR" altLang="en-US" dirty="0"/>
          </a:p>
        </p:txBody>
      </p:sp>
    </p:spTree>
    <p:extLst>
      <p:ext uri="{BB962C8B-B14F-4D97-AF65-F5344CB8AC3E}">
        <p14:creationId xmlns:p14="http://schemas.microsoft.com/office/powerpoint/2010/main" val="39631088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9EFDE-4139-4D7D-C4C0-EC8993B63C4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542FCAA-DE5C-C4FF-FEA5-261EBA91A33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0FFB6D5-504E-65AF-D0C5-BA41BCC199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kern="1200">
                <a:solidFill>
                  <a:schemeClr val="tx1"/>
                </a:solidFill>
                <a:effectLst/>
                <a:latin typeface="맑은 고딕" panose="020B0503020000020004" pitchFamily="50" charset="-127"/>
                <a:ea typeface="+mn-ea"/>
                <a:cs typeface="+mn-cs"/>
              </a:rPr>
              <a:t>In conclusion, our research proposes a bridge server-based framework for zero-downtime and uninterrupted gradual migration to PQC. To achieve this, we integrated policy-based routing, a hot reload mechanism, and rollback functionality, thereby providing both crypto agility and operational safety. Furthermore, by employing a stepwise migration approach during live operations, we present a practical method for transitioning TLS security. Finally, our experimental validation confirms that the bridge approach maintains service continuity and introduces only a measurable overhead.</a:t>
            </a:r>
          </a:p>
          <a:p>
            <a:endParaRPr lang="en-US" altLang="ko-KR" sz="1200" kern="1200">
              <a:solidFill>
                <a:schemeClr val="tx1"/>
              </a:solidFill>
              <a:effectLst/>
              <a:latin typeface="맑은 고딕" panose="020B0503020000020004" pitchFamily="50" charset="-127"/>
              <a:ea typeface="+mn-ea"/>
              <a:cs typeface="+mn-cs"/>
            </a:endParaRPr>
          </a:p>
          <a:p>
            <a:r>
              <a:rPr lang="ko-KR" altLang="ko-KR" sz="1200" kern="1200">
                <a:solidFill>
                  <a:schemeClr val="tx1"/>
                </a:solidFill>
                <a:effectLst/>
                <a:latin typeface="맑은 고딕" panose="020B0503020000020004" pitchFamily="50" charset="-127"/>
                <a:ea typeface="+mn-ea"/>
                <a:cs typeface="+mn-cs"/>
              </a:rPr>
              <a:t>본 연구에서는 무중단</a:t>
            </a:r>
            <a:r>
              <a:rPr lang="en-US" altLang="ko-KR" sz="1200" kern="1200">
                <a:solidFill>
                  <a:schemeClr val="tx1"/>
                </a:solidFill>
                <a:effectLst/>
                <a:latin typeface="맑은 고딕" panose="020B0503020000020004" pitchFamily="50" charset="-127"/>
                <a:ea typeface="+mn-ea"/>
                <a:cs typeface="+mn-cs"/>
              </a:rPr>
              <a:t>(Zero-downtime) TLS 1.3 </a:t>
            </a:r>
            <a:r>
              <a:rPr lang="ko-KR" altLang="ko-KR" sz="1200" kern="1200">
                <a:solidFill>
                  <a:schemeClr val="tx1"/>
                </a:solidFill>
                <a:effectLst/>
                <a:latin typeface="맑은 고딕" panose="020B0503020000020004" pitchFamily="50" charset="-127"/>
                <a:ea typeface="+mn-ea"/>
                <a:cs typeface="+mn-cs"/>
              </a:rPr>
              <a:t>마이그레이션을 가능하게 하는 브리지 서버 기반 프레임워크를 제안</a:t>
            </a:r>
            <a:endParaRPr lang="en-US" altLang="ko-KR" sz="1200" kern="1200">
              <a:solidFill>
                <a:schemeClr val="tx1"/>
              </a:solidFill>
              <a:effectLst/>
              <a:latin typeface="맑은 고딕" panose="020B0503020000020004" pitchFamily="50" charset="-127"/>
              <a:ea typeface="+mn-ea"/>
              <a:cs typeface="+mn-cs"/>
            </a:endParaRPr>
          </a:p>
          <a:p>
            <a:pPr marL="171450" indent="-171450">
              <a:buFontTx/>
              <a:buChar char="-"/>
            </a:pPr>
            <a:r>
              <a:rPr lang="ko-KR" altLang="ko-KR" sz="1200" kern="1200">
                <a:solidFill>
                  <a:schemeClr val="tx1"/>
                </a:solidFill>
                <a:effectLst/>
                <a:latin typeface="맑은 고딕" panose="020B0503020000020004" pitchFamily="50" charset="-127"/>
                <a:ea typeface="+mn-ea"/>
                <a:cs typeface="+mn-cs"/>
              </a:rPr>
              <a:t>정책 기반 라우팅</a:t>
            </a:r>
            <a:r>
              <a:rPr lang="en-US" altLang="ko-KR" sz="1200" kern="1200">
                <a:solidFill>
                  <a:schemeClr val="tx1"/>
                </a:solidFill>
                <a:effectLst/>
                <a:latin typeface="맑은 고딕" panose="020B0503020000020004" pitchFamily="50" charset="-127"/>
                <a:ea typeface="+mn-ea"/>
                <a:cs typeface="+mn-cs"/>
              </a:rPr>
              <a:t>, </a:t>
            </a:r>
            <a:r>
              <a:rPr lang="ko-KR" altLang="ko-KR" sz="1200" kern="1200">
                <a:solidFill>
                  <a:schemeClr val="tx1"/>
                </a:solidFill>
                <a:effectLst/>
                <a:latin typeface="맑은 고딕" panose="020B0503020000020004" pitchFamily="50" charset="-127"/>
                <a:ea typeface="+mn-ea"/>
                <a:cs typeface="+mn-cs"/>
              </a:rPr>
              <a:t>핫 리로드</a:t>
            </a:r>
            <a:r>
              <a:rPr lang="en-US" altLang="ko-KR" sz="1200" kern="1200">
                <a:solidFill>
                  <a:schemeClr val="tx1"/>
                </a:solidFill>
                <a:effectLst/>
                <a:latin typeface="맑은 고딕" panose="020B0503020000020004" pitchFamily="50" charset="-127"/>
                <a:ea typeface="+mn-ea"/>
                <a:cs typeface="+mn-cs"/>
              </a:rPr>
              <a:t>(Hot Reload), </a:t>
            </a:r>
            <a:r>
              <a:rPr lang="ko-KR" altLang="ko-KR" sz="1200" kern="1200">
                <a:solidFill>
                  <a:schemeClr val="tx1"/>
                </a:solidFill>
                <a:effectLst/>
                <a:latin typeface="맑은 고딕" panose="020B0503020000020004" pitchFamily="50" charset="-127"/>
                <a:ea typeface="+mn-ea"/>
                <a:cs typeface="+mn-cs"/>
              </a:rPr>
              <a:t>롤백</a:t>
            </a:r>
            <a:r>
              <a:rPr lang="en-US" altLang="ko-KR" sz="1200" kern="1200">
                <a:solidFill>
                  <a:schemeClr val="tx1"/>
                </a:solidFill>
                <a:effectLst/>
                <a:latin typeface="맑은 고딕" panose="020B0503020000020004" pitchFamily="50" charset="-127"/>
                <a:ea typeface="+mn-ea"/>
                <a:cs typeface="+mn-cs"/>
              </a:rPr>
              <a:t>(Rollback) </a:t>
            </a:r>
            <a:r>
              <a:rPr lang="ko-KR" altLang="ko-KR" sz="1200" kern="1200">
                <a:solidFill>
                  <a:schemeClr val="tx1"/>
                </a:solidFill>
                <a:effectLst/>
                <a:latin typeface="맑은 고딕" panose="020B0503020000020004" pitchFamily="50" charset="-127"/>
                <a:ea typeface="+mn-ea"/>
                <a:cs typeface="+mn-cs"/>
              </a:rPr>
              <a:t>메커니즘을 통합</a:t>
            </a:r>
            <a:r>
              <a:rPr lang="ko-KR" altLang="en-US" sz="1200" kern="1200">
                <a:solidFill>
                  <a:schemeClr val="tx1"/>
                </a:solidFill>
                <a:effectLst/>
                <a:latin typeface="맑은 고딕" panose="020B0503020000020004" pitchFamily="50" charset="-127"/>
                <a:ea typeface="+mn-ea"/>
                <a:cs typeface="+mn-cs"/>
              </a:rPr>
              <a:t>하여</a:t>
            </a:r>
            <a:r>
              <a:rPr lang="en-US" altLang="ko-KR" sz="1200" kern="1200">
                <a:solidFill>
                  <a:schemeClr val="tx1"/>
                </a:solidFill>
                <a:effectLst/>
                <a:latin typeface="맑은 고딕" panose="020B0503020000020004" pitchFamily="50" charset="-127"/>
                <a:ea typeface="+mn-ea"/>
                <a:cs typeface="+mn-cs"/>
              </a:rPr>
              <a:t> Crypto</a:t>
            </a:r>
            <a:r>
              <a:rPr lang="ko-KR" altLang="en-US" sz="1200" kern="1200">
                <a:solidFill>
                  <a:schemeClr val="tx1"/>
                </a:solidFill>
                <a:effectLst/>
                <a:latin typeface="맑은 고딕" panose="020B0503020000020004" pitchFamily="50" charset="-127"/>
                <a:ea typeface="+mn-ea"/>
                <a:cs typeface="+mn-cs"/>
              </a:rPr>
              <a:t> </a:t>
            </a:r>
            <a:r>
              <a:rPr lang="en-US" altLang="ko-KR" sz="1200" kern="1200">
                <a:solidFill>
                  <a:schemeClr val="tx1"/>
                </a:solidFill>
                <a:effectLst/>
                <a:latin typeface="맑은 고딕" panose="020B0503020000020004" pitchFamily="50" charset="-127"/>
                <a:ea typeface="+mn-ea"/>
                <a:cs typeface="+mn-cs"/>
              </a:rPr>
              <a:t>Agility </a:t>
            </a:r>
            <a:r>
              <a:rPr lang="ko-KR" altLang="en-US" sz="1200" kern="1200">
                <a:solidFill>
                  <a:schemeClr val="tx1"/>
                </a:solidFill>
                <a:effectLst/>
                <a:latin typeface="맑은 고딕" panose="020B0503020000020004" pitchFamily="50" charset="-127"/>
                <a:ea typeface="+mn-ea"/>
                <a:cs typeface="+mn-cs"/>
              </a:rPr>
              <a:t>구현</a:t>
            </a:r>
            <a:endParaRPr lang="en-US" altLang="ko-KR" sz="1200" kern="1200">
              <a:solidFill>
                <a:schemeClr val="tx1"/>
              </a:solidFill>
              <a:effectLst/>
              <a:latin typeface="맑은 고딕" panose="020B0503020000020004" pitchFamily="50" charset="-127"/>
              <a:ea typeface="+mn-ea"/>
              <a:cs typeface="+mn-cs"/>
            </a:endParaRPr>
          </a:p>
          <a:p>
            <a:pPr marL="171450" indent="-171450">
              <a:buFontTx/>
              <a:buChar char="-"/>
            </a:pPr>
            <a:r>
              <a:rPr lang="ko-KR" altLang="en-US" sz="1200" kern="1200">
                <a:solidFill>
                  <a:schemeClr val="tx1"/>
                </a:solidFill>
                <a:effectLst/>
                <a:latin typeface="맑은 고딕" panose="020B0503020000020004" pitchFamily="50" charset="-127"/>
                <a:ea typeface="+mn-ea"/>
                <a:cs typeface="+mn-cs"/>
              </a:rPr>
              <a:t>운영 중 단계적인 마이그레이션을 통한 </a:t>
            </a:r>
            <a:r>
              <a:rPr lang="en-US" altLang="ko-KR" sz="1200" kern="1200">
                <a:solidFill>
                  <a:schemeClr val="tx1"/>
                </a:solidFill>
                <a:effectLst/>
                <a:latin typeface="맑은 고딕" panose="020B0503020000020004" pitchFamily="50" charset="-127"/>
                <a:ea typeface="+mn-ea"/>
                <a:cs typeface="+mn-cs"/>
              </a:rPr>
              <a:t>TLS </a:t>
            </a:r>
            <a:r>
              <a:rPr lang="ko-KR" altLang="en-US" sz="1200" kern="1200">
                <a:solidFill>
                  <a:schemeClr val="tx1"/>
                </a:solidFill>
                <a:effectLst/>
                <a:latin typeface="맑은 고딕" panose="020B0503020000020004" pitchFamily="50" charset="-127"/>
                <a:ea typeface="+mn-ea"/>
                <a:cs typeface="+mn-cs"/>
              </a:rPr>
              <a:t>보안의 실용적인 접근법 제시 </a:t>
            </a:r>
            <a:endParaRPr lang="en-US" altLang="ko-KR" sz="1200" kern="1200">
              <a:solidFill>
                <a:schemeClr val="tx1"/>
              </a:solidFill>
              <a:effectLst/>
              <a:latin typeface="맑은 고딕" panose="020B0503020000020004" pitchFamily="50" charset="-127"/>
              <a:ea typeface="+mn-ea"/>
              <a:cs typeface="+mn-cs"/>
            </a:endParaRPr>
          </a:p>
          <a:p>
            <a:pPr marL="171450" indent="-171450">
              <a:buFontTx/>
              <a:buChar char="-"/>
            </a:pPr>
            <a:r>
              <a:rPr lang="ko-KR" altLang="en-US" sz="1200" kern="1200">
                <a:solidFill>
                  <a:schemeClr val="tx1"/>
                </a:solidFill>
                <a:effectLst/>
                <a:latin typeface="맑은 고딕" panose="020B0503020000020004" pitchFamily="50" charset="-127"/>
                <a:ea typeface="+mn-ea"/>
                <a:cs typeface="+mn-cs"/>
              </a:rPr>
              <a:t>실험적 검증을 통해 브리지 접근 방식이 서비스 연속성을 유지하면서도 측정 가능한 오버헤드만을 발생시킴을 확인</a:t>
            </a:r>
            <a:endParaRPr lang="ko-KR" altLang="en-US" dirty="0"/>
          </a:p>
        </p:txBody>
      </p:sp>
      <p:sp>
        <p:nvSpPr>
          <p:cNvPr id="4" name="슬라이드 번호 개체 틀 3">
            <a:extLst>
              <a:ext uri="{FF2B5EF4-FFF2-40B4-BE49-F238E27FC236}">
                <a16:creationId xmlns:a16="http://schemas.microsoft.com/office/drawing/2014/main" id="{553160DB-621E-8ABA-5E4C-AE935B207CC7}"/>
              </a:ext>
            </a:extLst>
          </p:cNvPr>
          <p:cNvSpPr>
            <a:spLocks noGrp="1"/>
          </p:cNvSpPr>
          <p:nvPr>
            <p:ph type="sldNum" sz="quarter" idx="10"/>
          </p:nvPr>
        </p:nvSpPr>
        <p:spPr/>
        <p:txBody>
          <a:bodyPr/>
          <a:lstStyle/>
          <a:p>
            <a:fld id="{893B0CF2-7F87-4E02-A248-870047730F99}" type="slidenum">
              <a:rPr lang="en-US" altLang="ko-KR" smtClean="0"/>
              <a:pPr/>
              <a:t>27</a:t>
            </a:fld>
            <a:endParaRPr lang="ko-KR" altLang="en-US" dirty="0"/>
          </a:p>
        </p:txBody>
      </p:sp>
    </p:spTree>
    <p:extLst>
      <p:ext uri="{BB962C8B-B14F-4D97-AF65-F5344CB8AC3E}">
        <p14:creationId xmlns:p14="http://schemas.microsoft.com/office/powerpoint/2010/main" val="22947763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5A2C8-FDF2-222F-2539-D76DFBC0CBC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65AA982-C3DC-8939-460B-2A1B10FC977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E84130B-9542-6C20-7784-73FF525BC66E}"/>
              </a:ext>
            </a:extLst>
          </p:cNvPr>
          <p:cNvSpPr>
            <a:spLocks noGrp="1"/>
          </p:cNvSpPr>
          <p:nvPr>
            <p:ph type="body" idx="1"/>
          </p:nvPr>
        </p:nvSpPr>
        <p:spPr/>
        <p:txBody>
          <a:bodyPr/>
          <a:lstStyle/>
          <a:p>
            <a:pPr latinLnBrk="1"/>
            <a:r>
              <a:rPr lang="en-US" altLang="ko-KR" sz="1200" kern="1200">
                <a:solidFill>
                  <a:schemeClr val="tx1"/>
                </a:solidFill>
                <a:effectLst/>
                <a:latin typeface="맑은 고딕" panose="020B0503020000020004" pitchFamily="50" charset="-127"/>
                <a:ea typeface="+mn-ea"/>
                <a:cs typeface="+mn-cs"/>
              </a:rPr>
              <a:t>Our future work is as follows.</a:t>
            </a:r>
            <a:endParaRPr lang="ko-KR" altLang="ko-KR" sz="1200" kern="1200">
              <a:solidFill>
                <a:schemeClr val="tx1"/>
              </a:solidFill>
              <a:effectLst/>
              <a:latin typeface="맑은 고딕" panose="020B0503020000020004" pitchFamily="50" charset="-127"/>
              <a:ea typeface="+mn-ea"/>
              <a:cs typeface="+mn-cs"/>
            </a:endParaRPr>
          </a:p>
          <a:p>
            <a:pPr latinLnBrk="1"/>
            <a:r>
              <a:rPr lang="en-US" altLang="ko-KR" sz="1200" kern="1200">
                <a:solidFill>
                  <a:schemeClr val="tx1"/>
                </a:solidFill>
                <a:effectLst/>
                <a:latin typeface="맑은 고딕" panose="020B0503020000020004" pitchFamily="50" charset="-127"/>
                <a:ea typeface="+mn-ea"/>
                <a:cs typeface="+mn-cs"/>
              </a:rPr>
              <a:t> Since our experimental evaluation was conducted in a virtual environment, it is necessary to validate the results in a real production setting. Therefore, we plan to conduct tests at a production-scale service environment. We also aim to support a broader range of network conditions and additional PQC algorithms. Furthermore, we intend to automate policy management based on our proposed rollback criteria, so that immediate rollback can be triggered automatically according to the evaluation standards.</a:t>
            </a:r>
            <a:endParaRPr lang="en-US" altLang="ko-KR"/>
          </a:p>
          <a:p>
            <a:endParaRPr lang="en-US" altLang="ko-KR"/>
          </a:p>
          <a:p>
            <a:r>
              <a:rPr lang="ko-KR" altLang="en-US"/>
              <a:t>본 연구의 범위를 확장하는 것이 목표이다</a:t>
            </a:r>
            <a:r>
              <a:rPr lang="en-US" altLang="ko-KR"/>
              <a:t>.</a:t>
            </a:r>
          </a:p>
          <a:p>
            <a:pPr marL="171450" indent="-171450">
              <a:buFontTx/>
              <a:buChar char="-"/>
            </a:pPr>
            <a:r>
              <a:rPr lang="ko-KR" altLang="en-US"/>
              <a:t>가상 환경에서 수행되었으나</a:t>
            </a:r>
            <a:r>
              <a:rPr lang="en-US" altLang="ko-KR"/>
              <a:t>, </a:t>
            </a:r>
            <a:r>
              <a:rPr lang="ko-KR" altLang="en-US"/>
              <a:t>향후 실서비스 규모의 환경에서의 테스트를 진행</a:t>
            </a:r>
            <a:endParaRPr lang="en-US" altLang="ko-KR"/>
          </a:p>
          <a:p>
            <a:pPr marL="171450" indent="-171450">
              <a:buFontTx/>
              <a:buChar char="-"/>
            </a:pPr>
            <a:r>
              <a:rPr lang="ko-KR" altLang="en-US"/>
              <a:t>다양한 </a:t>
            </a:r>
            <a:r>
              <a:rPr lang="en-US" altLang="ko-KR"/>
              <a:t>PQC </a:t>
            </a:r>
            <a:r>
              <a:rPr lang="ko-KR" altLang="en-US"/>
              <a:t>알고리즘에 대한 지원 확장</a:t>
            </a:r>
            <a:endParaRPr lang="en-US" altLang="ko-KR"/>
          </a:p>
          <a:p>
            <a:pPr marL="171450" indent="-171450">
              <a:buFontTx/>
              <a:buChar char="-"/>
            </a:pPr>
            <a:r>
              <a:rPr lang="ko-KR" altLang="en-US"/>
              <a:t>롤백 기준을 바탕으로 정책 자동화</a:t>
            </a:r>
            <a:endParaRPr lang="en-US" altLang="ko-KR"/>
          </a:p>
          <a:p>
            <a:pPr marL="171450" indent="-171450">
              <a:buFontTx/>
              <a:buChar char="-"/>
            </a:pPr>
            <a:r>
              <a:rPr lang="ko-KR" altLang="en-US"/>
              <a:t>다양한 네트워크 환경에서의 배포 평가</a:t>
            </a:r>
            <a:endParaRPr lang="en-US" altLang="ko-KR"/>
          </a:p>
        </p:txBody>
      </p:sp>
      <p:sp>
        <p:nvSpPr>
          <p:cNvPr id="4" name="슬라이드 번호 개체 틀 3">
            <a:extLst>
              <a:ext uri="{FF2B5EF4-FFF2-40B4-BE49-F238E27FC236}">
                <a16:creationId xmlns:a16="http://schemas.microsoft.com/office/drawing/2014/main" id="{53428BE8-0D20-2EEF-871B-57BB7F3CF7E4}"/>
              </a:ext>
            </a:extLst>
          </p:cNvPr>
          <p:cNvSpPr>
            <a:spLocks noGrp="1"/>
          </p:cNvSpPr>
          <p:nvPr>
            <p:ph type="sldNum" sz="quarter" idx="10"/>
          </p:nvPr>
        </p:nvSpPr>
        <p:spPr/>
        <p:txBody>
          <a:bodyPr/>
          <a:lstStyle/>
          <a:p>
            <a:fld id="{893B0CF2-7F87-4E02-A248-870047730F99}" type="slidenum">
              <a:rPr lang="en-US" altLang="ko-KR" smtClean="0"/>
              <a:pPr/>
              <a:t>28</a:t>
            </a:fld>
            <a:endParaRPr lang="ko-KR" altLang="en-US" dirty="0"/>
          </a:p>
        </p:txBody>
      </p:sp>
    </p:spTree>
    <p:extLst>
      <p:ext uri="{BB962C8B-B14F-4D97-AF65-F5344CB8AC3E}">
        <p14:creationId xmlns:p14="http://schemas.microsoft.com/office/powerpoint/2010/main" val="7464930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C55C0-798E-458E-B00F-DE3A3F8C5F3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8C1DEA7-9A55-DDC5-B5E1-0C4BB5FF6EB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4C3B14D-DFDB-F6F3-3C1A-47CD9AC6166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kern="1200">
                <a:solidFill>
                  <a:schemeClr val="tx1"/>
                </a:solidFill>
                <a:effectLst/>
                <a:latin typeface="맑은 고딕" panose="020B0503020000020004" pitchFamily="50" charset="-127"/>
                <a:ea typeface="+mn-ea"/>
                <a:cs typeface="+mn-cs"/>
              </a:rPr>
              <a:t>Thank you very much for your attention. Thank you.</a:t>
            </a:r>
            <a:endParaRPr lang="ko-KR" altLang="ko-KR" sz="1200" kern="1200">
              <a:solidFill>
                <a:schemeClr val="tx1"/>
              </a:solidFill>
              <a:effectLst/>
              <a:latin typeface="맑은 고딕" panose="020B0503020000020004" pitchFamily="50" charset="-127"/>
              <a:ea typeface="+mn-ea"/>
              <a:cs typeface="+mn-cs"/>
            </a:endParaRPr>
          </a:p>
          <a:p>
            <a:pPr rtl="0"/>
            <a:endParaRPr lang="ko-KR" altLang="en-US" dirty="0"/>
          </a:p>
        </p:txBody>
      </p:sp>
      <p:sp>
        <p:nvSpPr>
          <p:cNvPr id="4" name="슬라이드 번호 개체 틀 3">
            <a:extLst>
              <a:ext uri="{FF2B5EF4-FFF2-40B4-BE49-F238E27FC236}">
                <a16:creationId xmlns:a16="http://schemas.microsoft.com/office/drawing/2014/main" id="{BD3C7BA8-2348-C2A6-7DE6-907187B505D0}"/>
              </a:ext>
            </a:extLst>
          </p:cNvPr>
          <p:cNvSpPr>
            <a:spLocks noGrp="1"/>
          </p:cNvSpPr>
          <p:nvPr>
            <p:ph type="sldNum" sz="quarter" idx="10"/>
          </p:nvPr>
        </p:nvSpPr>
        <p:spPr/>
        <p:txBody>
          <a:bodyPr rtlCol="0"/>
          <a:lstStyle/>
          <a:p>
            <a:pPr rtl="0"/>
            <a:fld id="{893B0CF2-7F87-4E02-A248-870047730F99}" type="slidenum">
              <a:rPr lang="en-US" altLang="ko-KR" smtClean="0"/>
              <a:t>29</a:t>
            </a:fld>
            <a:endParaRPr lang="ko-KR" altLang="en-US" dirty="0"/>
          </a:p>
        </p:txBody>
      </p:sp>
    </p:spTree>
    <p:extLst>
      <p:ext uri="{BB962C8B-B14F-4D97-AF65-F5344CB8AC3E}">
        <p14:creationId xmlns:p14="http://schemas.microsoft.com/office/powerpoint/2010/main" val="11174973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0729E-2329-0C72-DDFB-CB7B0419B3D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B4C686-DB54-C007-18E3-E138308881E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DED5274-050C-6439-8456-14D0A28AF880}"/>
              </a:ext>
            </a:extLst>
          </p:cNvPr>
          <p:cNvSpPr>
            <a:spLocks noGrp="1"/>
          </p:cNvSpPr>
          <p:nvPr>
            <p:ph type="body" idx="1"/>
          </p:nvPr>
        </p:nvSpPr>
        <p:spPr/>
        <p:txBody>
          <a:bodyPr/>
          <a:lstStyle/>
          <a:p>
            <a:r>
              <a:rPr lang="ko-KR" altLang="en-US"/>
              <a:t>조언 감사드립니다</a:t>
            </a:r>
            <a:r>
              <a:rPr lang="en-US" altLang="ko-KR"/>
              <a:t>. </a:t>
            </a:r>
            <a:r>
              <a:rPr lang="ko-KR" altLang="en-US"/>
              <a:t>해당 부분 참고해서 확장할 때 포함시키도록 하겠습니다</a:t>
            </a:r>
            <a:r>
              <a:rPr lang="en-US" altLang="ko-KR"/>
              <a:t>. </a:t>
            </a:r>
          </a:p>
          <a:p>
            <a:r>
              <a:rPr lang="en-US" altLang="ko-KR" sz="1200" kern="1200">
                <a:solidFill>
                  <a:schemeClr val="tx1"/>
                </a:solidFill>
                <a:effectLst/>
                <a:latin typeface="맑은 고딕" panose="020B0503020000020004" pitchFamily="50" charset="-127"/>
                <a:ea typeface="+mn-ea"/>
                <a:cs typeface="+mn-cs"/>
              </a:rPr>
              <a:t>Thank you for your suggestion. I will take it into consideration and include it when expanding that section.</a:t>
            </a:r>
          </a:p>
          <a:p>
            <a:endParaRPr lang="en-US" altLang="ko-KR" sz="1200" kern="1200">
              <a:solidFill>
                <a:schemeClr val="tx1"/>
              </a:solidFill>
              <a:effectLst/>
              <a:latin typeface="맑은 고딕" panose="020B0503020000020004" pitchFamily="50" charset="-127"/>
              <a:ea typeface="+mn-ea"/>
              <a:cs typeface="+mn-cs"/>
            </a:endParaRPr>
          </a:p>
          <a:p>
            <a:r>
              <a:rPr lang="ko-KR" altLang="en-US"/>
              <a:t>죄송만 한 번만 다시 천천히 말씀해주시겠습니까</a:t>
            </a:r>
            <a:r>
              <a:rPr lang="en-US" altLang="ko-KR"/>
              <a:t>?</a:t>
            </a:r>
          </a:p>
          <a:p>
            <a:r>
              <a:rPr lang="en-US" altLang="ko-KR" sz="1200" kern="1200">
                <a:solidFill>
                  <a:schemeClr val="tx1"/>
                </a:solidFill>
                <a:effectLst/>
                <a:latin typeface="맑은 고딕" panose="020B0503020000020004" pitchFamily="50" charset="-127"/>
                <a:ea typeface="+mn-ea"/>
                <a:cs typeface="+mn-cs"/>
              </a:rPr>
              <a:t>Could you please repeat your question more slowly? I want to ensure I address all points thoroughly.</a:t>
            </a:r>
          </a:p>
          <a:p>
            <a:endParaRPr lang="en-US" altLang="ko-KR"/>
          </a:p>
          <a:p>
            <a:endParaRPr lang="en-US" altLang="ko-KR"/>
          </a:p>
          <a:p>
            <a:r>
              <a:rPr lang="ko-KR" altLang="en-US"/>
              <a:t>브리지 서버에서 초래하는 오버헤드에 대한 정량적 분석 및 실험 환경</a:t>
            </a:r>
            <a:endParaRPr lang="en-US" altLang="ko-KR"/>
          </a:p>
          <a:p>
            <a:pPr latinLnBrk="1"/>
            <a:r>
              <a:rPr lang="en-US" altLang="ko-KR" sz="1200" kern="1200">
                <a:solidFill>
                  <a:schemeClr val="tx1"/>
                </a:solidFill>
                <a:effectLst/>
                <a:latin typeface="맑은 고딕" panose="020B0503020000020004" pitchFamily="50" charset="-127"/>
                <a:ea typeface="+mn-ea"/>
                <a:cs typeface="+mn-cs"/>
              </a:rPr>
              <a:t>We have not yet performed a quantitative analysis of the bridge server's performance overhead, but recognize the need to assess it ,</a:t>
            </a:r>
            <a:endParaRPr lang="ko-KR" altLang="ko-KR" sz="1200" kern="1200">
              <a:solidFill>
                <a:schemeClr val="tx1"/>
              </a:solidFill>
              <a:effectLst/>
              <a:latin typeface="맑은 고딕" panose="020B0503020000020004" pitchFamily="50" charset="-127"/>
              <a:ea typeface="+mn-ea"/>
              <a:cs typeface="+mn-cs"/>
            </a:endParaRPr>
          </a:p>
          <a:p>
            <a:r>
              <a:rPr lang="en-US" altLang="ko-KR" sz="1200" kern="1200">
                <a:solidFill>
                  <a:schemeClr val="tx1"/>
                </a:solidFill>
                <a:effectLst/>
                <a:latin typeface="맑은 고딕" panose="020B0503020000020004" pitchFamily="50" charset="-127"/>
                <a:ea typeface="+mn-ea"/>
                <a:cs typeface="+mn-cs"/>
              </a:rPr>
              <a:t>So in future work, we plan to measure the overhead under operational conditions and pursue relevant optimizations in real environments.</a:t>
            </a:r>
          </a:p>
          <a:p>
            <a:endParaRPr lang="en-US" altLang="ko-KR"/>
          </a:p>
          <a:p>
            <a:r>
              <a:rPr lang="ko-KR" altLang="en-US"/>
              <a:t>기존 로드밸런서 기반 접근법과의 전략 비교</a:t>
            </a:r>
            <a:endParaRPr lang="en-US" altLang="ko-KR"/>
          </a:p>
          <a:p>
            <a:r>
              <a:rPr lang="en-US" altLang="ko-KR" sz="1200" kern="1200">
                <a:solidFill>
                  <a:schemeClr val="tx1"/>
                </a:solidFill>
                <a:effectLst/>
                <a:latin typeface="맑은 고딕" panose="020B0503020000020004" pitchFamily="50" charset="-127"/>
                <a:ea typeface="+mn-ea"/>
                <a:cs typeface="+mn-cs"/>
              </a:rPr>
              <a:t>Traditional load balancing generally uses only RSA or ECC certificates and does not take PQC into account. In addition, the same policy is globally applied to all sessions. Our bridge server framework dynamically assigns encryption policies tailored to each session, allowing for more flexible migration. However, as the number of managed policies and certificates increases, response times may slow down, so careful policy management is necessary.</a:t>
            </a:r>
          </a:p>
          <a:p>
            <a:endParaRPr lang="en-US" altLang="ko-KR"/>
          </a:p>
          <a:p>
            <a:r>
              <a:rPr lang="ko-KR" altLang="en-US"/>
              <a:t>브리지 서버 도입으로 인한 보안적 이슈</a:t>
            </a:r>
            <a:endParaRPr lang="en-US" altLang="ko-KR"/>
          </a:p>
          <a:p>
            <a:r>
              <a:rPr lang="en-US" altLang="ko-KR" sz="1200" kern="1200">
                <a:solidFill>
                  <a:schemeClr val="tx1"/>
                </a:solidFill>
                <a:effectLst/>
                <a:latin typeface="맑은 고딕" panose="020B0503020000020004" pitchFamily="50" charset="-127"/>
                <a:ea typeface="+mn-ea"/>
                <a:cs typeface="+mn-cs"/>
              </a:rPr>
              <a:t>The bridge routes between the client and server, concentrating important keys and certificates, which may increase vulnerability to security issues such as session compromise and man-in-the-middle attacks. We recognize this and plan to establish preventive and response measures in future work.</a:t>
            </a:r>
          </a:p>
          <a:p>
            <a:endParaRPr lang="en-US" altLang="ko-KR" sz="1200" kern="1200">
              <a:solidFill>
                <a:schemeClr val="tx1"/>
              </a:solidFill>
              <a:effectLst/>
              <a:latin typeface="맑은 고딕" panose="020B0503020000020004" pitchFamily="50" charset="-127"/>
              <a:ea typeface="+mn-ea"/>
              <a:cs typeface="+mn-cs"/>
            </a:endParaRPr>
          </a:p>
          <a:p>
            <a:r>
              <a:rPr lang="ko-KR" altLang="en-US"/>
              <a:t>정책 기준 </a:t>
            </a:r>
            <a:endParaRPr lang="en-US" altLang="ko-KR"/>
          </a:p>
          <a:p>
            <a:r>
              <a:rPr lang="en-US" altLang="ko-KR" sz="1200" kern="1200">
                <a:solidFill>
                  <a:schemeClr val="tx1"/>
                </a:solidFill>
                <a:effectLst/>
                <a:latin typeface="맑은 고딕" panose="020B0503020000020004" pitchFamily="50" charset="-127"/>
                <a:ea typeface="+mn-ea"/>
                <a:cs typeface="+mn-cs"/>
              </a:rPr>
              <a:t>The overhead values were measured based on actual experimental results. Rollback mechanisms and criteria were drafted with reference to Google engineering guidelines. Handshake failures were assessed very conservatively.</a:t>
            </a:r>
          </a:p>
          <a:p>
            <a:endParaRPr lang="en-US" altLang="ko-KR" sz="1200" kern="1200">
              <a:solidFill>
                <a:schemeClr val="tx1"/>
              </a:solidFill>
              <a:effectLst/>
              <a:latin typeface="맑은 고딕" panose="020B0503020000020004" pitchFamily="50" charset="-127"/>
              <a:ea typeface="+mn-ea"/>
              <a:cs typeface="+mn-cs"/>
            </a:endParaRPr>
          </a:p>
          <a:p>
            <a:r>
              <a:rPr lang="ko-KR" altLang="en-US"/>
              <a:t>왜 가상환경에서 진행헀나 </a:t>
            </a:r>
            <a:endParaRPr lang="en-US" altLang="ko-KR"/>
          </a:p>
          <a:p>
            <a:r>
              <a:rPr lang="en-US" altLang="ko-KR"/>
              <a:t>I can’t expand to production in real environment due to time constraints. Hower, we confirmed successful gradual migration in virtual environment, in future work, we polan to tests in a real service environ ment</a:t>
            </a:r>
          </a:p>
          <a:p>
            <a:endParaRPr lang="en-US" altLang="ko-KR"/>
          </a:p>
          <a:p>
            <a:endParaRPr lang="en-US" altLang="ko-KR"/>
          </a:p>
        </p:txBody>
      </p:sp>
      <p:sp>
        <p:nvSpPr>
          <p:cNvPr id="4" name="슬라이드 번호 개체 틀 3">
            <a:extLst>
              <a:ext uri="{FF2B5EF4-FFF2-40B4-BE49-F238E27FC236}">
                <a16:creationId xmlns:a16="http://schemas.microsoft.com/office/drawing/2014/main" id="{573FF3F1-2620-3F92-508D-7666972629DC}"/>
              </a:ext>
            </a:extLst>
          </p:cNvPr>
          <p:cNvSpPr>
            <a:spLocks noGrp="1"/>
          </p:cNvSpPr>
          <p:nvPr>
            <p:ph type="sldNum" sz="quarter" idx="10"/>
          </p:nvPr>
        </p:nvSpPr>
        <p:spPr/>
        <p:txBody>
          <a:bodyPr/>
          <a:lstStyle/>
          <a:p>
            <a:fld id="{893B0CF2-7F87-4E02-A248-870047730F99}" type="slidenum">
              <a:rPr lang="en-US" altLang="ko-KR" smtClean="0"/>
              <a:pPr/>
              <a:t>30</a:t>
            </a:fld>
            <a:endParaRPr lang="ko-KR" altLang="en-US" dirty="0"/>
          </a:p>
        </p:txBody>
      </p:sp>
    </p:spTree>
    <p:extLst>
      <p:ext uri="{BB962C8B-B14F-4D97-AF65-F5344CB8AC3E}">
        <p14:creationId xmlns:p14="http://schemas.microsoft.com/office/powerpoint/2010/main" val="190132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ko-KR" alt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ko-KR" altLang="en-US"/>
              <a:t>마스터 제목 스타일 편집</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E1D1FF33-0946-4996-B68F-D6E7E97FCE49}" type="datetime4">
              <a:rPr lang="ko-KR" altLang="en-US" smtClean="0"/>
              <a:t>2025년 11월 19일</a:t>
            </a:fld>
            <a:endParaRPr lang="ko-KR" alt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pPr rtl="0"/>
            <a:r>
              <a:rPr lang="ko-KR" altLang="en-US"/>
              <a:t>바닥글 추가</a:t>
            </a:r>
            <a:endParaRPr lang="ko-KR" alt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pPr rtl="0"/>
            <a:fld id="{401CF334-2D5C-4859-84A6-CA7E6E43FAEB}" type="slidenum">
              <a:rPr lang="en-US" altLang="ko-KR" smtClean="0"/>
              <a:t>‹#›</a:t>
            </a:fld>
            <a:endParaRPr lang="ko-KR" altLang="en-US" dirty="0"/>
          </a:p>
        </p:txBody>
      </p:sp>
      <p:cxnSp>
        <p:nvCxnSpPr>
          <p:cNvPr id="8" name="직선 연결선(S) 4">
            <a:extLst>
              <a:ext uri="{FF2B5EF4-FFF2-40B4-BE49-F238E27FC236}">
                <a16:creationId xmlns:a16="http://schemas.microsoft.com/office/drawing/2014/main" id="{8EB6DB9D-3445-E94C-1136-059DA97A8821}"/>
              </a:ext>
            </a:extLst>
          </p:cNvPr>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직선 연결선 8">
            <a:extLst>
              <a:ext uri="{FF2B5EF4-FFF2-40B4-BE49-F238E27FC236}">
                <a16:creationId xmlns:a16="http://schemas.microsoft.com/office/drawing/2014/main" id="{BAB879B7-6F4E-DF21-77A2-FD05519AAC6A}"/>
              </a:ext>
            </a:extLst>
          </p:cNvPr>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3982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76200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ko-KR" altLang="en-US"/>
          </a:p>
        </p:txBody>
      </p:sp>
      <p:sp>
        <p:nvSpPr>
          <p:cNvPr id="2" name="Title 1"/>
          <p:cNvSpPr>
            <a:spLocks noGrp="1"/>
          </p:cNvSpPr>
          <p:nvPr>
            <p:ph type="title"/>
          </p:nvPr>
        </p:nvSpPr>
        <p:spPr>
          <a:xfrm>
            <a:off x="581192" y="702156"/>
            <a:ext cx="11029616" cy="558753"/>
          </a:xfr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83FA99A4-3464-467D-B35A-952EAE23BA78}" type="datetime4">
              <a:rPr lang="ko-KR" altLang="en-US" smtClean="0"/>
              <a:t>2025년 11월 19일</a:t>
            </a:fld>
            <a:endParaRPr lang="ko-KR" altLang="en-US" dirty="0"/>
          </a:p>
        </p:txBody>
      </p:sp>
      <p:sp>
        <p:nvSpPr>
          <p:cNvPr id="5" name="Footer Placeholder 4"/>
          <p:cNvSpPr>
            <a:spLocks noGrp="1"/>
          </p:cNvSpPr>
          <p:nvPr>
            <p:ph type="ftr" sz="quarter" idx="11"/>
          </p:nvPr>
        </p:nvSpPr>
        <p:spPr/>
        <p:txBody>
          <a:bodyPr/>
          <a:lstStyle/>
          <a:p>
            <a:pPr rtl="0"/>
            <a:r>
              <a:rPr lang="ko-KR" altLang="en-US"/>
              <a:t>바닥글 추가</a:t>
            </a:r>
            <a:endParaRPr lang="ko-KR" altLang="en-US" dirty="0"/>
          </a:p>
        </p:txBody>
      </p:sp>
      <p:sp>
        <p:nvSpPr>
          <p:cNvPr id="6" name="Slide Number Placeholder 5"/>
          <p:cNvSpPr>
            <a:spLocks noGrp="1"/>
          </p:cNvSpPr>
          <p:nvPr>
            <p:ph type="sldNum" sz="quarter" idx="12"/>
          </p:nvPr>
        </p:nvSpPr>
        <p:spPr>
          <a:xfrm>
            <a:off x="10558300" y="5956137"/>
            <a:ext cx="1052508" cy="365125"/>
          </a:xfrm>
        </p:spPr>
        <p:txBody>
          <a:bodyPr/>
          <a:lstStyle/>
          <a:p>
            <a:pPr rtl="0"/>
            <a:fld id="{401CF334-2D5C-4859-84A6-CA7E6E43FAEB}" type="slidenum">
              <a:rPr lang="en-US" altLang="ko-KR" smtClean="0"/>
              <a:t>‹#›</a:t>
            </a:fld>
            <a:endParaRPr lang="ko-KR" altLang="en-US" dirty="0"/>
          </a:p>
        </p:txBody>
      </p:sp>
    </p:spTree>
    <p:extLst>
      <p:ext uri="{BB962C8B-B14F-4D97-AF65-F5344CB8AC3E}">
        <p14:creationId xmlns:p14="http://schemas.microsoft.com/office/powerpoint/2010/main" val="287418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ko-KR" altLang="en-US"/>
              <a:t>마스터 제목 스타일 편집</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3C2CDDE-BC7E-47C6-85E8-66DBECAE1D48}" type="datetime4">
              <a:rPr lang="ko-KR" altLang="en-US" smtClean="0"/>
              <a:t>2025년 11월 19일</a:t>
            </a:fld>
            <a:endParaRPr lang="ko-KR" alt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pPr rtl="0"/>
            <a:r>
              <a:rPr lang="ko-KR" altLang="en-US"/>
              <a:t>바닥글 추가</a:t>
            </a:r>
            <a:endParaRPr lang="ko-KR" alt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rtl="0"/>
            <a:fld id="{401CF334-2D5C-4859-84A6-CA7E6E43FAEB}" type="slidenum">
              <a:rPr lang="en-US" altLang="ko-KR" smtClean="0"/>
              <a:t>‹#›</a:t>
            </a:fld>
            <a:endParaRPr lang="ko-KR" altLang="en-US" dirty="0"/>
          </a:p>
        </p:txBody>
      </p:sp>
    </p:spTree>
    <p:extLst>
      <p:ext uri="{BB962C8B-B14F-4D97-AF65-F5344CB8AC3E}">
        <p14:creationId xmlns:p14="http://schemas.microsoft.com/office/powerpoint/2010/main" val="3517398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836C2B2A-6159-4243-96C7-F200C524924B}" type="datetime4">
              <a:rPr lang="ko-KR" altLang="en-US" smtClean="0"/>
              <a:t>2025년 11월 19일</a:t>
            </a:fld>
            <a:endParaRPr lang="ko-KR" altLang="en-US" dirty="0"/>
          </a:p>
        </p:txBody>
      </p:sp>
      <p:sp>
        <p:nvSpPr>
          <p:cNvPr id="6" name="Footer Placeholder 5"/>
          <p:cNvSpPr>
            <a:spLocks noGrp="1"/>
          </p:cNvSpPr>
          <p:nvPr>
            <p:ph type="ftr" sz="quarter" idx="11"/>
          </p:nvPr>
        </p:nvSpPr>
        <p:spPr/>
        <p:txBody>
          <a:bodyPr/>
          <a:lstStyle/>
          <a:p>
            <a:r>
              <a:rPr lang="ko-KR" altLang="en-US"/>
              <a:t>바닥글 추가</a:t>
            </a:r>
            <a:endParaRPr lang="ko-KR" altLang="en-US" dirty="0"/>
          </a:p>
        </p:txBody>
      </p:sp>
      <p:sp>
        <p:nvSpPr>
          <p:cNvPr id="7" name="Slide Number Placeholder 6"/>
          <p:cNvSpPr>
            <a:spLocks noGrp="1"/>
          </p:cNvSpPr>
          <p:nvPr>
            <p:ph type="sldNum" sz="quarter" idx="12"/>
          </p:nvPr>
        </p:nvSpPr>
        <p:spPr/>
        <p:txBody>
          <a:bodyPr/>
          <a:lstStyle/>
          <a:p>
            <a:fld id="{401CF334-2D5C-4859-84A6-CA7E6E43FAEB}" type="slidenum">
              <a:rPr lang="en-US" altLang="ko-KR" smtClean="0"/>
              <a:pPr/>
              <a:t>‹#›</a:t>
            </a:fld>
            <a:endParaRPr lang="ko-KR" altLang="en-US" dirty="0"/>
          </a:p>
        </p:txBody>
      </p:sp>
    </p:spTree>
    <p:extLst>
      <p:ext uri="{BB962C8B-B14F-4D97-AF65-F5344CB8AC3E}">
        <p14:creationId xmlns:p14="http://schemas.microsoft.com/office/powerpoint/2010/main" val="2399194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56F536A5-CC5C-4933-821D-22A94CC74A7E}" type="datetime4">
              <a:rPr lang="ko-KR" altLang="en-US" smtClean="0"/>
              <a:t>2025년 11월 19일</a:t>
            </a:fld>
            <a:endParaRPr lang="ko-KR" altLang="en-US" dirty="0"/>
          </a:p>
        </p:txBody>
      </p:sp>
      <p:sp>
        <p:nvSpPr>
          <p:cNvPr id="8" name="Footer Placeholder 7"/>
          <p:cNvSpPr>
            <a:spLocks noGrp="1"/>
          </p:cNvSpPr>
          <p:nvPr>
            <p:ph type="ftr" sz="quarter" idx="11"/>
          </p:nvPr>
        </p:nvSpPr>
        <p:spPr/>
        <p:txBody>
          <a:bodyPr/>
          <a:lstStyle/>
          <a:p>
            <a:pPr rtl="0"/>
            <a:r>
              <a:rPr lang="ko-KR" altLang="en-US"/>
              <a:t>바닥글 추가</a:t>
            </a:r>
            <a:endParaRPr lang="ko-KR" altLang="en-US" dirty="0"/>
          </a:p>
        </p:txBody>
      </p:sp>
      <p:sp>
        <p:nvSpPr>
          <p:cNvPr id="9" name="Slide Number Placeholder 8"/>
          <p:cNvSpPr>
            <a:spLocks noGrp="1"/>
          </p:cNvSpPr>
          <p:nvPr>
            <p:ph type="sldNum" sz="quarter" idx="12"/>
          </p:nvPr>
        </p:nvSpPr>
        <p:spPr/>
        <p:txBody>
          <a:bodyPr/>
          <a:lstStyle/>
          <a:p>
            <a:pPr rtl="0"/>
            <a:fld id="{401CF334-2D5C-4859-84A6-CA7E6E43FAEB}" type="slidenum">
              <a:rPr lang="en-US" altLang="ko-KR" smtClean="0"/>
              <a:t>‹#›</a:t>
            </a:fld>
            <a:endParaRPr lang="ko-KR" altLang="en-US" dirty="0"/>
          </a:p>
        </p:txBody>
      </p:sp>
    </p:spTree>
    <p:extLst>
      <p:ext uri="{BB962C8B-B14F-4D97-AF65-F5344CB8AC3E}">
        <p14:creationId xmlns:p14="http://schemas.microsoft.com/office/powerpoint/2010/main" val="375885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D7325240-C024-4CE8-B5A9-CB60972C4A8C}" type="datetime4">
              <a:rPr lang="ko-KR" altLang="en-US" smtClean="0"/>
              <a:t>2025년 11월 19일</a:t>
            </a:fld>
            <a:endParaRPr lang="ko-KR" altLang="en-US" dirty="0"/>
          </a:p>
        </p:txBody>
      </p:sp>
      <p:sp>
        <p:nvSpPr>
          <p:cNvPr id="4" name="Footer Placeholder 3"/>
          <p:cNvSpPr>
            <a:spLocks noGrp="1"/>
          </p:cNvSpPr>
          <p:nvPr>
            <p:ph type="ftr" sz="quarter" idx="11"/>
          </p:nvPr>
        </p:nvSpPr>
        <p:spPr/>
        <p:txBody>
          <a:bodyPr/>
          <a:lstStyle/>
          <a:p>
            <a:pPr rtl="0"/>
            <a:r>
              <a:rPr lang="ko-KR" altLang="en-US"/>
              <a:t>바닥글 추가</a:t>
            </a:r>
            <a:endParaRPr lang="ko-KR" altLang="en-US" dirty="0"/>
          </a:p>
        </p:txBody>
      </p:sp>
      <p:sp>
        <p:nvSpPr>
          <p:cNvPr id="5" name="Slide Number Placeholder 4"/>
          <p:cNvSpPr>
            <a:spLocks noGrp="1"/>
          </p:cNvSpPr>
          <p:nvPr>
            <p:ph type="sldNum" sz="quarter" idx="12"/>
          </p:nvPr>
        </p:nvSpPr>
        <p:spPr/>
        <p:txBody>
          <a:bodyPr/>
          <a:lstStyle/>
          <a:p>
            <a:pPr rtl="0"/>
            <a:fld id="{401CF334-2D5C-4859-84A6-CA7E6E43FAEB}" type="slidenum">
              <a:rPr lang="en-US" altLang="ko-KR" smtClean="0"/>
              <a:t>‹#›</a:t>
            </a:fld>
            <a:endParaRPr lang="ko-KR" altLang="en-US" dirty="0"/>
          </a:p>
        </p:txBody>
      </p:sp>
    </p:spTree>
    <p:extLst>
      <p:ext uri="{BB962C8B-B14F-4D97-AF65-F5344CB8AC3E}">
        <p14:creationId xmlns:p14="http://schemas.microsoft.com/office/powerpoint/2010/main" val="2609149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E378A0-F4D3-4319-82A8-71DD3DBCB918}" type="datetime4">
              <a:rPr lang="ko-KR" altLang="en-US" smtClean="0"/>
              <a:t>2025년 11월 19일</a:t>
            </a:fld>
            <a:endParaRPr lang="ko-KR" altLang="en-US" dirty="0"/>
          </a:p>
        </p:txBody>
      </p:sp>
      <p:sp>
        <p:nvSpPr>
          <p:cNvPr id="3" name="Footer Placeholder 2"/>
          <p:cNvSpPr>
            <a:spLocks noGrp="1"/>
          </p:cNvSpPr>
          <p:nvPr>
            <p:ph type="ftr" sz="quarter" idx="11"/>
          </p:nvPr>
        </p:nvSpPr>
        <p:spPr/>
        <p:txBody>
          <a:bodyPr/>
          <a:lstStyle/>
          <a:p>
            <a:r>
              <a:rPr lang="ko-KR" altLang="en-US"/>
              <a:t>바닥글 추가</a:t>
            </a:r>
            <a:endParaRPr lang="ko-KR" altLang="en-US" dirty="0"/>
          </a:p>
        </p:txBody>
      </p:sp>
      <p:sp>
        <p:nvSpPr>
          <p:cNvPr id="4" name="Slide Number Placeholder 3"/>
          <p:cNvSpPr>
            <a:spLocks noGrp="1"/>
          </p:cNvSpPr>
          <p:nvPr>
            <p:ph type="sldNum" sz="quarter" idx="12"/>
          </p:nvPr>
        </p:nvSpPr>
        <p:spPr/>
        <p:txBody>
          <a:bodyPr/>
          <a:lstStyle/>
          <a:p>
            <a:fld id="{401CF334-2D5C-4859-84A6-CA7E6E43FAEB}" type="slidenum">
              <a:rPr lang="en-US" altLang="ko-KR" smtClean="0"/>
              <a:pPr/>
              <a:t>‹#›</a:t>
            </a:fld>
            <a:endParaRPr lang="ko-KR" altLang="en-US" dirty="0"/>
          </a:p>
        </p:txBody>
      </p:sp>
    </p:spTree>
    <p:extLst>
      <p:ext uri="{BB962C8B-B14F-4D97-AF65-F5344CB8AC3E}">
        <p14:creationId xmlns:p14="http://schemas.microsoft.com/office/powerpoint/2010/main" val="3536813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ko-KR" altLang="en-US"/>
              <a:t>마스터 제목 스타일 편집</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F1744F10-B1CE-4DD1-BB0F-90FE232E5C86}" type="datetime4">
              <a:rPr lang="ko-KR" altLang="en-US" smtClean="0"/>
              <a:t>2025년 11월 19일</a:t>
            </a:fld>
            <a:endParaRPr lang="ko-KR" alt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pPr rtl="0"/>
            <a:r>
              <a:rPr lang="ko-KR" altLang="en-US"/>
              <a:t>바닥글 추가</a:t>
            </a:r>
            <a:endParaRPr lang="ko-KR" alt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rtl="0"/>
            <a:fld id="{401CF334-2D5C-4859-84A6-CA7E6E43FAEB}" type="slidenum">
              <a:rPr lang="en-US" altLang="ko-KR" smtClean="0"/>
              <a:t>‹#›</a:t>
            </a:fld>
            <a:endParaRPr lang="ko-KR" altLang="en-US" dirty="0"/>
          </a:p>
        </p:txBody>
      </p:sp>
    </p:spTree>
    <p:extLst>
      <p:ext uri="{BB962C8B-B14F-4D97-AF65-F5344CB8AC3E}">
        <p14:creationId xmlns:p14="http://schemas.microsoft.com/office/powerpoint/2010/main" val="1156286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33FCBBC6-BC02-4DE4-AF46-251000D35B9B}" type="datetime4">
              <a:rPr lang="ko-KR" altLang="en-US" smtClean="0"/>
              <a:t>2025년 11월 19일</a:t>
            </a:fld>
            <a:endParaRPr lang="ko-KR" altLang="en-US" dirty="0"/>
          </a:p>
        </p:txBody>
      </p:sp>
      <p:sp>
        <p:nvSpPr>
          <p:cNvPr id="6" name="Footer Placeholder 5"/>
          <p:cNvSpPr>
            <a:spLocks noGrp="1"/>
          </p:cNvSpPr>
          <p:nvPr>
            <p:ph type="ftr" sz="quarter" idx="11"/>
          </p:nvPr>
        </p:nvSpPr>
        <p:spPr/>
        <p:txBody>
          <a:bodyPr/>
          <a:lstStyle/>
          <a:p>
            <a:pPr rtl="0"/>
            <a:r>
              <a:rPr lang="ko-KR" altLang="en-US"/>
              <a:t>바닥글 추가</a:t>
            </a:r>
            <a:endParaRPr lang="ko-KR" altLang="en-US" dirty="0"/>
          </a:p>
        </p:txBody>
      </p:sp>
      <p:sp>
        <p:nvSpPr>
          <p:cNvPr id="7" name="Slide Number Placeholder 6"/>
          <p:cNvSpPr>
            <a:spLocks noGrp="1"/>
          </p:cNvSpPr>
          <p:nvPr>
            <p:ph type="sldNum" sz="quarter" idx="12"/>
          </p:nvPr>
        </p:nvSpPr>
        <p:spPr/>
        <p:txBody>
          <a:bodyPr/>
          <a:lstStyle/>
          <a:p>
            <a:pPr rtl="0"/>
            <a:fld id="{401CF334-2D5C-4859-84A6-CA7E6E43FAEB}" type="slidenum">
              <a:rPr lang="en-US" altLang="ko-KR" smtClean="0"/>
              <a:t>‹#›</a:t>
            </a:fld>
            <a:endParaRPr lang="ko-KR" altLang="en-US" dirty="0"/>
          </a:p>
        </p:txBody>
      </p:sp>
    </p:spTree>
    <p:extLst>
      <p:ext uri="{BB962C8B-B14F-4D97-AF65-F5344CB8AC3E}">
        <p14:creationId xmlns:p14="http://schemas.microsoft.com/office/powerpoint/2010/main" val="3545280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3B9BB66D-43EE-4A15-A347-13892CCA1571}" type="datetime4">
              <a:rPr lang="ko-KR" altLang="en-US" smtClean="0"/>
              <a:t>2025년 11월 19일</a:t>
            </a:fld>
            <a:endParaRPr lang="ko-KR" altLang="en-US" dirty="0"/>
          </a:p>
        </p:txBody>
      </p:sp>
      <p:sp>
        <p:nvSpPr>
          <p:cNvPr id="5" name="Footer Placeholder 4"/>
          <p:cNvSpPr>
            <a:spLocks noGrp="1"/>
          </p:cNvSpPr>
          <p:nvPr>
            <p:ph type="ftr" sz="quarter" idx="11"/>
          </p:nvPr>
        </p:nvSpPr>
        <p:spPr/>
        <p:txBody>
          <a:bodyPr/>
          <a:lstStyle/>
          <a:p>
            <a:pPr rtl="0"/>
            <a:r>
              <a:rPr lang="ko-KR" altLang="en-US"/>
              <a:t>바닥글 추가</a:t>
            </a:r>
            <a:endParaRPr lang="ko-KR" altLang="en-US" dirty="0"/>
          </a:p>
        </p:txBody>
      </p:sp>
      <p:sp>
        <p:nvSpPr>
          <p:cNvPr id="6" name="Slide Number Placeholder 5"/>
          <p:cNvSpPr>
            <a:spLocks noGrp="1"/>
          </p:cNvSpPr>
          <p:nvPr>
            <p:ph type="sldNum" sz="quarter" idx="12"/>
          </p:nvPr>
        </p:nvSpPr>
        <p:spPr/>
        <p:txBody>
          <a:bodyPr/>
          <a:lstStyle/>
          <a:p>
            <a:pPr rtl="0"/>
            <a:fld id="{401CF334-2D5C-4859-84A6-CA7E6E43FAEB}" type="slidenum">
              <a:rPr lang="en-US" altLang="ko-KR" smtClean="0"/>
              <a:t>‹#›</a:t>
            </a:fld>
            <a:endParaRPr lang="ko-KR" altLang="en-US" dirty="0"/>
          </a:p>
        </p:txBody>
      </p:sp>
    </p:spTree>
    <p:extLst>
      <p:ext uri="{BB962C8B-B14F-4D97-AF65-F5344CB8AC3E}">
        <p14:creationId xmlns:p14="http://schemas.microsoft.com/office/powerpoint/2010/main" val="1984385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651D036-7EB8-43D0-9A9C-2D431A59CB7C}" type="datetime4">
              <a:rPr lang="ko-KR" altLang="en-US" smtClean="0"/>
              <a:t>2025년 11월 19일</a:t>
            </a:fld>
            <a:endParaRPr lang="ko-KR" altLang="en-US" dirty="0"/>
          </a:p>
        </p:txBody>
      </p:sp>
      <p:sp>
        <p:nvSpPr>
          <p:cNvPr id="5" name="Footer Placeholder 4"/>
          <p:cNvSpPr>
            <a:spLocks noGrp="1"/>
          </p:cNvSpPr>
          <p:nvPr>
            <p:ph type="ftr" sz="quarter" idx="11"/>
          </p:nvPr>
        </p:nvSpPr>
        <p:spPr>
          <a:xfrm>
            <a:off x="774923" y="5951811"/>
            <a:ext cx="7896279" cy="365125"/>
          </a:xfrm>
        </p:spPr>
        <p:txBody>
          <a:bodyPr/>
          <a:lstStyle/>
          <a:p>
            <a:pPr rtl="0"/>
            <a:r>
              <a:rPr lang="ko-KR" altLang="en-US"/>
              <a:t>바닥글 추가</a:t>
            </a:r>
            <a:endParaRPr lang="ko-KR" alt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pPr rtl="0"/>
            <a:fld id="{401CF334-2D5C-4859-84A6-CA7E6E43FAEB}" type="slidenum">
              <a:rPr lang="en-US" altLang="ko-KR" smtClean="0"/>
              <a:t>‹#›</a:t>
            </a:fld>
            <a:endParaRPr lang="ko-KR" altLang="en-US" dirty="0"/>
          </a:p>
        </p:txBody>
      </p:sp>
    </p:spTree>
    <p:extLst>
      <p:ext uri="{BB962C8B-B14F-4D97-AF65-F5344CB8AC3E}">
        <p14:creationId xmlns:p14="http://schemas.microsoft.com/office/powerpoint/2010/main" val="3722463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B659787-3626-48F3-ABAB-29B7C461C552}" type="datetime4">
              <a:rPr lang="ko-KR" altLang="en-US" smtClean="0"/>
              <a:t>2025년 11월 19일</a:t>
            </a:fld>
            <a:endParaRPr lang="ko-KR" alt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ko-KR" altLang="en-US"/>
              <a:t>바닥글 추가</a:t>
            </a:r>
            <a:endParaRPr lang="ko-KR" alt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401CF334-2D5C-4859-84A6-CA7E6E43FAEB}" type="slidenum">
              <a:rPr lang="en-US" altLang="ko-KR" smtClean="0"/>
              <a:pPr/>
              <a:t>‹#›</a:t>
            </a:fld>
            <a:endParaRPr lang="ko-KR" alt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ko-KR" alt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ko-KR" alt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ko-KR" altLang="en-US"/>
          </a:p>
        </p:txBody>
      </p:sp>
    </p:spTree>
    <p:extLst>
      <p:ext uri="{BB962C8B-B14F-4D97-AF65-F5344CB8AC3E}">
        <p14:creationId xmlns:p14="http://schemas.microsoft.com/office/powerpoint/2010/main" val="399223775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457200" rtl="0" eaLnBrk="1" latinLnBrk="1" hangingPunct="1">
        <a:spcBef>
          <a:spcPct val="0"/>
        </a:spcBef>
        <a:buNone/>
        <a:defRPr sz="2800" b="0" kern="1200" cap="all">
          <a:solidFill>
            <a:schemeClr val="bg1"/>
          </a:solidFill>
          <a:latin typeface="+mj-lt"/>
          <a:ea typeface="+mj-ea"/>
          <a:cs typeface="+mj-cs"/>
        </a:defRPr>
      </a:lvl1pPr>
      <a:lvl2pPr eaLnBrk="1" latinLnBrk="1" hangingPunct="1">
        <a:defRPr>
          <a:solidFill>
            <a:schemeClr val="tx2"/>
          </a:solidFill>
        </a:defRPr>
      </a:lvl2pPr>
      <a:lvl3pPr eaLnBrk="1" latinLnBrk="1" hangingPunct="1">
        <a:defRPr>
          <a:solidFill>
            <a:schemeClr val="tx2"/>
          </a:solidFill>
        </a:defRPr>
      </a:lvl3pPr>
      <a:lvl4pPr eaLnBrk="1" latinLnBrk="1" hangingPunct="1">
        <a:defRPr>
          <a:solidFill>
            <a:schemeClr val="tx2"/>
          </a:solidFill>
        </a:defRPr>
      </a:lvl4pPr>
      <a:lvl5pPr eaLnBrk="1" latinLnBrk="1" hangingPunct="1">
        <a:defRPr>
          <a:solidFill>
            <a:schemeClr val="tx2"/>
          </a:solidFill>
        </a:defRPr>
      </a:lvl5pPr>
      <a:lvl6pPr eaLnBrk="1" latinLnBrk="1" hangingPunct="1">
        <a:defRPr>
          <a:solidFill>
            <a:schemeClr val="tx2"/>
          </a:solidFill>
        </a:defRPr>
      </a:lvl6pPr>
      <a:lvl7pPr eaLnBrk="1" latinLnBrk="1" hangingPunct="1">
        <a:defRPr>
          <a:solidFill>
            <a:schemeClr val="tx2"/>
          </a:solidFill>
        </a:defRPr>
      </a:lvl7pPr>
      <a:lvl8pPr eaLnBrk="1" latinLnBrk="1" hangingPunct="1">
        <a:defRPr>
          <a:solidFill>
            <a:schemeClr val="tx2"/>
          </a:solidFill>
        </a:defRPr>
      </a:lvl8pPr>
      <a:lvl9pPr eaLnBrk="1" latinLnBrk="1" hangingPunct="1">
        <a:defRPr>
          <a:solidFill>
            <a:schemeClr val="tx2"/>
          </a:solidFill>
        </a:defRPr>
      </a:lvl9pPr>
    </p:titleStyle>
    <p:bodyStyle>
      <a:lvl1pPr marL="306000" indent="-306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1" hangingPunct="1">
        <a:defRPr sz="1800" kern="1200">
          <a:solidFill>
            <a:schemeClr val="tx1"/>
          </a:solidFill>
          <a:latin typeface="+mn-lt"/>
          <a:ea typeface="+mn-ea"/>
          <a:cs typeface="+mn-cs"/>
        </a:defRPr>
      </a:lvl1pPr>
      <a:lvl2pPr marL="457200" algn="l" defTabSz="457200" rtl="0" eaLnBrk="1" latinLnBrk="1" hangingPunct="1">
        <a:defRPr sz="1800" kern="1200">
          <a:solidFill>
            <a:schemeClr val="tx1"/>
          </a:solidFill>
          <a:latin typeface="+mn-lt"/>
          <a:ea typeface="+mn-ea"/>
          <a:cs typeface="+mn-cs"/>
        </a:defRPr>
      </a:lvl2pPr>
      <a:lvl3pPr marL="914400" algn="l" defTabSz="457200" rtl="0" eaLnBrk="1" latinLnBrk="1" hangingPunct="1">
        <a:defRPr sz="1800" kern="1200">
          <a:solidFill>
            <a:schemeClr val="tx1"/>
          </a:solidFill>
          <a:latin typeface="+mn-lt"/>
          <a:ea typeface="+mn-ea"/>
          <a:cs typeface="+mn-cs"/>
        </a:defRPr>
      </a:lvl3pPr>
      <a:lvl4pPr marL="1371600" algn="l" defTabSz="457200" rtl="0" eaLnBrk="1" latinLnBrk="1" hangingPunct="1">
        <a:defRPr sz="1800" kern="1200">
          <a:solidFill>
            <a:schemeClr val="tx1"/>
          </a:solidFill>
          <a:latin typeface="+mn-lt"/>
          <a:ea typeface="+mn-ea"/>
          <a:cs typeface="+mn-cs"/>
        </a:defRPr>
      </a:lvl4pPr>
      <a:lvl5pPr marL="1828800" algn="l" defTabSz="457200" rtl="0" eaLnBrk="1" latinLnBrk="1" hangingPunct="1">
        <a:defRPr sz="1800" kern="1200">
          <a:solidFill>
            <a:schemeClr val="tx1"/>
          </a:solidFill>
          <a:latin typeface="+mn-lt"/>
          <a:ea typeface="+mn-ea"/>
          <a:cs typeface="+mn-cs"/>
        </a:defRPr>
      </a:lvl5pPr>
      <a:lvl6pPr marL="2286000" algn="l" defTabSz="457200" rtl="0" eaLnBrk="1" latinLnBrk="1" hangingPunct="1">
        <a:defRPr sz="1800" kern="1200">
          <a:solidFill>
            <a:schemeClr val="tx1"/>
          </a:solidFill>
          <a:latin typeface="+mn-lt"/>
          <a:ea typeface="+mn-ea"/>
          <a:cs typeface="+mn-cs"/>
        </a:defRPr>
      </a:lvl6pPr>
      <a:lvl7pPr marL="2743200" algn="l" defTabSz="457200" rtl="0" eaLnBrk="1" latinLnBrk="1" hangingPunct="1">
        <a:defRPr sz="1800" kern="1200">
          <a:solidFill>
            <a:schemeClr val="tx1"/>
          </a:solidFill>
          <a:latin typeface="+mn-lt"/>
          <a:ea typeface="+mn-ea"/>
          <a:cs typeface="+mn-cs"/>
        </a:defRPr>
      </a:lvl7pPr>
      <a:lvl8pPr marL="3200400" algn="l" defTabSz="457200" rtl="0" eaLnBrk="1" latinLnBrk="1" hangingPunct="1">
        <a:defRPr sz="1800" kern="1200">
          <a:solidFill>
            <a:schemeClr val="tx1"/>
          </a:solidFill>
          <a:latin typeface="+mn-lt"/>
          <a:ea typeface="+mn-ea"/>
          <a:cs typeface="+mn-cs"/>
        </a:defRPr>
      </a:lvl8pPr>
      <a:lvl9pPr marL="3657600" algn="l" defTabSz="4572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43554F-43C5-C43D-2A8C-C445DAF772BF}"/>
              </a:ext>
            </a:extLst>
          </p:cNvPr>
          <p:cNvSpPr txBox="1"/>
          <p:nvPr/>
        </p:nvSpPr>
        <p:spPr>
          <a:xfrm>
            <a:off x="581194" y="1295116"/>
            <a:ext cx="11029612" cy="1200329"/>
          </a:xfrm>
          <a:prstGeom prst="rect">
            <a:avLst/>
          </a:prstGeom>
          <a:noFill/>
        </p:spPr>
        <p:txBody>
          <a:bodyPr wrap="square" rtlCol="0">
            <a:spAutoFit/>
          </a:bodyPr>
          <a:lstStyle/>
          <a:p>
            <a:r>
              <a:rPr lang="en-US" altLang="ko-KR" sz="3600" b="1">
                <a:solidFill>
                  <a:srgbClr val="4A66AC"/>
                </a:solidFill>
              </a:rPr>
              <a:t>Zero-Downtime Post-Quantum TLS 1.3 Migration: A Bridge-Server-Based Approach</a:t>
            </a:r>
            <a:endParaRPr lang="ko-KR" altLang="en-US" sz="3600" b="1">
              <a:solidFill>
                <a:srgbClr val="4A66AC"/>
              </a:solidFill>
            </a:endParaRPr>
          </a:p>
        </p:txBody>
      </p:sp>
      <p:sp>
        <p:nvSpPr>
          <p:cNvPr id="3" name="TextBox 2">
            <a:extLst>
              <a:ext uri="{FF2B5EF4-FFF2-40B4-BE49-F238E27FC236}">
                <a16:creationId xmlns:a16="http://schemas.microsoft.com/office/drawing/2014/main" id="{181A3659-39CC-3E98-EDE1-D1CEF9D789D0}"/>
              </a:ext>
            </a:extLst>
          </p:cNvPr>
          <p:cNvSpPr txBox="1"/>
          <p:nvPr/>
        </p:nvSpPr>
        <p:spPr>
          <a:xfrm>
            <a:off x="581194" y="2495445"/>
            <a:ext cx="9455435" cy="369332"/>
          </a:xfrm>
          <a:prstGeom prst="rect">
            <a:avLst/>
          </a:prstGeom>
          <a:noFill/>
        </p:spPr>
        <p:txBody>
          <a:bodyPr wrap="square" rtlCol="0">
            <a:spAutoFit/>
          </a:bodyPr>
          <a:lstStyle/>
          <a:p>
            <a:r>
              <a:rPr lang="en-US" altLang="ko-KR">
                <a:solidFill>
                  <a:srgbClr val="629DD1"/>
                </a:solidFill>
              </a:rPr>
              <a:t>Minjoo Sim, Subeen Cho, Hyuntae Song, Eunseong Kim, and Hwajeong Seo </a:t>
            </a:r>
            <a:endParaRPr lang="ko-KR" altLang="en-US">
              <a:solidFill>
                <a:srgbClr val="629DD1"/>
              </a:solidFill>
            </a:endParaRPr>
          </a:p>
        </p:txBody>
      </p:sp>
    </p:spTree>
    <p:extLst>
      <p:ext uri="{BB962C8B-B14F-4D97-AF65-F5344CB8AC3E}">
        <p14:creationId xmlns:p14="http://schemas.microsoft.com/office/powerpoint/2010/main" val="3549628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rtlCol="0"/>
          <a:lstStyle/>
          <a:p>
            <a:pPr marL="0" indent="0">
              <a:buNone/>
            </a:pPr>
            <a:r>
              <a:rPr lang="en-US" altLang="ko-KR" sz="2400" b="1"/>
              <a:t>Due to the rapid advancement of </a:t>
            </a:r>
            <a:r>
              <a:rPr lang="en-US" altLang="ko-KR" sz="2400" b="1">
                <a:solidFill>
                  <a:srgbClr val="FF0000"/>
                </a:solidFill>
              </a:rPr>
              <a:t>quantum computing</a:t>
            </a:r>
            <a:r>
              <a:rPr lang="en-US" altLang="ko-KR" sz="2400" b="1"/>
              <a:t>, the security of widely deployed public key cryptosystems is under significant threat. </a:t>
            </a:r>
            <a:endParaRPr lang="ko-KR" altLang="en-US" sz="2400" b="1"/>
          </a:p>
          <a:p>
            <a:pPr lvl="1"/>
            <a:r>
              <a:rPr lang="en-US" altLang="ko-KR" sz="2400"/>
              <a:t>While an urgent </a:t>
            </a:r>
            <a:r>
              <a:rPr lang="en-US" altLang="ko-KR" sz="2400">
                <a:solidFill>
                  <a:srgbClr val="FF0000"/>
                </a:solidFill>
              </a:rPr>
              <a:t>transition to post-quantum cryptography (PQC) standards is necessary</a:t>
            </a:r>
            <a:r>
              <a:rPr lang="en-US" altLang="ko-KR" sz="2400"/>
              <a:t>, integrating these schemes into the currently dominant TLS 1.3 protocol poses considerable operational challenges. </a:t>
            </a:r>
          </a:p>
          <a:p>
            <a:pPr lvl="1"/>
            <a:r>
              <a:rPr lang="en-US" altLang="ko-KR" sz="2400"/>
              <a:t>Although existing systems have supported transition mechanisms through hot reloading, such approaches have been primarily </a:t>
            </a:r>
            <a:r>
              <a:rPr lang="en-US" altLang="ko-KR" sz="2400">
                <a:solidFill>
                  <a:srgbClr val="FF0000"/>
                </a:solidFill>
              </a:rPr>
              <a:t>based on RSA and ECC architectures</a:t>
            </a:r>
            <a:r>
              <a:rPr lang="en-US" altLang="ko-KR" sz="2400"/>
              <a:t>.</a:t>
            </a:r>
            <a:endParaRPr lang="ko-KR" altLang="en-US" sz="2400" dirty="0"/>
          </a:p>
        </p:txBody>
      </p:sp>
      <p:sp>
        <p:nvSpPr>
          <p:cNvPr id="6" name="TextBox 5">
            <a:extLst>
              <a:ext uri="{FF2B5EF4-FFF2-40B4-BE49-F238E27FC236}">
                <a16:creationId xmlns:a16="http://schemas.microsoft.com/office/drawing/2014/main" id="{9BC6D1D1-7425-0423-1103-5414D2715192}"/>
              </a:ext>
            </a:extLst>
          </p:cNvPr>
          <p:cNvSpPr txBox="1"/>
          <p:nvPr/>
        </p:nvSpPr>
        <p:spPr>
          <a:xfrm>
            <a:off x="581192" y="707367"/>
            <a:ext cx="11029615" cy="584775"/>
          </a:xfrm>
          <a:prstGeom prst="rect">
            <a:avLst/>
          </a:prstGeom>
          <a:noFill/>
        </p:spPr>
        <p:txBody>
          <a:bodyPr wrap="square" rtlCol="0">
            <a:spAutoFit/>
          </a:bodyPr>
          <a:lstStyle/>
          <a:p>
            <a:r>
              <a:rPr lang="en-US" altLang="ko-KR" sz="3200" b="1">
                <a:solidFill>
                  <a:schemeClr val="bg1"/>
                </a:solidFill>
                <a:latin typeface="+mj-lt"/>
              </a:rPr>
              <a:t>Motivation</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72342799-3AF5-79FD-4E6C-4B59C4AA6A1F}"/>
              </a:ext>
            </a:extLst>
          </p:cNvPr>
          <p:cNvSpPr>
            <a:spLocks noGrp="1"/>
          </p:cNvSpPr>
          <p:nvPr>
            <p:ph type="sldNum" sz="quarter" idx="12"/>
          </p:nvPr>
        </p:nvSpPr>
        <p:spPr/>
        <p:txBody>
          <a:bodyPr/>
          <a:lstStyle/>
          <a:p>
            <a:pPr rtl="0"/>
            <a:fld id="{401CF334-2D5C-4859-84A6-CA7E6E43FAEB}" type="slidenum">
              <a:rPr lang="en-US" altLang="ko-KR" smtClean="0"/>
              <a:t>2</a:t>
            </a:fld>
            <a:endParaRPr lang="ko-KR" altLang="en-US" dirty="0"/>
          </a:p>
        </p:txBody>
      </p:sp>
    </p:spTree>
    <p:extLst>
      <p:ext uri="{BB962C8B-B14F-4D97-AF65-F5344CB8AC3E}">
        <p14:creationId xmlns:p14="http://schemas.microsoft.com/office/powerpoint/2010/main" val="3339554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0ADBA-3F97-62C5-7457-A2A0791B0F2F}"/>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E9494BC2-97D2-2E56-7A87-2A515D8F5122}"/>
              </a:ext>
            </a:extLst>
          </p:cNvPr>
          <p:cNvSpPr>
            <a:spLocks noGrp="1"/>
          </p:cNvSpPr>
          <p:nvPr>
            <p:ph idx="1"/>
          </p:nvPr>
        </p:nvSpPr>
        <p:spPr>
          <a:xfrm>
            <a:off x="581192" y="1283516"/>
            <a:ext cx="11139753" cy="5324710"/>
          </a:xfrm>
        </p:spPr>
        <p:txBody>
          <a:bodyPr rtlCol="0">
            <a:normAutofit/>
          </a:bodyPr>
          <a:lstStyle/>
          <a:p>
            <a:pPr marL="0" indent="0">
              <a:buNone/>
            </a:pPr>
            <a:r>
              <a:rPr lang="en-US" altLang="ko-KR" sz="2400" b="1"/>
              <a:t>We present the following contributions through a </a:t>
            </a:r>
            <a:r>
              <a:rPr lang="en-US" altLang="ko-KR" sz="2400" b="1">
                <a:solidFill>
                  <a:srgbClr val="FF0000"/>
                </a:solidFill>
              </a:rPr>
              <a:t>bridge-server-based approach</a:t>
            </a:r>
            <a:r>
              <a:rPr lang="en-US" altLang="ko-KR" sz="2400" b="1"/>
              <a:t>:</a:t>
            </a:r>
            <a:endParaRPr lang="ko-KR" altLang="en-US" sz="2400" b="1" dirty="0"/>
          </a:p>
          <a:p>
            <a:pPr lvl="1"/>
            <a:r>
              <a:rPr lang="en-US" altLang="ko-KR" sz="2400"/>
              <a:t>Enabling </a:t>
            </a:r>
            <a:r>
              <a:rPr lang="en-US" altLang="ko-KR" sz="2400">
                <a:solidFill>
                  <a:srgbClr val="FF0000"/>
                </a:solidFill>
              </a:rPr>
              <a:t>session-level migration </a:t>
            </a:r>
            <a:r>
              <a:rPr lang="en-US" altLang="ko-KR" sz="2400"/>
              <a:t>via a bridge that operates directly at the TLS library layer. </a:t>
            </a:r>
          </a:p>
          <a:p>
            <a:pPr lvl="1"/>
            <a:r>
              <a:rPr lang="en-US" altLang="ko-KR" sz="2400"/>
              <a:t>Providing security and flexibility during the transition process through a policy-driven state machine </a:t>
            </a:r>
            <a:r>
              <a:rPr lang="en-US" altLang="ko-KR" sz="2400">
                <a:solidFill>
                  <a:srgbClr val="FF0000"/>
                </a:solidFill>
              </a:rPr>
              <a:t>supporting stepwise migration</a:t>
            </a:r>
            <a:r>
              <a:rPr lang="en-US" altLang="ko-KR" sz="2400"/>
              <a:t>.</a:t>
            </a:r>
          </a:p>
          <a:p>
            <a:pPr lvl="1"/>
            <a:r>
              <a:rPr lang="en-US" altLang="ko-KR" sz="2400"/>
              <a:t>Establishing a </a:t>
            </a:r>
            <a:r>
              <a:rPr lang="en-US" altLang="ko-KR" sz="2400">
                <a:solidFill>
                  <a:srgbClr val="FF0000"/>
                </a:solidFill>
              </a:rPr>
              <a:t>hot-reload environment</a:t>
            </a:r>
            <a:r>
              <a:rPr lang="en-US" altLang="ko-KR" sz="2400"/>
              <a:t> compatible with </a:t>
            </a:r>
            <a:r>
              <a:rPr lang="en-US" altLang="ko-KR" sz="2400">
                <a:solidFill>
                  <a:srgbClr val="FF0000"/>
                </a:solidFill>
              </a:rPr>
              <a:t>PQC</a:t>
            </a:r>
            <a:r>
              <a:rPr lang="ko-KR" altLang="en-US" sz="2400">
                <a:solidFill>
                  <a:srgbClr val="FF0000"/>
                </a:solidFill>
              </a:rPr>
              <a:t> </a:t>
            </a:r>
            <a:r>
              <a:rPr lang="en-US" altLang="ko-KR" sz="2400">
                <a:solidFill>
                  <a:srgbClr val="FF0000"/>
                </a:solidFill>
              </a:rPr>
              <a:t>schemes</a:t>
            </a:r>
            <a:r>
              <a:rPr lang="en-US" altLang="ko-KR" sz="2400"/>
              <a:t>. </a:t>
            </a:r>
          </a:p>
          <a:p>
            <a:pPr lvl="1"/>
            <a:r>
              <a:rPr lang="en-US" altLang="ko-KR" sz="2400"/>
              <a:t>Demonstrating the preservation of </a:t>
            </a:r>
            <a:r>
              <a:rPr lang="en-US" altLang="ko-KR" sz="2400">
                <a:solidFill>
                  <a:srgbClr val="FF0000"/>
                </a:solidFill>
              </a:rPr>
              <a:t>service availability</a:t>
            </a:r>
            <a:r>
              <a:rPr lang="en-US" altLang="ko-KR" sz="2400"/>
              <a:t> through experimental evaluation.</a:t>
            </a:r>
            <a:endParaRPr lang="ko-KR" altLang="en-US" sz="2400" dirty="0"/>
          </a:p>
        </p:txBody>
      </p:sp>
      <p:sp>
        <p:nvSpPr>
          <p:cNvPr id="6" name="TextBox 5">
            <a:extLst>
              <a:ext uri="{FF2B5EF4-FFF2-40B4-BE49-F238E27FC236}">
                <a16:creationId xmlns:a16="http://schemas.microsoft.com/office/drawing/2014/main" id="{9A61E490-0448-F5D7-7014-04D0D477EA60}"/>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Our Contributions</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46F9DF8E-F88A-3B1C-A277-AC529F511438}"/>
              </a:ext>
            </a:extLst>
          </p:cNvPr>
          <p:cNvSpPr>
            <a:spLocks noGrp="1"/>
          </p:cNvSpPr>
          <p:nvPr>
            <p:ph type="sldNum" sz="quarter" idx="12"/>
          </p:nvPr>
        </p:nvSpPr>
        <p:spPr/>
        <p:txBody>
          <a:bodyPr/>
          <a:lstStyle/>
          <a:p>
            <a:pPr rtl="0"/>
            <a:fld id="{401CF334-2D5C-4859-84A6-CA7E6E43FAEB}" type="slidenum">
              <a:rPr lang="en-US" altLang="ko-KR" smtClean="0"/>
              <a:t>3</a:t>
            </a:fld>
            <a:endParaRPr lang="ko-KR" altLang="en-US" dirty="0"/>
          </a:p>
        </p:txBody>
      </p:sp>
    </p:spTree>
    <p:extLst>
      <p:ext uri="{BB962C8B-B14F-4D97-AF65-F5344CB8AC3E}">
        <p14:creationId xmlns:p14="http://schemas.microsoft.com/office/powerpoint/2010/main" val="49079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C41EA-5F14-7886-3AE2-568200CCEC33}"/>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48A135A1-5C30-0AAD-D7DC-84FCF088B6BA}"/>
              </a:ext>
            </a:extLst>
          </p:cNvPr>
          <p:cNvSpPr>
            <a:spLocks noGrp="1"/>
          </p:cNvSpPr>
          <p:nvPr>
            <p:ph idx="1"/>
          </p:nvPr>
        </p:nvSpPr>
        <p:spPr>
          <a:xfrm>
            <a:off x="581192" y="1290694"/>
            <a:ext cx="11175379" cy="2415254"/>
          </a:xfrm>
        </p:spPr>
        <p:txBody>
          <a:bodyPr rtlCol="0">
            <a:normAutofit/>
          </a:bodyPr>
          <a:lstStyle/>
          <a:p>
            <a:pPr marL="0" indent="0">
              <a:buNone/>
            </a:pPr>
            <a:r>
              <a:rPr lang="en-US" altLang="ko-KR" sz="2400" b="1"/>
              <a:t>Research on seamless service updates utilizing </a:t>
            </a:r>
            <a:r>
              <a:rPr lang="en-US" altLang="ko-KR" sz="2400" b="1">
                <a:solidFill>
                  <a:srgbClr val="FF0000"/>
                </a:solidFill>
              </a:rPr>
              <a:t>hot reload techniques</a:t>
            </a:r>
            <a:r>
              <a:rPr lang="en-US" altLang="ko-KR" sz="2400" b="1"/>
              <a:t> is actively being conducted in the field.</a:t>
            </a:r>
            <a:endParaRPr lang="ko-KR" altLang="en-US" sz="2400" b="1" dirty="0"/>
          </a:p>
          <a:p>
            <a:pPr lvl="1"/>
            <a:r>
              <a:rPr lang="en-US" altLang="ko-KR" sz="1800"/>
              <a:t>However, studies that focus on substituting TLS-level cryptographic algorithms </a:t>
            </a:r>
            <a:r>
              <a:rPr lang="en-US" altLang="ko-KR" sz="1800">
                <a:solidFill>
                  <a:srgbClr val="FF0000"/>
                </a:solidFill>
              </a:rPr>
              <a:t>with post-quantum cryptography (PQC) are exceedingly rare</a:t>
            </a:r>
            <a:r>
              <a:rPr lang="en-US" altLang="ko-KR" sz="1800"/>
              <a:t>.</a:t>
            </a:r>
          </a:p>
          <a:p>
            <a:pPr lvl="1"/>
            <a:r>
              <a:rPr lang="en-US" altLang="ko-KR" sz="1800"/>
              <a:t>A majority of prior work has focused on global migration policies, making it difficult to guarantee stable migration due to the absence of </a:t>
            </a:r>
            <a:r>
              <a:rPr lang="en-US" altLang="ko-KR" sz="1800">
                <a:solidFill>
                  <a:srgbClr val="FF0000"/>
                </a:solidFill>
              </a:rPr>
              <a:t>session-level rollbacks</a:t>
            </a:r>
            <a:endParaRPr lang="ko-KR" altLang="en-US" sz="1800" dirty="0">
              <a:solidFill>
                <a:srgbClr val="FF0000"/>
              </a:solidFill>
            </a:endParaRPr>
          </a:p>
        </p:txBody>
      </p:sp>
      <p:sp>
        <p:nvSpPr>
          <p:cNvPr id="6" name="TextBox 5">
            <a:extLst>
              <a:ext uri="{FF2B5EF4-FFF2-40B4-BE49-F238E27FC236}">
                <a16:creationId xmlns:a16="http://schemas.microsoft.com/office/drawing/2014/main" id="{DE48AF90-A29B-5747-CE9A-FB25D1D7B4E3}"/>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Related Works</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1168C4D4-8CCE-CD8D-336E-B51E9A3929D7}"/>
              </a:ext>
            </a:extLst>
          </p:cNvPr>
          <p:cNvSpPr>
            <a:spLocks noGrp="1"/>
          </p:cNvSpPr>
          <p:nvPr>
            <p:ph type="sldNum" sz="quarter" idx="12"/>
          </p:nvPr>
        </p:nvSpPr>
        <p:spPr/>
        <p:txBody>
          <a:bodyPr/>
          <a:lstStyle/>
          <a:p>
            <a:pPr rtl="0"/>
            <a:fld id="{401CF334-2D5C-4859-84A6-CA7E6E43FAEB}" type="slidenum">
              <a:rPr lang="en-US" altLang="ko-KR" smtClean="0"/>
              <a:t>4</a:t>
            </a:fld>
            <a:endParaRPr lang="ko-KR" altLang="en-US" dirty="0"/>
          </a:p>
        </p:txBody>
      </p:sp>
      <p:graphicFrame>
        <p:nvGraphicFramePr>
          <p:cNvPr id="3" name="표 2">
            <a:extLst>
              <a:ext uri="{FF2B5EF4-FFF2-40B4-BE49-F238E27FC236}">
                <a16:creationId xmlns:a16="http://schemas.microsoft.com/office/drawing/2014/main" id="{FCAB23D5-A5EE-5C00-2FDC-52265EA5FF47}"/>
              </a:ext>
            </a:extLst>
          </p:cNvPr>
          <p:cNvGraphicFramePr>
            <a:graphicFrameLocks noGrp="1"/>
          </p:cNvGraphicFramePr>
          <p:nvPr>
            <p:extLst>
              <p:ext uri="{D42A27DB-BD31-4B8C-83A1-F6EECF244321}">
                <p14:modId xmlns:p14="http://schemas.microsoft.com/office/powerpoint/2010/main" val="3804552193"/>
              </p:ext>
            </p:extLst>
          </p:nvPr>
        </p:nvGraphicFramePr>
        <p:xfrm>
          <a:off x="1107451" y="3713126"/>
          <a:ext cx="9977103" cy="2615314"/>
        </p:xfrm>
        <a:graphic>
          <a:graphicData uri="http://schemas.openxmlformats.org/drawingml/2006/table">
            <a:tbl>
              <a:tblPr/>
              <a:tblGrid>
                <a:gridCol w="1995753">
                  <a:extLst>
                    <a:ext uri="{9D8B030D-6E8A-4147-A177-3AD203B41FA5}">
                      <a16:colId xmlns:a16="http://schemas.microsoft.com/office/drawing/2014/main" val="415231791"/>
                    </a:ext>
                  </a:extLst>
                </a:gridCol>
                <a:gridCol w="1596270">
                  <a:extLst>
                    <a:ext uri="{9D8B030D-6E8A-4147-A177-3AD203B41FA5}">
                      <a16:colId xmlns:a16="http://schemas.microsoft.com/office/drawing/2014/main" val="156794983"/>
                    </a:ext>
                  </a:extLst>
                </a:gridCol>
                <a:gridCol w="1596270">
                  <a:extLst>
                    <a:ext uri="{9D8B030D-6E8A-4147-A177-3AD203B41FA5}">
                      <a16:colId xmlns:a16="http://schemas.microsoft.com/office/drawing/2014/main" val="1283410286"/>
                    </a:ext>
                  </a:extLst>
                </a:gridCol>
                <a:gridCol w="1596270">
                  <a:extLst>
                    <a:ext uri="{9D8B030D-6E8A-4147-A177-3AD203B41FA5}">
                      <a16:colId xmlns:a16="http://schemas.microsoft.com/office/drawing/2014/main" val="2922205588"/>
                    </a:ext>
                  </a:extLst>
                </a:gridCol>
                <a:gridCol w="1596270">
                  <a:extLst>
                    <a:ext uri="{9D8B030D-6E8A-4147-A177-3AD203B41FA5}">
                      <a16:colId xmlns:a16="http://schemas.microsoft.com/office/drawing/2014/main" val="1951086389"/>
                    </a:ext>
                  </a:extLst>
                </a:gridCol>
                <a:gridCol w="1596270">
                  <a:extLst>
                    <a:ext uri="{9D8B030D-6E8A-4147-A177-3AD203B41FA5}">
                      <a16:colId xmlns:a16="http://schemas.microsoft.com/office/drawing/2014/main" val="2464126507"/>
                    </a:ext>
                  </a:extLst>
                </a:gridCol>
              </a:tblGrid>
              <a:tr h="403103">
                <a:tc>
                  <a:txBody>
                    <a:bodyPr/>
                    <a:lstStyle/>
                    <a:p>
                      <a:pPr marL="0" algn="l" defTabSz="457200" rtl="0" eaLnBrk="1" fontAlgn="t" latinLnBrk="1" hangingPunct="1">
                        <a:buNone/>
                      </a:pPr>
                      <a:r>
                        <a:rPr lang="en-US" sz="1600" b="1" kern="1200">
                          <a:solidFill>
                            <a:schemeClr val="tx1"/>
                          </a:solidFill>
                          <a:latin typeface="+mn-lt"/>
                          <a:ea typeface="+mn-ea"/>
                          <a:cs typeface="+mn-cs"/>
                        </a:rPr>
                        <a:t>System / Project</a:t>
                      </a:r>
                    </a:p>
                  </a:txBody>
                  <a:tcPr marL="34283" marR="34283" marT="34283" marB="34283" anchor="ctr">
                    <a:lnL w="12700" cap="flat" cmpd="sng" algn="ctr">
                      <a:no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t" latinLnBrk="1" hangingPunct="1">
                        <a:buNone/>
                      </a:pPr>
                      <a:r>
                        <a:rPr lang="en-US" sz="1600" b="1" kern="1200">
                          <a:solidFill>
                            <a:schemeClr val="tx1"/>
                          </a:solidFill>
                          <a:latin typeface="+mn-lt"/>
                          <a:ea typeface="+mn-ea"/>
                          <a:cs typeface="+mn-cs"/>
                        </a:rPr>
                        <a:t>Hot Reload</a:t>
                      </a:r>
                    </a:p>
                  </a:txBody>
                  <a:tcPr marL="34283" marR="34283" marT="34283" marB="34283"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t" latinLnBrk="1" hangingPunct="1">
                        <a:buNone/>
                      </a:pPr>
                      <a:r>
                        <a:rPr lang="en-US" sz="1600" b="1" kern="1200">
                          <a:solidFill>
                            <a:schemeClr val="tx1"/>
                          </a:solidFill>
                          <a:latin typeface="+mn-lt"/>
                          <a:ea typeface="+mn-ea"/>
                          <a:cs typeface="+mn-cs"/>
                        </a:rPr>
                        <a:t>Downtime-free</a:t>
                      </a:r>
                    </a:p>
                  </a:txBody>
                  <a:tcPr marL="34283" marR="34283" marT="34283" marB="34283"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t" latinLnBrk="1" hangingPunct="1">
                        <a:buNone/>
                      </a:pPr>
                      <a:r>
                        <a:rPr lang="en-US" sz="1600" b="1" kern="1200">
                          <a:solidFill>
                            <a:schemeClr val="tx1"/>
                          </a:solidFill>
                          <a:latin typeface="+mn-lt"/>
                          <a:ea typeface="+mn-ea"/>
                          <a:cs typeface="+mn-cs"/>
                        </a:rPr>
                        <a:t>Rollback</a:t>
                      </a:r>
                    </a:p>
                  </a:txBody>
                  <a:tcPr marL="34283" marR="34283" marT="34283" marB="34283"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t" latinLnBrk="1" hangingPunct="1">
                        <a:buNone/>
                      </a:pPr>
                      <a:r>
                        <a:rPr lang="en-US" sz="1600" b="1" kern="1200">
                          <a:solidFill>
                            <a:schemeClr val="tx1"/>
                          </a:solidFill>
                          <a:latin typeface="+mn-lt"/>
                          <a:ea typeface="+mn-ea"/>
                          <a:cs typeface="+mn-cs"/>
                        </a:rPr>
                        <a:t>Policy-based</a:t>
                      </a:r>
                    </a:p>
                    <a:p>
                      <a:pPr marL="0" algn="ctr" defTabSz="457200" rtl="0" eaLnBrk="1" fontAlgn="t" latinLnBrk="1" hangingPunct="1">
                        <a:buNone/>
                      </a:pPr>
                      <a:r>
                        <a:rPr lang="en-US" sz="1600" b="1" kern="1200">
                          <a:solidFill>
                            <a:schemeClr val="tx1"/>
                          </a:solidFill>
                          <a:latin typeface="+mn-lt"/>
                          <a:ea typeface="+mn-ea"/>
                          <a:cs typeface="+mn-cs"/>
                        </a:rPr>
                        <a:t> Migration</a:t>
                      </a:r>
                    </a:p>
                  </a:txBody>
                  <a:tcPr marL="34283" marR="34283" marT="34283" marB="34283"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t" latinLnBrk="1" hangingPunct="1">
                        <a:buNone/>
                      </a:pPr>
                      <a:r>
                        <a:rPr lang="en-US" sz="1600" b="1" kern="1200">
                          <a:solidFill>
                            <a:schemeClr val="tx1"/>
                          </a:solidFill>
                          <a:latin typeface="+mn-lt"/>
                          <a:ea typeface="+mn-ea"/>
                          <a:cs typeface="+mn-cs"/>
                        </a:rPr>
                        <a:t>PQC Support</a:t>
                      </a:r>
                    </a:p>
                  </a:txBody>
                  <a:tcPr marL="34283" marR="34283" marT="34283" marB="34283" anchor="ctr">
                    <a:lnL w="12700" cap="flat" cmpd="sng" algn="ctr">
                      <a:solidFill>
                        <a:srgbClr val="629DD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extLst>
                  <a:ext uri="{0D108BD9-81ED-4DB2-BD59-A6C34878D82A}">
                    <a16:rowId xmlns:a16="http://schemas.microsoft.com/office/drawing/2014/main" val="2212132652"/>
                  </a:ext>
                </a:extLst>
              </a:tr>
              <a:tr h="377420">
                <a:tc>
                  <a:txBody>
                    <a:bodyPr/>
                    <a:lstStyle/>
                    <a:p>
                      <a:pPr marL="0" algn="l" defTabSz="457200" rtl="0" eaLnBrk="1" fontAlgn="base" latinLnBrk="1" hangingPunct="1">
                        <a:buNone/>
                      </a:pPr>
                      <a:r>
                        <a:rPr lang="en-US" sz="1600" b="1" kern="1200">
                          <a:solidFill>
                            <a:schemeClr val="tx1"/>
                          </a:solidFill>
                          <a:latin typeface="+mn-lt"/>
                          <a:ea typeface="+mn-ea"/>
                          <a:cs typeface="+mn-cs"/>
                        </a:rPr>
                        <a:t>Nginx</a:t>
                      </a:r>
                    </a:p>
                  </a:txBody>
                  <a:tcPr marL="34283" marR="34283" marT="30854" marB="30854" anchor="ctr">
                    <a:lnL w="12700" cap="flat" cmpd="sng" algn="ctr">
                      <a:no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extLst>
                  <a:ext uri="{0D108BD9-81ED-4DB2-BD59-A6C34878D82A}">
                    <a16:rowId xmlns:a16="http://schemas.microsoft.com/office/drawing/2014/main" val="1950086181"/>
                  </a:ext>
                </a:extLst>
              </a:tr>
              <a:tr h="401215">
                <a:tc>
                  <a:txBody>
                    <a:bodyPr/>
                    <a:lstStyle/>
                    <a:p>
                      <a:pPr marL="0" algn="l" defTabSz="457200" rtl="0" eaLnBrk="1" fontAlgn="base" latinLnBrk="1" hangingPunct="1">
                        <a:buNone/>
                      </a:pPr>
                      <a:r>
                        <a:rPr lang="en-US" sz="1600" b="1" kern="1200">
                          <a:solidFill>
                            <a:schemeClr val="tx1"/>
                          </a:solidFill>
                          <a:latin typeface="+mn-lt"/>
                          <a:ea typeface="+mn-ea"/>
                          <a:cs typeface="+mn-cs"/>
                        </a:rPr>
                        <a:t>Nginx </a:t>
                      </a:r>
                    </a:p>
                    <a:p>
                      <a:pPr marL="0" algn="l" defTabSz="457200" rtl="0" eaLnBrk="1" fontAlgn="base" latinLnBrk="1" hangingPunct="1">
                        <a:buNone/>
                      </a:pPr>
                      <a:r>
                        <a:rPr lang="en-US" sz="1600" b="1" kern="1200">
                          <a:solidFill>
                            <a:schemeClr val="tx1"/>
                          </a:solidFill>
                          <a:latin typeface="+mn-lt"/>
                          <a:ea typeface="+mn-ea"/>
                          <a:cs typeface="+mn-cs"/>
                        </a:rPr>
                        <a:t>(with OQS build)</a:t>
                      </a:r>
                    </a:p>
                  </a:txBody>
                  <a:tcPr marL="34283" marR="34283" marT="30854" marB="30854" anchor="ctr">
                    <a:lnL w="12700" cap="flat" cmpd="sng" algn="ctr">
                      <a:no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✓ *</a:t>
                      </a:r>
                    </a:p>
                  </a:txBody>
                  <a:tcPr marL="34283" marR="34283" marT="30854" marB="30854" anchor="ctr">
                    <a:lnL w="12700" cap="flat" cmpd="sng" algn="ctr">
                      <a:solidFill>
                        <a:srgbClr val="629DD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extLst>
                  <a:ext uri="{0D108BD9-81ED-4DB2-BD59-A6C34878D82A}">
                    <a16:rowId xmlns:a16="http://schemas.microsoft.com/office/drawing/2014/main" val="1846004344"/>
                  </a:ext>
                </a:extLst>
              </a:tr>
              <a:tr h="377420">
                <a:tc>
                  <a:txBody>
                    <a:bodyPr/>
                    <a:lstStyle/>
                    <a:p>
                      <a:pPr marL="0" algn="l" defTabSz="457200" rtl="0" eaLnBrk="1" fontAlgn="base" latinLnBrk="1" hangingPunct="1">
                        <a:buNone/>
                      </a:pPr>
                      <a:r>
                        <a:rPr lang="en-US" sz="1600" b="1" kern="1200">
                          <a:solidFill>
                            <a:schemeClr val="tx1"/>
                          </a:solidFill>
                          <a:latin typeface="+mn-lt"/>
                          <a:ea typeface="+mn-ea"/>
                          <a:cs typeface="+mn-cs"/>
                        </a:rPr>
                        <a:t>Envoy</a:t>
                      </a:r>
                    </a:p>
                  </a:txBody>
                  <a:tcPr marL="34283" marR="34283" marT="30854" marB="30854" anchor="ctr">
                    <a:lnL w="12700" cap="flat" cmpd="sng" algn="ctr">
                      <a:no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extLst>
                  <a:ext uri="{0D108BD9-81ED-4DB2-BD59-A6C34878D82A}">
                    <a16:rowId xmlns:a16="http://schemas.microsoft.com/office/drawing/2014/main" val="1957676213"/>
                  </a:ext>
                </a:extLst>
              </a:tr>
              <a:tr h="377420">
                <a:tc>
                  <a:txBody>
                    <a:bodyPr/>
                    <a:lstStyle/>
                    <a:p>
                      <a:pPr marL="0" algn="l" defTabSz="457200" rtl="0" eaLnBrk="1" fontAlgn="base" latinLnBrk="1" hangingPunct="1">
                        <a:buNone/>
                      </a:pPr>
                      <a:r>
                        <a:rPr lang="en-US" sz="1600" b="1" kern="1200">
                          <a:solidFill>
                            <a:schemeClr val="tx1"/>
                          </a:solidFill>
                          <a:latin typeface="+mn-lt"/>
                          <a:ea typeface="+mn-ea"/>
                          <a:cs typeface="+mn-cs"/>
                        </a:rPr>
                        <a:t>Cloudflare PQC</a:t>
                      </a:r>
                    </a:p>
                  </a:txBody>
                  <a:tcPr marL="34283" marR="34283" marT="30854" marB="30854" anchor="ctr">
                    <a:lnL w="12700" cap="flat" cmpd="sng" algn="ctr">
                      <a:no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en-US" sz="1600" b="0" kern="1200">
                          <a:solidFill>
                            <a:schemeClr val="tx1"/>
                          </a:solidFill>
                          <a:latin typeface="+mn-lt"/>
                          <a:ea typeface="+mn-ea"/>
                          <a:cs typeface="+mn-cs"/>
                        </a:rPr>
                        <a:t>Trial only</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chemeClr val="tx1"/>
                          </a:solidFill>
                          <a:latin typeface="+mn-lt"/>
                          <a:ea typeface="+mn-ea"/>
                          <a:cs typeface="+mn-cs"/>
                        </a:rPr>
                        <a:t>✓ </a:t>
                      </a:r>
                      <a:r>
                        <a:rPr lang="en-US" altLang="ko-KR" sz="1600" b="0" kern="1200">
                          <a:solidFill>
                            <a:schemeClr val="tx1"/>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extLst>
                  <a:ext uri="{0D108BD9-81ED-4DB2-BD59-A6C34878D82A}">
                    <a16:rowId xmlns:a16="http://schemas.microsoft.com/office/drawing/2014/main" val="4294541857"/>
                  </a:ext>
                </a:extLst>
              </a:tr>
              <a:tr h="377420">
                <a:tc>
                  <a:txBody>
                    <a:bodyPr/>
                    <a:lstStyle/>
                    <a:p>
                      <a:pPr marL="0" algn="l" defTabSz="457200" rtl="0" eaLnBrk="1" fontAlgn="base" latinLnBrk="1" hangingPunct="1">
                        <a:buNone/>
                      </a:pPr>
                      <a:r>
                        <a:rPr lang="en-US" sz="1600" b="1" kern="1200">
                          <a:solidFill>
                            <a:srgbClr val="FF0000"/>
                          </a:solidFill>
                          <a:latin typeface="+mn-lt"/>
                          <a:ea typeface="+mn-ea"/>
                          <a:cs typeface="+mn-cs"/>
                        </a:rPr>
                        <a:t>Our System</a:t>
                      </a:r>
                    </a:p>
                  </a:txBody>
                  <a:tcPr marL="34283" marR="34283" marT="30854" marB="30854" anchor="ctr">
                    <a:lnL w="12700" cap="flat" cmpd="sng" algn="ctr">
                      <a:no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rgbClr val="FF0000"/>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rgbClr val="FF0000"/>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rgbClr val="FF0000"/>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rgbClr val="FF0000"/>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solidFill>
                        <a:srgbClr val="629DD1"/>
                      </a:solid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tc>
                  <a:txBody>
                    <a:bodyPr/>
                    <a:lstStyle/>
                    <a:p>
                      <a:pPr marL="0" algn="ctr" defTabSz="457200" rtl="0" eaLnBrk="1" fontAlgn="base" latinLnBrk="1" hangingPunct="1">
                        <a:buNone/>
                      </a:pPr>
                      <a:r>
                        <a:rPr lang="ko-KR" altLang="en-US" sz="1600" b="0" kern="1200">
                          <a:solidFill>
                            <a:srgbClr val="FF0000"/>
                          </a:solidFill>
                          <a:latin typeface="+mn-lt"/>
                          <a:ea typeface="+mn-ea"/>
                          <a:cs typeface="+mn-cs"/>
                        </a:rPr>
                        <a:t>✓</a:t>
                      </a:r>
                    </a:p>
                  </a:txBody>
                  <a:tcPr marL="34283" marR="34283" marT="30854" marB="30854" anchor="ctr">
                    <a:lnL w="12700" cap="flat" cmpd="sng" algn="ctr">
                      <a:solidFill>
                        <a:srgbClr val="629DD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629DD1"/>
                      </a:solidFill>
                      <a:prstDash val="solid"/>
                      <a:round/>
                      <a:headEnd type="none" w="med" len="med"/>
                      <a:tailEnd type="none" w="med" len="med"/>
                    </a:lnT>
                    <a:lnB w="12700" cap="flat" cmpd="sng" algn="ctr">
                      <a:solidFill>
                        <a:srgbClr val="629DD1"/>
                      </a:solidFill>
                      <a:prstDash val="solid"/>
                      <a:round/>
                      <a:headEnd type="none" w="med" len="med"/>
                      <a:tailEnd type="none" w="med" len="med"/>
                    </a:lnB>
                    <a:noFill/>
                  </a:tcPr>
                </a:tc>
                <a:extLst>
                  <a:ext uri="{0D108BD9-81ED-4DB2-BD59-A6C34878D82A}">
                    <a16:rowId xmlns:a16="http://schemas.microsoft.com/office/drawing/2014/main" val="1027763918"/>
                  </a:ext>
                </a:extLst>
              </a:tr>
            </a:tbl>
          </a:graphicData>
        </a:graphic>
      </p:graphicFrame>
      <p:sp>
        <p:nvSpPr>
          <p:cNvPr id="5" name="TextBox 4">
            <a:extLst>
              <a:ext uri="{FF2B5EF4-FFF2-40B4-BE49-F238E27FC236}">
                <a16:creationId xmlns:a16="http://schemas.microsoft.com/office/drawing/2014/main" id="{5A7B783A-BD76-8BAA-BF7B-B4E95D67DDB9}"/>
              </a:ext>
            </a:extLst>
          </p:cNvPr>
          <p:cNvSpPr txBox="1"/>
          <p:nvPr/>
        </p:nvSpPr>
        <p:spPr>
          <a:xfrm>
            <a:off x="10322560" y="4734576"/>
            <a:ext cx="1646266" cy="369332"/>
          </a:xfrm>
          <a:prstGeom prst="rect">
            <a:avLst/>
          </a:prstGeom>
          <a:noFill/>
        </p:spPr>
        <p:txBody>
          <a:bodyPr wrap="square">
            <a:spAutoFit/>
          </a:bodyPr>
          <a:lstStyle/>
          <a:p>
            <a:pPr algn="r"/>
            <a:r>
              <a:rPr lang="en-US" altLang="ko-KR" sz="900"/>
              <a:t>∗ Experimental support via</a:t>
            </a:r>
          </a:p>
          <a:p>
            <a:pPr algn="r"/>
            <a:r>
              <a:rPr lang="en-US" altLang="ko-KR" sz="900"/>
              <a:t> OQS-enabled OpenSSL  </a:t>
            </a:r>
          </a:p>
        </p:txBody>
      </p:sp>
      <p:sp>
        <p:nvSpPr>
          <p:cNvPr id="11" name="TextBox 10">
            <a:extLst>
              <a:ext uri="{FF2B5EF4-FFF2-40B4-BE49-F238E27FC236}">
                <a16:creationId xmlns:a16="http://schemas.microsoft.com/office/drawing/2014/main" id="{831AE6B1-3D78-1FB3-EA3D-90042592F162}"/>
              </a:ext>
            </a:extLst>
          </p:cNvPr>
          <p:cNvSpPr txBox="1"/>
          <p:nvPr/>
        </p:nvSpPr>
        <p:spPr>
          <a:xfrm>
            <a:off x="1232063" y="6383118"/>
            <a:ext cx="10101871" cy="369332"/>
          </a:xfrm>
          <a:prstGeom prst="rect">
            <a:avLst/>
          </a:prstGeom>
          <a:noFill/>
        </p:spPr>
        <p:txBody>
          <a:bodyPr wrap="square">
            <a:spAutoFit/>
          </a:bodyPr>
          <a:lstStyle/>
          <a:p>
            <a:pPr algn="ctr"/>
            <a:r>
              <a:rPr lang="en-US" altLang="ko-KR" b="1"/>
              <a:t> Table: </a:t>
            </a:r>
            <a:r>
              <a:rPr lang="en-US" altLang="ko-KR"/>
              <a:t>Comparison of Hot Reload and PQC Support across Systems.</a:t>
            </a:r>
            <a:endParaRPr lang="ko-KR" altLang="en-US"/>
          </a:p>
        </p:txBody>
      </p:sp>
      <p:sp>
        <p:nvSpPr>
          <p:cNvPr id="15" name="TextBox 14">
            <a:extLst>
              <a:ext uri="{FF2B5EF4-FFF2-40B4-BE49-F238E27FC236}">
                <a16:creationId xmlns:a16="http://schemas.microsoft.com/office/drawing/2014/main" id="{C27D8FBB-C239-FDCC-12A2-2A46E136BD42}"/>
              </a:ext>
            </a:extLst>
          </p:cNvPr>
          <p:cNvSpPr txBox="1"/>
          <p:nvPr/>
        </p:nvSpPr>
        <p:spPr>
          <a:xfrm>
            <a:off x="10052940" y="5567306"/>
            <a:ext cx="1557867" cy="369332"/>
          </a:xfrm>
          <a:prstGeom prst="rect">
            <a:avLst/>
          </a:prstGeom>
          <a:noFill/>
        </p:spPr>
        <p:txBody>
          <a:bodyPr wrap="square">
            <a:spAutoFit/>
          </a:bodyPr>
          <a:lstStyle/>
          <a:p>
            <a:pPr algn="r"/>
            <a:r>
              <a:rPr lang="en-US" altLang="ko-KR" sz="900"/>
              <a:t>† Limited beta-only deployment</a:t>
            </a:r>
            <a:endParaRPr lang="ko-KR" altLang="en-US" sz="900"/>
          </a:p>
        </p:txBody>
      </p:sp>
    </p:spTree>
    <p:extLst>
      <p:ext uri="{BB962C8B-B14F-4D97-AF65-F5344CB8AC3E}">
        <p14:creationId xmlns:p14="http://schemas.microsoft.com/office/powerpoint/2010/main" val="2854208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22EE8-694B-8E96-0484-34DA7FFFE015}"/>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B47BB790-9119-5995-7AF3-B6E3EF824DA0}"/>
              </a:ext>
            </a:extLst>
          </p:cNvPr>
          <p:cNvSpPr>
            <a:spLocks noGrp="1"/>
          </p:cNvSpPr>
          <p:nvPr>
            <p:ph idx="1"/>
          </p:nvPr>
        </p:nvSpPr>
        <p:spPr>
          <a:xfrm>
            <a:off x="581191" y="1531917"/>
            <a:ext cx="11029615" cy="4987636"/>
          </a:xfrm>
        </p:spPr>
        <p:txBody>
          <a:bodyPr rtlCol="0">
            <a:noAutofit/>
          </a:bodyPr>
          <a:lstStyle/>
          <a:p>
            <a:pPr marL="0" indent="0">
              <a:buNone/>
            </a:pPr>
            <a:r>
              <a:rPr lang="en-US" altLang="ko-KR" sz="2400" b="1"/>
              <a:t>In TLS 1.2, cipher suites negotiated both the encryption algorithms, key exchange, and authentication together.</a:t>
            </a:r>
          </a:p>
          <a:p>
            <a:pPr lvl="1">
              <a:buFont typeface="Wingdings" panose="05000000000000000000" pitchFamily="2" charset="2"/>
              <a:buChar char="§"/>
            </a:pPr>
            <a:r>
              <a:rPr lang="en-US" altLang="ko-KR" sz="1800"/>
              <a:t>In TLS 1.2, the key exchange algorithm, authentication algorithm, bulk encryption algorithm, and message authentication code (MAC) or hash function are all defined together as a single cipher suite.</a:t>
            </a:r>
          </a:p>
          <a:p>
            <a:pPr lvl="1">
              <a:buFont typeface="Wingdings" panose="05000000000000000000" pitchFamily="2" charset="2"/>
              <a:buChar char="§"/>
            </a:pPr>
            <a:r>
              <a:rPr lang="en-US" altLang="ko-KR"/>
              <a:t>Multiple round-trips were required for cryptographic negotiation in TLS 1.2.</a:t>
            </a:r>
            <a:endParaRPr lang="en-US" altLang="ko-KR" sz="2400"/>
          </a:p>
          <a:p>
            <a:pPr marL="0" indent="0">
              <a:buNone/>
            </a:pPr>
            <a:r>
              <a:rPr lang="en-US" altLang="ko-KR" sz="2400" b="1"/>
              <a:t>However, starting with TLS 1.3, cipher suites specify only the record protection algorithm and HKDF, </a:t>
            </a:r>
            <a:r>
              <a:rPr lang="en-US" altLang="ko-KR" sz="2400" b="1">
                <a:solidFill>
                  <a:srgbClr val="FF0000"/>
                </a:solidFill>
              </a:rPr>
              <a:t>while key exchange and negotiated groups are designated in separate fields</a:t>
            </a:r>
            <a:r>
              <a:rPr lang="en-US" altLang="ko-KR" sz="2400" b="1"/>
              <a:t>.</a:t>
            </a:r>
            <a:endParaRPr lang="ko-KR" altLang="en-US" sz="2400" b="1" dirty="0"/>
          </a:p>
          <a:p>
            <a:pPr lvl="1"/>
            <a:r>
              <a:rPr lang="en-US" altLang="ko-KR" sz="1800"/>
              <a:t>Therefore, by utilizing this aspect of TLS 1.3, it is possible to deploy PQC KEMs or change only the signature algorithm for certificate authentication to a PQC-based scheme, all without directly modifying the cipher suites.</a:t>
            </a:r>
            <a:endParaRPr lang="ko-KR" altLang="en-US" sz="1800" dirty="0"/>
          </a:p>
        </p:txBody>
      </p:sp>
      <p:sp>
        <p:nvSpPr>
          <p:cNvPr id="6" name="TextBox 5">
            <a:extLst>
              <a:ext uri="{FF2B5EF4-FFF2-40B4-BE49-F238E27FC236}">
                <a16:creationId xmlns:a16="http://schemas.microsoft.com/office/drawing/2014/main" id="{C90AC9C2-04AF-D4A4-BF01-F9E740D7E59A}"/>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Transport Layer Security (TLS) </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98994B39-3753-6CC4-CD3C-A246F31AEC72}"/>
              </a:ext>
            </a:extLst>
          </p:cNvPr>
          <p:cNvSpPr>
            <a:spLocks noGrp="1"/>
          </p:cNvSpPr>
          <p:nvPr>
            <p:ph type="sldNum" sz="quarter" idx="12"/>
          </p:nvPr>
        </p:nvSpPr>
        <p:spPr/>
        <p:txBody>
          <a:bodyPr/>
          <a:lstStyle/>
          <a:p>
            <a:pPr rtl="0"/>
            <a:fld id="{401CF334-2D5C-4859-84A6-CA7E6E43FAEB}" type="slidenum">
              <a:rPr lang="en-US" altLang="ko-KR" smtClean="0"/>
              <a:t>5</a:t>
            </a:fld>
            <a:endParaRPr lang="ko-KR" altLang="en-US" dirty="0"/>
          </a:p>
        </p:txBody>
      </p:sp>
    </p:spTree>
    <p:extLst>
      <p:ext uri="{BB962C8B-B14F-4D97-AF65-F5344CB8AC3E}">
        <p14:creationId xmlns:p14="http://schemas.microsoft.com/office/powerpoint/2010/main" val="34248287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3DCB0-1AA4-DD80-1287-8D6A21FC6B06}"/>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34B6796C-57B6-C9AF-87DF-52EF19B6B90C}"/>
              </a:ext>
            </a:extLst>
          </p:cNvPr>
          <p:cNvSpPr>
            <a:spLocks noGrp="1"/>
          </p:cNvSpPr>
          <p:nvPr>
            <p:ph idx="1"/>
          </p:nvPr>
        </p:nvSpPr>
        <p:spPr>
          <a:xfrm>
            <a:off x="581192" y="1520042"/>
            <a:ext cx="11029615" cy="5070763"/>
          </a:xfrm>
        </p:spPr>
        <p:txBody>
          <a:bodyPr rtlCol="0"/>
          <a:lstStyle/>
          <a:p>
            <a:pPr marL="0" indent="0">
              <a:buNone/>
            </a:pPr>
            <a:r>
              <a:rPr lang="en-US" altLang="ko-KR" sz="2400" b="1"/>
              <a:t>Recently, the rapid advancement in quantum computing has made the transition to </a:t>
            </a:r>
            <a:r>
              <a:rPr lang="en-US" altLang="ko-KR" sz="2400" b="1">
                <a:solidFill>
                  <a:srgbClr val="FF0000"/>
                </a:solidFill>
              </a:rPr>
              <a:t>PQC standards urgently necessary</a:t>
            </a:r>
            <a:r>
              <a:rPr lang="en-US" altLang="ko-KR" sz="2400" b="1"/>
              <a:t>.</a:t>
            </a:r>
            <a:endParaRPr lang="ko-KR" altLang="en-US" sz="2400" b="1"/>
          </a:p>
          <a:p>
            <a:pPr lvl="1"/>
            <a:r>
              <a:rPr lang="en-US" altLang="ko-KR" sz="1800"/>
              <a:t>In 2016, NIST highlighted the increasing likelihood that RSA and ECC algorithmwould become vulnerable due to advancements in quantum computing.</a:t>
            </a:r>
          </a:p>
          <a:p>
            <a:pPr lvl="1"/>
            <a:r>
              <a:rPr lang="en-US" altLang="ko-KR" sz="1800">
                <a:solidFill>
                  <a:srgbClr val="FF0000"/>
                </a:solidFill>
              </a:rPr>
              <a:t>RSA and ECC are widely used as the main public key algorithms in TLS cryptographic negotiation.</a:t>
            </a:r>
          </a:p>
          <a:p>
            <a:pPr lvl="1"/>
            <a:r>
              <a:rPr lang="en-US" altLang="ko-KR" sz="1800"/>
              <a:t>In 2024, NIST finalized its first post-quantum cryptography (PQC) standards and continues to diversify its selections.</a:t>
            </a:r>
          </a:p>
          <a:p>
            <a:pPr lvl="1"/>
            <a:r>
              <a:rPr lang="en-US" altLang="ko-KR" sz="1800"/>
              <a:t>In 2022, South Korea hosted the KpqC initiative to establish domestic cryptographic standards, officially designating two KEMs (NTRU+ and SMAUG-t) and two digital signature algorithms (AIMer and HAETAE) as national standards.</a:t>
            </a:r>
          </a:p>
          <a:p>
            <a:pPr lvl="1"/>
            <a:r>
              <a:rPr lang="en-US" altLang="ko-KR" sz="1800">
                <a:solidFill>
                  <a:srgbClr val="FF0000"/>
                </a:solidFill>
              </a:rPr>
              <a:t>Therefore, a gradual migration methodology to post-quantum cryptography (PQC) is necessary.</a:t>
            </a:r>
          </a:p>
        </p:txBody>
      </p:sp>
      <p:sp>
        <p:nvSpPr>
          <p:cNvPr id="6" name="TextBox 5">
            <a:extLst>
              <a:ext uri="{FF2B5EF4-FFF2-40B4-BE49-F238E27FC236}">
                <a16:creationId xmlns:a16="http://schemas.microsoft.com/office/drawing/2014/main" id="{1357D809-32AB-BF1E-EB0A-AF0A8F481124}"/>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Post-Quantum Cryptography (PQC) </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A5F751BB-A0B2-169C-04EE-53254CC02FED}"/>
              </a:ext>
            </a:extLst>
          </p:cNvPr>
          <p:cNvSpPr>
            <a:spLocks noGrp="1"/>
          </p:cNvSpPr>
          <p:nvPr>
            <p:ph type="sldNum" sz="quarter" idx="12"/>
          </p:nvPr>
        </p:nvSpPr>
        <p:spPr/>
        <p:txBody>
          <a:bodyPr/>
          <a:lstStyle/>
          <a:p>
            <a:pPr rtl="0"/>
            <a:fld id="{401CF334-2D5C-4859-84A6-CA7E6E43FAEB}" type="slidenum">
              <a:rPr lang="en-US" altLang="ko-KR" smtClean="0"/>
              <a:t>6</a:t>
            </a:fld>
            <a:endParaRPr lang="ko-KR" altLang="en-US" dirty="0"/>
          </a:p>
        </p:txBody>
      </p:sp>
    </p:spTree>
    <p:extLst>
      <p:ext uri="{BB962C8B-B14F-4D97-AF65-F5344CB8AC3E}">
        <p14:creationId xmlns:p14="http://schemas.microsoft.com/office/powerpoint/2010/main" val="39315117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CA430-B081-720C-9145-9520F57A6998}"/>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163D74E1-1307-4D49-7157-709D9988F731}"/>
              </a:ext>
            </a:extLst>
          </p:cNvPr>
          <p:cNvSpPr>
            <a:spLocks noGrp="1"/>
          </p:cNvSpPr>
          <p:nvPr>
            <p:ph idx="1"/>
          </p:nvPr>
        </p:nvSpPr>
        <p:spPr>
          <a:xfrm>
            <a:off x="581192" y="1508166"/>
            <a:ext cx="11029615" cy="5011387"/>
          </a:xfrm>
        </p:spPr>
        <p:txBody>
          <a:bodyPr rtlCol="0">
            <a:normAutofit/>
          </a:bodyPr>
          <a:lstStyle/>
          <a:p>
            <a:pPr marL="0" indent="0">
              <a:buNone/>
            </a:pPr>
            <a:r>
              <a:rPr lang="en-US" altLang="ko-KR" sz="2400" b="1"/>
              <a:t>This system utilizes the </a:t>
            </a:r>
            <a:r>
              <a:rPr lang="en-US" altLang="ko-KR" sz="2400" b="1">
                <a:solidFill>
                  <a:srgbClr val="FF0000"/>
                </a:solidFill>
              </a:rPr>
              <a:t>CLOQS library</a:t>
            </a:r>
            <a:r>
              <a:rPr lang="en-US" altLang="ko-KR" sz="2400" b="1"/>
              <a:t> to support both NIST PQC and KpqC standards.</a:t>
            </a:r>
          </a:p>
          <a:p>
            <a:pPr rtl="0"/>
            <a:r>
              <a:rPr lang="en-US" altLang="ko-KR" sz="2400" b="1"/>
              <a:t>CLOQS</a:t>
            </a:r>
            <a:endParaRPr lang="ko-KR" altLang="en-US" sz="2400" b="1" dirty="0"/>
          </a:p>
          <a:p>
            <a:pPr lvl="1"/>
            <a:r>
              <a:rPr lang="en-US" altLang="ko-KR" sz="1800"/>
              <a:t>CLOQS is a PQC library built on liboqs, optimized for various platforms.</a:t>
            </a:r>
          </a:p>
          <a:p>
            <a:pPr lvl="1"/>
            <a:r>
              <a:rPr lang="en-US" altLang="ko-KR" sz="1800"/>
              <a:t>It supports both </a:t>
            </a:r>
            <a:r>
              <a:rPr lang="en-US" altLang="ko-KR" sz="1800">
                <a:solidFill>
                  <a:srgbClr val="FF0000"/>
                </a:solidFill>
              </a:rPr>
              <a:t>NIST (ML-KEM, ML-DSA) and KpqC standard algorithms</a:t>
            </a:r>
            <a:r>
              <a:rPr lang="en-US" altLang="ko-KR" sz="1800"/>
              <a:t>.</a:t>
            </a:r>
          </a:p>
          <a:p>
            <a:r>
              <a:rPr lang="en-US" altLang="ko-KR" sz="2400" b="1"/>
              <a:t>oqs-provider</a:t>
            </a:r>
          </a:p>
          <a:p>
            <a:pPr lvl="1"/>
            <a:r>
              <a:rPr lang="en-US" altLang="ko-KR" sz="1800"/>
              <a:t>oqs-provider enables PQC algorithms for TLS in OpenSSL 3.x or higher.</a:t>
            </a:r>
          </a:p>
          <a:p>
            <a:pPr lvl="1"/>
            <a:r>
              <a:rPr lang="en-US" altLang="ko-KR" sz="1800"/>
              <a:t>Since the official oqs-provider lacks KpqC support, a Migration Platform version adds </a:t>
            </a:r>
            <a:r>
              <a:rPr lang="en-US" altLang="ko-KR" sz="1800">
                <a:solidFill>
                  <a:srgbClr val="FF0000"/>
                </a:solidFill>
              </a:rPr>
              <a:t>KpqC compatibility.</a:t>
            </a:r>
            <a:endParaRPr lang="ko-KR" altLang="en-US" sz="1800">
              <a:solidFill>
                <a:srgbClr val="FF0000"/>
              </a:solidFill>
            </a:endParaRPr>
          </a:p>
          <a:p>
            <a:pPr marL="324000" lvl="1" indent="0">
              <a:buNone/>
            </a:pPr>
            <a:endParaRPr lang="ko-KR" altLang="en-US" sz="1800" dirty="0"/>
          </a:p>
        </p:txBody>
      </p:sp>
      <p:sp>
        <p:nvSpPr>
          <p:cNvPr id="6" name="TextBox 5">
            <a:extLst>
              <a:ext uri="{FF2B5EF4-FFF2-40B4-BE49-F238E27FC236}">
                <a16:creationId xmlns:a16="http://schemas.microsoft.com/office/drawing/2014/main" id="{5C41D5D7-97E8-0BF7-0854-185B437EA459}"/>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PQC and KpqC Implementation: CLOQS</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6344E25E-6223-0F21-9E64-F9C0FC83694F}"/>
              </a:ext>
            </a:extLst>
          </p:cNvPr>
          <p:cNvSpPr>
            <a:spLocks noGrp="1"/>
          </p:cNvSpPr>
          <p:nvPr>
            <p:ph type="sldNum" sz="quarter" idx="12"/>
          </p:nvPr>
        </p:nvSpPr>
        <p:spPr/>
        <p:txBody>
          <a:bodyPr/>
          <a:lstStyle/>
          <a:p>
            <a:pPr rtl="0"/>
            <a:fld id="{401CF334-2D5C-4859-84A6-CA7E6E43FAEB}" type="slidenum">
              <a:rPr lang="en-US" altLang="ko-KR" smtClean="0"/>
              <a:t>7</a:t>
            </a:fld>
            <a:endParaRPr lang="ko-KR" altLang="en-US" dirty="0"/>
          </a:p>
        </p:txBody>
      </p:sp>
    </p:spTree>
    <p:extLst>
      <p:ext uri="{BB962C8B-B14F-4D97-AF65-F5344CB8AC3E}">
        <p14:creationId xmlns:p14="http://schemas.microsoft.com/office/powerpoint/2010/main" val="1000643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AE91B-F003-805E-ECBF-0D687C11943C}"/>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576EEDE5-9527-BE1D-BB1C-490544F2DCDA}"/>
              </a:ext>
            </a:extLst>
          </p:cNvPr>
          <p:cNvSpPr>
            <a:spLocks noGrp="1"/>
          </p:cNvSpPr>
          <p:nvPr>
            <p:ph idx="1"/>
          </p:nvPr>
        </p:nvSpPr>
        <p:spPr>
          <a:xfrm>
            <a:off x="463138" y="1520042"/>
            <a:ext cx="11257807" cy="4999511"/>
          </a:xfrm>
        </p:spPr>
        <p:txBody>
          <a:bodyPr rtlCol="0">
            <a:normAutofit/>
          </a:bodyPr>
          <a:lstStyle/>
          <a:p>
            <a:pPr marL="324000" lvl="1" indent="0">
              <a:buNone/>
            </a:pPr>
            <a:r>
              <a:rPr lang="en-US" altLang="ko-KR" sz="2400" b="1">
                <a:solidFill>
                  <a:srgbClr val="FF0000"/>
                </a:solidFill>
              </a:rPr>
              <a:t>Crypto agility</a:t>
            </a:r>
            <a:r>
              <a:rPr lang="en-US" altLang="ko-KR" sz="2400" b="1"/>
              <a:t> refers to the capability to flexibly adopt various cryptographic technologies in response to evolving security threats.</a:t>
            </a:r>
          </a:p>
          <a:p>
            <a:pPr lvl="2"/>
            <a:r>
              <a:rPr lang="en-US" altLang="ko-KR" sz="1800"/>
              <a:t>The proposed framework supports crypto agility by allowing runtime transitions of cryptographic algorithms and parameters according to policy, </a:t>
            </a:r>
            <a:r>
              <a:rPr lang="en-US" altLang="ko-KR" sz="1800">
                <a:solidFill>
                  <a:srgbClr val="FF0000"/>
                </a:solidFill>
              </a:rPr>
              <a:t>without any service downtime</a:t>
            </a:r>
            <a:r>
              <a:rPr lang="en-US" altLang="ko-KR" sz="1800"/>
              <a:t>.</a:t>
            </a:r>
          </a:p>
          <a:p>
            <a:pPr marL="324000" lvl="1" indent="0">
              <a:buNone/>
            </a:pPr>
            <a:endParaRPr lang="en-US" altLang="ko-KR" sz="1800"/>
          </a:p>
          <a:p>
            <a:pPr marL="324000" lvl="1" indent="0">
              <a:buNone/>
            </a:pPr>
            <a:r>
              <a:rPr lang="en-US" altLang="ko-KR" sz="2400" b="1"/>
              <a:t>Crypto Agility in TLS 1.3</a:t>
            </a:r>
          </a:p>
          <a:p>
            <a:pPr lvl="2"/>
            <a:r>
              <a:rPr lang="en-US" altLang="ko-KR" sz="1800"/>
              <a:t>In TLS 1.3, since cipher suites, key exchange, and authentication operate independently, the adoption of PQC KEM and PQC-based authentication is implemented </a:t>
            </a:r>
            <a:r>
              <a:rPr lang="en-US" altLang="ko-KR" sz="1800">
                <a:solidFill>
                  <a:srgbClr val="FF0000"/>
                </a:solidFill>
              </a:rPr>
              <a:t>without the need to modify cipher suites directly</a:t>
            </a:r>
            <a:r>
              <a:rPr lang="en-US" altLang="ko-KR" sz="1800"/>
              <a:t>.</a:t>
            </a:r>
            <a:endParaRPr lang="ko-KR" altLang="en-US" sz="1800" dirty="0"/>
          </a:p>
        </p:txBody>
      </p:sp>
      <p:sp>
        <p:nvSpPr>
          <p:cNvPr id="6" name="TextBox 5">
            <a:extLst>
              <a:ext uri="{FF2B5EF4-FFF2-40B4-BE49-F238E27FC236}">
                <a16:creationId xmlns:a16="http://schemas.microsoft.com/office/drawing/2014/main" id="{6C0F83C9-F764-A80B-7AFF-01FA0331D55A}"/>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Crypto Agility</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9D0AD9E8-1837-1A6D-70DB-543E9DF19D75}"/>
              </a:ext>
            </a:extLst>
          </p:cNvPr>
          <p:cNvSpPr>
            <a:spLocks noGrp="1"/>
          </p:cNvSpPr>
          <p:nvPr>
            <p:ph type="sldNum" sz="quarter" idx="12"/>
          </p:nvPr>
        </p:nvSpPr>
        <p:spPr/>
        <p:txBody>
          <a:bodyPr/>
          <a:lstStyle/>
          <a:p>
            <a:pPr rtl="0"/>
            <a:fld id="{401CF334-2D5C-4859-84A6-CA7E6E43FAEB}" type="slidenum">
              <a:rPr lang="en-US" altLang="ko-KR" smtClean="0"/>
              <a:t>8</a:t>
            </a:fld>
            <a:endParaRPr lang="ko-KR" altLang="en-US" dirty="0"/>
          </a:p>
        </p:txBody>
      </p:sp>
    </p:spTree>
    <p:extLst>
      <p:ext uri="{BB962C8B-B14F-4D97-AF65-F5344CB8AC3E}">
        <p14:creationId xmlns:p14="http://schemas.microsoft.com/office/powerpoint/2010/main" val="27532198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C7223-9809-4503-F654-0E889CEAE8D2}"/>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14AFAE0E-8799-5F91-2C5B-BCAF8D92DC58}"/>
              </a:ext>
            </a:extLst>
          </p:cNvPr>
          <p:cNvSpPr>
            <a:spLocks noGrp="1"/>
          </p:cNvSpPr>
          <p:nvPr>
            <p:ph idx="1"/>
          </p:nvPr>
        </p:nvSpPr>
        <p:spPr>
          <a:xfrm>
            <a:off x="316181" y="1591295"/>
            <a:ext cx="4655704" cy="4729968"/>
          </a:xfrm>
        </p:spPr>
        <p:txBody>
          <a:bodyPr rtlCol="0">
            <a:noAutofit/>
          </a:bodyPr>
          <a:lstStyle/>
          <a:p>
            <a:pPr marL="0" indent="0" algn="ctr">
              <a:buNone/>
            </a:pPr>
            <a:r>
              <a:rPr lang="en-US" altLang="ko-KR" sz="2400" b="1"/>
              <a:t>The bridge routes clients to the appropriate server based on the active </a:t>
            </a:r>
            <a:r>
              <a:rPr lang="en-US" altLang="ko-KR" sz="2400" b="1">
                <a:solidFill>
                  <a:srgbClr val="FF0000"/>
                </a:solidFill>
              </a:rPr>
              <a:t>cryptographic protocol and policy</a:t>
            </a:r>
            <a:r>
              <a:rPr lang="en-US" altLang="ko-KR" sz="2400" b="1"/>
              <a:t>.</a:t>
            </a:r>
            <a:endParaRPr lang="ko-KR" altLang="en-US" sz="2400" b="1" dirty="0"/>
          </a:p>
        </p:txBody>
      </p:sp>
      <p:sp>
        <p:nvSpPr>
          <p:cNvPr id="6" name="TextBox 5">
            <a:extLst>
              <a:ext uri="{FF2B5EF4-FFF2-40B4-BE49-F238E27FC236}">
                <a16:creationId xmlns:a16="http://schemas.microsoft.com/office/drawing/2014/main" id="{4BF175D2-E2F8-A563-7707-B023A799898B}"/>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System Overview</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F9049519-FDB1-4D39-DCA4-B2BA76034F93}"/>
              </a:ext>
            </a:extLst>
          </p:cNvPr>
          <p:cNvSpPr>
            <a:spLocks noGrp="1"/>
          </p:cNvSpPr>
          <p:nvPr>
            <p:ph type="sldNum" sz="quarter" idx="12"/>
          </p:nvPr>
        </p:nvSpPr>
        <p:spPr/>
        <p:txBody>
          <a:bodyPr/>
          <a:lstStyle/>
          <a:p>
            <a:pPr rtl="0"/>
            <a:fld id="{401CF334-2D5C-4859-84A6-CA7E6E43FAEB}" type="slidenum">
              <a:rPr lang="en-US" altLang="ko-KR" smtClean="0"/>
              <a:t>9</a:t>
            </a:fld>
            <a:endParaRPr lang="ko-KR" altLang="en-US" dirty="0"/>
          </a:p>
        </p:txBody>
      </p:sp>
      <p:grpSp>
        <p:nvGrpSpPr>
          <p:cNvPr id="104" name="그룹 103">
            <a:extLst>
              <a:ext uri="{FF2B5EF4-FFF2-40B4-BE49-F238E27FC236}">
                <a16:creationId xmlns:a16="http://schemas.microsoft.com/office/drawing/2014/main" id="{854736B9-E517-1C3E-2395-D98969417810}"/>
              </a:ext>
            </a:extLst>
          </p:cNvPr>
          <p:cNvGrpSpPr/>
          <p:nvPr/>
        </p:nvGrpSpPr>
        <p:grpSpPr>
          <a:xfrm>
            <a:off x="4824493" y="1647859"/>
            <a:ext cx="6786314" cy="4031193"/>
            <a:chOff x="-161152" y="86408"/>
            <a:chExt cx="8138714" cy="4834542"/>
          </a:xfrm>
        </p:grpSpPr>
        <p:sp>
          <p:nvSpPr>
            <p:cNvPr id="56" name="TextBox 55">
              <a:extLst>
                <a:ext uri="{FF2B5EF4-FFF2-40B4-BE49-F238E27FC236}">
                  <a16:creationId xmlns:a16="http://schemas.microsoft.com/office/drawing/2014/main" id="{9855FF38-485D-8A61-DA59-5AD631422CDC}"/>
                </a:ext>
              </a:extLst>
            </p:cNvPr>
            <p:cNvSpPr txBox="1"/>
            <p:nvPr/>
          </p:nvSpPr>
          <p:spPr>
            <a:xfrm>
              <a:off x="2781142" y="931054"/>
              <a:ext cx="2024886" cy="313745"/>
            </a:xfrm>
            <a:prstGeom prst="rect">
              <a:avLst/>
            </a:prstGeom>
            <a:solidFill>
              <a:schemeClr val="bg1"/>
            </a:solidFill>
            <a:ln>
              <a:solidFill>
                <a:schemeClr val="tx1"/>
              </a:solidFill>
            </a:ln>
          </p:spPr>
          <p:txBody>
            <a:bodyPr wrap="square">
              <a:spAutoFit/>
            </a:bodyPr>
            <a:lstStyle/>
            <a:p>
              <a:pPr algn="ctr"/>
              <a:r>
                <a:rPr lang="en-US" altLang="ko-KR" sz="1050" b="1">
                  <a:latin typeface="Times New Roman" panose="02020603050405020304" pitchFamily="18" charset="0"/>
                  <a:cs typeface="Times New Roman" panose="02020603050405020304" pitchFamily="18" charset="0"/>
                </a:rPr>
                <a:t>Update Decision</a:t>
              </a:r>
              <a:endParaRPr lang="ko-KR" altLang="en-US" sz="1050" b="1" dirty="0">
                <a:latin typeface="Times New Roman" panose="02020603050405020304" pitchFamily="18" charset="0"/>
                <a:cs typeface="Times New Roman" panose="02020603050405020304" pitchFamily="18" charset="0"/>
              </a:endParaRPr>
            </a:p>
          </p:txBody>
        </p:sp>
        <p:cxnSp>
          <p:nvCxnSpPr>
            <p:cNvPr id="57" name="직선 화살표 연결선 56">
              <a:extLst>
                <a:ext uri="{FF2B5EF4-FFF2-40B4-BE49-F238E27FC236}">
                  <a16:creationId xmlns:a16="http://schemas.microsoft.com/office/drawing/2014/main" id="{C1DFE283-7F47-9429-4574-75702876DFC5}"/>
                </a:ext>
              </a:extLst>
            </p:cNvPr>
            <p:cNvCxnSpPr>
              <a:cxnSpLocks/>
            </p:cNvCxnSpPr>
            <p:nvPr/>
          </p:nvCxnSpPr>
          <p:spPr>
            <a:xfrm>
              <a:off x="5982332" y="1058289"/>
              <a:ext cx="483212" cy="0"/>
            </a:xfrm>
            <a:prstGeom prst="straightConnector1">
              <a:avLst/>
            </a:prstGeom>
            <a:ln w="127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직선 화살표 연결선 57">
              <a:extLst>
                <a:ext uri="{FF2B5EF4-FFF2-40B4-BE49-F238E27FC236}">
                  <a16:creationId xmlns:a16="http://schemas.microsoft.com/office/drawing/2014/main" id="{C10261AA-43CE-3F16-BA79-AE3A16C156BA}"/>
                </a:ext>
              </a:extLst>
            </p:cNvPr>
            <p:cNvCxnSpPr>
              <a:cxnSpLocks/>
              <a:stCxn id="63" idx="3"/>
            </p:cNvCxnSpPr>
            <p:nvPr/>
          </p:nvCxnSpPr>
          <p:spPr>
            <a:xfrm>
              <a:off x="5603522" y="1578684"/>
              <a:ext cx="378810" cy="0"/>
            </a:xfrm>
            <a:prstGeom prst="straightConnector1">
              <a:avLst/>
            </a:prstGeom>
            <a:ln w="12700">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직선 화살표 연결선 58">
              <a:extLst>
                <a:ext uri="{FF2B5EF4-FFF2-40B4-BE49-F238E27FC236}">
                  <a16:creationId xmlns:a16="http://schemas.microsoft.com/office/drawing/2014/main" id="{1A254540-3939-E828-E135-3A7100671C2F}"/>
                </a:ext>
              </a:extLst>
            </p:cNvPr>
            <p:cNvCxnSpPr>
              <a:cxnSpLocks/>
            </p:cNvCxnSpPr>
            <p:nvPr/>
          </p:nvCxnSpPr>
          <p:spPr>
            <a:xfrm>
              <a:off x="5982332" y="2114336"/>
              <a:ext cx="483212" cy="0"/>
            </a:xfrm>
            <a:prstGeom prst="straightConnector1">
              <a:avLst/>
            </a:prstGeom>
            <a:ln w="127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0" name="직선 화살표 연결선 59">
              <a:extLst>
                <a:ext uri="{FF2B5EF4-FFF2-40B4-BE49-F238E27FC236}">
                  <a16:creationId xmlns:a16="http://schemas.microsoft.com/office/drawing/2014/main" id="{1C743CB6-6C0A-AC69-89CC-4F13D4A9AC44}"/>
                </a:ext>
              </a:extLst>
            </p:cNvPr>
            <p:cNvCxnSpPr>
              <a:cxnSpLocks/>
            </p:cNvCxnSpPr>
            <p:nvPr/>
          </p:nvCxnSpPr>
          <p:spPr>
            <a:xfrm>
              <a:off x="5982332" y="1046593"/>
              <a:ext cx="0" cy="1069989"/>
            </a:xfrm>
            <a:prstGeom prst="straightConnector1">
              <a:avLst/>
            </a:prstGeom>
            <a:ln w="127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pic>
          <p:nvPicPr>
            <p:cNvPr id="61" name="그림 60" descr="블랙, 어둠이(가) 표시된 사진&#10;&#10;AI 생성 콘텐츠는 정확하지 않을 수 있습니다.">
              <a:extLst>
                <a:ext uri="{FF2B5EF4-FFF2-40B4-BE49-F238E27FC236}">
                  <a16:creationId xmlns:a16="http://schemas.microsoft.com/office/drawing/2014/main" id="{08AE93AD-DB8E-4487-B2DB-35DCDC6E4D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146" y="1321469"/>
              <a:ext cx="513237" cy="513237"/>
            </a:xfrm>
            <a:prstGeom prst="rect">
              <a:avLst/>
            </a:prstGeom>
          </p:spPr>
        </p:pic>
        <p:sp>
          <p:nvSpPr>
            <p:cNvPr id="62" name="TextBox 61">
              <a:extLst>
                <a:ext uri="{FF2B5EF4-FFF2-40B4-BE49-F238E27FC236}">
                  <a16:creationId xmlns:a16="http://schemas.microsoft.com/office/drawing/2014/main" id="{6F2AEAF8-89D9-6AD4-1341-970B52C69201}"/>
                </a:ext>
              </a:extLst>
            </p:cNvPr>
            <p:cNvSpPr txBox="1"/>
            <p:nvPr/>
          </p:nvSpPr>
          <p:spPr>
            <a:xfrm>
              <a:off x="2894363" y="86408"/>
              <a:ext cx="1593438" cy="348349"/>
            </a:xfrm>
            <a:prstGeom prst="rect">
              <a:avLst/>
            </a:prstGeom>
            <a:noFill/>
            <a:ln w="12700">
              <a:noFill/>
            </a:ln>
          </p:spPr>
          <p:txBody>
            <a:bodyPr wrap="square" rtlCol="0" anchor="ctr">
              <a:spAutoFit/>
            </a:bodyPr>
            <a:lstStyle/>
            <a:p>
              <a:pPr algn="ctr">
                <a:lnSpc>
                  <a:spcPct val="130000"/>
                </a:lnSpc>
              </a:pPr>
              <a:r>
                <a:rPr lang="en-US" altLang="ko-KR" sz="1050">
                  <a:latin typeface="Times New Roman" panose="02020603050405020304" pitchFamily="18" charset="0"/>
                  <a:cs typeface="Times New Roman" panose="02020603050405020304" pitchFamily="18" charset="0"/>
                </a:rPr>
                <a:t>Manager</a:t>
              </a:r>
            </a:p>
          </p:txBody>
        </p:sp>
        <p:sp>
          <p:nvSpPr>
            <p:cNvPr id="63" name="직사각형 62">
              <a:extLst>
                <a:ext uri="{FF2B5EF4-FFF2-40B4-BE49-F238E27FC236}">
                  <a16:creationId xmlns:a16="http://schemas.microsoft.com/office/drawing/2014/main" id="{C1C03895-CC7F-8B20-2E83-F1EBAB2A3A80}"/>
                </a:ext>
              </a:extLst>
            </p:cNvPr>
            <p:cNvSpPr/>
            <p:nvPr/>
          </p:nvSpPr>
          <p:spPr>
            <a:xfrm>
              <a:off x="1983648" y="1330826"/>
              <a:ext cx="3619874" cy="49571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64" name="TextBox 63">
              <a:extLst>
                <a:ext uri="{FF2B5EF4-FFF2-40B4-BE49-F238E27FC236}">
                  <a16:creationId xmlns:a16="http://schemas.microsoft.com/office/drawing/2014/main" id="{D2E4A365-4A5A-7B1F-89D1-1439114F8AE0}"/>
                </a:ext>
              </a:extLst>
            </p:cNvPr>
            <p:cNvSpPr txBox="1"/>
            <p:nvPr/>
          </p:nvSpPr>
          <p:spPr>
            <a:xfrm>
              <a:off x="2060455" y="1429273"/>
              <a:ext cx="895965" cy="313745"/>
            </a:xfrm>
            <a:prstGeom prst="rect">
              <a:avLst/>
            </a:prstGeom>
            <a:solidFill>
              <a:schemeClr val="bg1"/>
            </a:solidFill>
            <a:ln>
              <a:solidFill>
                <a:schemeClr val="tx1"/>
              </a:solidFill>
            </a:ln>
          </p:spPr>
          <p:txBody>
            <a:bodyPr wrap="square">
              <a:spAutoFit/>
            </a:bodyPr>
            <a:lstStyle/>
            <a:p>
              <a:pPr algn="ctr"/>
              <a:r>
                <a:rPr lang="en-US" altLang="ko-KR" sz="1050" b="1">
                  <a:latin typeface="Times New Roman" panose="02020603050405020304" pitchFamily="18" charset="0"/>
                  <a:cs typeface="Times New Roman" panose="02020603050405020304" pitchFamily="18" charset="0"/>
                </a:rPr>
                <a:t>Policy</a:t>
              </a:r>
              <a:endParaRPr lang="ko-KR" altLang="en-US" sz="1050" b="1" dirty="0">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1B65DAA6-56D2-424D-2F45-7E9BDF026D58}"/>
                </a:ext>
              </a:extLst>
            </p:cNvPr>
            <p:cNvSpPr txBox="1"/>
            <p:nvPr/>
          </p:nvSpPr>
          <p:spPr>
            <a:xfrm>
              <a:off x="4597621" y="1435013"/>
              <a:ext cx="895965" cy="313745"/>
            </a:xfrm>
            <a:prstGeom prst="rect">
              <a:avLst/>
            </a:prstGeom>
            <a:solidFill>
              <a:schemeClr val="bg1"/>
            </a:solidFill>
            <a:ln>
              <a:solidFill>
                <a:schemeClr val="tx1"/>
              </a:solidFill>
            </a:ln>
          </p:spPr>
          <p:txBody>
            <a:bodyPr wrap="square">
              <a:spAutoFit/>
            </a:bodyPr>
            <a:lstStyle/>
            <a:p>
              <a:pPr algn="ctr"/>
              <a:r>
                <a:rPr lang="en-US" altLang="ko-KR" sz="1050" b="1">
                  <a:latin typeface="Times New Roman" panose="02020603050405020304" pitchFamily="18" charset="0"/>
                  <a:cs typeface="Times New Roman" panose="02020603050405020304" pitchFamily="18" charset="0"/>
                </a:rPr>
                <a:t>Routing</a:t>
              </a:r>
              <a:endParaRPr lang="ko-KR" altLang="en-US" sz="1050" b="1" dirty="0">
                <a:latin typeface="Times New Roman" panose="02020603050405020304" pitchFamily="18" charset="0"/>
                <a:cs typeface="Times New Roman" panose="02020603050405020304" pitchFamily="18" charset="0"/>
              </a:endParaRPr>
            </a:p>
          </p:txBody>
        </p:sp>
        <p:pic>
          <p:nvPicPr>
            <p:cNvPr id="66" name="그림 65" descr="블랙, 어둠이(가) 표시된 사진&#10;&#10;AI 생성 콘텐츠는 정확하지 않을 수 있습니다.">
              <a:extLst>
                <a:ext uri="{FF2B5EF4-FFF2-40B4-BE49-F238E27FC236}">
                  <a16:creationId xmlns:a16="http://schemas.microsoft.com/office/drawing/2014/main" id="{052F7FED-0775-515D-FD11-15741487BC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86403" y="366931"/>
              <a:ext cx="539001" cy="539001"/>
            </a:xfrm>
            <a:prstGeom prst="rect">
              <a:avLst/>
            </a:prstGeom>
          </p:spPr>
        </p:pic>
        <p:sp>
          <p:nvSpPr>
            <p:cNvPr id="67" name="TextBox 66">
              <a:extLst>
                <a:ext uri="{FF2B5EF4-FFF2-40B4-BE49-F238E27FC236}">
                  <a16:creationId xmlns:a16="http://schemas.microsoft.com/office/drawing/2014/main" id="{93F794C1-3621-312E-BCDD-085B0EA37304}"/>
                </a:ext>
              </a:extLst>
            </p:cNvPr>
            <p:cNvSpPr txBox="1"/>
            <p:nvPr/>
          </p:nvSpPr>
          <p:spPr>
            <a:xfrm>
              <a:off x="3009208" y="1435013"/>
              <a:ext cx="1535626" cy="313745"/>
            </a:xfrm>
            <a:prstGeom prst="rect">
              <a:avLst/>
            </a:prstGeom>
            <a:solidFill>
              <a:schemeClr val="bg1"/>
            </a:solidFill>
            <a:ln>
              <a:solidFill>
                <a:schemeClr val="tx1"/>
              </a:solidFill>
            </a:ln>
          </p:spPr>
          <p:txBody>
            <a:bodyPr wrap="square">
              <a:spAutoFit/>
            </a:bodyPr>
            <a:lstStyle/>
            <a:p>
              <a:pPr algn="ctr"/>
              <a:r>
                <a:rPr lang="en-US" altLang="ko-KR" sz="1050" b="1">
                  <a:latin typeface="Times New Roman" panose="02020603050405020304" pitchFamily="18" charset="0"/>
                  <a:cs typeface="Times New Roman" panose="02020603050405020304" pitchFamily="18" charset="0"/>
                </a:rPr>
                <a:t>Transform Map</a:t>
              </a:r>
              <a:endParaRPr lang="ko-KR" altLang="en-US" sz="1050" b="1" dirty="0">
                <a:latin typeface="Times New Roman" panose="02020603050405020304" pitchFamily="18" charset="0"/>
                <a:cs typeface="Times New Roman" panose="02020603050405020304" pitchFamily="18" charset="0"/>
              </a:endParaRPr>
            </a:p>
          </p:txBody>
        </p:sp>
        <p:cxnSp>
          <p:nvCxnSpPr>
            <p:cNvPr id="68" name="직선 연결선 67">
              <a:extLst>
                <a:ext uri="{FF2B5EF4-FFF2-40B4-BE49-F238E27FC236}">
                  <a16:creationId xmlns:a16="http://schemas.microsoft.com/office/drawing/2014/main" id="{EC5DA5FD-D77A-22EF-F0D7-822AEF461DF7}"/>
                </a:ext>
              </a:extLst>
            </p:cNvPr>
            <p:cNvCxnSpPr>
              <a:stCxn id="56" idx="2"/>
              <a:endCxn id="63" idx="0"/>
            </p:cNvCxnSpPr>
            <p:nvPr/>
          </p:nvCxnSpPr>
          <p:spPr>
            <a:xfrm flipH="1">
              <a:off x="3793585" y="1244799"/>
              <a:ext cx="1" cy="860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44E07A49-093B-5BE5-BE22-15F5D98B0A9B}"/>
                </a:ext>
              </a:extLst>
            </p:cNvPr>
            <p:cNvSpPr txBox="1"/>
            <p:nvPr/>
          </p:nvSpPr>
          <p:spPr>
            <a:xfrm>
              <a:off x="372550" y="969284"/>
              <a:ext cx="1372452" cy="337507"/>
            </a:xfrm>
            <a:prstGeom prst="rect">
              <a:avLst/>
            </a:prstGeom>
            <a:noFill/>
            <a:ln w="12700">
              <a:noFill/>
            </a:ln>
          </p:spPr>
          <p:txBody>
            <a:bodyPr wrap="square" rtlCol="0" anchor="ctr">
              <a:spAutoFit/>
            </a:bodyPr>
            <a:lstStyle/>
            <a:p>
              <a:pPr algn="ctr">
                <a:lnSpc>
                  <a:spcPct val="130000"/>
                </a:lnSpc>
              </a:pPr>
              <a:r>
                <a:rPr lang="en-US" altLang="ko-KR" sz="1050" b="1">
                  <a:latin typeface="Times New Roman" panose="02020603050405020304" pitchFamily="18" charset="0"/>
                  <a:cs typeface="Times New Roman" panose="02020603050405020304" pitchFamily="18" charset="0"/>
                </a:rPr>
                <a:t>Classic Client</a:t>
              </a:r>
            </a:p>
          </p:txBody>
        </p:sp>
        <p:cxnSp>
          <p:nvCxnSpPr>
            <p:cNvPr id="70" name="직선 화살표 연결선 69">
              <a:extLst>
                <a:ext uri="{FF2B5EF4-FFF2-40B4-BE49-F238E27FC236}">
                  <a16:creationId xmlns:a16="http://schemas.microsoft.com/office/drawing/2014/main" id="{3CFB0064-781D-579E-9562-6D7FC2D6FD0A}"/>
                </a:ext>
              </a:extLst>
            </p:cNvPr>
            <p:cNvCxnSpPr>
              <a:cxnSpLocks/>
              <a:stCxn id="61" idx="3"/>
              <a:endCxn id="63" idx="1"/>
            </p:cNvCxnSpPr>
            <p:nvPr/>
          </p:nvCxnSpPr>
          <p:spPr>
            <a:xfrm>
              <a:off x="1323383" y="1578088"/>
              <a:ext cx="660265" cy="596"/>
            </a:xfrm>
            <a:prstGeom prst="straightConnector1">
              <a:avLst/>
            </a:prstGeom>
            <a:ln w="1270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1" name="직선 연결선 70">
              <a:extLst>
                <a:ext uri="{FF2B5EF4-FFF2-40B4-BE49-F238E27FC236}">
                  <a16:creationId xmlns:a16="http://schemas.microsoft.com/office/drawing/2014/main" id="{CB5D5D55-FE33-5E54-A2E1-74133C0CC793}"/>
                </a:ext>
              </a:extLst>
            </p:cNvPr>
            <p:cNvCxnSpPr>
              <a:cxnSpLocks/>
            </p:cNvCxnSpPr>
            <p:nvPr/>
          </p:nvCxnSpPr>
          <p:spPr>
            <a:xfrm>
              <a:off x="177511" y="2613715"/>
              <a:ext cx="7657983" cy="0"/>
            </a:xfrm>
            <a:prstGeom prst="line">
              <a:avLst/>
            </a:prstGeom>
            <a:ln w="12700">
              <a:solidFill>
                <a:schemeClr val="bg1">
                  <a:lumMod val="75000"/>
                </a:schemeClr>
              </a:solidFill>
              <a:prstDash val="sysDash"/>
            </a:ln>
          </p:spPr>
          <p:style>
            <a:lnRef idx="2">
              <a:schemeClr val="accent1"/>
            </a:lnRef>
            <a:fillRef idx="0">
              <a:schemeClr val="accent1"/>
            </a:fillRef>
            <a:effectRef idx="1">
              <a:schemeClr val="accent1"/>
            </a:effectRef>
            <a:fontRef idx="minor">
              <a:schemeClr val="tx1"/>
            </a:fontRef>
          </p:style>
        </p:cxnSp>
        <p:grpSp>
          <p:nvGrpSpPr>
            <p:cNvPr id="72" name="그룹 71">
              <a:extLst>
                <a:ext uri="{FF2B5EF4-FFF2-40B4-BE49-F238E27FC236}">
                  <a16:creationId xmlns:a16="http://schemas.microsoft.com/office/drawing/2014/main" id="{A1A65C08-90D1-C7E8-866A-CD426FCB0B34}"/>
                </a:ext>
              </a:extLst>
            </p:cNvPr>
            <p:cNvGrpSpPr/>
            <p:nvPr/>
          </p:nvGrpSpPr>
          <p:grpSpPr>
            <a:xfrm>
              <a:off x="6466062" y="589843"/>
              <a:ext cx="1337345" cy="845170"/>
              <a:chOff x="6466062" y="682976"/>
              <a:chExt cx="1337345" cy="845170"/>
            </a:xfrm>
          </p:grpSpPr>
          <p:sp>
            <p:nvSpPr>
              <p:cNvPr id="73" name="직사각형 72">
                <a:extLst>
                  <a:ext uri="{FF2B5EF4-FFF2-40B4-BE49-F238E27FC236}">
                    <a16:creationId xmlns:a16="http://schemas.microsoft.com/office/drawing/2014/main" id="{3F925475-F766-E5B4-1CF4-EAC9163F8C97}"/>
                  </a:ext>
                </a:extLst>
              </p:cNvPr>
              <p:cNvSpPr/>
              <p:nvPr/>
            </p:nvSpPr>
            <p:spPr>
              <a:xfrm>
                <a:off x="6466062" y="821476"/>
                <a:ext cx="1337345" cy="70667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a:t>z</a:t>
                </a:r>
                <a:endParaRPr lang="ko-KR" altLang="en-US" sz="1400"/>
              </a:p>
            </p:txBody>
          </p:sp>
          <p:sp>
            <p:nvSpPr>
              <p:cNvPr id="74" name="TextBox 73">
                <a:extLst>
                  <a:ext uri="{FF2B5EF4-FFF2-40B4-BE49-F238E27FC236}">
                    <a16:creationId xmlns:a16="http://schemas.microsoft.com/office/drawing/2014/main" id="{B376C20F-363B-4412-3C8C-55C74D997755}"/>
                  </a:ext>
                </a:extLst>
              </p:cNvPr>
              <p:cNvSpPr txBox="1"/>
              <p:nvPr/>
            </p:nvSpPr>
            <p:spPr>
              <a:xfrm>
                <a:off x="6679570" y="682976"/>
                <a:ext cx="910326" cy="313745"/>
              </a:xfrm>
              <a:prstGeom prst="rect">
                <a:avLst/>
              </a:prstGeom>
              <a:solidFill>
                <a:schemeClr val="bg1"/>
              </a:solidFill>
              <a:ln>
                <a:noFill/>
              </a:ln>
            </p:spPr>
            <p:txBody>
              <a:bodyPr wrap="square">
                <a:spAutoFit/>
              </a:bodyPr>
              <a:lstStyle/>
              <a:p>
                <a:pPr algn="ctr"/>
                <a:r>
                  <a:rPr lang="en-US" altLang="ko-KR" sz="1100" b="1">
                    <a:latin typeface="Times New Roman" panose="02020603050405020304" pitchFamily="18" charset="0"/>
                    <a:cs typeface="Times New Roman" panose="02020603050405020304" pitchFamily="18" charset="0"/>
                  </a:rPr>
                  <a:t>v1 Server</a:t>
                </a:r>
                <a:endParaRPr lang="ko-KR" altLang="en-US" sz="1100" b="1" dirty="0">
                  <a:latin typeface="Times New Roman" panose="02020603050405020304" pitchFamily="18" charset="0"/>
                  <a:cs typeface="Times New Roman" panose="02020603050405020304" pitchFamily="18" charset="0"/>
                </a:endParaRPr>
              </a:p>
            </p:txBody>
          </p:sp>
        </p:grpSp>
        <p:grpSp>
          <p:nvGrpSpPr>
            <p:cNvPr id="75" name="그룹 74">
              <a:extLst>
                <a:ext uri="{FF2B5EF4-FFF2-40B4-BE49-F238E27FC236}">
                  <a16:creationId xmlns:a16="http://schemas.microsoft.com/office/drawing/2014/main" id="{583AB4E7-0FE7-1256-9B03-AF2F151DB8A7}"/>
                </a:ext>
              </a:extLst>
            </p:cNvPr>
            <p:cNvGrpSpPr/>
            <p:nvPr/>
          </p:nvGrpSpPr>
          <p:grpSpPr>
            <a:xfrm>
              <a:off x="6466062" y="1544355"/>
              <a:ext cx="1337345" cy="845170"/>
              <a:chOff x="6466062" y="1576969"/>
              <a:chExt cx="1337345" cy="845170"/>
            </a:xfrm>
          </p:grpSpPr>
          <p:sp>
            <p:nvSpPr>
              <p:cNvPr id="76" name="직사각형 75">
                <a:extLst>
                  <a:ext uri="{FF2B5EF4-FFF2-40B4-BE49-F238E27FC236}">
                    <a16:creationId xmlns:a16="http://schemas.microsoft.com/office/drawing/2014/main" id="{BD367246-6AB7-4EC0-BAB3-E93F38B2CFDD}"/>
                  </a:ext>
                </a:extLst>
              </p:cNvPr>
              <p:cNvSpPr/>
              <p:nvPr/>
            </p:nvSpPr>
            <p:spPr>
              <a:xfrm>
                <a:off x="6466062" y="1715469"/>
                <a:ext cx="1337345" cy="70667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a:t>z</a:t>
                </a:r>
                <a:endParaRPr lang="ko-KR" altLang="en-US" sz="1400"/>
              </a:p>
            </p:txBody>
          </p:sp>
          <p:sp>
            <p:nvSpPr>
              <p:cNvPr id="77" name="TextBox 76">
                <a:extLst>
                  <a:ext uri="{FF2B5EF4-FFF2-40B4-BE49-F238E27FC236}">
                    <a16:creationId xmlns:a16="http://schemas.microsoft.com/office/drawing/2014/main" id="{69C02506-510F-99B3-AB75-266AD36ABF33}"/>
                  </a:ext>
                </a:extLst>
              </p:cNvPr>
              <p:cNvSpPr txBox="1"/>
              <p:nvPr/>
            </p:nvSpPr>
            <p:spPr>
              <a:xfrm>
                <a:off x="6679570" y="1576969"/>
                <a:ext cx="910326" cy="313745"/>
              </a:xfrm>
              <a:prstGeom prst="rect">
                <a:avLst/>
              </a:prstGeom>
              <a:solidFill>
                <a:schemeClr val="bg1"/>
              </a:solidFill>
              <a:ln>
                <a:noFill/>
              </a:ln>
            </p:spPr>
            <p:txBody>
              <a:bodyPr wrap="square">
                <a:spAutoFit/>
              </a:bodyPr>
              <a:lstStyle/>
              <a:p>
                <a:pPr algn="ctr"/>
                <a:r>
                  <a:rPr lang="en-US" altLang="ko-KR" sz="1100" b="1">
                    <a:latin typeface="Times New Roman" panose="02020603050405020304" pitchFamily="18" charset="0"/>
                    <a:cs typeface="Times New Roman" panose="02020603050405020304" pitchFamily="18" charset="0"/>
                  </a:rPr>
                  <a:t>v2 Server</a:t>
                </a:r>
                <a:endParaRPr lang="ko-KR" altLang="en-US" sz="1100" b="1" dirty="0">
                  <a:latin typeface="Times New Roman" panose="02020603050405020304" pitchFamily="18" charset="0"/>
                  <a:cs typeface="Times New Roman" panose="02020603050405020304" pitchFamily="18" charset="0"/>
                </a:endParaRPr>
              </a:p>
            </p:txBody>
          </p:sp>
        </p:grpSp>
        <p:sp>
          <p:nvSpPr>
            <p:cNvPr id="78" name="TextBox 77">
              <a:extLst>
                <a:ext uri="{FF2B5EF4-FFF2-40B4-BE49-F238E27FC236}">
                  <a16:creationId xmlns:a16="http://schemas.microsoft.com/office/drawing/2014/main" id="{D3579A76-F08F-FCF3-CFBA-76B6E4BD7ED5}"/>
                </a:ext>
              </a:extLst>
            </p:cNvPr>
            <p:cNvSpPr txBox="1"/>
            <p:nvPr/>
          </p:nvSpPr>
          <p:spPr>
            <a:xfrm>
              <a:off x="6323994" y="880583"/>
              <a:ext cx="1621482" cy="348349"/>
            </a:xfrm>
            <a:prstGeom prst="rect">
              <a:avLst/>
            </a:prstGeom>
            <a:noFill/>
            <a:ln w="12700">
              <a:noFill/>
            </a:ln>
          </p:spPr>
          <p:txBody>
            <a:bodyPr wrap="square" rtlCol="0" anchor="ctr">
              <a:spAutoFit/>
            </a:bodyPr>
            <a:lstStyle/>
            <a:p>
              <a:pPr algn="ctr">
                <a:lnSpc>
                  <a:spcPct val="130000"/>
                </a:lnSpc>
              </a:pPr>
              <a:r>
                <a:rPr lang="en-US" altLang="ko-KR" sz="1050">
                  <a:latin typeface="Times New Roman" panose="02020603050405020304" pitchFamily="18" charset="0"/>
                  <a:cs typeface="Times New Roman" panose="02020603050405020304" pitchFamily="18" charset="0"/>
                </a:rPr>
                <a:t>Classic TLS</a:t>
              </a:r>
            </a:p>
          </p:txBody>
        </p:sp>
        <p:sp>
          <p:nvSpPr>
            <p:cNvPr id="79" name="TextBox 78">
              <a:extLst>
                <a:ext uri="{FF2B5EF4-FFF2-40B4-BE49-F238E27FC236}">
                  <a16:creationId xmlns:a16="http://schemas.microsoft.com/office/drawing/2014/main" id="{9174C065-B689-3C77-5393-0C53564F8A66}"/>
                </a:ext>
              </a:extLst>
            </p:cNvPr>
            <p:cNvSpPr txBox="1"/>
            <p:nvPr/>
          </p:nvSpPr>
          <p:spPr>
            <a:xfrm>
              <a:off x="6323994" y="1681035"/>
              <a:ext cx="1621482" cy="348349"/>
            </a:xfrm>
            <a:prstGeom prst="rect">
              <a:avLst/>
            </a:prstGeom>
            <a:noFill/>
            <a:ln w="12700">
              <a:noFill/>
            </a:ln>
          </p:spPr>
          <p:txBody>
            <a:bodyPr wrap="square" rtlCol="0" anchor="ctr">
              <a:spAutoFit/>
            </a:bodyPr>
            <a:lstStyle/>
            <a:p>
              <a:pPr algn="ctr">
                <a:lnSpc>
                  <a:spcPct val="130000"/>
                </a:lnSpc>
              </a:pPr>
              <a:r>
                <a:rPr lang="en-US" altLang="ko-KR" sz="1050">
                  <a:latin typeface="Times New Roman" panose="02020603050405020304" pitchFamily="18" charset="0"/>
                  <a:cs typeface="Times New Roman" panose="02020603050405020304" pitchFamily="18" charset="0"/>
                </a:rPr>
                <a:t>Pure PQC</a:t>
              </a:r>
            </a:p>
          </p:txBody>
        </p:sp>
        <p:sp>
          <p:nvSpPr>
            <p:cNvPr id="80" name="TextBox 79">
              <a:extLst>
                <a:ext uri="{FF2B5EF4-FFF2-40B4-BE49-F238E27FC236}">
                  <a16:creationId xmlns:a16="http://schemas.microsoft.com/office/drawing/2014/main" id="{22E19FFE-5E21-E6FE-4169-3C5B89143889}"/>
                </a:ext>
              </a:extLst>
            </p:cNvPr>
            <p:cNvSpPr txBox="1"/>
            <p:nvPr/>
          </p:nvSpPr>
          <p:spPr>
            <a:xfrm>
              <a:off x="6323994" y="1931762"/>
              <a:ext cx="1621482" cy="476154"/>
            </a:xfrm>
            <a:prstGeom prst="rect">
              <a:avLst/>
            </a:prstGeom>
            <a:noFill/>
            <a:ln w="12700">
              <a:noFill/>
            </a:ln>
          </p:spPr>
          <p:txBody>
            <a:bodyPr wrap="square" rtlCol="0" anchor="ctr">
              <a:spAutoFit/>
            </a:bodyPr>
            <a:lstStyle/>
            <a:p>
              <a:pPr algn="ctr">
                <a:lnSpc>
                  <a:spcPct val="90000"/>
                </a:lnSpc>
              </a:pPr>
              <a:r>
                <a:rPr lang="en-US" altLang="ko-KR" sz="1050">
                  <a:latin typeface="Times New Roman" panose="02020603050405020304" pitchFamily="18" charset="0"/>
                  <a:cs typeface="Times New Roman" panose="02020603050405020304" pitchFamily="18" charset="0"/>
                </a:rPr>
                <a:t>PQC + Legacy</a:t>
              </a:r>
            </a:p>
            <a:p>
              <a:pPr algn="ctr">
                <a:lnSpc>
                  <a:spcPct val="90000"/>
                </a:lnSpc>
              </a:pPr>
              <a:r>
                <a:rPr lang="en-US" altLang="ko-KR" sz="1050">
                  <a:latin typeface="Times New Roman" panose="02020603050405020304" pitchFamily="18" charset="0"/>
                  <a:cs typeface="Times New Roman" panose="02020603050405020304" pitchFamily="18" charset="0"/>
                </a:rPr>
                <a:t>(Hybrid)</a:t>
              </a:r>
            </a:p>
          </p:txBody>
        </p:sp>
        <p:sp>
          <p:nvSpPr>
            <p:cNvPr id="81" name="TextBox 80">
              <a:extLst>
                <a:ext uri="{FF2B5EF4-FFF2-40B4-BE49-F238E27FC236}">
                  <a16:creationId xmlns:a16="http://schemas.microsoft.com/office/drawing/2014/main" id="{8C4D4EA7-9F75-DBC8-EA3E-BC7002874419}"/>
                </a:ext>
              </a:extLst>
            </p:cNvPr>
            <p:cNvSpPr txBox="1"/>
            <p:nvPr/>
          </p:nvSpPr>
          <p:spPr>
            <a:xfrm>
              <a:off x="-161152" y="1382832"/>
              <a:ext cx="1103577" cy="369881"/>
            </a:xfrm>
            <a:prstGeom prst="rect">
              <a:avLst/>
            </a:prstGeom>
            <a:noFill/>
            <a:ln w="12700">
              <a:noFill/>
            </a:ln>
          </p:spPr>
          <p:txBody>
            <a:bodyPr wrap="square" rtlCol="0" anchor="ctr">
              <a:spAutoFit/>
            </a:bodyPr>
            <a:lstStyle/>
            <a:p>
              <a:pPr algn="ctr">
                <a:lnSpc>
                  <a:spcPct val="130000"/>
                </a:lnSpc>
              </a:pPr>
              <a:r>
                <a:rPr lang="en-US" altLang="ko-KR" sz="1200" b="1">
                  <a:latin typeface="Times New Roman" panose="02020603050405020304" pitchFamily="18" charset="0"/>
                  <a:cs typeface="Times New Roman" panose="02020603050405020304" pitchFamily="18" charset="0"/>
                </a:rPr>
                <a:t>(a) </a:t>
              </a:r>
            </a:p>
          </p:txBody>
        </p:sp>
        <p:sp>
          <p:nvSpPr>
            <p:cNvPr id="82" name="TextBox 81">
              <a:extLst>
                <a:ext uri="{FF2B5EF4-FFF2-40B4-BE49-F238E27FC236}">
                  <a16:creationId xmlns:a16="http://schemas.microsoft.com/office/drawing/2014/main" id="{4E2A798D-CBE9-04C7-47A1-7D5E2DA9684B}"/>
                </a:ext>
              </a:extLst>
            </p:cNvPr>
            <p:cNvSpPr txBox="1"/>
            <p:nvPr/>
          </p:nvSpPr>
          <p:spPr>
            <a:xfrm>
              <a:off x="-161152" y="3987750"/>
              <a:ext cx="1103577" cy="369881"/>
            </a:xfrm>
            <a:prstGeom prst="rect">
              <a:avLst/>
            </a:prstGeom>
            <a:noFill/>
            <a:ln w="12700">
              <a:noFill/>
            </a:ln>
          </p:spPr>
          <p:txBody>
            <a:bodyPr wrap="square" rtlCol="0" anchor="ctr">
              <a:spAutoFit/>
            </a:bodyPr>
            <a:lstStyle/>
            <a:p>
              <a:pPr algn="ctr">
                <a:lnSpc>
                  <a:spcPct val="130000"/>
                </a:lnSpc>
              </a:pPr>
              <a:r>
                <a:rPr lang="en-US" altLang="ko-KR" sz="1200" b="1">
                  <a:latin typeface="Times New Roman" panose="02020603050405020304" pitchFamily="18" charset="0"/>
                  <a:cs typeface="Times New Roman" panose="02020603050405020304" pitchFamily="18" charset="0"/>
                </a:rPr>
                <a:t>(b) </a:t>
              </a:r>
            </a:p>
          </p:txBody>
        </p:sp>
        <p:sp>
          <p:nvSpPr>
            <p:cNvPr id="83" name="TextBox 82">
              <a:extLst>
                <a:ext uri="{FF2B5EF4-FFF2-40B4-BE49-F238E27FC236}">
                  <a16:creationId xmlns:a16="http://schemas.microsoft.com/office/drawing/2014/main" id="{7ED9290C-E565-7C10-0D90-E054BB9B5AC9}"/>
                </a:ext>
              </a:extLst>
            </p:cNvPr>
            <p:cNvSpPr txBox="1"/>
            <p:nvPr/>
          </p:nvSpPr>
          <p:spPr>
            <a:xfrm>
              <a:off x="2781142" y="3535971"/>
              <a:ext cx="2024886" cy="313745"/>
            </a:xfrm>
            <a:prstGeom prst="rect">
              <a:avLst/>
            </a:prstGeom>
            <a:solidFill>
              <a:schemeClr val="bg1"/>
            </a:solidFill>
            <a:ln>
              <a:solidFill>
                <a:schemeClr val="tx1"/>
              </a:solidFill>
            </a:ln>
          </p:spPr>
          <p:txBody>
            <a:bodyPr wrap="square">
              <a:spAutoFit/>
            </a:bodyPr>
            <a:lstStyle/>
            <a:p>
              <a:pPr algn="ctr"/>
              <a:r>
                <a:rPr lang="en-US" altLang="ko-KR" sz="1050" b="1">
                  <a:latin typeface="Times New Roman" panose="02020603050405020304" pitchFamily="18" charset="0"/>
                  <a:cs typeface="Times New Roman" panose="02020603050405020304" pitchFamily="18" charset="0"/>
                </a:rPr>
                <a:t>Update Decision</a:t>
              </a:r>
              <a:endParaRPr lang="ko-KR" altLang="en-US" sz="1050" b="1" dirty="0">
                <a:latin typeface="Times New Roman" panose="02020603050405020304" pitchFamily="18" charset="0"/>
                <a:cs typeface="Times New Roman" panose="02020603050405020304" pitchFamily="18" charset="0"/>
              </a:endParaRPr>
            </a:p>
          </p:txBody>
        </p:sp>
        <p:pic>
          <p:nvPicPr>
            <p:cNvPr id="84" name="그림 83" descr="블랙, 어둠이(가) 표시된 사진&#10;&#10;AI 생성 콘텐츠는 정확하지 않을 수 있습니다.">
              <a:extLst>
                <a:ext uri="{FF2B5EF4-FFF2-40B4-BE49-F238E27FC236}">
                  <a16:creationId xmlns:a16="http://schemas.microsoft.com/office/drawing/2014/main" id="{D81CB687-21E1-C287-9A2D-282BE5D3A2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146" y="3926386"/>
              <a:ext cx="513237" cy="513237"/>
            </a:xfrm>
            <a:prstGeom prst="rect">
              <a:avLst/>
            </a:prstGeom>
          </p:spPr>
        </p:pic>
        <p:sp>
          <p:nvSpPr>
            <p:cNvPr id="85" name="TextBox 84">
              <a:extLst>
                <a:ext uri="{FF2B5EF4-FFF2-40B4-BE49-F238E27FC236}">
                  <a16:creationId xmlns:a16="http://schemas.microsoft.com/office/drawing/2014/main" id="{E4146DDE-5201-7F6C-3034-F11D3E1EE81D}"/>
                </a:ext>
              </a:extLst>
            </p:cNvPr>
            <p:cNvSpPr txBox="1"/>
            <p:nvPr/>
          </p:nvSpPr>
          <p:spPr>
            <a:xfrm>
              <a:off x="2894363" y="2691325"/>
              <a:ext cx="1593438" cy="348349"/>
            </a:xfrm>
            <a:prstGeom prst="rect">
              <a:avLst/>
            </a:prstGeom>
            <a:noFill/>
            <a:ln w="12700">
              <a:noFill/>
            </a:ln>
          </p:spPr>
          <p:txBody>
            <a:bodyPr wrap="square" rtlCol="0" anchor="ctr">
              <a:spAutoFit/>
            </a:bodyPr>
            <a:lstStyle/>
            <a:p>
              <a:pPr algn="ctr">
                <a:lnSpc>
                  <a:spcPct val="130000"/>
                </a:lnSpc>
              </a:pPr>
              <a:r>
                <a:rPr lang="en-US" altLang="ko-KR" sz="1050">
                  <a:latin typeface="Times New Roman" panose="02020603050405020304" pitchFamily="18" charset="0"/>
                  <a:cs typeface="Times New Roman" panose="02020603050405020304" pitchFamily="18" charset="0"/>
                </a:rPr>
                <a:t>Manager</a:t>
              </a:r>
            </a:p>
          </p:txBody>
        </p:sp>
        <p:sp>
          <p:nvSpPr>
            <p:cNvPr id="86" name="직사각형 85">
              <a:extLst>
                <a:ext uri="{FF2B5EF4-FFF2-40B4-BE49-F238E27FC236}">
                  <a16:creationId xmlns:a16="http://schemas.microsoft.com/office/drawing/2014/main" id="{91CD96F7-9E3D-14CB-E436-BDAE47BD61CD}"/>
                </a:ext>
              </a:extLst>
            </p:cNvPr>
            <p:cNvSpPr/>
            <p:nvPr/>
          </p:nvSpPr>
          <p:spPr>
            <a:xfrm>
              <a:off x="1983648" y="3935743"/>
              <a:ext cx="3619874" cy="49571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87" name="TextBox 86">
              <a:extLst>
                <a:ext uri="{FF2B5EF4-FFF2-40B4-BE49-F238E27FC236}">
                  <a16:creationId xmlns:a16="http://schemas.microsoft.com/office/drawing/2014/main" id="{B9D3F4D4-289B-D993-DDC5-D447ACB513F9}"/>
                </a:ext>
              </a:extLst>
            </p:cNvPr>
            <p:cNvSpPr txBox="1"/>
            <p:nvPr/>
          </p:nvSpPr>
          <p:spPr>
            <a:xfrm>
              <a:off x="2060455" y="4034190"/>
              <a:ext cx="895965" cy="313745"/>
            </a:xfrm>
            <a:prstGeom prst="rect">
              <a:avLst/>
            </a:prstGeom>
            <a:solidFill>
              <a:schemeClr val="bg1"/>
            </a:solidFill>
            <a:ln>
              <a:solidFill>
                <a:schemeClr val="tx1"/>
              </a:solidFill>
            </a:ln>
          </p:spPr>
          <p:txBody>
            <a:bodyPr wrap="square">
              <a:spAutoFit/>
            </a:bodyPr>
            <a:lstStyle/>
            <a:p>
              <a:pPr algn="ctr"/>
              <a:r>
                <a:rPr lang="en-US" altLang="ko-KR" sz="1050" b="1">
                  <a:latin typeface="Times New Roman" panose="02020603050405020304" pitchFamily="18" charset="0"/>
                  <a:cs typeface="Times New Roman" panose="02020603050405020304" pitchFamily="18" charset="0"/>
                </a:rPr>
                <a:t>Policy</a:t>
              </a:r>
              <a:endParaRPr lang="ko-KR" altLang="en-US" sz="1050" b="1" dirty="0">
                <a:latin typeface="Times New Roman" panose="02020603050405020304" pitchFamily="18" charset="0"/>
                <a:cs typeface="Times New Roman" panose="02020603050405020304" pitchFamily="18" charset="0"/>
              </a:endParaRPr>
            </a:p>
          </p:txBody>
        </p:sp>
        <p:sp>
          <p:nvSpPr>
            <p:cNvPr id="88" name="TextBox 87">
              <a:extLst>
                <a:ext uri="{FF2B5EF4-FFF2-40B4-BE49-F238E27FC236}">
                  <a16:creationId xmlns:a16="http://schemas.microsoft.com/office/drawing/2014/main" id="{0836DA51-2C02-41E2-9F0A-E7725982962D}"/>
                </a:ext>
              </a:extLst>
            </p:cNvPr>
            <p:cNvSpPr txBox="1"/>
            <p:nvPr/>
          </p:nvSpPr>
          <p:spPr>
            <a:xfrm>
              <a:off x="4597621" y="4039929"/>
              <a:ext cx="895965" cy="313745"/>
            </a:xfrm>
            <a:prstGeom prst="rect">
              <a:avLst/>
            </a:prstGeom>
            <a:solidFill>
              <a:schemeClr val="bg1"/>
            </a:solidFill>
            <a:ln>
              <a:solidFill>
                <a:schemeClr val="tx1"/>
              </a:solidFill>
            </a:ln>
          </p:spPr>
          <p:txBody>
            <a:bodyPr wrap="square">
              <a:spAutoFit/>
            </a:bodyPr>
            <a:lstStyle/>
            <a:p>
              <a:pPr algn="ctr"/>
              <a:r>
                <a:rPr lang="en-US" altLang="ko-KR" sz="1050" b="1">
                  <a:latin typeface="Times New Roman" panose="02020603050405020304" pitchFamily="18" charset="0"/>
                  <a:cs typeface="Times New Roman" panose="02020603050405020304" pitchFamily="18" charset="0"/>
                </a:rPr>
                <a:t>Routing</a:t>
              </a:r>
              <a:endParaRPr lang="ko-KR" altLang="en-US" sz="1050" b="1" dirty="0">
                <a:latin typeface="Times New Roman" panose="02020603050405020304" pitchFamily="18" charset="0"/>
                <a:cs typeface="Times New Roman" panose="02020603050405020304" pitchFamily="18" charset="0"/>
              </a:endParaRPr>
            </a:p>
          </p:txBody>
        </p:sp>
        <p:pic>
          <p:nvPicPr>
            <p:cNvPr id="89" name="그림 88" descr="블랙, 어둠이(가) 표시된 사진&#10;&#10;AI 생성 콘텐츠는 정확하지 않을 수 있습니다.">
              <a:extLst>
                <a:ext uri="{FF2B5EF4-FFF2-40B4-BE49-F238E27FC236}">
                  <a16:creationId xmlns:a16="http://schemas.microsoft.com/office/drawing/2014/main" id="{745D23BB-237D-0F9C-65E7-F90AC94EB5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86403" y="2971848"/>
              <a:ext cx="539001" cy="539001"/>
            </a:xfrm>
            <a:prstGeom prst="rect">
              <a:avLst/>
            </a:prstGeom>
          </p:spPr>
        </p:pic>
        <p:sp>
          <p:nvSpPr>
            <p:cNvPr id="90" name="TextBox 89">
              <a:extLst>
                <a:ext uri="{FF2B5EF4-FFF2-40B4-BE49-F238E27FC236}">
                  <a16:creationId xmlns:a16="http://schemas.microsoft.com/office/drawing/2014/main" id="{828B9157-B1D0-4BD0-F3A5-6D25F756961B}"/>
                </a:ext>
              </a:extLst>
            </p:cNvPr>
            <p:cNvSpPr txBox="1"/>
            <p:nvPr/>
          </p:nvSpPr>
          <p:spPr>
            <a:xfrm>
              <a:off x="3009208" y="4039929"/>
              <a:ext cx="1535626" cy="313745"/>
            </a:xfrm>
            <a:prstGeom prst="rect">
              <a:avLst/>
            </a:prstGeom>
            <a:solidFill>
              <a:schemeClr val="bg1"/>
            </a:solidFill>
            <a:ln>
              <a:solidFill>
                <a:schemeClr val="tx1"/>
              </a:solidFill>
            </a:ln>
          </p:spPr>
          <p:txBody>
            <a:bodyPr wrap="square">
              <a:spAutoFit/>
            </a:bodyPr>
            <a:lstStyle/>
            <a:p>
              <a:pPr algn="ctr"/>
              <a:r>
                <a:rPr lang="en-US" altLang="ko-KR" sz="1050" b="1">
                  <a:latin typeface="Times New Roman" panose="02020603050405020304" pitchFamily="18" charset="0"/>
                  <a:cs typeface="Times New Roman" panose="02020603050405020304" pitchFamily="18" charset="0"/>
                </a:rPr>
                <a:t>Transform Map</a:t>
              </a:r>
              <a:endParaRPr lang="ko-KR" altLang="en-US" sz="1050" b="1" dirty="0">
                <a:latin typeface="Times New Roman" panose="02020603050405020304" pitchFamily="18" charset="0"/>
                <a:cs typeface="Times New Roman" panose="02020603050405020304" pitchFamily="18" charset="0"/>
              </a:endParaRPr>
            </a:p>
          </p:txBody>
        </p:sp>
        <p:cxnSp>
          <p:nvCxnSpPr>
            <p:cNvPr id="91" name="직선 연결선 90">
              <a:extLst>
                <a:ext uri="{FF2B5EF4-FFF2-40B4-BE49-F238E27FC236}">
                  <a16:creationId xmlns:a16="http://schemas.microsoft.com/office/drawing/2014/main" id="{DB7C8D97-03F0-0206-5066-E19B365977B8}"/>
                </a:ext>
              </a:extLst>
            </p:cNvPr>
            <p:cNvCxnSpPr>
              <a:stCxn id="83" idx="2"/>
              <a:endCxn id="86" idx="0"/>
            </p:cNvCxnSpPr>
            <p:nvPr/>
          </p:nvCxnSpPr>
          <p:spPr>
            <a:xfrm flipH="1">
              <a:off x="3793585" y="3849716"/>
              <a:ext cx="1" cy="860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B18C9EA8-7257-CD9F-78A5-4C55ECEB5C68}"/>
                </a:ext>
              </a:extLst>
            </p:cNvPr>
            <p:cNvSpPr txBox="1"/>
            <p:nvPr/>
          </p:nvSpPr>
          <p:spPr>
            <a:xfrm>
              <a:off x="501261" y="3568780"/>
              <a:ext cx="1103577" cy="348349"/>
            </a:xfrm>
            <a:prstGeom prst="rect">
              <a:avLst/>
            </a:prstGeom>
            <a:noFill/>
            <a:ln w="12700">
              <a:noFill/>
            </a:ln>
          </p:spPr>
          <p:txBody>
            <a:bodyPr wrap="square" rtlCol="0" anchor="ctr">
              <a:spAutoFit/>
            </a:bodyPr>
            <a:lstStyle/>
            <a:p>
              <a:pPr algn="ctr">
                <a:lnSpc>
                  <a:spcPct val="130000"/>
                </a:lnSpc>
              </a:pPr>
              <a:r>
                <a:rPr lang="en-US" altLang="ko-KR" sz="1050" b="1">
                  <a:latin typeface="Times New Roman" panose="02020603050405020304" pitchFamily="18" charset="0"/>
                  <a:cs typeface="Times New Roman" panose="02020603050405020304" pitchFamily="18" charset="0"/>
                </a:rPr>
                <a:t>PQC Client</a:t>
              </a:r>
            </a:p>
          </p:txBody>
        </p:sp>
        <p:cxnSp>
          <p:nvCxnSpPr>
            <p:cNvPr id="93" name="직선 화살표 연결선 92">
              <a:extLst>
                <a:ext uri="{FF2B5EF4-FFF2-40B4-BE49-F238E27FC236}">
                  <a16:creationId xmlns:a16="http://schemas.microsoft.com/office/drawing/2014/main" id="{B1BE2647-6E79-65E8-9DF4-1DCB402600A4}"/>
                </a:ext>
              </a:extLst>
            </p:cNvPr>
            <p:cNvCxnSpPr>
              <a:cxnSpLocks/>
              <a:stCxn id="84" idx="3"/>
              <a:endCxn id="86" idx="1"/>
            </p:cNvCxnSpPr>
            <p:nvPr/>
          </p:nvCxnSpPr>
          <p:spPr>
            <a:xfrm>
              <a:off x="1323383" y="4183005"/>
              <a:ext cx="660265" cy="596"/>
            </a:xfrm>
            <a:prstGeom prst="straightConnector1">
              <a:avLst/>
            </a:prstGeom>
            <a:ln w="1270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grpSp>
          <p:nvGrpSpPr>
            <p:cNvPr id="94" name="그룹 93">
              <a:extLst>
                <a:ext uri="{FF2B5EF4-FFF2-40B4-BE49-F238E27FC236}">
                  <a16:creationId xmlns:a16="http://schemas.microsoft.com/office/drawing/2014/main" id="{BE6CD034-64DA-FAAB-00ED-7253A99F48A2}"/>
                </a:ext>
              </a:extLst>
            </p:cNvPr>
            <p:cNvGrpSpPr/>
            <p:nvPr/>
          </p:nvGrpSpPr>
          <p:grpSpPr>
            <a:xfrm>
              <a:off x="6356080" y="3720416"/>
              <a:ext cx="1621482" cy="863561"/>
              <a:chOff x="6323993" y="3857856"/>
              <a:chExt cx="1621482" cy="863561"/>
            </a:xfrm>
          </p:grpSpPr>
          <p:grpSp>
            <p:nvGrpSpPr>
              <p:cNvPr id="95" name="그룹 94">
                <a:extLst>
                  <a:ext uri="{FF2B5EF4-FFF2-40B4-BE49-F238E27FC236}">
                    <a16:creationId xmlns:a16="http://schemas.microsoft.com/office/drawing/2014/main" id="{5F05CF87-B73D-0F7D-7D0F-CD8A842AD4C3}"/>
                  </a:ext>
                </a:extLst>
              </p:cNvPr>
              <p:cNvGrpSpPr/>
              <p:nvPr/>
            </p:nvGrpSpPr>
            <p:grpSpPr>
              <a:xfrm>
                <a:off x="6466062" y="3857856"/>
                <a:ext cx="1337345" cy="845170"/>
                <a:chOff x="6466062" y="1576969"/>
                <a:chExt cx="1337345" cy="845170"/>
              </a:xfrm>
            </p:grpSpPr>
            <p:sp>
              <p:nvSpPr>
                <p:cNvPr id="98" name="직사각형 97">
                  <a:extLst>
                    <a:ext uri="{FF2B5EF4-FFF2-40B4-BE49-F238E27FC236}">
                      <a16:creationId xmlns:a16="http://schemas.microsoft.com/office/drawing/2014/main" id="{06DC6639-0235-6F0C-7300-F46B112DE34D}"/>
                    </a:ext>
                  </a:extLst>
                </p:cNvPr>
                <p:cNvSpPr/>
                <p:nvPr/>
              </p:nvSpPr>
              <p:spPr>
                <a:xfrm>
                  <a:off x="6466062" y="1715469"/>
                  <a:ext cx="1337345" cy="70667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a:t>z</a:t>
                  </a:r>
                  <a:endParaRPr lang="ko-KR" altLang="en-US" sz="1400"/>
                </a:p>
              </p:txBody>
            </p:sp>
            <p:sp>
              <p:nvSpPr>
                <p:cNvPr id="99" name="TextBox 98">
                  <a:extLst>
                    <a:ext uri="{FF2B5EF4-FFF2-40B4-BE49-F238E27FC236}">
                      <a16:creationId xmlns:a16="http://schemas.microsoft.com/office/drawing/2014/main" id="{41AB9E2B-B12F-9CAA-742B-57C85D2B33A3}"/>
                    </a:ext>
                  </a:extLst>
                </p:cNvPr>
                <p:cNvSpPr txBox="1"/>
                <p:nvPr/>
              </p:nvSpPr>
              <p:spPr>
                <a:xfrm>
                  <a:off x="6679570" y="1576969"/>
                  <a:ext cx="910326" cy="313745"/>
                </a:xfrm>
                <a:prstGeom prst="rect">
                  <a:avLst/>
                </a:prstGeom>
                <a:solidFill>
                  <a:schemeClr val="bg1"/>
                </a:solidFill>
                <a:ln>
                  <a:noFill/>
                </a:ln>
              </p:spPr>
              <p:txBody>
                <a:bodyPr wrap="square">
                  <a:spAutoFit/>
                </a:bodyPr>
                <a:lstStyle/>
                <a:p>
                  <a:pPr algn="ctr"/>
                  <a:r>
                    <a:rPr lang="en-US" altLang="ko-KR" sz="1100" b="1">
                      <a:latin typeface="Times New Roman" panose="02020603050405020304" pitchFamily="18" charset="0"/>
                      <a:cs typeface="Times New Roman" panose="02020603050405020304" pitchFamily="18" charset="0"/>
                    </a:rPr>
                    <a:t>v2 Server</a:t>
                  </a:r>
                  <a:endParaRPr lang="ko-KR" altLang="en-US" sz="1100" b="1" dirty="0">
                    <a:latin typeface="Times New Roman" panose="02020603050405020304" pitchFamily="18" charset="0"/>
                    <a:cs typeface="Times New Roman" panose="02020603050405020304" pitchFamily="18" charset="0"/>
                  </a:endParaRPr>
                </a:p>
              </p:txBody>
            </p:sp>
          </p:grpSp>
          <p:sp>
            <p:nvSpPr>
              <p:cNvPr id="96" name="TextBox 95">
                <a:extLst>
                  <a:ext uri="{FF2B5EF4-FFF2-40B4-BE49-F238E27FC236}">
                    <a16:creationId xmlns:a16="http://schemas.microsoft.com/office/drawing/2014/main" id="{B1169D43-F294-6C0D-FA8C-E82B1665483D}"/>
                  </a:ext>
                </a:extLst>
              </p:cNvPr>
              <p:cNvSpPr txBox="1"/>
              <p:nvPr/>
            </p:nvSpPr>
            <p:spPr>
              <a:xfrm>
                <a:off x="6323993" y="3994536"/>
                <a:ext cx="1621482" cy="348349"/>
              </a:xfrm>
              <a:prstGeom prst="rect">
                <a:avLst/>
              </a:prstGeom>
              <a:noFill/>
              <a:ln w="12700">
                <a:noFill/>
              </a:ln>
            </p:spPr>
            <p:txBody>
              <a:bodyPr wrap="square" rtlCol="0" anchor="ctr">
                <a:spAutoFit/>
              </a:bodyPr>
              <a:lstStyle/>
              <a:p>
                <a:pPr algn="ctr">
                  <a:lnSpc>
                    <a:spcPct val="130000"/>
                  </a:lnSpc>
                </a:pPr>
                <a:r>
                  <a:rPr lang="en-US" altLang="ko-KR" sz="1050">
                    <a:latin typeface="Times New Roman" panose="02020603050405020304" pitchFamily="18" charset="0"/>
                    <a:cs typeface="Times New Roman" panose="02020603050405020304" pitchFamily="18" charset="0"/>
                  </a:rPr>
                  <a:t>Pure PQC</a:t>
                </a:r>
              </a:p>
            </p:txBody>
          </p:sp>
          <p:sp>
            <p:nvSpPr>
              <p:cNvPr id="97" name="TextBox 96">
                <a:extLst>
                  <a:ext uri="{FF2B5EF4-FFF2-40B4-BE49-F238E27FC236}">
                    <a16:creationId xmlns:a16="http://schemas.microsoft.com/office/drawing/2014/main" id="{647E4FD5-5DAA-51CA-994B-CD531F97293F}"/>
                  </a:ext>
                </a:extLst>
              </p:cNvPr>
              <p:cNvSpPr txBox="1"/>
              <p:nvPr/>
            </p:nvSpPr>
            <p:spPr>
              <a:xfrm>
                <a:off x="6323993" y="4245263"/>
                <a:ext cx="1621482" cy="476154"/>
              </a:xfrm>
              <a:prstGeom prst="rect">
                <a:avLst/>
              </a:prstGeom>
              <a:noFill/>
              <a:ln w="12700">
                <a:noFill/>
              </a:ln>
            </p:spPr>
            <p:txBody>
              <a:bodyPr wrap="square" rtlCol="0" anchor="ctr">
                <a:spAutoFit/>
              </a:bodyPr>
              <a:lstStyle/>
              <a:p>
                <a:pPr algn="ctr">
                  <a:lnSpc>
                    <a:spcPct val="90000"/>
                  </a:lnSpc>
                </a:pPr>
                <a:r>
                  <a:rPr lang="en-US" altLang="ko-KR" sz="1050">
                    <a:latin typeface="Times New Roman" panose="02020603050405020304" pitchFamily="18" charset="0"/>
                    <a:cs typeface="Times New Roman" panose="02020603050405020304" pitchFamily="18" charset="0"/>
                  </a:rPr>
                  <a:t>PQC + Legacy</a:t>
                </a:r>
              </a:p>
              <a:p>
                <a:pPr algn="ctr">
                  <a:lnSpc>
                    <a:spcPct val="90000"/>
                  </a:lnSpc>
                </a:pPr>
                <a:r>
                  <a:rPr lang="en-US" altLang="ko-KR" sz="1050">
                    <a:latin typeface="Times New Roman" panose="02020603050405020304" pitchFamily="18" charset="0"/>
                    <a:cs typeface="Times New Roman" panose="02020603050405020304" pitchFamily="18" charset="0"/>
                  </a:rPr>
                  <a:t>(Hybrid)</a:t>
                </a:r>
              </a:p>
            </p:txBody>
          </p:sp>
        </p:grpSp>
        <p:cxnSp>
          <p:nvCxnSpPr>
            <p:cNvPr id="100" name="직선 화살표 연결선 99">
              <a:extLst>
                <a:ext uri="{FF2B5EF4-FFF2-40B4-BE49-F238E27FC236}">
                  <a16:creationId xmlns:a16="http://schemas.microsoft.com/office/drawing/2014/main" id="{FCA86E45-6850-E2E4-C31D-12EF0FBDA216}"/>
                </a:ext>
              </a:extLst>
            </p:cNvPr>
            <p:cNvCxnSpPr>
              <a:cxnSpLocks/>
              <a:stCxn id="86" idx="3"/>
            </p:cNvCxnSpPr>
            <p:nvPr/>
          </p:nvCxnSpPr>
          <p:spPr>
            <a:xfrm>
              <a:off x="5603522" y="4183601"/>
              <a:ext cx="892540" cy="0"/>
            </a:xfrm>
            <a:prstGeom prst="straightConnector1">
              <a:avLst/>
            </a:prstGeom>
            <a:ln w="1270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95D3275D-3FB2-EE99-BE7D-FDAB5E5FD225}"/>
                </a:ext>
              </a:extLst>
            </p:cNvPr>
            <p:cNvSpPr txBox="1"/>
            <p:nvPr/>
          </p:nvSpPr>
          <p:spPr>
            <a:xfrm>
              <a:off x="2840588" y="4605400"/>
              <a:ext cx="1905994" cy="313745"/>
            </a:xfrm>
            <a:prstGeom prst="rect">
              <a:avLst/>
            </a:prstGeom>
            <a:solidFill>
              <a:schemeClr val="bg1"/>
            </a:solidFill>
            <a:ln w="12700">
              <a:noFill/>
            </a:ln>
          </p:spPr>
          <p:txBody>
            <a:bodyPr wrap="square" rtlCol="0" anchor="ctr">
              <a:spAutoFit/>
            </a:bodyPr>
            <a:lstStyle/>
            <a:p>
              <a:pPr algn="ctr"/>
              <a:r>
                <a:rPr lang="en-US" altLang="ko-KR" sz="1100" b="1">
                  <a:latin typeface="Times New Roman" panose="02020603050405020304" pitchFamily="18" charset="0"/>
                  <a:cs typeface="Times New Roman" panose="02020603050405020304" pitchFamily="18" charset="0"/>
                </a:rPr>
                <a:t>Bridge</a:t>
              </a:r>
              <a:endParaRPr lang="ko-KR" altLang="en-US" sz="1100" b="1" dirty="0">
                <a:latin typeface="Times New Roman" panose="020206030504050203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E27DB11E-5DEA-F6D5-0B30-6188E335DF18}"/>
                </a:ext>
              </a:extLst>
            </p:cNvPr>
            <p:cNvSpPr txBox="1"/>
            <p:nvPr/>
          </p:nvSpPr>
          <p:spPr>
            <a:xfrm>
              <a:off x="100052" y="4607205"/>
              <a:ext cx="1905994" cy="313745"/>
            </a:xfrm>
            <a:prstGeom prst="rect">
              <a:avLst/>
            </a:prstGeom>
            <a:solidFill>
              <a:schemeClr val="bg1"/>
            </a:solidFill>
            <a:ln w="12700">
              <a:noFill/>
            </a:ln>
          </p:spPr>
          <p:txBody>
            <a:bodyPr wrap="square" rtlCol="0" anchor="ctr">
              <a:spAutoFit/>
            </a:bodyPr>
            <a:lstStyle/>
            <a:p>
              <a:pPr algn="ctr"/>
              <a:r>
                <a:rPr lang="en-US" altLang="ko-KR" sz="1100" b="1">
                  <a:latin typeface="Times New Roman" panose="02020603050405020304" pitchFamily="18" charset="0"/>
                  <a:cs typeface="Times New Roman" panose="02020603050405020304" pitchFamily="18" charset="0"/>
                </a:rPr>
                <a:t>Client</a:t>
              </a:r>
              <a:endParaRPr lang="ko-KR" altLang="en-US" sz="1100" b="1" dirty="0">
                <a:latin typeface="Times New Roman" panose="02020603050405020304" pitchFamily="18" charset="0"/>
                <a:cs typeface="Times New Roman" panose="02020603050405020304" pitchFamily="18" charset="0"/>
              </a:endParaRPr>
            </a:p>
          </p:txBody>
        </p:sp>
        <p:sp>
          <p:nvSpPr>
            <p:cNvPr id="103" name="TextBox 102">
              <a:extLst>
                <a:ext uri="{FF2B5EF4-FFF2-40B4-BE49-F238E27FC236}">
                  <a16:creationId xmlns:a16="http://schemas.microsoft.com/office/drawing/2014/main" id="{E8B6BAD7-912C-FD82-5F57-3880FC8E923A}"/>
                </a:ext>
              </a:extLst>
            </p:cNvPr>
            <p:cNvSpPr txBox="1"/>
            <p:nvPr/>
          </p:nvSpPr>
          <p:spPr>
            <a:xfrm>
              <a:off x="6456661" y="4604660"/>
              <a:ext cx="1337346" cy="313745"/>
            </a:xfrm>
            <a:prstGeom prst="rect">
              <a:avLst/>
            </a:prstGeom>
            <a:solidFill>
              <a:schemeClr val="bg1"/>
            </a:solidFill>
            <a:ln w="12700">
              <a:noFill/>
            </a:ln>
          </p:spPr>
          <p:txBody>
            <a:bodyPr wrap="square" rtlCol="0" anchor="ctr">
              <a:spAutoFit/>
            </a:bodyPr>
            <a:lstStyle/>
            <a:p>
              <a:pPr algn="ctr"/>
              <a:r>
                <a:rPr lang="en-US" altLang="ko-KR" sz="1100" b="1">
                  <a:latin typeface="Times New Roman" panose="02020603050405020304" pitchFamily="18" charset="0"/>
                  <a:cs typeface="Times New Roman" panose="02020603050405020304" pitchFamily="18" charset="0"/>
                </a:rPr>
                <a:t>Server</a:t>
              </a:r>
              <a:endParaRPr lang="ko-KR" altLang="en-US" sz="1100" b="1" dirty="0">
                <a:latin typeface="Times New Roman" panose="02020603050405020304" pitchFamily="18" charset="0"/>
                <a:cs typeface="Times New Roman" panose="02020603050405020304" pitchFamily="18" charset="0"/>
              </a:endParaRPr>
            </a:p>
          </p:txBody>
        </p:sp>
      </p:grpSp>
      <p:sp>
        <p:nvSpPr>
          <p:cNvPr id="105" name="TextBox 104">
            <a:extLst>
              <a:ext uri="{FF2B5EF4-FFF2-40B4-BE49-F238E27FC236}">
                <a16:creationId xmlns:a16="http://schemas.microsoft.com/office/drawing/2014/main" id="{39B02F25-708F-234B-6041-D869BDA530D7}"/>
              </a:ext>
            </a:extLst>
          </p:cNvPr>
          <p:cNvSpPr txBox="1"/>
          <p:nvPr/>
        </p:nvSpPr>
        <p:spPr>
          <a:xfrm>
            <a:off x="5106881" y="5956137"/>
            <a:ext cx="6477171" cy="646331"/>
          </a:xfrm>
          <a:prstGeom prst="rect">
            <a:avLst/>
          </a:prstGeom>
          <a:noFill/>
        </p:spPr>
        <p:txBody>
          <a:bodyPr wrap="square" rtlCol="0">
            <a:spAutoFit/>
          </a:bodyPr>
          <a:lstStyle/>
          <a:p>
            <a:pPr algn="ctr"/>
            <a:r>
              <a:rPr lang="en-US" altLang="ko-KR" b="1"/>
              <a:t>Fig: </a:t>
            </a:r>
            <a:r>
              <a:rPr lang="en-US" altLang="ko-KR"/>
              <a:t>Policy-based routing scenario</a:t>
            </a:r>
          </a:p>
          <a:p>
            <a:pPr algn="ctr"/>
            <a:r>
              <a:rPr lang="en-US" altLang="ko-KR"/>
              <a:t>(a): Classic TLS Client, (b): PQC TLS Client</a:t>
            </a:r>
            <a:endParaRPr lang="ko-KR" altLang="en-US"/>
          </a:p>
        </p:txBody>
      </p:sp>
    </p:spTree>
    <p:extLst>
      <p:ext uri="{BB962C8B-B14F-4D97-AF65-F5344CB8AC3E}">
        <p14:creationId xmlns:p14="http://schemas.microsoft.com/office/powerpoint/2010/main" val="29675388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7A093-FF32-293D-6041-8990448FF16B}"/>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2418E77E-C59A-3821-0E4E-70BAC87DDAFF}"/>
              </a:ext>
            </a:extLst>
          </p:cNvPr>
          <p:cNvSpPr>
            <a:spLocks noGrp="1"/>
          </p:cNvSpPr>
          <p:nvPr>
            <p:ph idx="1"/>
          </p:nvPr>
        </p:nvSpPr>
        <p:spPr>
          <a:xfrm>
            <a:off x="581192" y="1272047"/>
            <a:ext cx="11029615" cy="2885705"/>
          </a:xfrm>
        </p:spPr>
        <p:txBody>
          <a:bodyPr rtlCol="0">
            <a:noAutofit/>
          </a:bodyPr>
          <a:lstStyle/>
          <a:p>
            <a:pPr marL="0" indent="0">
              <a:buNone/>
            </a:pPr>
            <a:r>
              <a:rPr lang="en-US" altLang="ko-KR" sz="2400" b="1"/>
              <a:t>The system comprises a client, a bridge, and servers.</a:t>
            </a:r>
            <a:endParaRPr lang="ko-KR" altLang="en-US" sz="2400" b="1" dirty="0"/>
          </a:p>
          <a:p>
            <a:pPr lvl="1"/>
            <a:r>
              <a:rPr lang="en-US" altLang="ko-KR" sz="1800" b="1"/>
              <a:t>Client: </a:t>
            </a:r>
            <a:r>
              <a:rPr lang="en-US" altLang="ko-KR" sz="1800"/>
              <a:t>The entity that requests services, </a:t>
            </a:r>
            <a:r>
              <a:rPr lang="en-US" altLang="ko-KR" sz="1800">
                <a:solidFill>
                  <a:srgbClr val="FF0000"/>
                </a:solidFill>
              </a:rPr>
              <a:t>distinguished between PQC TLS clients and legacy TLS clients</a:t>
            </a:r>
            <a:r>
              <a:rPr lang="en-US" altLang="ko-KR" sz="1800"/>
              <a:t>. During the TLS handshake, the bridge negotiates cryptographic functions with the client.</a:t>
            </a:r>
          </a:p>
          <a:p>
            <a:pPr lvl="1"/>
            <a:r>
              <a:rPr lang="en-US" altLang="ko-KR" sz="1800" b="1"/>
              <a:t>Bridge: </a:t>
            </a:r>
            <a:r>
              <a:rPr lang="en-US" altLang="ko-KR" sz="1800"/>
              <a:t>Acts as a TLS-to-TLS intermediary between client and server</a:t>
            </a:r>
            <a:r>
              <a:rPr lang="en-US" altLang="ko-KR" sz="1800">
                <a:solidFill>
                  <a:srgbClr val="FF0000"/>
                </a:solidFill>
              </a:rPr>
              <a:t>. Based on administrator-defined policies, it routes each client to the appropriate server</a:t>
            </a:r>
            <a:r>
              <a:rPr lang="en-US" altLang="ko-KR" sz="1800"/>
              <a:t>.</a:t>
            </a:r>
          </a:p>
          <a:p>
            <a:pPr lvl="1"/>
            <a:r>
              <a:rPr lang="en-US" altLang="ko-KR" sz="1800" b="1"/>
              <a:t>Server: </a:t>
            </a:r>
            <a:r>
              <a:rPr lang="en-US" altLang="ko-KR" sz="1800"/>
              <a:t>Two independently coexisting servers are present—one running </a:t>
            </a:r>
            <a:r>
              <a:rPr lang="en-US" altLang="ko-KR" sz="1800">
                <a:solidFill>
                  <a:srgbClr val="FF0000"/>
                </a:solidFill>
              </a:rPr>
              <a:t>classic TLS </a:t>
            </a:r>
            <a:r>
              <a:rPr lang="en-US" altLang="ko-KR" sz="1800"/>
              <a:t>(v1, ECC-based) and the other activated with </a:t>
            </a:r>
            <a:r>
              <a:rPr lang="en-US" altLang="ko-KR" sz="1800">
                <a:solidFill>
                  <a:srgbClr val="FF0000"/>
                </a:solidFill>
              </a:rPr>
              <a:t>PQC TLS </a:t>
            </a:r>
            <a:r>
              <a:rPr lang="en-US" altLang="ko-KR" sz="1800"/>
              <a:t>(v2, SMUAG-T based).</a:t>
            </a:r>
          </a:p>
        </p:txBody>
      </p:sp>
      <p:sp>
        <p:nvSpPr>
          <p:cNvPr id="6" name="TextBox 5">
            <a:extLst>
              <a:ext uri="{FF2B5EF4-FFF2-40B4-BE49-F238E27FC236}">
                <a16:creationId xmlns:a16="http://schemas.microsoft.com/office/drawing/2014/main" id="{6FFCABA8-2FCE-C259-1607-6EDD1B32EBFF}"/>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System Components</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0658BB62-35B9-2B4C-FB2C-B9238A398ED9}"/>
              </a:ext>
            </a:extLst>
          </p:cNvPr>
          <p:cNvSpPr>
            <a:spLocks noGrp="1"/>
          </p:cNvSpPr>
          <p:nvPr>
            <p:ph type="sldNum" sz="quarter" idx="12"/>
          </p:nvPr>
        </p:nvSpPr>
        <p:spPr/>
        <p:txBody>
          <a:bodyPr/>
          <a:lstStyle/>
          <a:p>
            <a:pPr rtl="0"/>
            <a:fld id="{401CF334-2D5C-4859-84A6-CA7E6E43FAEB}" type="slidenum">
              <a:rPr lang="en-US" altLang="ko-KR" smtClean="0"/>
              <a:t>10</a:t>
            </a:fld>
            <a:endParaRPr lang="ko-KR" altLang="en-US" dirty="0"/>
          </a:p>
        </p:txBody>
      </p:sp>
      <p:grpSp>
        <p:nvGrpSpPr>
          <p:cNvPr id="3" name="그룹 2">
            <a:extLst>
              <a:ext uri="{FF2B5EF4-FFF2-40B4-BE49-F238E27FC236}">
                <a16:creationId xmlns:a16="http://schemas.microsoft.com/office/drawing/2014/main" id="{EE7BB4B7-CA39-3B70-5DA5-466A08FFE33F}"/>
              </a:ext>
            </a:extLst>
          </p:cNvPr>
          <p:cNvGrpSpPr/>
          <p:nvPr/>
        </p:nvGrpSpPr>
        <p:grpSpPr>
          <a:xfrm>
            <a:off x="2086380" y="3961086"/>
            <a:ext cx="8019237" cy="2409066"/>
            <a:chOff x="2760007" y="2791754"/>
            <a:chExt cx="7211581" cy="2166437"/>
          </a:xfrm>
        </p:grpSpPr>
        <p:sp>
          <p:nvSpPr>
            <p:cNvPr id="4" name="TextBox 3">
              <a:extLst>
                <a:ext uri="{FF2B5EF4-FFF2-40B4-BE49-F238E27FC236}">
                  <a16:creationId xmlns:a16="http://schemas.microsoft.com/office/drawing/2014/main" id="{2FFCB020-FB3C-B4A7-4A3B-504D6CB652A7}"/>
                </a:ext>
              </a:extLst>
            </p:cNvPr>
            <p:cNvSpPr txBox="1"/>
            <p:nvPr/>
          </p:nvSpPr>
          <p:spPr>
            <a:xfrm>
              <a:off x="5014071" y="3557003"/>
              <a:ext cx="1943795" cy="217545"/>
            </a:xfrm>
            <a:prstGeom prst="rect">
              <a:avLst/>
            </a:prstGeom>
            <a:solidFill>
              <a:schemeClr val="bg1"/>
            </a:solidFill>
            <a:ln>
              <a:solidFill>
                <a:schemeClr val="tx1"/>
              </a:solidFill>
            </a:ln>
          </p:spPr>
          <p:txBody>
            <a:bodyPr wrap="square">
              <a:spAutoFit/>
            </a:bodyPr>
            <a:lstStyle/>
            <a:p>
              <a:pPr algn="ctr"/>
              <a:r>
                <a:rPr lang="en-US" altLang="ko-KR" sz="1200" b="1">
                  <a:latin typeface="Times New Roman" panose="02020603050405020304" pitchFamily="18" charset="0"/>
                  <a:cs typeface="Times New Roman" panose="02020603050405020304" pitchFamily="18" charset="0"/>
                </a:rPr>
                <a:t>Update Decision</a:t>
              </a:r>
              <a:endParaRPr lang="ko-KR" altLang="en-US" sz="1200" b="1" dirty="0">
                <a:latin typeface="Times New Roman" panose="02020603050405020304" pitchFamily="18" charset="0"/>
                <a:cs typeface="Times New Roman" panose="02020603050405020304" pitchFamily="18" charset="0"/>
              </a:endParaRPr>
            </a:p>
          </p:txBody>
        </p:sp>
        <p:cxnSp>
          <p:nvCxnSpPr>
            <p:cNvPr id="5" name="직선 화살표 연결선 4">
              <a:extLst>
                <a:ext uri="{FF2B5EF4-FFF2-40B4-BE49-F238E27FC236}">
                  <a16:creationId xmlns:a16="http://schemas.microsoft.com/office/drawing/2014/main" id="{3E18CEAE-DF37-271A-4814-0EE2ECB07752}"/>
                </a:ext>
              </a:extLst>
            </p:cNvPr>
            <p:cNvCxnSpPr>
              <a:cxnSpLocks/>
            </p:cNvCxnSpPr>
            <p:nvPr/>
          </p:nvCxnSpPr>
          <p:spPr>
            <a:xfrm>
              <a:off x="8087063" y="3679241"/>
              <a:ext cx="463861" cy="0"/>
            </a:xfrm>
            <a:prstGeom prst="straightConnector1">
              <a:avLst/>
            </a:prstGeom>
            <a:ln w="127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 name="직선 화살표 연결선 7">
              <a:extLst>
                <a:ext uri="{FF2B5EF4-FFF2-40B4-BE49-F238E27FC236}">
                  <a16:creationId xmlns:a16="http://schemas.microsoft.com/office/drawing/2014/main" id="{C84F2719-4DFF-356F-A7D3-A0E08815FB87}"/>
                </a:ext>
              </a:extLst>
            </p:cNvPr>
            <p:cNvCxnSpPr>
              <a:cxnSpLocks/>
              <a:stCxn id="13" idx="3"/>
            </p:cNvCxnSpPr>
            <p:nvPr/>
          </p:nvCxnSpPr>
          <p:spPr>
            <a:xfrm>
              <a:off x="7723423" y="4179197"/>
              <a:ext cx="363640" cy="0"/>
            </a:xfrm>
            <a:prstGeom prst="straightConnector1">
              <a:avLst/>
            </a:prstGeom>
            <a:ln w="12700">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직선 화살표 연결선 8">
              <a:extLst>
                <a:ext uri="{FF2B5EF4-FFF2-40B4-BE49-F238E27FC236}">
                  <a16:creationId xmlns:a16="http://schemas.microsoft.com/office/drawing/2014/main" id="{E3354536-0C60-426C-7B44-5225DAB69753}"/>
                </a:ext>
              </a:extLst>
            </p:cNvPr>
            <p:cNvCxnSpPr>
              <a:cxnSpLocks/>
            </p:cNvCxnSpPr>
            <p:nvPr/>
          </p:nvCxnSpPr>
          <p:spPr>
            <a:xfrm>
              <a:off x="8087063" y="4693810"/>
              <a:ext cx="463861" cy="0"/>
            </a:xfrm>
            <a:prstGeom prst="straightConnector1">
              <a:avLst/>
            </a:prstGeom>
            <a:ln w="127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 name="직선 화살표 연결선 9">
              <a:extLst>
                <a:ext uri="{FF2B5EF4-FFF2-40B4-BE49-F238E27FC236}">
                  <a16:creationId xmlns:a16="http://schemas.microsoft.com/office/drawing/2014/main" id="{980DC315-4C19-46A6-1224-EE8B9E70A324}"/>
                </a:ext>
              </a:extLst>
            </p:cNvPr>
            <p:cNvCxnSpPr>
              <a:cxnSpLocks/>
            </p:cNvCxnSpPr>
            <p:nvPr/>
          </p:nvCxnSpPr>
          <p:spPr>
            <a:xfrm>
              <a:off x="8087063" y="3668004"/>
              <a:ext cx="0" cy="1027964"/>
            </a:xfrm>
            <a:prstGeom prst="straightConnector1">
              <a:avLst/>
            </a:prstGeom>
            <a:ln w="127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pic>
          <p:nvPicPr>
            <p:cNvPr id="11" name="그림 10" descr="블랙, 어둠이(가) 표시된 사진&#10;&#10;AI 생성 콘텐츠는 정확하지 않을 수 있습니다.">
              <a:extLst>
                <a:ext uri="{FF2B5EF4-FFF2-40B4-BE49-F238E27FC236}">
                  <a16:creationId xmlns:a16="http://schemas.microsoft.com/office/drawing/2014/main" id="{EB6FC852-DD01-ADDA-FE20-CA4FF9D24B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22007" y="3932084"/>
              <a:ext cx="492683" cy="493079"/>
            </a:xfrm>
            <a:prstGeom prst="rect">
              <a:avLst/>
            </a:prstGeom>
          </p:spPr>
        </p:pic>
        <p:sp>
          <p:nvSpPr>
            <p:cNvPr id="12" name="TextBox 11">
              <a:extLst>
                <a:ext uri="{FF2B5EF4-FFF2-40B4-BE49-F238E27FC236}">
                  <a16:creationId xmlns:a16="http://schemas.microsoft.com/office/drawing/2014/main" id="{675ADC86-5B20-8F2A-F9EC-631FD8162D2E}"/>
                </a:ext>
              </a:extLst>
            </p:cNvPr>
            <p:cNvSpPr txBox="1"/>
            <p:nvPr/>
          </p:nvSpPr>
          <p:spPr>
            <a:xfrm>
              <a:off x="5122758" y="2791754"/>
              <a:ext cx="1529625" cy="242221"/>
            </a:xfrm>
            <a:prstGeom prst="rect">
              <a:avLst/>
            </a:prstGeom>
            <a:noFill/>
            <a:ln w="12700">
              <a:noFill/>
            </a:ln>
          </p:spPr>
          <p:txBody>
            <a:bodyPr wrap="square" rtlCol="0" anchor="ctr">
              <a:spAutoFit/>
            </a:bodyPr>
            <a:lstStyle/>
            <a:p>
              <a:pPr algn="ctr">
                <a:lnSpc>
                  <a:spcPct val="130000"/>
                </a:lnSpc>
              </a:pPr>
              <a:r>
                <a:rPr lang="en-US" altLang="ko-KR" sz="1200">
                  <a:latin typeface="Times New Roman" panose="02020603050405020304" pitchFamily="18" charset="0"/>
                  <a:cs typeface="Times New Roman" panose="02020603050405020304" pitchFamily="18" charset="0"/>
                </a:rPr>
                <a:t>Manager</a:t>
              </a:r>
            </a:p>
          </p:txBody>
        </p:sp>
        <p:sp>
          <p:nvSpPr>
            <p:cNvPr id="13" name="직사각형 12">
              <a:extLst>
                <a:ext uri="{FF2B5EF4-FFF2-40B4-BE49-F238E27FC236}">
                  <a16:creationId xmlns:a16="http://schemas.microsoft.com/office/drawing/2014/main" id="{EE10D6D7-30A7-53C0-E7BF-917F1453C420}"/>
                </a:ext>
              </a:extLst>
            </p:cNvPr>
            <p:cNvSpPr/>
            <p:nvPr/>
          </p:nvSpPr>
          <p:spPr>
            <a:xfrm>
              <a:off x="4248514" y="3941074"/>
              <a:ext cx="3474909" cy="476246"/>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9680D20C-74D2-FF87-4DD0-1A7BA85292CB}"/>
                </a:ext>
              </a:extLst>
            </p:cNvPr>
            <p:cNvSpPr txBox="1"/>
            <p:nvPr/>
          </p:nvSpPr>
          <p:spPr>
            <a:xfrm>
              <a:off x="4322245" y="4035654"/>
              <a:ext cx="860084" cy="217545"/>
            </a:xfrm>
            <a:prstGeom prst="rect">
              <a:avLst/>
            </a:prstGeom>
            <a:solidFill>
              <a:schemeClr val="bg1"/>
            </a:solidFill>
            <a:ln>
              <a:solidFill>
                <a:schemeClr val="tx1"/>
              </a:solidFill>
            </a:ln>
          </p:spPr>
          <p:txBody>
            <a:bodyPr wrap="square">
              <a:spAutoFit/>
            </a:bodyPr>
            <a:lstStyle/>
            <a:p>
              <a:pPr algn="ctr"/>
              <a:r>
                <a:rPr lang="en-US" altLang="ko-KR" sz="1200" b="1">
                  <a:latin typeface="Times New Roman" panose="02020603050405020304" pitchFamily="18" charset="0"/>
                  <a:cs typeface="Times New Roman" panose="02020603050405020304" pitchFamily="18" charset="0"/>
                </a:rPr>
                <a:t>Policy</a:t>
              </a:r>
              <a:endParaRPr lang="ko-KR" altLang="en-US" sz="12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96D4B4C-3833-AE4A-1F17-6B5664EB082A}"/>
                </a:ext>
              </a:extLst>
            </p:cNvPr>
            <p:cNvSpPr txBox="1"/>
            <p:nvPr/>
          </p:nvSpPr>
          <p:spPr>
            <a:xfrm>
              <a:off x="6757806" y="4041169"/>
              <a:ext cx="860084" cy="217545"/>
            </a:xfrm>
            <a:prstGeom prst="rect">
              <a:avLst/>
            </a:prstGeom>
            <a:solidFill>
              <a:schemeClr val="bg1"/>
            </a:solidFill>
            <a:ln>
              <a:solidFill>
                <a:schemeClr val="tx1"/>
              </a:solidFill>
            </a:ln>
          </p:spPr>
          <p:txBody>
            <a:bodyPr wrap="square">
              <a:spAutoFit/>
            </a:bodyPr>
            <a:lstStyle/>
            <a:p>
              <a:pPr algn="ctr"/>
              <a:r>
                <a:rPr lang="en-US" altLang="ko-KR" sz="1200" b="1">
                  <a:latin typeface="Times New Roman" panose="02020603050405020304" pitchFamily="18" charset="0"/>
                  <a:cs typeface="Times New Roman" panose="02020603050405020304" pitchFamily="18" charset="0"/>
                </a:rPr>
                <a:t>Routing</a:t>
              </a:r>
              <a:endParaRPr lang="ko-KR" altLang="en-US" sz="1200" b="1" dirty="0">
                <a:latin typeface="Times New Roman" panose="02020603050405020304" pitchFamily="18" charset="0"/>
                <a:cs typeface="Times New Roman" panose="02020603050405020304" pitchFamily="18" charset="0"/>
              </a:endParaRPr>
            </a:p>
          </p:txBody>
        </p:sp>
        <p:pic>
          <p:nvPicPr>
            <p:cNvPr id="16" name="그림 15" descr="블랙, 어둠이(가) 표시된 사진&#10;&#10;AI 생성 콘텐츠는 정확하지 않을 수 있습니다.">
              <a:extLst>
                <a:ext uri="{FF2B5EF4-FFF2-40B4-BE49-F238E27FC236}">
                  <a16:creationId xmlns:a16="http://schemas.microsoft.com/office/drawing/2014/main" id="{F52233F0-F965-8ADA-0BB0-59B17751D37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91088" y="3015037"/>
              <a:ext cx="517416" cy="517831"/>
            </a:xfrm>
            <a:prstGeom prst="rect">
              <a:avLst/>
            </a:prstGeom>
          </p:spPr>
        </p:pic>
        <p:sp>
          <p:nvSpPr>
            <p:cNvPr id="17" name="TextBox 16">
              <a:extLst>
                <a:ext uri="{FF2B5EF4-FFF2-40B4-BE49-F238E27FC236}">
                  <a16:creationId xmlns:a16="http://schemas.microsoft.com/office/drawing/2014/main" id="{12246E43-84F3-7348-7021-D62B57AE13C9}"/>
                </a:ext>
              </a:extLst>
            </p:cNvPr>
            <p:cNvSpPr txBox="1"/>
            <p:nvPr/>
          </p:nvSpPr>
          <p:spPr>
            <a:xfrm>
              <a:off x="5233004" y="4041169"/>
              <a:ext cx="1474129" cy="217545"/>
            </a:xfrm>
            <a:prstGeom prst="rect">
              <a:avLst/>
            </a:prstGeom>
            <a:solidFill>
              <a:schemeClr val="bg1"/>
            </a:solidFill>
            <a:ln>
              <a:solidFill>
                <a:schemeClr val="tx1"/>
              </a:solidFill>
            </a:ln>
          </p:spPr>
          <p:txBody>
            <a:bodyPr wrap="square">
              <a:spAutoFit/>
            </a:bodyPr>
            <a:lstStyle/>
            <a:p>
              <a:pPr algn="ctr"/>
              <a:r>
                <a:rPr lang="en-US" altLang="ko-KR" sz="1200" b="1">
                  <a:latin typeface="Times New Roman" panose="02020603050405020304" pitchFamily="18" charset="0"/>
                  <a:cs typeface="Times New Roman" panose="02020603050405020304" pitchFamily="18" charset="0"/>
                </a:rPr>
                <a:t>Transform Map</a:t>
              </a:r>
              <a:endParaRPr lang="ko-KR" altLang="en-US" sz="1200" b="1" dirty="0">
                <a:latin typeface="Times New Roman" panose="02020603050405020304" pitchFamily="18" charset="0"/>
                <a:cs typeface="Times New Roman" panose="02020603050405020304" pitchFamily="18" charset="0"/>
              </a:endParaRPr>
            </a:p>
          </p:txBody>
        </p:sp>
        <p:cxnSp>
          <p:nvCxnSpPr>
            <p:cNvPr id="18" name="직선 연결선 17">
              <a:extLst>
                <a:ext uri="{FF2B5EF4-FFF2-40B4-BE49-F238E27FC236}">
                  <a16:creationId xmlns:a16="http://schemas.microsoft.com/office/drawing/2014/main" id="{2D5B0B5A-E7E4-0EBF-8007-57BEC4E98715}"/>
                </a:ext>
              </a:extLst>
            </p:cNvPr>
            <p:cNvCxnSpPr>
              <a:stCxn id="4" idx="2"/>
              <a:endCxn id="13" idx="0"/>
            </p:cNvCxnSpPr>
            <p:nvPr/>
          </p:nvCxnSpPr>
          <p:spPr>
            <a:xfrm>
              <a:off x="5985968" y="3774548"/>
              <a:ext cx="1" cy="1665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DF83635-0124-6466-9DEF-98A1721E49B7}"/>
                </a:ext>
              </a:extLst>
            </p:cNvPr>
            <p:cNvSpPr txBox="1"/>
            <p:nvPr/>
          </p:nvSpPr>
          <p:spPr>
            <a:xfrm>
              <a:off x="2760007" y="3634746"/>
              <a:ext cx="1216681" cy="242221"/>
            </a:xfrm>
            <a:prstGeom prst="rect">
              <a:avLst/>
            </a:prstGeom>
            <a:noFill/>
            <a:ln w="12700">
              <a:noFill/>
            </a:ln>
          </p:spPr>
          <p:txBody>
            <a:bodyPr wrap="square" rtlCol="0" anchor="ctr">
              <a:spAutoFit/>
            </a:bodyPr>
            <a:lstStyle/>
            <a:p>
              <a:pPr algn="ctr">
                <a:lnSpc>
                  <a:spcPct val="130000"/>
                </a:lnSpc>
              </a:pPr>
              <a:r>
                <a:rPr lang="en-US" altLang="ko-KR" sz="1200" b="1">
                  <a:latin typeface="Times New Roman" panose="02020603050405020304" pitchFamily="18" charset="0"/>
                  <a:cs typeface="Times New Roman" panose="02020603050405020304" pitchFamily="18" charset="0"/>
                </a:rPr>
                <a:t>Client</a:t>
              </a:r>
            </a:p>
          </p:txBody>
        </p:sp>
        <p:cxnSp>
          <p:nvCxnSpPr>
            <p:cNvPr id="20" name="직선 화살표 연결선 19">
              <a:extLst>
                <a:ext uri="{FF2B5EF4-FFF2-40B4-BE49-F238E27FC236}">
                  <a16:creationId xmlns:a16="http://schemas.microsoft.com/office/drawing/2014/main" id="{38E36B35-7124-3486-8886-9675AF1A477F}"/>
                </a:ext>
              </a:extLst>
            </p:cNvPr>
            <p:cNvCxnSpPr>
              <a:cxnSpLocks/>
              <a:stCxn id="11" idx="3"/>
              <a:endCxn id="13" idx="1"/>
            </p:cNvCxnSpPr>
            <p:nvPr/>
          </p:nvCxnSpPr>
          <p:spPr>
            <a:xfrm>
              <a:off x="3614691" y="4178624"/>
              <a:ext cx="633823" cy="573"/>
            </a:xfrm>
            <a:prstGeom prst="straightConnector1">
              <a:avLst/>
            </a:prstGeom>
            <a:ln w="1270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grpSp>
          <p:nvGrpSpPr>
            <p:cNvPr id="21" name="그룹 20">
              <a:extLst>
                <a:ext uri="{FF2B5EF4-FFF2-40B4-BE49-F238E27FC236}">
                  <a16:creationId xmlns:a16="http://schemas.microsoft.com/office/drawing/2014/main" id="{3B9E7A2A-7ED8-50AF-3297-14B01B3A3D17}"/>
                </a:ext>
              </a:extLst>
            </p:cNvPr>
            <p:cNvGrpSpPr/>
            <p:nvPr/>
          </p:nvGrpSpPr>
          <p:grpSpPr>
            <a:xfrm>
              <a:off x="8551421" y="3229194"/>
              <a:ext cx="1283788" cy="811975"/>
              <a:chOff x="6466062" y="682976"/>
              <a:chExt cx="1337345" cy="845170"/>
            </a:xfrm>
          </p:grpSpPr>
          <p:sp>
            <p:nvSpPr>
              <p:cNvPr id="28" name="직사각형 27">
                <a:extLst>
                  <a:ext uri="{FF2B5EF4-FFF2-40B4-BE49-F238E27FC236}">
                    <a16:creationId xmlns:a16="http://schemas.microsoft.com/office/drawing/2014/main" id="{6AD59D01-0986-8E0A-3917-1F0405FF03B2}"/>
                  </a:ext>
                </a:extLst>
              </p:cNvPr>
              <p:cNvSpPr/>
              <p:nvPr/>
            </p:nvSpPr>
            <p:spPr>
              <a:xfrm>
                <a:off x="6466062" y="821476"/>
                <a:ext cx="1337345" cy="70667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t>z</a:t>
                </a:r>
                <a:endParaRPr lang="ko-KR" altLang="en-US"/>
              </a:p>
            </p:txBody>
          </p:sp>
          <p:sp>
            <p:nvSpPr>
              <p:cNvPr id="29" name="TextBox 28">
                <a:extLst>
                  <a:ext uri="{FF2B5EF4-FFF2-40B4-BE49-F238E27FC236}">
                    <a16:creationId xmlns:a16="http://schemas.microsoft.com/office/drawing/2014/main" id="{8519EA38-A6D7-5A8C-69B0-9883091EC62A}"/>
                  </a:ext>
                </a:extLst>
              </p:cNvPr>
              <p:cNvSpPr txBox="1"/>
              <p:nvPr/>
            </p:nvSpPr>
            <p:spPr>
              <a:xfrm>
                <a:off x="6679571" y="682976"/>
                <a:ext cx="910326" cy="226439"/>
              </a:xfrm>
              <a:prstGeom prst="rect">
                <a:avLst/>
              </a:prstGeom>
              <a:solidFill>
                <a:schemeClr val="bg1"/>
              </a:solidFill>
              <a:ln>
                <a:noFill/>
              </a:ln>
            </p:spPr>
            <p:txBody>
              <a:bodyPr wrap="square">
                <a:spAutoFit/>
              </a:bodyPr>
              <a:lstStyle/>
              <a:p>
                <a:pPr algn="ctr"/>
                <a:r>
                  <a:rPr lang="en-US" altLang="ko-KR" sz="1200" b="1">
                    <a:latin typeface="Times New Roman" panose="02020603050405020304" pitchFamily="18" charset="0"/>
                    <a:cs typeface="Times New Roman" panose="02020603050405020304" pitchFamily="18" charset="0"/>
                  </a:rPr>
                  <a:t>v1 Server</a:t>
                </a:r>
                <a:endParaRPr lang="ko-KR" altLang="en-US" sz="1200" b="1" dirty="0">
                  <a:latin typeface="Times New Roman" panose="02020603050405020304" pitchFamily="18" charset="0"/>
                  <a:cs typeface="Times New Roman" panose="02020603050405020304" pitchFamily="18" charset="0"/>
                </a:endParaRPr>
              </a:p>
            </p:txBody>
          </p:sp>
        </p:grpSp>
        <p:grpSp>
          <p:nvGrpSpPr>
            <p:cNvPr id="22" name="그룹 21">
              <a:extLst>
                <a:ext uri="{FF2B5EF4-FFF2-40B4-BE49-F238E27FC236}">
                  <a16:creationId xmlns:a16="http://schemas.microsoft.com/office/drawing/2014/main" id="{A99375B5-A22A-D72A-122F-338C9C06CF7E}"/>
                </a:ext>
              </a:extLst>
            </p:cNvPr>
            <p:cNvGrpSpPr/>
            <p:nvPr/>
          </p:nvGrpSpPr>
          <p:grpSpPr>
            <a:xfrm>
              <a:off x="8551421" y="4146216"/>
              <a:ext cx="1283788" cy="811975"/>
              <a:chOff x="6466062" y="1576969"/>
              <a:chExt cx="1337345" cy="845170"/>
            </a:xfrm>
          </p:grpSpPr>
          <p:sp>
            <p:nvSpPr>
              <p:cNvPr id="26" name="직사각형 25">
                <a:extLst>
                  <a:ext uri="{FF2B5EF4-FFF2-40B4-BE49-F238E27FC236}">
                    <a16:creationId xmlns:a16="http://schemas.microsoft.com/office/drawing/2014/main" id="{AF72B7DE-34CF-96B2-7B50-3BCE35490B94}"/>
                  </a:ext>
                </a:extLst>
              </p:cNvPr>
              <p:cNvSpPr/>
              <p:nvPr/>
            </p:nvSpPr>
            <p:spPr>
              <a:xfrm>
                <a:off x="6466062" y="1715469"/>
                <a:ext cx="1337345" cy="70667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t>z</a:t>
                </a:r>
                <a:endParaRPr lang="ko-KR" altLang="en-US"/>
              </a:p>
            </p:txBody>
          </p:sp>
          <p:sp>
            <p:nvSpPr>
              <p:cNvPr id="27" name="TextBox 26">
                <a:extLst>
                  <a:ext uri="{FF2B5EF4-FFF2-40B4-BE49-F238E27FC236}">
                    <a16:creationId xmlns:a16="http://schemas.microsoft.com/office/drawing/2014/main" id="{1D054224-C775-3FC9-B46A-420D027B8C86}"/>
                  </a:ext>
                </a:extLst>
              </p:cNvPr>
              <p:cNvSpPr txBox="1"/>
              <p:nvPr/>
            </p:nvSpPr>
            <p:spPr>
              <a:xfrm>
                <a:off x="6679571" y="1576969"/>
                <a:ext cx="910326" cy="226439"/>
              </a:xfrm>
              <a:prstGeom prst="rect">
                <a:avLst/>
              </a:prstGeom>
              <a:solidFill>
                <a:schemeClr val="bg1"/>
              </a:solidFill>
              <a:ln>
                <a:noFill/>
              </a:ln>
            </p:spPr>
            <p:txBody>
              <a:bodyPr wrap="square">
                <a:spAutoFit/>
              </a:bodyPr>
              <a:lstStyle/>
              <a:p>
                <a:pPr algn="ctr"/>
                <a:r>
                  <a:rPr lang="en-US" altLang="ko-KR" sz="1200" b="1">
                    <a:latin typeface="Times New Roman" panose="02020603050405020304" pitchFamily="18" charset="0"/>
                    <a:cs typeface="Times New Roman" panose="02020603050405020304" pitchFamily="18" charset="0"/>
                  </a:rPr>
                  <a:t>v2 Server</a:t>
                </a:r>
                <a:endParaRPr lang="ko-KR" altLang="en-US" sz="1200" b="1" dirty="0">
                  <a:latin typeface="Times New Roman" panose="02020603050405020304" pitchFamily="18" charset="0"/>
                  <a:cs typeface="Times New Roman" panose="02020603050405020304" pitchFamily="18" charset="0"/>
                </a:endParaRPr>
              </a:p>
            </p:txBody>
          </p:sp>
        </p:grpSp>
        <p:sp>
          <p:nvSpPr>
            <p:cNvPr id="23" name="TextBox 22">
              <a:extLst>
                <a:ext uri="{FF2B5EF4-FFF2-40B4-BE49-F238E27FC236}">
                  <a16:creationId xmlns:a16="http://schemas.microsoft.com/office/drawing/2014/main" id="{17418763-7E23-F585-74BB-472F0D49E231}"/>
                </a:ext>
              </a:extLst>
            </p:cNvPr>
            <p:cNvSpPr txBox="1"/>
            <p:nvPr/>
          </p:nvSpPr>
          <p:spPr>
            <a:xfrm>
              <a:off x="8415041" y="3554737"/>
              <a:ext cx="1556547" cy="242221"/>
            </a:xfrm>
            <a:prstGeom prst="rect">
              <a:avLst/>
            </a:prstGeom>
            <a:noFill/>
            <a:ln w="12700">
              <a:noFill/>
            </a:ln>
          </p:spPr>
          <p:txBody>
            <a:bodyPr wrap="square" rtlCol="0" anchor="ctr">
              <a:spAutoFit/>
            </a:bodyPr>
            <a:lstStyle/>
            <a:p>
              <a:pPr algn="ctr">
                <a:lnSpc>
                  <a:spcPct val="130000"/>
                </a:lnSpc>
              </a:pPr>
              <a:r>
                <a:rPr lang="en-US" altLang="ko-KR" sz="1200">
                  <a:latin typeface="Times New Roman" panose="02020603050405020304" pitchFamily="18" charset="0"/>
                  <a:cs typeface="Times New Roman" panose="02020603050405020304" pitchFamily="18" charset="0"/>
                </a:rPr>
                <a:t>Classic TLS</a:t>
              </a:r>
            </a:p>
          </p:txBody>
        </p:sp>
        <p:sp>
          <p:nvSpPr>
            <p:cNvPr id="24" name="TextBox 23">
              <a:extLst>
                <a:ext uri="{FF2B5EF4-FFF2-40B4-BE49-F238E27FC236}">
                  <a16:creationId xmlns:a16="http://schemas.microsoft.com/office/drawing/2014/main" id="{E3CC181F-BBB2-090B-50AB-664FAB10FEB6}"/>
                </a:ext>
              </a:extLst>
            </p:cNvPr>
            <p:cNvSpPr txBox="1"/>
            <p:nvPr/>
          </p:nvSpPr>
          <p:spPr>
            <a:xfrm>
              <a:off x="8415041" y="4323751"/>
              <a:ext cx="1556547" cy="242221"/>
            </a:xfrm>
            <a:prstGeom prst="rect">
              <a:avLst/>
            </a:prstGeom>
            <a:noFill/>
            <a:ln w="12700">
              <a:noFill/>
            </a:ln>
          </p:spPr>
          <p:txBody>
            <a:bodyPr wrap="square" rtlCol="0" anchor="ctr">
              <a:spAutoFit/>
            </a:bodyPr>
            <a:lstStyle/>
            <a:p>
              <a:pPr algn="ctr">
                <a:lnSpc>
                  <a:spcPct val="130000"/>
                </a:lnSpc>
              </a:pPr>
              <a:r>
                <a:rPr lang="en-US" altLang="ko-KR" sz="1200">
                  <a:latin typeface="Times New Roman" panose="02020603050405020304" pitchFamily="18" charset="0"/>
                  <a:cs typeface="Times New Roman" panose="02020603050405020304" pitchFamily="18" charset="0"/>
                </a:rPr>
                <a:t>Pure PQC</a:t>
              </a:r>
            </a:p>
          </p:txBody>
        </p:sp>
        <p:sp>
          <p:nvSpPr>
            <p:cNvPr id="25" name="TextBox 24">
              <a:extLst>
                <a:ext uri="{FF2B5EF4-FFF2-40B4-BE49-F238E27FC236}">
                  <a16:creationId xmlns:a16="http://schemas.microsoft.com/office/drawing/2014/main" id="{FC6EE16F-BF43-67E3-7BB9-2B1DF0F00E8F}"/>
                </a:ext>
              </a:extLst>
            </p:cNvPr>
            <p:cNvSpPr txBox="1"/>
            <p:nvPr/>
          </p:nvSpPr>
          <p:spPr>
            <a:xfrm>
              <a:off x="8415041" y="4580346"/>
              <a:ext cx="1556547" cy="333570"/>
            </a:xfrm>
            <a:prstGeom prst="rect">
              <a:avLst/>
            </a:prstGeom>
            <a:noFill/>
            <a:ln w="12700">
              <a:noFill/>
            </a:ln>
          </p:spPr>
          <p:txBody>
            <a:bodyPr wrap="square" rtlCol="0" anchor="ctr">
              <a:spAutoFit/>
            </a:bodyPr>
            <a:lstStyle/>
            <a:p>
              <a:pPr algn="ctr">
                <a:lnSpc>
                  <a:spcPct val="90000"/>
                </a:lnSpc>
              </a:pPr>
              <a:r>
                <a:rPr lang="en-US" altLang="ko-KR" sz="1200">
                  <a:latin typeface="Times New Roman" panose="02020603050405020304" pitchFamily="18" charset="0"/>
                  <a:cs typeface="Times New Roman" panose="02020603050405020304" pitchFamily="18" charset="0"/>
                </a:rPr>
                <a:t>PQC + Legacy</a:t>
              </a:r>
            </a:p>
            <a:p>
              <a:pPr algn="ctr">
                <a:lnSpc>
                  <a:spcPct val="90000"/>
                </a:lnSpc>
              </a:pPr>
              <a:r>
                <a:rPr lang="en-US" altLang="ko-KR" sz="1200">
                  <a:latin typeface="Times New Roman" panose="02020603050405020304" pitchFamily="18" charset="0"/>
                  <a:cs typeface="Times New Roman" panose="02020603050405020304" pitchFamily="18" charset="0"/>
                </a:rPr>
                <a:t>(Hybrid)</a:t>
              </a:r>
            </a:p>
          </p:txBody>
        </p:sp>
      </p:grpSp>
      <p:sp>
        <p:nvSpPr>
          <p:cNvPr id="30" name="TextBox 29">
            <a:extLst>
              <a:ext uri="{FF2B5EF4-FFF2-40B4-BE49-F238E27FC236}">
                <a16:creationId xmlns:a16="http://schemas.microsoft.com/office/drawing/2014/main" id="{BC781468-25AD-3E09-CA11-CB315B57E189}"/>
              </a:ext>
            </a:extLst>
          </p:cNvPr>
          <p:cNvSpPr txBox="1"/>
          <p:nvPr/>
        </p:nvSpPr>
        <p:spPr>
          <a:xfrm>
            <a:off x="581192" y="6424393"/>
            <a:ext cx="11400308" cy="369332"/>
          </a:xfrm>
          <a:prstGeom prst="rect">
            <a:avLst/>
          </a:prstGeom>
          <a:noFill/>
        </p:spPr>
        <p:txBody>
          <a:bodyPr wrap="square" rtlCol="0">
            <a:spAutoFit/>
          </a:bodyPr>
          <a:lstStyle/>
          <a:p>
            <a:pPr algn="ctr"/>
            <a:r>
              <a:rPr lang="en-US" altLang="ko-KR" b="1"/>
              <a:t>Fig: </a:t>
            </a:r>
            <a:r>
              <a:rPr lang="en-US" altLang="ko-KR"/>
              <a:t>System architecture: Clients and servers are distinguished by the cryptographic algorithms they use.</a:t>
            </a:r>
            <a:endParaRPr lang="ko-KR" altLang="en-US"/>
          </a:p>
        </p:txBody>
      </p:sp>
    </p:spTree>
    <p:extLst>
      <p:ext uri="{BB962C8B-B14F-4D97-AF65-F5344CB8AC3E}">
        <p14:creationId xmlns:p14="http://schemas.microsoft.com/office/powerpoint/2010/main" val="19355054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1F1EA-29DA-5C58-0586-9A55AE193030}"/>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DACD29C9-9A61-347B-B8AF-D311A482462F}"/>
              </a:ext>
            </a:extLst>
          </p:cNvPr>
          <p:cNvSpPr>
            <a:spLocks noGrp="1"/>
          </p:cNvSpPr>
          <p:nvPr>
            <p:ph idx="1"/>
          </p:nvPr>
        </p:nvSpPr>
        <p:spPr>
          <a:xfrm>
            <a:off x="581192" y="1377538"/>
            <a:ext cx="11029615" cy="4943724"/>
          </a:xfrm>
        </p:spPr>
        <p:txBody>
          <a:bodyPr rtlCol="0">
            <a:normAutofit/>
          </a:bodyPr>
          <a:lstStyle/>
          <a:p>
            <a:pPr marL="0" indent="0">
              <a:buNone/>
            </a:pPr>
            <a:r>
              <a:rPr lang="en-US" altLang="ko-KR" sz="2400" b="1">
                <a:solidFill>
                  <a:srgbClr val="FF0000"/>
                </a:solidFill>
              </a:rPr>
              <a:t>Hot reload</a:t>
            </a:r>
            <a:r>
              <a:rPr lang="en-US" altLang="ko-KR" sz="2400" b="1"/>
              <a:t> is a technique that instantly applies code changes without stopping the running application, allowing state preservation and immediate verification of updates.</a:t>
            </a:r>
          </a:p>
          <a:p>
            <a:pPr marL="0" indent="0">
              <a:buNone/>
            </a:pPr>
            <a:endParaRPr lang="en-US" altLang="ko-KR"/>
          </a:p>
          <a:p>
            <a:pPr marL="0" indent="0">
              <a:buNone/>
            </a:pPr>
            <a:r>
              <a:rPr lang="en-US" altLang="ko-KR" sz="2400" b="1"/>
              <a:t>The hot reload mechanism utilizes the following techniques:</a:t>
            </a:r>
            <a:endParaRPr lang="ko-KR" altLang="en-US" sz="2400" b="1" dirty="0"/>
          </a:p>
          <a:p>
            <a:pPr lvl="1"/>
            <a:r>
              <a:rPr lang="en-US" altLang="ko-KR" sz="1800"/>
              <a:t>Receives notifications of network or policy changes via </a:t>
            </a:r>
            <a:r>
              <a:rPr lang="en-US" altLang="ko-KR" sz="1800">
                <a:solidFill>
                  <a:srgbClr val="FF0000"/>
                </a:solidFill>
              </a:rPr>
              <a:t>SIGHUP</a:t>
            </a:r>
            <a:r>
              <a:rPr lang="en-US" altLang="ko-KR" sz="1800"/>
              <a:t>. By utilizing this, it is possible to dynamically configure policies upon detection without restarting the process.</a:t>
            </a:r>
          </a:p>
          <a:p>
            <a:pPr lvl="1"/>
            <a:r>
              <a:rPr lang="en-US" altLang="ko-KR" sz="1800"/>
              <a:t>Uses a </a:t>
            </a:r>
            <a:r>
              <a:rPr lang="en-US" altLang="ko-KR" sz="1800">
                <a:solidFill>
                  <a:srgbClr val="FF0000"/>
                </a:solidFill>
              </a:rPr>
              <a:t>parent-child process </a:t>
            </a:r>
            <a:r>
              <a:rPr lang="en-US" altLang="ko-KR" sz="1800"/>
              <a:t>model: existing sessions persist; new child processes instantly apply updated policies.</a:t>
            </a:r>
          </a:p>
        </p:txBody>
      </p:sp>
      <p:sp>
        <p:nvSpPr>
          <p:cNvPr id="6" name="TextBox 5">
            <a:extLst>
              <a:ext uri="{FF2B5EF4-FFF2-40B4-BE49-F238E27FC236}">
                <a16:creationId xmlns:a16="http://schemas.microsoft.com/office/drawing/2014/main" id="{427FB286-9380-2B83-8442-7BE49C4A520B}"/>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Transform Mechanism: Hot Reload and SIGHUP</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1F79D786-715B-1E0A-2827-AD3FFCB989CA}"/>
              </a:ext>
            </a:extLst>
          </p:cNvPr>
          <p:cNvSpPr>
            <a:spLocks noGrp="1"/>
          </p:cNvSpPr>
          <p:nvPr>
            <p:ph type="sldNum" sz="quarter" idx="12"/>
          </p:nvPr>
        </p:nvSpPr>
        <p:spPr/>
        <p:txBody>
          <a:bodyPr/>
          <a:lstStyle/>
          <a:p>
            <a:pPr rtl="0"/>
            <a:fld id="{401CF334-2D5C-4859-84A6-CA7E6E43FAEB}" type="slidenum">
              <a:rPr lang="en-US" altLang="ko-KR" smtClean="0"/>
              <a:t>11</a:t>
            </a:fld>
            <a:endParaRPr lang="ko-KR" altLang="en-US" dirty="0"/>
          </a:p>
        </p:txBody>
      </p:sp>
    </p:spTree>
    <p:extLst>
      <p:ext uri="{BB962C8B-B14F-4D97-AF65-F5344CB8AC3E}">
        <p14:creationId xmlns:p14="http://schemas.microsoft.com/office/powerpoint/2010/main" val="1124197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74BB2-A7E5-A5BA-7407-B9149AF3F7C7}"/>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EF51DB1A-710E-D8ED-0E4A-8CF2BCDAB979}"/>
              </a:ext>
            </a:extLst>
          </p:cNvPr>
          <p:cNvSpPr>
            <a:spLocks noGrp="1"/>
          </p:cNvSpPr>
          <p:nvPr>
            <p:ph idx="1"/>
          </p:nvPr>
        </p:nvSpPr>
        <p:spPr>
          <a:xfrm>
            <a:off x="581192" y="1208566"/>
            <a:ext cx="11029615" cy="5785814"/>
          </a:xfrm>
        </p:spPr>
        <p:txBody>
          <a:bodyPr rtlCol="0">
            <a:normAutofit/>
          </a:bodyPr>
          <a:lstStyle/>
          <a:p>
            <a:pPr marL="0" indent="0">
              <a:buNone/>
            </a:pPr>
            <a:r>
              <a:rPr lang="en-US" altLang="ko-KR" sz="2400" b="1"/>
              <a:t>This system adopts a </a:t>
            </a:r>
            <a:r>
              <a:rPr lang="en-US" altLang="ko-KR" sz="2400" b="1">
                <a:solidFill>
                  <a:srgbClr val="FF0000"/>
                </a:solidFill>
              </a:rPr>
              <a:t>hierarchical policy</a:t>
            </a:r>
            <a:r>
              <a:rPr lang="en-US" altLang="ko-KR" sz="2400" b="1"/>
              <a:t> separation, allowing each layer to be independently modified.</a:t>
            </a:r>
            <a:endParaRPr lang="ko-KR" altLang="en-US" sz="2400" b="1" dirty="0"/>
          </a:p>
          <a:p>
            <a:pPr lvl="1"/>
            <a:r>
              <a:rPr lang="en-US" altLang="ko-KR" sz="1800" b="1"/>
              <a:t>Security Policy: </a:t>
            </a:r>
            <a:r>
              <a:rPr lang="en-US" altLang="ko-KR" sz="1800"/>
              <a:t>Manages security parameters such as PQC migration, preferred encryption algorithms, and TLS version.</a:t>
            </a:r>
          </a:p>
          <a:p>
            <a:pPr lvl="1"/>
            <a:r>
              <a:rPr lang="en-US" altLang="ko-KR" sz="1800" b="1"/>
              <a:t>Routing &amp; Network Management: </a:t>
            </a:r>
            <a:r>
              <a:rPr lang="en-US" altLang="ko-KR" sz="1800"/>
              <a:t>Controls server routing, port mapping, and load balancing according to client versions.</a:t>
            </a:r>
          </a:p>
          <a:p>
            <a:pPr lvl="1"/>
            <a:r>
              <a:rPr lang="en-US" altLang="ko-KR" sz="1800" b="1"/>
              <a:t>Content Transformation: </a:t>
            </a:r>
            <a:r>
              <a:rPr lang="en-US" altLang="ko-KR" sz="1800"/>
              <a:t>Handles real-time message adaptation and user interface/content management.</a:t>
            </a:r>
          </a:p>
          <a:p>
            <a:pPr marL="0" indent="0">
              <a:buNone/>
            </a:pPr>
            <a:r>
              <a:rPr lang="en-US" altLang="ko-KR" sz="2400" b="1"/>
              <a:t>The structure follows the order: </a:t>
            </a:r>
            <a:r>
              <a:rPr lang="en-US" altLang="ko-KR" sz="2400" b="1">
                <a:solidFill>
                  <a:srgbClr val="FF0000"/>
                </a:solidFill>
              </a:rPr>
              <a:t>Security Policy → Routing → Content</a:t>
            </a:r>
            <a:r>
              <a:rPr lang="en-US" altLang="ko-KR" sz="2400" b="1"/>
              <a:t>, where higher layers determine the configuration of lower one.</a:t>
            </a:r>
          </a:p>
          <a:p>
            <a:pPr lvl="1"/>
            <a:r>
              <a:rPr lang="en-US" altLang="ko-KR" sz="1800"/>
              <a:t>When a policy is loaded, </a:t>
            </a:r>
            <a:r>
              <a:rPr lang="en-US" altLang="ko-KR" sz="1800">
                <a:solidFill>
                  <a:srgbClr val="FF0000"/>
                </a:solidFill>
              </a:rPr>
              <a:t>multiple SSL_CTX </a:t>
            </a:r>
            <a:r>
              <a:rPr lang="en-US" altLang="ko-KR" sz="1800"/>
              <a:t>instances are prepared in advance so that the most appropriate SSL_CTX can be selected according to the situation.</a:t>
            </a:r>
          </a:p>
          <a:p>
            <a:pPr lvl="1"/>
            <a:r>
              <a:rPr lang="en-US" altLang="ko-KR" sz="1800"/>
              <a:t> Instead of relying on just a single SSL_CTX, the configuration allows for choosing from several pre-initialized SSL_CTX instances, enabling the application of the best-suited SSL_CTX for each scenario.</a:t>
            </a:r>
            <a:endParaRPr lang="en-US" altLang="ko-KR" sz="2400" b="1"/>
          </a:p>
        </p:txBody>
      </p:sp>
      <p:sp>
        <p:nvSpPr>
          <p:cNvPr id="6" name="TextBox 5">
            <a:extLst>
              <a:ext uri="{FF2B5EF4-FFF2-40B4-BE49-F238E27FC236}">
                <a16:creationId xmlns:a16="http://schemas.microsoft.com/office/drawing/2014/main" id="{ECFF321F-C1B5-CEB9-0A13-8B5A58707178}"/>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Policy System</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B1009632-2DB9-1472-210A-8EECDEF6DC0C}"/>
              </a:ext>
            </a:extLst>
          </p:cNvPr>
          <p:cNvSpPr>
            <a:spLocks noGrp="1"/>
          </p:cNvSpPr>
          <p:nvPr>
            <p:ph type="sldNum" sz="quarter" idx="12"/>
          </p:nvPr>
        </p:nvSpPr>
        <p:spPr/>
        <p:txBody>
          <a:bodyPr/>
          <a:lstStyle/>
          <a:p>
            <a:pPr rtl="0"/>
            <a:fld id="{401CF334-2D5C-4859-84A6-CA7E6E43FAEB}" type="slidenum">
              <a:rPr lang="en-US" altLang="ko-KR" smtClean="0"/>
              <a:t>12</a:t>
            </a:fld>
            <a:endParaRPr lang="ko-KR" altLang="en-US" dirty="0"/>
          </a:p>
        </p:txBody>
      </p:sp>
    </p:spTree>
    <p:extLst>
      <p:ext uri="{BB962C8B-B14F-4D97-AF65-F5344CB8AC3E}">
        <p14:creationId xmlns:p14="http://schemas.microsoft.com/office/powerpoint/2010/main" val="36214412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ED1D1-E8F5-5CF5-DE13-D1360E6401D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6F89A0D-C4A3-8540-5B70-1E0F04DC6D46}"/>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Policy-Based Routing</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2414D483-EF2D-B65D-03DF-FA1A62E2CF6E}"/>
              </a:ext>
            </a:extLst>
          </p:cNvPr>
          <p:cNvSpPr>
            <a:spLocks noGrp="1"/>
          </p:cNvSpPr>
          <p:nvPr>
            <p:ph type="sldNum" sz="quarter" idx="12"/>
          </p:nvPr>
        </p:nvSpPr>
        <p:spPr/>
        <p:txBody>
          <a:bodyPr/>
          <a:lstStyle/>
          <a:p>
            <a:pPr rtl="0"/>
            <a:fld id="{401CF334-2D5C-4859-84A6-CA7E6E43FAEB}" type="slidenum">
              <a:rPr lang="en-US" altLang="ko-KR" smtClean="0"/>
              <a:t>13</a:t>
            </a:fld>
            <a:endParaRPr lang="ko-KR" altLang="en-US" dirty="0"/>
          </a:p>
        </p:txBody>
      </p:sp>
      <p:grpSp>
        <p:nvGrpSpPr>
          <p:cNvPr id="16" name="그룹 15">
            <a:extLst>
              <a:ext uri="{FF2B5EF4-FFF2-40B4-BE49-F238E27FC236}">
                <a16:creationId xmlns:a16="http://schemas.microsoft.com/office/drawing/2014/main" id="{0611717C-6914-AE97-F657-7B65102969CA}"/>
              </a:ext>
            </a:extLst>
          </p:cNvPr>
          <p:cNvGrpSpPr/>
          <p:nvPr/>
        </p:nvGrpSpPr>
        <p:grpSpPr>
          <a:xfrm>
            <a:off x="2037200" y="3885754"/>
            <a:ext cx="8117598" cy="1123421"/>
            <a:chOff x="3655331" y="4425770"/>
            <a:chExt cx="5015579" cy="1005053"/>
          </a:xfrm>
        </p:grpSpPr>
        <p:sp>
          <p:nvSpPr>
            <p:cNvPr id="3" name="직사각형 2">
              <a:extLst>
                <a:ext uri="{FF2B5EF4-FFF2-40B4-BE49-F238E27FC236}">
                  <a16:creationId xmlns:a16="http://schemas.microsoft.com/office/drawing/2014/main" id="{B65DF5C8-66DD-59B9-51AF-3D5390D4E666}"/>
                </a:ext>
              </a:extLst>
            </p:cNvPr>
            <p:cNvSpPr/>
            <p:nvPr/>
          </p:nvSpPr>
          <p:spPr>
            <a:xfrm>
              <a:off x="3655331" y="4477242"/>
              <a:ext cx="895965" cy="451055"/>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tx1"/>
                  </a:solidFill>
                  <a:latin typeface="Times New Roman" panose="02020603050405020304" pitchFamily="18" charset="0"/>
                  <a:cs typeface="Times New Roman" panose="02020603050405020304" pitchFamily="18" charset="0"/>
                </a:rPr>
                <a:t>announce</a:t>
              </a:r>
              <a:endParaRPr lang="ko-KR" altLang="en-US">
                <a:solidFill>
                  <a:schemeClr val="tx1"/>
                </a:solidFill>
                <a:latin typeface="Times New Roman" panose="02020603050405020304" pitchFamily="18" charset="0"/>
                <a:cs typeface="Times New Roman" panose="02020603050405020304" pitchFamily="18" charset="0"/>
              </a:endParaRPr>
            </a:p>
          </p:txBody>
        </p:sp>
        <p:sp>
          <p:nvSpPr>
            <p:cNvPr id="4" name="직사각형 3">
              <a:extLst>
                <a:ext uri="{FF2B5EF4-FFF2-40B4-BE49-F238E27FC236}">
                  <a16:creationId xmlns:a16="http://schemas.microsoft.com/office/drawing/2014/main" id="{F3D03A4C-BE1C-9E4D-14FC-1B33E64303DF}"/>
                </a:ext>
              </a:extLst>
            </p:cNvPr>
            <p:cNvSpPr/>
            <p:nvPr/>
          </p:nvSpPr>
          <p:spPr>
            <a:xfrm>
              <a:off x="5715138" y="4477242"/>
              <a:ext cx="895965" cy="451055"/>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tx1"/>
                  </a:solidFill>
                  <a:latin typeface="Times New Roman" panose="02020603050405020304" pitchFamily="18" charset="0"/>
                  <a:cs typeface="Times New Roman" panose="02020603050405020304" pitchFamily="18" charset="0"/>
                </a:rPr>
                <a:t>prefer</a:t>
              </a:r>
              <a:endParaRPr lang="ko-KR" altLang="en-US">
                <a:solidFill>
                  <a:schemeClr val="tx1"/>
                </a:solidFill>
                <a:latin typeface="Times New Roman" panose="02020603050405020304" pitchFamily="18" charset="0"/>
                <a:cs typeface="Times New Roman" panose="02020603050405020304" pitchFamily="18" charset="0"/>
              </a:endParaRPr>
            </a:p>
          </p:txBody>
        </p:sp>
        <p:sp>
          <p:nvSpPr>
            <p:cNvPr id="5" name="직사각형 4">
              <a:extLst>
                <a:ext uri="{FF2B5EF4-FFF2-40B4-BE49-F238E27FC236}">
                  <a16:creationId xmlns:a16="http://schemas.microsoft.com/office/drawing/2014/main" id="{4B18B028-D58E-EF42-ECDE-28241F9D2C32}"/>
                </a:ext>
              </a:extLst>
            </p:cNvPr>
            <p:cNvSpPr/>
            <p:nvPr/>
          </p:nvSpPr>
          <p:spPr>
            <a:xfrm>
              <a:off x="7774945" y="4477242"/>
              <a:ext cx="895965" cy="451055"/>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tx1"/>
                  </a:solidFill>
                  <a:latin typeface="Times New Roman" panose="02020603050405020304" pitchFamily="18" charset="0"/>
                  <a:cs typeface="Times New Roman" panose="02020603050405020304" pitchFamily="18" charset="0"/>
                </a:rPr>
                <a:t>require</a:t>
              </a:r>
              <a:endParaRPr lang="ko-KR" altLang="en-US">
                <a:solidFill>
                  <a:schemeClr val="tx1"/>
                </a:solidFill>
                <a:latin typeface="Times New Roman" panose="02020603050405020304" pitchFamily="18" charset="0"/>
                <a:cs typeface="Times New Roman" panose="02020603050405020304" pitchFamily="18" charset="0"/>
              </a:endParaRPr>
            </a:p>
          </p:txBody>
        </p:sp>
        <p:cxnSp>
          <p:nvCxnSpPr>
            <p:cNvPr id="8" name="직선 화살표 연결선 7">
              <a:extLst>
                <a:ext uri="{FF2B5EF4-FFF2-40B4-BE49-F238E27FC236}">
                  <a16:creationId xmlns:a16="http://schemas.microsoft.com/office/drawing/2014/main" id="{93CE1C14-D052-62A4-3CC9-AAC5984D5CF3}"/>
                </a:ext>
              </a:extLst>
            </p:cNvPr>
            <p:cNvCxnSpPr>
              <a:stCxn id="3" idx="3"/>
              <a:endCxn id="4" idx="1"/>
            </p:cNvCxnSpPr>
            <p:nvPr/>
          </p:nvCxnSpPr>
          <p:spPr>
            <a:xfrm>
              <a:off x="4551296" y="4702770"/>
              <a:ext cx="116384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직선 화살표 연결선 8">
              <a:extLst>
                <a:ext uri="{FF2B5EF4-FFF2-40B4-BE49-F238E27FC236}">
                  <a16:creationId xmlns:a16="http://schemas.microsoft.com/office/drawing/2014/main" id="{D7ED549E-8CB6-5356-A183-0E1712A56666}"/>
                </a:ext>
              </a:extLst>
            </p:cNvPr>
            <p:cNvCxnSpPr/>
            <p:nvPr/>
          </p:nvCxnSpPr>
          <p:spPr>
            <a:xfrm>
              <a:off x="6611103" y="4702770"/>
              <a:ext cx="116384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자유형: 도형 9">
              <a:extLst>
                <a:ext uri="{FF2B5EF4-FFF2-40B4-BE49-F238E27FC236}">
                  <a16:creationId xmlns:a16="http://schemas.microsoft.com/office/drawing/2014/main" id="{18D87942-3B83-3FAE-1A80-E4DF269645FB}"/>
                </a:ext>
              </a:extLst>
            </p:cNvPr>
            <p:cNvSpPr/>
            <p:nvPr/>
          </p:nvSpPr>
          <p:spPr>
            <a:xfrm>
              <a:off x="4348711" y="4936859"/>
              <a:ext cx="1519224" cy="216965"/>
            </a:xfrm>
            <a:custGeom>
              <a:avLst/>
              <a:gdLst>
                <a:gd name="connsiteX0" fmla="*/ 2050181 w 2050181"/>
                <a:gd name="connsiteY0" fmla="*/ 9626 h 808526"/>
                <a:gd name="connsiteX1" fmla="*/ 1010653 w 2050181"/>
                <a:gd name="connsiteY1" fmla="*/ 808522 h 808526"/>
                <a:gd name="connsiteX2" fmla="*/ 0 w 2050181"/>
                <a:gd name="connsiteY2" fmla="*/ 0 h 808526"/>
              </a:gdLst>
              <a:ahLst/>
              <a:cxnLst>
                <a:cxn ang="0">
                  <a:pos x="connsiteX0" y="connsiteY0"/>
                </a:cxn>
                <a:cxn ang="0">
                  <a:pos x="connsiteX1" y="connsiteY1"/>
                </a:cxn>
                <a:cxn ang="0">
                  <a:pos x="connsiteX2" y="connsiteY2"/>
                </a:cxn>
              </a:cxnLst>
              <a:rect l="l" t="t" r="r" b="b"/>
              <a:pathLst>
                <a:path w="2050181" h="808526">
                  <a:moveTo>
                    <a:pt x="2050181" y="9626"/>
                  </a:moveTo>
                  <a:cubicBezTo>
                    <a:pt x="1701265" y="409876"/>
                    <a:pt x="1352350" y="810126"/>
                    <a:pt x="1010653" y="808522"/>
                  </a:cubicBezTo>
                  <a:cubicBezTo>
                    <a:pt x="668956" y="806918"/>
                    <a:pt x="160421" y="133149"/>
                    <a:pt x="0" y="0"/>
                  </a:cubicBezTo>
                </a:path>
              </a:pathLst>
            </a:custGeom>
            <a:noFill/>
            <a:ln w="12700">
              <a:solidFill>
                <a:schemeClr val="tx1"/>
              </a:solidFill>
              <a:prstDash val="sysDash"/>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800"/>
            </a:p>
          </p:txBody>
        </p:sp>
        <p:sp>
          <p:nvSpPr>
            <p:cNvPr id="11" name="자유형: 도형 10">
              <a:extLst>
                <a:ext uri="{FF2B5EF4-FFF2-40B4-BE49-F238E27FC236}">
                  <a16:creationId xmlns:a16="http://schemas.microsoft.com/office/drawing/2014/main" id="{CEF5C1E3-2C8F-10E4-2ADF-578D176E75A3}"/>
                </a:ext>
              </a:extLst>
            </p:cNvPr>
            <p:cNvSpPr/>
            <p:nvPr/>
          </p:nvSpPr>
          <p:spPr>
            <a:xfrm>
              <a:off x="6433411" y="4936860"/>
              <a:ext cx="1519225" cy="216965"/>
            </a:xfrm>
            <a:custGeom>
              <a:avLst/>
              <a:gdLst>
                <a:gd name="connsiteX0" fmla="*/ 2050181 w 2050181"/>
                <a:gd name="connsiteY0" fmla="*/ 9626 h 808526"/>
                <a:gd name="connsiteX1" fmla="*/ 1010653 w 2050181"/>
                <a:gd name="connsiteY1" fmla="*/ 808522 h 808526"/>
                <a:gd name="connsiteX2" fmla="*/ 0 w 2050181"/>
                <a:gd name="connsiteY2" fmla="*/ 0 h 808526"/>
              </a:gdLst>
              <a:ahLst/>
              <a:cxnLst>
                <a:cxn ang="0">
                  <a:pos x="connsiteX0" y="connsiteY0"/>
                </a:cxn>
                <a:cxn ang="0">
                  <a:pos x="connsiteX1" y="connsiteY1"/>
                </a:cxn>
                <a:cxn ang="0">
                  <a:pos x="connsiteX2" y="connsiteY2"/>
                </a:cxn>
              </a:cxnLst>
              <a:rect l="l" t="t" r="r" b="b"/>
              <a:pathLst>
                <a:path w="2050181" h="808526">
                  <a:moveTo>
                    <a:pt x="2050181" y="9626"/>
                  </a:moveTo>
                  <a:cubicBezTo>
                    <a:pt x="1701265" y="409876"/>
                    <a:pt x="1352350" y="810126"/>
                    <a:pt x="1010653" y="808522"/>
                  </a:cubicBezTo>
                  <a:cubicBezTo>
                    <a:pt x="668956" y="806918"/>
                    <a:pt x="160421" y="133149"/>
                    <a:pt x="0" y="0"/>
                  </a:cubicBezTo>
                </a:path>
              </a:pathLst>
            </a:custGeom>
            <a:noFill/>
            <a:ln w="12700">
              <a:solidFill>
                <a:schemeClr val="tx1"/>
              </a:solidFill>
              <a:prstDash val="sysDash"/>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800"/>
            </a:p>
          </p:txBody>
        </p:sp>
        <p:sp>
          <p:nvSpPr>
            <p:cNvPr id="12" name="TextBox 11">
              <a:extLst>
                <a:ext uri="{FF2B5EF4-FFF2-40B4-BE49-F238E27FC236}">
                  <a16:creationId xmlns:a16="http://schemas.microsoft.com/office/drawing/2014/main" id="{EB36E814-8EFE-8F7A-1747-3D1498D1CD4F}"/>
                </a:ext>
              </a:extLst>
            </p:cNvPr>
            <p:cNvSpPr txBox="1"/>
            <p:nvPr/>
          </p:nvSpPr>
          <p:spPr>
            <a:xfrm>
              <a:off x="4712961" y="5153824"/>
              <a:ext cx="790724" cy="276999"/>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R"/>
              </a:defPPr>
              <a:lvl1pPr algn="ctr">
                <a:defRPr sz="1200">
                  <a:latin typeface="Times New Roman" panose="02020603050405020304" pitchFamily="18" charset="0"/>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sz="1800">
                  <a:solidFill>
                    <a:schemeClr val="tx1"/>
                  </a:solidFill>
                </a:rPr>
                <a:t>rollback</a:t>
              </a:r>
              <a:endParaRPr lang="ko-KR" altLang="en-US" sz="1800">
                <a:solidFill>
                  <a:schemeClr val="tx1"/>
                </a:solidFill>
              </a:endParaRPr>
            </a:p>
          </p:txBody>
        </p:sp>
        <p:sp>
          <p:nvSpPr>
            <p:cNvPr id="13" name="TextBox 12">
              <a:extLst>
                <a:ext uri="{FF2B5EF4-FFF2-40B4-BE49-F238E27FC236}">
                  <a16:creationId xmlns:a16="http://schemas.microsoft.com/office/drawing/2014/main" id="{73B98121-94AB-5850-BC4A-84FFF2D9E435}"/>
                </a:ext>
              </a:extLst>
            </p:cNvPr>
            <p:cNvSpPr txBox="1"/>
            <p:nvPr/>
          </p:nvSpPr>
          <p:spPr>
            <a:xfrm>
              <a:off x="6797661" y="5153824"/>
              <a:ext cx="790724" cy="276999"/>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R"/>
              </a:defPPr>
              <a:lvl1pPr algn="ctr">
                <a:defRPr sz="1200">
                  <a:latin typeface="Times New Roman" panose="02020603050405020304" pitchFamily="18" charset="0"/>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sz="1800">
                  <a:solidFill>
                    <a:schemeClr val="tx1"/>
                  </a:solidFill>
                </a:rPr>
                <a:t>rollback</a:t>
              </a:r>
              <a:endParaRPr lang="ko-KR" altLang="en-US" sz="1800">
                <a:solidFill>
                  <a:schemeClr val="tx1"/>
                </a:solidFill>
              </a:endParaRPr>
            </a:p>
          </p:txBody>
        </p:sp>
        <p:sp>
          <p:nvSpPr>
            <p:cNvPr id="14" name="TextBox 13">
              <a:extLst>
                <a:ext uri="{FF2B5EF4-FFF2-40B4-BE49-F238E27FC236}">
                  <a16:creationId xmlns:a16="http://schemas.microsoft.com/office/drawing/2014/main" id="{B889D3FA-7FB6-AC42-D1D6-DD778A5C1F27}"/>
                </a:ext>
              </a:extLst>
            </p:cNvPr>
            <p:cNvSpPr txBox="1"/>
            <p:nvPr/>
          </p:nvSpPr>
          <p:spPr>
            <a:xfrm>
              <a:off x="6473194" y="4425770"/>
              <a:ext cx="1439657" cy="285560"/>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R"/>
              </a:defPPr>
              <a:lvl1pPr algn="ctr">
                <a:defRPr sz="1200">
                  <a:latin typeface="Times New Roman" panose="02020603050405020304" pitchFamily="18" charset="0"/>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sz="1800">
                  <a:solidFill>
                    <a:schemeClr val="tx1"/>
                  </a:solidFill>
                </a:rPr>
                <a:t>increase rollout</a:t>
              </a:r>
              <a:endParaRPr lang="ko-KR" altLang="en-US" sz="1800">
                <a:solidFill>
                  <a:schemeClr val="tx1"/>
                </a:solidFill>
              </a:endParaRPr>
            </a:p>
          </p:txBody>
        </p:sp>
        <p:sp>
          <p:nvSpPr>
            <p:cNvPr id="15" name="TextBox 14">
              <a:extLst>
                <a:ext uri="{FF2B5EF4-FFF2-40B4-BE49-F238E27FC236}">
                  <a16:creationId xmlns:a16="http://schemas.microsoft.com/office/drawing/2014/main" id="{F9F9E41E-3908-7559-4610-EF91EA1EF68C}"/>
                </a:ext>
              </a:extLst>
            </p:cNvPr>
            <p:cNvSpPr txBox="1"/>
            <p:nvPr/>
          </p:nvSpPr>
          <p:spPr>
            <a:xfrm>
              <a:off x="4418974" y="4425770"/>
              <a:ext cx="1439657" cy="285560"/>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R"/>
              </a:defPPr>
              <a:lvl1pPr algn="ctr">
                <a:defRPr sz="1200">
                  <a:latin typeface="Times New Roman" panose="02020603050405020304" pitchFamily="18" charset="0"/>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sz="1800">
                  <a:solidFill>
                    <a:schemeClr val="tx1"/>
                  </a:solidFill>
                </a:rPr>
                <a:t>enable canary</a:t>
              </a:r>
              <a:endParaRPr lang="ko-KR" altLang="en-US" sz="1800">
                <a:solidFill>
                  <a:schemeClr val="tx1"/>
                </a:solidFill>
              </a:endParaRPr>
            </a:p>
          </p:txBody>
        </p:sp>
      </p:grpSp>
      <p:sp>
        <p:nvSpPr>
          <p:cNvPr id="19" name="내용 개체 틀 1">
            <a:extLst>
              <a:ext uri="{FF2B5EF4-FFF2-40B4-BE49-F238E27FC236}">
                <a16:creationId xmlns:a16="http://schemas.microsoft.com/office/drawing/2014/main" id="{4BBDAA23-077C-886B-28D1-5C2CE8B43510}"/>
              </a:ext>
            </a:extLst>
          </p:cNvPr>
          <p:cNvSpPr>
            <a:spLocks noGrp="1"/>
          </p:cNvSpPr>
          <p:nvPr>
            <p:ph idx="1"/>
          </p:nvPr>
        </p:nvSpPr>
        <p:spPr>
          <a:xfrm>
            <a:off x="581192" y="1815371"/>
            <a:ext cx="11029615" cy="1123421"/>
          </a:xfrm>
        </p:spPr>
        <p:txBody>
          <a:bodyPr rtlCol="0">
            <a:noAutofit/>
          </a:bodyPr>
          <a:lstStyle/>
          <a:p>
            <a:pPr marL="0" indent="0">
              <a:buNone/>
            </a:pPr>
            <a:r>
              <a:rPr lang="en-US" altLang="ko-KR" sz="2400" b="1"/>
              <a:t>This system aims for a gradual transition </a:t>
            </a:r>
            <a:r>
              <a:rPr lang="en-US" altLang="ko-KR" sz="2400" b="1">
                <a:solidFill>
                  <a:srgbClr val="FF0000"/>
                </a:solidFill>
              </a:rPr>
              <a:t>based on policy</a:t>
            </a:r>
            <a:r>
              <a:rPr lang="en-US" altLang="ko-KR" sz="2400" b="1"/>
              <a:t>.</a:t>
            </a:r>
          </a:p>
          <a:p>
            <a:pPr lvl="1"/>
            <a:r>
              <a:rPr lang="en-US" altLang="ko-KR" sz="1800"/>
              <a:t>Weighted policies </a:t>
            </a:r>
            <a:r>
              <a:rPr lang="en-US" altLang="ko-KR" sz="1800">
                <a:solidFill>
                  <a:srgbClr val="FF0000"/>
                </a:solidFill>
              </a:rPr>
              <a:t>progressively direct clients to use the PQC TLS server</a:t>
            </a:r>
            <a:r>
              <a:rPr lang="en-US" altLang="ko-KR" sz="1800"/>
              <a:t>.</a:t>
            </a:r>
          </a:p>
          <a:p>
            <a:pPr lvl="1"/>
            <a:r>
              <a:rPr lang="en-US" altLang="ko-KR" sz="1800"/>
              <a:t>If issues arise, the routing environment can be immediately </a:t>
            </a:r>
            <a:r>
              <a:rPr lang="en-US" altLang="ko-KR" sz="1800">
                <a:solidFill>
                  <a:srgbClr val="FF0000"/>
                </a:solidFill>
              </a:rPr>
              <a:t>rolled back</a:t>
            </a:r>
            <a:r>
              <a:rPr lang="en-US" altLang="ko-KR" sz="1800"/>
              <a:t> to the previous state to maintain service stability.</a:t>
            </a:r>
          </a:p>
        </p:txBody>
      </p:sp>
      <p:sp>
        <p:nvSpPr>
          <p:cNvPr id="2" name="TextBox 1">
            <a:extLst>
              <a:ext uri="{FF2B5EF4-FFF2-40B4-BE49-F238E27FC236}">
                <a16:creationId xmlns:a16="http://schemas.microsoft.com/office/drawing/2014/main" id="{D11A3AB3-20D5-FCF3-3D7C-E7FBC4B140BF}"/>
              </a:ext>
            </a:extLst>
          </p:cNvPr>
          <p:cNvSpPr txBox="1"/>
          <p:nvPr/>
        </p:nvSpPr>
        <p:spPr>
          <a:xfrm>
            <a:off x="1935678" y="5451961"/>
            <a:ext cx="8324602" cy="646331"/>
          </a:xfrm>
          <a:prstGeom prst="rect">
            <a:avLst/>
          </a:prstGeom>
          <a:noFill/>
        </p:spPr>
        <p:txBody>
          <a:bodyPr wrap="square" rtlCol="0">
            <a:spAutoFit/>
          </a:bodyPr>
          <a:lstStyle/>
          <a:p>
            <a:pPr algn="ctr"/>
            <a:r>
              <a:rPr lang="en-US" altLang="ko-KR" b="1"/>
              <a:t>Fig: </a:t>
            </a:r>
            <a:r>
              <a:rPr lang="en-US" altLang="ko-KR"/>
              <a:t>State transition of routing policies enabling gradual PQC server migration for classical TLS clients, with rollback mechanisms ensuring service stability.</a:t>
            </a:r>
            <a:endParaRPr lang="ko-KR" altLang="en-US"/>
          </a:p>
        </p:txBody>
      </p:sp>
    </p:spTree>
    <p:extLst>
      <p:ext uri="{BB962C8B-B14F-4D97-AF65-F5344CB8AC3E}">
        <p14:creationId xmlns:p14="http://schemas.microsoft.com/office/powerpoint/2010/main" val="40578691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72C6B-E450-C700-343C-66862F1E93B8}"/>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3EA32FFA-F14B-6B0D-75F0-DBF590D2D9E7}"/>
              </a:ext>
            </a:extLst>
          </p:cNvPr>
          <p:cNvSpPr>
            <a:spLocks noGrp="1"/>
          </p:cNvSpPr>
          <p:nvPr>
            <p:ph idx="1"/>
          </p:nvPr>
        </p:nvSpPr>
        <p:spPr>
          <a:xfrm>
            <a:off x="581192" y="1648316"/>
            <a:ext cx="11029615" cy="1123421"/>
          </a:xfrm>
        </p:spPr>
        <p:txBody>
          <a:bodyPr rtlCol="0">
            <a:noAutofit/>
          </a:bodyPr>
          <a:lstStyle/>
          <a:p>
            <a:pPr marL="0" indent="0">
              <a:buNone/>
            </a:pPr>
            <a:r>
              <a:rPr lang="en-US" altLang="ko-KR" sz="2400" b="1"/>
              <a:t>The </a:t>
            </a:r>
            <a:r>
              <a:rPr lang="en-US" altLang="ko-KR" sz="2400" b="1">
                <a:solidFill>
                  <a:srgbClr val="FF0000"/>
                </a:solidFill>
              </a:rPr>
              <a:t>announce policy </a:t>
            </a:r>
            <a:r>
              <a:rPr lang="en-US" altLang="ko-KR" sz="2400" b="1"/>
              <a:t>phase notifies availability of a PQC-capable server.</a:t>
            </a:r>
            <a:endParaRPr lang="ko-KR" altLang="en-US" sz="2400" b="1" dirty="0"/>
          </a:p>
          <a:p>
            <a:pPr lvl="1"/>
            <a:r>
              <a:rPr lang="en-US" altLang="ko-KR" sz="1800"/>
              <a:t>actual routing directs classical TLS clients to classical TLS servers and PQC TLS clients to PQC TLS servers.</a:t>
            </a:r>
            <a:endParaRPr lang="ko-KR" altLang="en-US" sz="1800" dirty="0"/>
          </a:p>
        </p:txBody>
      </p:sp>
      <p:sp>
        <p:nvSpPr>
          <p:cNvPr id="6" name="TextBox 5">
            <a:extLst>
              <a:ext uri="{FF2B5EF4-FFF2-40B4-BE49-F238E27FC236}">
                <a16:creationId xmlns:a16="http://schemas.microsoft.com/office/drawing/2014/main" id="{E747A754-4963-1A0B-003A-47B20D02EE4B}"/>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Critical Update Scenario: Gradual Migration - Announce  </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F1A67EAE-BDBB-CC48-8994-6882E2F646AE}"/>
              </a:ext>
            </a:extLst>
          </p:cNvPr>
          <p:cNvSpPr>
            <a:spLocks noGrp="1"/>
          </p:cNvSpPr>
          <p:nvPr>
            <p:ph type="sldNum" sz="quarter" idx="12"/>
          </p:nvPr>
        </p:nvSpPr>
        <p:spPr/>
        <p:txBody>
          <a:bodyPr/>
          <a:lstStyle/>
          <a:p>
            <a:pPr rtl="0"/>
            <a:fld id="{401CF334-2D5C-4859-84A6-CA7E6E43FAEB}" type="slidenum">
              <a:rPr lang="en-US" altLang="ko-KR" smtClean="0"/>
              <a:t>14</a:t>
            </a:fld>
            <a:endParaRPr lang="ko-KR" altLang="en-US" dirty="0"/>
          </a:p>
        </p:txBody>
      </p:sp>
      <p:grpSp>
        <p:nvGrpSpPr>
          <p:cNvPr id="29" name="그룹 28">
            <a:extLst>
              <a:ext uri="{FF2B5EF4-FFF2-40B4-BE49-F238E27FC236}">
                <a16:creationId xmlns:a16="http://schemas.microsoft.com/office/drawing/2014/main" id="{7DF30EBA-ACC4-8B49-C022-AEC9198BB387}"/>
              </a:ext>
            </a:extLst>
          </p:cNvPr>
          <p:cNvGrpSpPr/>
          <p:nvPr/>
        </p:nvGrpSpPr>
        <p:grpSpPr>
          <a:xfrm>
            <a:off x="2139362" y="3198491"/>
            <a:ext cx="7913275" cy="2363491"/>
            <a:chOff x="2588031" y="3321317"/>
            <a:chExt cx="6613544" cy="1975295"/>
          </a:xfrm>
        </p:grpSpPr>
        <p:pic>
          <p:nvPicPr>
            <p:cNvPr id="3" name="그림 2" descr="블랙, 어둠이(가) 표시된 사진&#10;&#10;AI 생성 콘텐츠는 정확하지 않을 수 있습니다.">
              <a:extLst>
                <a:ext uri="{FF2B5EF4-FFF2-40B4-BE49-F238E27FC236}">
                  <a16:creationId xmlns:a16="http://schemas.microsoft.com/office/drawing/2014/main" id="{91363273-E510-4D2B-824B-BCD139C3E2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98702" y="4364587"/>
              <a:ext cx="495716" cy="495716"/>
            </a:xfrm>
            <a:prstGeom prst="rect">
              <a:avLst/>
            </a:prstGeom>
          </p:spPr>
        </p:pic>
        <p:sp>
          <p:nvSpPr>
            <p:cNvPr id="4" name="직사각형 3">
              <a:extLst>
                <a:ext uri="{FF2B5EF4-FFF2-40B4-BE49-F238E27FC236}">
                  <a16:creationId xmlns:a16="http://schemas.microsoft.com/office/drawing/2014/main" id="{48DA74F5-0001-2D4C-28AF-EDF64A9D79CC}"/>
                </a:ext>
              </a:extLst>
            </p:cNvPr>
            <p:cNvSpPr/>
            <p:nvPr/>
          </p:nvSpPr>
          <p:spPr>
            <a:xfrm>
              <a:off x="5029356" y="4364588"/>
              <a:ext cx="1400780" cy="524313"/>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3D6145DF-2032-D32C-6504-129AB2638667}"/>
                </a:ext>
              </a:extLst>
            </p:cNvPr>
            <p:cNvSpPr txBox="1"/>
            <p:nvPr/>
          </p:nvSpPr>
          <p:spPr>
            <a:xfrm>
              <a:off x="2588031" y="4081790"/>
              <a:ext cx="992663" cy="308418"/>
            </a:xfrm>
            <a:prstGeom prst="rect">
              <a:avLst/>
            </a:prstGeom>
            <a:noFill/>
            <a:ln w="12700">
              <a:noFill/>
            </a:ln>
          </p:spPr>
          <p:txBody>
            <a:bodyPr wrap="square" rtlCol="0" anchor="ctr">
              <a:spAutoFit/>
            </a:bodyPr>
            <a:lstStyle/>
            <a:p>
              <a:pPr>
                <a:lnSpc>
                  <a:spcPct val="130000"/>
                </a:lnSpc>
              </a:pPr>
              <a:r>
                <a:rPr lang="en-US" altLang="ko-KR" sz="1200">
                  <a:latin typeface="Times New Roman" panose="02020603050405020304" pitchFamily="18" charset="0"/>
                  <a:cs typeface="Times New Roman" panose="02020603050405020304" pitchFamily="18" charset="0"/>
                </a:rPr>
                <a:t>Classic</a:t>
              </a:r>
            </a:p>
          </p:txBody>
        </p:sp>
        <p:cxnSp>
          <p:nvCxnSpPr>
            <p:cNvPr id="8" name="직선 화살표 연결선 7">
              <a:extLst>
                <a:ext uri="{FF2B5EF4-FFF2-40B4-BE49-F238E27FC236}">
                  <a16:creationId xmlns:a16="http://schemas.microsoft.com/office/drawing/2014/main" id="{D2E42229-78A2-34CC-E388-923FAC5BF986}"/>
                </a:ext>
              </a:extLst>
            </p:cNvPr>
            <p:cNvCxnSpPr>
              <a:cxnSpLocks/>
            </p:cNvCxnSpPr>
            <p:nvPr/>
          </p:nvCxnSpPr>
          <p:spPr>
            <a:xfrm>
              <a:off x="4424663" y="4622523"/>
              <a:ext cx="604692" cy="0"/>
            </a:xfrm>
            <a:prstGeom prst="straightConnector1">
              <a:avLst/>
            </a:prstGeom>
            <a:ln w="127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9" name="그림 8" descr="블랙, 어둠이(가) 표시된 사진&#10;&#10;AI 생성 콘텐츠는 정확하지 않을 수 있습니다.">
              <a:extLst>
                <a:ext uri="{FF2B5EF4-FFF2-40B4-BE49-F238E27FC236}">
                  <a16:creationId xmlns:a16="http://schemas.microsoft.com/office/drawing/2014/main" id="{5F5F0F1A-7C42-F924-8F84-F469A0777A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15966" y="4364587"/>
              <a:ext cx="495716" cy="495716"/>
            </a:xfrm>
            <a:prstGeom prst="rect">
              <a:avLst/>
            </a:prstGeom>
          </p:spPr>
        </p:pic>
        <p:pic>
          <p:nvPicPr>
            <p:cNvPr id="10" name="그림 9" descr="블랙, 어둠이(가) 표시된 사진&#10;&#10;AI 생성 콘텐츠는 정확하지 않을 수 있습니다.">
              <a:extLst>
                <a:ext uri="{FF2B5EF4-FFF2-40B4-BE49-F238E27FC236}">
                  <a16:creationId xmlns:a16="http://schemas.microsoft.com/office/drawing/2014/main" id="{9CCF6066-A7B1-183C-EC0C-0C26D5AD9B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9532" y="4364587"/>
              <a:ext cx="495716" cy="495716"/>
            </a:xfrm>
            <a:prstGeom prst="rect">
              <a:avLst/>
            </a:prstGeom>
          </p:spPr>
        </p:pic>
        <p:sp>
          <p:nvSpPr>
            <p:cNvPr id="11" name="TextBox 10">
              <a:extLst>
                <a:ext uri="{FF2B5EF4-FFF2-40B4-BE49-F238E27FC236}">
                  <a16:creationId xmlns:a16="http://schemas.microsoft.com/office/drawing/2014/main" id="{2EE0B4FD-E028-5F20-BB5F-7E077734851F}"/>
                </a:ext>
              </a:extLst>
            </p:cNvPr>
            <p:cNvSpPr txBox="1"/>
            <p:nvPr/>
          </p:nvSpPr>
          <p:spPr>
            <a:xfrm>
              <a:off x="3367707" y="4373043"/>
              <a:ext cx="685800" cy="369332"/>
            </a:xfrm>
            <a:prstGeom prst="rect">
              <a:avLst/>
            </a:prstGeom>
            <a:noFill/>
          </p:spPr>
          <p:txBody>
            <a:bodyPr wrap="square" rtlCol="0">
              <a:spAutoFit/>
            </a:bodyPr>
            <a:lstStyle/>
            <a:p>
              <a:pPr algn="ctr"/>
              <a:r>
                <a:rPr lang="en-US" altLang="ko-KR">
                  <a:latin typeface="Times New Roman" panose="02020603050405020304" pitchFamily="18" charset="0"/>
                  <a:cs typeface="Times New Roman" panose="02020603050405020304" pitchFamily="18" charset="0"/>
                </a:rPr>
                <a:t>…</a:t>
              </a:r>
              <a:endParaRPr lang="ko-KR" alt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4798C6F-EFE1-164F-0EA0-55970ED1F9C1}"/>
                </a:ext>
              </a:extLst>
            </p:cNvPr>
            <p:cNvSpPr txBox="1"/>
            <p:nvPr/>
          </p:nvSpPr>
          <p:spPr>
            <a:xfrm>
              <a:off x="2717943" y="4979185"/>
              <a:ext cx="1905993" cy="292388"/>
            </a:xfrm>
            <a:prstGeom prst="rect">
              <a:avLst/>
            </a:prstGeom>
            <a:solidFill>
              <a:schemeClr val="bg1"/>
            </a:solid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Client</a:t>
              </a:r>
              <a:endParaRPr lang="ko-KR" altLang="en-US" sz="13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1BFC7BD-85F8-A2FE-121D-FF6F3832CF1D}"/>
                </a:ext>
              </a:extLst>
            </p:cNvPr>
            <p:cNvSpPr txBox="1"/>
            <p:nvPr/>
          </p:nvSpPr>
          <p:spPr>
            <a:xfrm>
              <a:off x="4780683" y="5004224"/>
              <a:ext cx="1905993" cy="292388"/>
            </a:xfrm>
            <a:prstGeom prst="rect">
              <a:avLst/>
            </a:prstGeom>
            <a:solidFill>
              <a:schemeClr val="bg1"/>
            </a:solid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Bridge</a:t>
              </a:r>
              <a:endParaRPr lang="ko-KR" altLang="en-US" sz="13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84F7C5F-66CD-719A-5384-F6DCCE8AC6CF}"/>
                </a:ext>
              </a:extLst>
            </p:cNvPr>
            <p:cNvSpPr txBox="1"/>
            <p:nvPr/>
          </p:nvSpPr>
          <p:spPr>
            <a:xfrm>
              <a:off x="7274558" y="5004224"/>
              <a:ext cx="1905993" cy="292388"/>
            </a:xfrm>
            <a:prstGeom prst="rect">
              <a:avLst/>
            </a:prstGeom>
            <a:solidFill>
              <a:schemeClr val="bg1"/>
            </a:solid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Server</a:t>
              </a:r>
              <a:endParaRPr lang="ko-KR" altLang="en-US" sz="1300" b="1" dirty="0">
                <a:latin typeface="Times New Roman" panose="02020603050405020304" pitchFamily="18" charset="0"/>
                <a:cs typeface="Times New Roman" panose="02020603050405020304" pitchFamily="18" charset="0"/>
              </a:endParaRPr>
            </a:p>
          </p:txBody>
        </p:sp>
        <p:cxnSp>
          <p:nvCxnSpPr>
            <p:cNvPr id="15" name="직선 화살표 연결선 14">
              <a:extLst>
                <a:ext uri="{FF2B5EF4-FFF2-40B4-BE49-F238E27FC236}">
                  <a16:creationId xmlns:a16="http://schemas.microsoft.com/office/drawing/2014/main" id="{C0D76444-FAE8-5FD2-50BF-1589085E8226}"/>
                </a:ext>
              </a:extLst>
            </p:cNvPr>
            <p:cNvCxnSpPr>
              <a:cxnSpLocks/>
            </p:cNvCxnSpPr>
            <p:nvPr/>
          </p:nvCxnSpPr>
          <p:spPr>
            <a:xfrm>
              <a:off x="6427379" y="4622523"/>
              <a:ext cx="700197" cy="0"/>
            </a:xfrm>
            <a:prstGeom prst="straightConnector1">
              <a:avLst/>
            </a:prstGeom>
            <a:ln w="127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3A60471-945C-0DC9-CAF8-F47D364E8CC0}"/>
                </a:ext>
              </a:extLst>
            </p:cNvPr>
            <p:cNvSpPr txBox="1"/>
            <p:nvPr/>
          </p:nvSpPr>
          <p:spPr>
            <a:xfrm>
              <a:off x="6294509" y="4562758"/>
              <a:ext cx="992663" cy="326436"/>
            </a:xfrm>
            <a:prstGeom prst="rect">
              <a:avLst/>
            </a:prstGeom>
            <a:noFill/>
            <a:ln w="12700">
              <a:noFill/>
            </a:ln>
          </p:spPr>
          <p:txBody>
            <a:bodyPr wrap="square" rtlCol="0" anchor="ctr">
              <a:spAutoFit/>
            </a:bodyPr>
            <a:lstStyle/>
            <a:p>
              <a:pPr algn="ctr">
                <a:lnSpc>
                  <a:spcPct val="130000"/>
                </a:lnSpc>
              </a:pPr>
              <a:r>
                <a:rPr lang="en-US" altLang="ko-KR" sz="1300" b="1">
                  <a:latin typeface="Times New Roman" panose="02020603050405020304" pitchFamily="18" charset="0"/>
                  <a:cs typeface="Times New Roman" panose="02020603050405020304" pitchFamily="18" charset="0"/>
                </a:rPr>
                <a:t>Routing</a:t>
              </a:r>
            </a:p>
          </p:txBody>
        </p:sp>
        <p:sp>
          <p:nvSpPr>
            <p:cNvPr id="17" name="TextBox 16">
              <a:extLst>
                <a:ext uri="{FF2B5EF4-FFF2-40B4-BE49-F238E27FC236}">
                  <a16:creationId xmlns:a16="http://schemas.microsoft.com/office/drawing/2014/main" id="{EBC60430-B4FB-0F2D-469C-7CEF38B5AB1C}"/>
                </a:ext>
              </a:extLst>
            </p:cNvPr>
            <p:cNvSpPr txBox="1"/>
            <p:nvPr/>
          </p:nvSpPr>
          <p:spPr>
            <a:xfrm>
              <a:off x="7630578" y="4239008"/>
              <a:ext cx="1570997" cy="308418"/>
            </a:xfrm>
            <a:prstGeom prst="rect">
              <a:avLst/>
            </a:prstGeom>
            <a:noFill/>
            <a:ln w="12700">
              <a:noFill/>
            </a:ln>
          </p:spPr>
          <p:txBody>
            <a:bodyPr wrap="square" rtlCol="0" anchor="ctr">
              <a:spAutoFit/>
            </a:bodyPr>
            <a:lstStyle/>
            <a:p>
              <a:pPr algn="ctr">
                <a:lnSpc>
                  <a:spcPct val="130000"/>
                </a:lnSpc>
              </a:pPr>
              <a:r>
                <a:rPr lang="en-US" altLang="ko-KR" sz="1200" b="1">
                  <a:latin typeface="Times New Roman" panose="02020603050405020304" pitchFamily="18" charset="0"/>
                  <a:cs typeface="Times New Roman" panose="02020603050405020304" pitchFamily="18" charset="0"/>
                </a:rPr>
                <a:t>v1: Classic Server</a:t>
              </a:r>
            </a:p>
          </p:txBody>
        </p:sp>
        <p:pic>
          <p:nvPicPr>
            <p:cNvPr id="18" name="그림 17" descr="블랙, 어둠이(가) 표시된 사진&#10;&#10;AI 생성 콘텐츠는 정확하지 않을 수 있습니다.">
              <a:extLst>
                <a:ext uri="{FF2B5EF4-FFF2-40B4-BE49-F238E27FC236}">
                  <a16:creationId xmlns:a16="http://schemas.microsoft.com/office/drawing/2014/main" id="{8CABFE47-F0BF-B047-06FF-AB7844AB44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22043" y="4352341"/>
              <a:ext cx="524313" cy="524313"/>
            </a:xfrm>
            <a:prstGeom prst="rect">
              <a:avLst/>
            </a:prstGeom>
          </p:spPr>
        </p:pic>
        <p:pic>
          <p:nvPicPr>
            <p:cNvPr id="19" name="그림 18" descr="블랙, 어둠이(가) 표시된 사진&#10;&#10;AI 생성 콘텐츠는 정확하지 않을 수 있습니다.">
              <a:extLst>
                <a:ext uri="{FF2B5EF4-FFF2-40B4-BE49-F238E27FC236}">
                  <a16:creationId xmlns:a16="http://schemas.microsoft.com/office/drawing/2014/main" id="{B7EEADA0-C274-914D-FC18-42B559EBA2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55254" y="4554133"/>
              <a:ext cx="392948" cy="392948"/>
            </a:xfrm>
            <a:prstGeom prst="rect">
              <a:avLst/>
            </a:prstGeom>
          </p:spPr>
        </p:pic>
        <p:pic>
          <p:nvPicPr>
            <p:cNvPr id="20" name="그림 19" descr="블랙, 어둠이(가) 표시된 사진&#10;&#10;AI 생성 콘텐츠는 정확하지 않을 수 있습니다.">
              <a:extLst>
                <a:ext uri="{FF2B5EF4-FFF2-40B4-BE49-F238E27FC236}">
                  <a16:creationId xmlns:a16="http://schemas.microsoft.com/office/drawing/2014/main" id="{6BBC8F71-36F8-F1E6-1DAF-990AB7643C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55305" y="4554133"/>
              <a:ext cx="392948" cy="392948"/>
            </a:xfrm>
            <a:prstGeom prst="rect">
              <a:avLst/>
            </a:prstGeom>
          </p:spPr>
        </p:pic>
        <p:pic>
          <p:nvPicPr>
            <p:cNvPr id="21" name="그림 20" descr="블랙, 어둠이(가) 표시된 사진&#10;&#10;AI 생성 콘텐츠는 정확하지 않을 수 있습니다.">
              <a:extLst>
                <a:ext uri="{FF2B5EF4-FFF2-40B4-BE49-F238E27FC236}">
                  <a16:creationId xmlns:a16="http://schemas.microsoft.com/office/drawing/2014/main" id="{5DD5646C-84DB-A0AA-7A0B-D447D42997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42238" y="4554133"/>
              <a:ext cx="392948" cy="392948"/>
            </a:xfrm>
            <a:prstGeom prst="rect">
              <a:avLst/>
            </a:prstGeom>
          </p:spPr>
        </p:pic>
        <p:sp>
          <p:nvSpPr>
            <p:cNvPr id="22" name="TextBox 21">
              <a:extLst>
                <a:ext uri="{FF2B5EF4-FFF2-40B4-BE49-F238E27FC236}">
                  <a16:creationId xmlns:a16="http://schemas.microsoft.com/office/drawing/2014/main" id="{F3708BD1-F2EC-052D-2E2A-DCA7BF666A32}"/>
                </a:ext>
              </a:extLst>
            </p:cNvPr>
            <p:cNvSpPr txBox="1"/>
            <p:nvPr/>
          </p:nvSpPr>
          <p:spPr>
            <a:xfrm>
              <a:off x="8245520" y="4579530"/>
              <a:ext cx="576446" cy="323165"/>
            </a:xfrm>
            <a:prstGeom prst="rect">
              <a:avLst/>
            </a:prstGeom>
            <a:noFill/>
          </p:spPr>
          <p:txBody>
            <a:bodyPr wrap="square" rtlCol="0">
              <a:spAutoFit/>
            </a:bodyPr>
            <a:lstStyle/>
            <a:p>
              <a:pPr algn="ctr"/>
              <a:r>
                <a:rPr lang="en-US" altLang="ko-KR" sz="1500">
                  <a:latin typeface="Times New Roman" panose="02020603050405020304" pitchFamily="18" charset="0"/>
                  <a:cs typeface="Times New Roman" panose="02020603050405020304" pitchFamily="18" charset="0"/>
                </a:rPr>
                <a:t>…</a:t>
              </a:r>
              <a:endParaRPr lang="ko-KR" altLang="en-US" sz="1500">
                <a:latin typeface="Times New Roman" panose="02020603050405020304" pitchFamily="18" charset="0"/>
                <a:cs typeface="Times New Roman" panose="02020603050405020304" pitchFamily="18" charset="0"/>
              </a:endParaRPr>
            </a:p>
          </p:txBody>
        </p:sp>
        <p:sp>
          <p:nvSpPr>
            <p:cNvPr id="23" name="직사각형 22">
              <a:extLst>
                <a:ext uri="{FF2B5EF4-FFF2-40B4-BE49-F238E27FC236}">
                  <a16:creationId xmlns:a16="http://schemas.microsoft.com/office/drawing/2014/main" id="{778AF84D-3333-ABA9-DD42-AB4D035E1270}"/>
                </a:ext>
              </a:extLst>
            </p:cNvPr>
            <p:cNvSpPr/>
            <p:nvPr/>
          </p:nvSpPr>
          <p:spPr>
            <a:xfrm>
              <a:off x="5029356" y="3438799"/>
              <a:ext cx="1400780" cy="486085"/>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a:extLst>
                <a:ext uri="{FF2B5EF4-FFF2-40B4-BE49-F238E27FC236}">
                  <a16:creationId xmlns:a16="http://schemas.microsoft.com/office/drawing/2014/main" id="{69DEACEA-3EDE-8D37-7077-54EDA9FF7DEF}"/>
                </a:ext>
              </a:extLst>
            </p:cNvPr>
            <p:cNvSpPr txBox="1"/>
            <p:nvPr/>
          </p:nvSpPr>
          <p:spPr>
            <a:xfrm>
              <a:off x="5135778" y="3321317"/>
              <a:ext cx="1187935" cy="276999"/>
            </a:xfrm>
            <a:prstGeom prst="rect">
              <a:avLst/>
            </a:prstGeom>
            <a:solidFill>
              <a:schemeClr val="bg1"/>
            </a:solidFill>
            <a:ln>
              <a:solidFill>
                <a:schemeClr val="tx1"/>
              </a:solidFill>
            </a:ln>
          </p:spPr>
          <p:txBody>
            <a:bodyPr wrap="square">
              <a:spAutoFit/>
            </a:bodyPr>
            <a:lstStyle/>
            <a:p>
              <a:pPr algn="ctr"/>
              <a:r>
                <a:rPr lang="en-US" altLang="ko-KR" sz="1200" b="1">
                  <a:latin typeface="Times New Roman" panose="02020603050405020304" pitchFamily="18" charset="0"/>
                  <a:cs typeface="Times New Roman" panose="02020603050405020304" pitchFamily="18" charset="0"/>
                </a:rPr>
                <a:t>Policy</a:t>
              </a:r>
              <a:endParaRPr lang="ko-KR" altLang="en-US" sz="1200" b="1"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8157E61A-2154-65EA-01C7-60A26E0FA77C}"/>
                </a:ext>
              </a:extLst>
            </p:cNvPr>
            <p:cNvSpPr txBox="1"/>
            <p:nvPr/>
          </p:nvSpPr>
          <p:spPr>
            <a:xfrm>
              <a:off x="5143660" y="3546854"/>
              <a:ext cx="1187935" cy="308418"/>
            </a:xfrm>
            <a:prstGeom prst="rect">
              <a:avLst/>
            </a:prstGeom>
            <a:noFill/>
            <a:ln w="12700">
              <a:noFill/>
            </a:ln>
          </p:spPr>
          <p:txBody>
            <a:bodyPr wrap="square" rtlCol="0" anchor="ctr">
              <a:spAutoFit/>
            </a:bodyPr>
            <a:lstStyle/>
            <a:p>
              <a:pPr algn="ctr">
                <a:lnSpc>
                  <a:spcPct val="130000"/>
                </a:lnSpc>
              </a:pPr>
              <a:r>
                <a:rPr lang="en-US" altLang="ko-KR" sz="1200" b="1">
                  <a:solidFill>
                    <a:srgbClr val="C00000"/>
                  </a:solidFill>
                  <a:latin typeface="Times New Roman" panose="02020603050405020304" pitchFamily="18" charset="0"/>
                  <a:cs typeface="Times New Roman" panose="02020603050405020304" pitchFamily="18" charset="0"/>
                </a:rPr>
                <a:t>Announce</a:t>
              </a:r>
            </a:p>
          </p:txBody>
        </p:sp>
        <p:cxnSp>
          <p:nvCxnSpPr>
            <p:cNvPr id="26" name="직선 연결선 25">
              <a:extLst>
                <a:ext uri="{FF2B5EF4-FFF2-40B4-BE49-F238E27FC236}">
                  <a16:creationId xmlns:a16="http://schemas.microsoft.com/office/drawing/2014/main" id="{7B2B2E78-3028-63A8-1D9D-2128AFEF9563}"/>
                </a:ext>
              </a:extLst>
            </p:cNvPr>
            <p:cNvCxnSpPr>
              <a:cxnSpLocks/>
              <a:stCxn id="23" idx="2"/>
              <a:endCxn id="4" idx="0"/>
            </p:cNvCxnSpPr>
            <p:nvPr/>
          </p:nvCxnSpPr>
          <p:spPr>
            <a:xfrm>
              <a:off x="5729746" y="3924884"/>
              <a:ext cx="0" cy="43970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8EDA9F0E-882E-6EE2-974E-3617FE7959CC}"/>
                </a:ext>
              </a:extLst>
            </p:cNvPr>
            <p:cNvSpPr txBox="1"/>
            <p:nvPr/>
          </p:nvSpPr>
          <p:spPr>
            <a:xfrm>
              <a:off x="5752632" y="3958781"/>
              <a:ext cx="1142161" cy="326436"/>
            </a:xfrm>
            <a:prstGeom prst="rect">
              <a:avLst/>
            </a:prstGeom>
            <a:noFill/>
            <a:ln w="12700">
              <a:noFill/>
            </a:ln>
          </p:spPr>
          <p:txBody>
            <a:bodyPr wrap="square" rtlCol="0" anchor="ctr">
              <a:spAutoFit/>
            </a:bodyPr>
            <a:lstStyle>
              <a:defPPr>
                <a:defRPr lang="ko-KR"/>
              </a:defPPr>
              <a:lvl1pPr>
                <a:lnSpc>
                  <a:spcPct val="130000"/>
                </a:lnSpc>
                <a:defRPr sz="1300" b="1">
                  <a:solidFill>
                    <a:srgbClr val="C00000"/>
                  </a:solidFill>
                  <a:latin typeface="Times New Roman" panose="02020603050405020304" pitchFamily="18" charset="0"/>
                  <a:cs typeface="Times New Roman" panose="02020603050405020304" pitchFamily="18" charset="0"/>
                </a:defRPr>
              </a:lvl1pPr>
            </a:lstStyle>
            <a:p>
              <a:r>
                <a:rPr lang="en-US" altLang="ko-KR"/>
                <a:t>Hot Reload</a:t>
              </a:r>
            </a:p>
          </p:txBody>
        </p:sp>
        <p:sp>
          <p:nvSpPr>
            <p:cNvPr id="28" name="TextBox 27">
              <a:extLst>
                <a:ext uri="{FF2B5EF4-FFF2-40B4-BE49-F238E27FC236}">
                  <a16:creationId xmlns:a16="http://schemas.microsoft.com/office/drawing/2014/main" id="{409B607B-B1C1-B615-4823-69C47802893D}"/>
                </a:ext>
              </a:extLst>
            </p:cNvPr>
            <p:cNvSpPr txBox="1"/>
            <p:nvPr/>
          </p:nvSpPr>
          <p:spPr>
            <a:xfrm>
              <a:off x="5090170" y="4373214"/>
              <a:ext cx="1294916" cy="458396"/>
            </a:xfrm>
            <a:prstGeom prst="rect">
              <a:avLst/>
            </a:prstGeom>
            <a:noFill/>
            <a:ln w="12700">
              <a:noFill/>
            </a:ln>
          </p:spPr>
          <p:txBody>
            <a:bodyPr wrap="square" rtlCol="0" anchor="ctr">
              <a:spAutoFit/>
            </a:bodyPr>
            <a:lstStyle/>
            <a:p>
              <a:pPr algn="ctr">
                <a:lnSpc>
                  <a:spcPct val="130000"/>
                </a:lnSpc>
              </a:pPr>
              <a:r>
                <a:rPr lang="en-US" altLang="ko-KR" sz="1200" b="1">
                  <a:solidFill>
                    <a:srgbClr val="C00000"/>
                  </a:solidFill>
                  <a:latin typeface="Times New Roman" panose="02020603050405020304" pitchFamily="18" charset="0"/>
                  <a:cs typeface="Times New Roman" panose="02020603050405020304" pitchFamily="18" charset="0"/>
                </a:rPr>
                <a:t>Routing decision</a:t>
              </a:r>
            </a:p>
            <a:p>
              <a:pPr algn="ctr">
                <a:lnSpc>
                  <a:spcPct val="130000"/>
                </a:lnSpc>
              </a:pPr>
              <a:r>
                <a:rPr lang="en-US" altLang="ko-KR" sz="1200" b="1">
                  <a:solidFill>
                    <a:srgbClr val="C00000"/>
                  </a:solidFill>
                  <a:latin typeface="Times New Roman" panose="02020603050405020304" pitchFamily="18" charset="0"/>
                  <a:cs typeface="Times New Roman" panose="02020603050405020304" pitchFamily="18" charset="0"/>
                </a:rPr>
                <a:t> to v1 server</a:t>
              </a:r>
            </a:p>
          </p:txBody>
        </p:sp>
      </p:grpSp>
      <p:sp>
        <p:nvSpPr>
          <p:cNvPr id="30" name="TextBox 29">
            <a:extLst>
              <a:ext uri="{FF2B5EF4-FFF2-40B4-BE49-F238E27FC236}">
                <a16:creationId xmlns:a16="http://schemas.microsoft.com/office/drawing/2014/main" id="{4A082CA8-BB71-DC70-81CC-55D2E7F641EE}"/>
              </a:ext>
            </a:extLst>
          </p:cNvPr>
          <p:cNvSpPr txBox="1"/>
          <p:nvPr/>
        </p:nvSpPr>
        <p:spPr>
          <a:xfrm>
            <a:off x="1935678" y="5781855"/>
            <a:ext cx="8324602" cy="369332"/>
          </a:xfrm>
          <a:prstGeom prst="rect">
            <a:avLst/>
          </a:prstGeom>
          <a:noFill/>
        </p:spPr>
        <p:txBody>
          <a:bodyPr wrap="square" rtlCol="0">
            <a:spAutoFit/>
          </a:bodyPr>
          <a:lstStyle/>
          <a:p>
            <a:pPr algn="ctr"/>
            <a:r>
              <a:rPr lang="en-US" altLang="ko-KR" b="1"/>
              <a:t>Fig: </a:t>
            </a:r>
            <a:r>
              <a:rPr lang="en-US" altLang="ko-KR"/>
              <a:t>Classical TLS clients are routed to classical TLS servers.</a:t>
            </a:r>
            <a:endParaRPr lang="ko-KR" altLang="en-US"/>
          </a:p>
        </p:txBody>
      </p:sp>
    </p:spTree>
    <p:extLst>
      <p:ext uri="{BB962C8B-B14F-4D97-AF65-F5344CB8AC3E}">
        <p14:creationId xmlns:p14="http://schemas.microsoft.com/office/powerpoint/2010/main" val="3206208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1CFDD-E66F-2860-07B1-4D291AC3716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9F3D818-290E-884E-1040-17C1674DD31B}"/>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Critical Update Scenario: Gradual Migration – Prefer  </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ED3558B2-983F-20A9-4B6F-A7DCACACFD35}"/>
              </a:ext>
            </a:extLst>
          </p:cNvPr>
          <p:cNvSpPr>
            <a:spLocks noGrp="1"/>
          </p:cNvSpPr>
          <p:nvPr>
            <p:ph type="sldNum" sz="quarter" idx="12"/>
          </p:nvPr>
        </p:nvSpPr>
        <p:spPr/>
        <p:txBody>
          <a:bodyPr/>
          <a:lstStyle/>
          <a:p>
            <a:pPr rtl="0"/>
            <a:fld id="{401CF334-2D5C-4859-84A6-CA7E6E43FAEB}" type="slidenum">
              <a:rPr lang="en-US" altLang="ko-KR" smtClean="0"/>
              <a:t>15</a:t>
            </a:fld>
            <a:endParaRPr lang="ko-KR" altLang="en-US" dirty="0"/>
          </a:p>
        </p:txBody>
      </p:sp>
      <p:sp>
        <p:nvSpPr>
          <p:cNvPr id="46" name="내용 개체 틀 1">
            <a:extLst>
              <a:ext uri="{FF2B5EF4-FFF2-40B4-BE49-F238E27FC236}">
                <a16:creationId xmlns:a16="http://schemas.microsoft.com/office/drawing/2014/main" id="{87F77E47-FDD5-3768-8A4E-D957B2B92B5A}"/>
              </a:ext>
            </a:extLst>
          </p:cNvPr>
          <p:cNvSpPr>
            <a:spLocks noGrp="1"/>
          </p:cNvSpPr>
          <p:nvPr>
            <p:ph idx="1"/>
          </p:nvPr>
        </p:nvSpPr>
        <p:spPr>
          <a:xfrm>
            <a:off x="581192" y="1531006"/>
            <a:ext cx="11029615" cy="1440605"/>
          </a:xfrm>
        </p:spPr>
        <p:txBody>
          <a:bodyPr rtlCol="0">
            <a:normAutofit/>
          </a:bodyPr>
          <a:lstStyle/>
          <a:p>
            <a:pPr marL="0" indent="0">
              <a:buNone/>
            </a:pPr>
            <a:r>
              <a:rPr lang="en-US" altLang="ko-KR" sz="2400" b="1"/>
              <a:t>New handshakes are progressively routed to PQC servers </a:t>
            </a:r>
            <a:r>
              <a:rPr lang="en-US" altLang="ko-KR" sz="2400" b="1">
                <a:solidFill>
                  <a:srgbClr val="FF0000"/>
                </a:solidFill>
              </a:rPr>
              <a:t>according to the Prefer ratio</a:t>
            </a:r>
            <a:r>
              <a:rPr lang="en-US" altLang="ko-KR" sz="2400" b="1"/>
              <a:t>.</a:t>
            </a:r>
            <a:endParaRPr lang="ko-KR" altLang="en-US" sz="2400" b="1"/>
          </a:p>
          <a:p>
            <a:pPr lvl="1"/>
            <a:r>
              <a:rPr lang="en-US" altLang="ko-KR" sz="1800"/>
              <a:t>The system gradually routes Prefer phases at 25%, 50%, and 75%.</a:t>
            </a:r>
            <a:endParaRPr lang="ko-KR" altLang="en-US" sz="1800" dirty="0"/>
          </a:p>
        </p:txBody>
      </p:sp>
      <p:grpSp>
        <p:nvGrpSpPr>
          <p:cNvPr id="48" name="그룹 47">
            <a:extLst>
              <a:ext uri="{FF2B5EF4-FFF2-40B4-BE49-F238E27FC236}">
                <a16:creationId xmlns:a16="http://schemas.microsoft.com/office/drawing/2014/main" id="{CBE3AE7A-2BCB-7AD5-B182-D85D9FA794BA}"/>
              </a:ext>
            </a:extLst>
          </p:cNvPr>
          <p:cNvGrpSpPr/>
          <p:nvPr/>
        </p:nvGrpSpPr>
        <p:grpSpPr>
          <a:xfrm>
            <a:off x="2359035" y="3051547"/>
            <a:ext cx="7473927" cy="3087152"/>
            <a:chOff x="157426" y="708016"/>
            <a:chExt cx="6581849" cy="2718674"/>
          </a:xfrm>
        </p:grpSpPr>
        <p:sp>
          <p:nvSpPr>
            <p:cNvPr id="47" name="직사각형 46">
              <a:extLst>
                <a:ext uri="{FF2B5EF4-FFF2-40B4-BE49-F238E27FC236}">
                  <a16:creationId xmlns:a16="http://schemas.microsoft.com/office/drawing/2014/main" id="{E2C8DA34-FEB6-8B4E-DE79-D592ADF62D2D}"/>
                </a:ext>
              </a:extLst>
            </p:cNvPr>
            <p:cNvSpPr/>
            <p:nvPr/>
          </p:nvSpPr>
          <p:spPr>
            <a:xfrm>
              <a:off x="2588080" y="1741860"/>
              <a:ext cx="1400780" cy="907568"/>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9" name="직선 화살표 연결선 48">
              <a:extLst>
                <a:ext uri="{FF2B5EF4-FFF2-40B4-BE49-F238E27FC236}">
                  <a16:creationId xmlns:a16="http://schemas.microsoft.com/office/drawing/2014/main" id="{AAEFACF6-97A2-BCD4-861B-52C958E6286F}"/>
                </a:ext>
              </a:extLst>
            </p:cNvPr>
            <p:cNvCxnSpPr>
              <a:cxnSpLocks/>
            </p:cNvCxnSpPr>
            <p:nvPr/>
          </p:nvCxnSpPr>
          <p:spPr>
            <a:xfrm>
              <a:off x="1983387" y="2213918"/>
              <a:ext cx="604692" cy="0"/>
            </a:xfrm>
            <a:prstGeom prst="straightConnector1">
              <a:avLst/>
            </a:prstGeom>
            <a:ln w="127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nvGrpSpPr>
            <p:cNvPr id="50" name="그룹 49">
              <a:extLst>
                <a:ext uri="{FF2B5EF4-FFF2-40B4-BE49-F238E27FC236}">
                  <a16:creationId xmlns:a16="http://schemas.microsoft.com/office/drawing/2014/main" id="{886BFA1D-7755-C22F-9E4E-7A87271C6340}"/>
                </a:ext>
              </a:extLst>
            </p:cNvPr>
            <p:cNvGrpSpPr/>
            <p:nvPr/>
          </p:nvGrpSpPr>
          <p:grpSpPr>
            <a:xfrm>
              <a:off x="157426" y="1680220"/>
              <a:ext cx="1806546" cy="771478"/>
              <a:chOff x="157426" y="1123893"/>
              <a:chExt cx="1806546" cy="771478"/>
            </a:xfrm>
          </p:grpSpPr>
          <p:sp>
            <p:nvSpPr>
              <p:cNvPr id="80" name="TextBox 79">
                <a:extLst>
                  <a:ext uri="{FF2B5EF4-FFF2-40B4-BE49-F238E27FC236}">
                    <a16:creationId xmlns:a16="http://schemas.microsoft.com/office/drawing/2014/main" id="{CA20CD3B-BE42-4423-31CB-5DD39507DF88}"/>
                  </a:ext>
                </a:extLst>
              </p:cNvPr>
              <p:cNvSpPr txBox="1"/>
              <p:nvPr/>
            </p:nvSpPr>
            <p:spPr>
              <a:xfrm>
                <a:off x="161996" y="1123893"/>
                <a:ext cx="992663" cy="308418"/>
              </a:xfrm>
              <a:prstGeom prst="rect">
                <a:avLst/>
              </a:prstGeom>
              <a:noFill/>
              <a:ln w="12700">
                <a:noFill/>
              </a:ln>
            </p:spPr>
            <p:txBody>
              <a:bodyPr wrap="square" rtlCol="0" anchor="ctr">
                <a:spAutoFit/>
              </a:bodyPr>
              <a:lstStyle/>
              <a:p>
                <a:pPr>
                  <a:lnSpc>
                    <a:spcPct val="130000"/>
                  </a:lnSpc>
                </a:pPr>
                <a:r>
                  <a:rPr lang="en-US" altLang="ko-KR" sz="1200">
                    <a:latin typeface="Times New Roman" panose="02020603050405020304" pitchFamily="18" charset="0"/>
                    <a:cs typeface="Times New Roman" panose="02020603050405020304" pitchFamily="18" charset="0"/>
                  </a:rPr>
                  <a:t>Classic</a:t>
                </a:r>
              </a:p>
            </p:txBody>
          </p:sp>
          <p:grpSp>
            <p:nvGrpSpPr>
              <p:cNvPr id="81" name="그룹 80">
                <a:extLst>
                  <a:ext uri="{FF2B5EF4-FFF2-40B4-BE49-F238E27FC236}">
                    <a16:creationId xmlns:a16="http://schemas.microsoft.com/office/drawing/2014/main" id="{F8F536F1-FD26-A7E2-7E25-3F1A863F2CCC}"/>
                  </a:ext>
                </a:extLst>
              </p:cNvPr>
              <p:cNvGrpSpPr/>
              <p:nvPr/>
            </p:nvGrpSpPr>
            <p:grpSpPr>
              <a:xfrm>
                <a:off x="157426" y="1399655"/>
                <a:ext cx="1806546" cy="495716"/>
                <a:chOff x="157426" y="1399655"/>
                <a:chExt cx="1806546" cy="495716"/>
              </a:xfrm>
            </p:grpSpPr>
            <p:pic>
              <p:nvPicPr>
                <p:cNvPr id="82" name="그림 81" descr="블랙, 어둠이(가) 표시된 사진&#10;&#10;AI 생성 콘텐츠는 정확하지 않을 수 있습니다.">
                  <a:extLst>
                    <a:ext uri="{FF2B5EF4-FFF2-40B4-BE49-F238E27FC236}">
                      <a16:creationId xmlns:a16="http://schemas.microsoft.com/office/drawing/2014/main" id="{D18BB33C-7922-BD1F-5305-B600C673CC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426" y="1399655"/>
                  <a:ext cx="495716" cy="495716"/>
                </a:xfrm>
                <a:prstGeom prst="rect">
                  <a:avLst/>
                </a:prstGeom>
              </p:spPr>
            </p:pic>
            <p:pic>
              <p:nvPicPr>
                <p:cNvPr id="83" name="그림 82" descr="블랙, 어둠이(가) 표시된 사진&#10;&#10;AI 생성 콘텐츠는 정확하지 않을 수 있습니다.">
                  <a:extLst>
                    <a:ext uri="{FF2B5EF4-FFF2-40B4-BE49-F238E27FC236}">
                      <a16:creationId xmlns:a16="http://schemas.microsoft.com/office/drawing/2014/main" id="{673B0FBF-A49C-0B56-1950-6EE79C258B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4690" y="1399655"/>
                  <a:ext cx="495716" cy="495716"/>
                </a:xfrm>
                <a:prstGeom prst="rect">
                  <a:avLst/>
                </a:prstGeom>
              </p:spPr>
            </p:pic>
            <p:pic>
              <p:nvPicPr>
                <p:cNvPr id="84" name="그림 83" descr="블랙, 어둠이(가) 표시된 사진&#10;&#10;AI 생성 콘텐츠는 정확하지 않을 수 있습니다.">
                  <a:extLst>
                    <a:ext uri="{FF2B5EF4-FFF2-40B4-BE49-F238E27FC236}">
                      <a16:creationId xmlns:a16="http://schemas.microsoft.com/office/drawing/2014/main" id="{DB2E13F2-4588-1AE9-DF27-507F73C52B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68256" y="1399655"/>
                  <a:ext cx="495716" cy="495716"/>
                </a:xfrm>
                <a:prstGeom prst="rect">
                  <a:avLst/>
                </a:prstGeom>
              </p:spPr>
            </p:pic>
            <p:sp>
              <p:nvSpPr>
                <p:cNvPr id="85" name="TextBox 84">
                  <a:extLst>
                    <a:ext uri="{FF2B5EF4-FFF2-40B4-BE49-F238E27FC236}">
                      <a16:creationId xmlns:a16="http://schemas.microsoft.com/office/drawing/2014/main" id="{469C9D47-CAA4-923E-CBBD-E5452D20883E}"/>
                    </a:ext>
                  </a:extLst>
                </p:cNvPr>
                <p:cNvSpPr txBox="1"/>
                <p:nvPr/>
              </p:nvSpPr>
              <p:spPr>
                <a:xfrm>
                  <a:off x="926431" y="1408111"/>
                  <a:ext cx="685800" cy="369332"/>
                </a:xfrm>
                <a:prstGeom prst="rect">
                  <a:avLst/>
                </a:prstGeom>
                <a:noFill/>
              </p:spPr>
              <p:txBody>
                <a:bodyPr wrap="square" rtlCol="0">
                  <a:spAutoFit/>
                </a:bodyPr>
                <a:lstStyle/>
                <a:p>
                  <a:pPr algn="ctr"/>
                  <a:r>
                    <a:rPr lang="en-US" altLang="ko-KR">
                      <a:latin typeface="Times New Roman" panose="02020603050405020304" pitchFamily="18" charset="0"/>
                      <a:cs typeface="Times New Roman" panose="02020603050405020304" pitchFamily="18" charset="0"/>
                    </a:rPr>
                    <a:t>…</a:t>
                  </a:r>
                  <a:endParaRPr lang="ko-KR" altLang="en-US">
                    <a:latin typeface="Times New Roman" panose="02020603050405020304" pitchFamily="18" charset="0"/>
                    <a:cs typeface="Times New Roman" panose="02020603050405020304" pitchFamily="18" charset="0"/>
                  </a:endParaRPr>
                </a:p>
              </p:txBody>
            </p:sp>
          </p:grpSp>
        </p:grpSp>
        <p:sp>
          <p:nvSpPr>
            <p:cNvPr id="51" name="TextBox 50">
              <a:extLst>
                <a:ext uri="{FF2B5EF4-FFF2-40B4-BE49-F238E27FC236}">
                  <a16:creationId xmlns:a16="http://schemas.microsoft.com/office/drawing/2014/main" id="{0497B3CF-2185-D70D-EF36-2B105ECA0A75}"/>
                </a:ext>
              </a:extLst>
            </p:cNvPr>
            <p:cNvSpPr txBox="1"/>
            <p:nvPr/>
          </p:nvSpPr>
          <p:spPr>
            <a:xfrm>
              <a:off x="276667" y="3109263"/>
              <a:ext cx="1905993" cy="292388"/>
            </a:xfrm>
            <a:prstGeom prst="rect">
              <a:avLst/>
            </a:prstGeom>
            <a:solidFill>
              <a:schemeClr val="bg1"/>
            </a:solid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Client</a:t>
              </a:r>
              <a:endParaRPr lang="ko-KR" altLang="en-US" sz="1300" b="1" dirty="0">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C67D46A4-916C-E21B-CA76-03D1C05544FF}"/>
                </a:ext>
              </a:extLst>
            </p:cNvPr>
            <p:cNvSpPr txBox="1"/>
            <p:nvPr/>
          </p:nvSpPr>
          <p:spPr>
            <a:xfrm>
              <a:off x="2358359" y="3134302"/>
              <a:ext cx="1905993" cy="292388"/>
            </a:xfrm>
            <a:prstGeom prst="rect">
              <a:avLst/>
            </a:prstGeom>
            <a:solidFill>
              <a:schemeClr val="bg1"/>
            </a:solid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Bridge</a:t>
              </a:r>
              <a:endParaRPr lang="ko-KR" altLang="en-US" sz="1300" b="1" dirty="0">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BEFEDE4E-10D3-4E3D-4E31-97E93C605368}"/>
                </a:ext>
              </a:extLst>
            </p:cNvPr>
            <p:cNvSpPr txBox="1"/>
            <p:nvPr/>
          </p:nvSpPr>
          <p:spPr>
            <a:xfrm>
              <a:off x="4833282" y="3134302"/>
              <a:ext cx="1905993" cy="292388"/>
            </a:xfrm>
            <a:prstGeom prst="rect">
              <a:avLst/>
            </a:prstGeom>
            <a:solidFill>
              <a:schemeClr val="bg1"/>
            </a:solid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Server</a:t>
              </a:r>
              <a:endParaRPr lang="ko-KR" altLang="en-US" sz="1300" b="1" dirty="0">
                <a:latin typeface="Times New Roman" panose="02020603050405020304" pitchFamily="18" charset="0"/>
                <a:cs typeface="Times New Roman" panose="02020603050405020304" pitchFamily="18" charset="0"/>
              </a:endParaRPr>
            </a:p>
          </p:txBody>
        </p:sp>
        <p:cxnSp>
          <p:nvCxnSpPr>
            <p:cNvPr id="54" name="직선 화살표 연결선 53">
              <a:extLst>
                <a:ext uri="{FF2B5EF4-FFF2-40B4-BE49-F238E27FC236}">
                  <a16:creationId xmlns:a16="http://schemas.microsoft.com/office/drawing/2014/main" id="{0E4DDE4E-105E-B00E-6004-F5C0775C23DF}"/>
                </a:ext>
              </a:extLst>
            </p:cNvPr>
            <p:cNvCxnSpPr>
              <a:cxnSpLocks/>
            </p:cNvCxnSpPr>
            <p:nvPr/>
          </p:nvCxnSpPr>
          <p:spPr>
            <a:xfrm>
              <a:off x="4262066" y="1657591"/>
              <a:ext cx="424234" cy="0"/>
            </a:xfrm>
            <a:prstGeom prst="straightConnector1">
              <a:avLst/>
            </a:prstGeom>
            <a:ln w="12700">
              <a:solidFill>
                <a:srgbClr val="C0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25A403FD-9FEE-B3DC-1DA9-01AB28865F94}"/>
                </a:ext>
              </a:extLst>
            </p:cNvPr>
            <p:cNvSpPr txBox="1"/>
            <p:nvPr/>
          </p:nvSpPr>
          <p:spPr>
            <a:xfrm>
              <a:off x="4122067" y="2020497"/>
              <a:ext cx="992663" cy="326436"/>
            </a:xfrm>
            <a:prstGeom prst="rect">
              <a:avLst/>
            </a:prstGeom>
            <a:noFill/>
            <a:ln w="12700">
              <a:noFill/>
            </a:ln>
          </p:spPr>
          <p:txBody>
            <a:bodyPr wrap="square" rtlCol="0" anchor="ctr">
              <a:spAutoFit/>
            </a:bodyPr>
            <a:lstStyle/>
            <a:p>
              <a:pPr algn="ctr">
                <a:lnSpc>
                  <a:spcPct val="130000"/>
                </a:lnSpc>
              </a:pPr>
              <a:r>
                <a:rPr lang="en-US" altLang="ko-KR" sz="1300" b="1">
                  <a:latin typeface="Times New Roman" panose="02020603050405020304" pitchFamily="18" charset="0"/>
                  <a:cs typeface="Times New Roman" panose="02020603050405020304" pitchFamily="18" charset="0"/>
                </a:rPr>
                <a:t>Routing</a:t>
              </a:r>
            </a:p>
          </p:txBody>
        </p:sp>
        <p:sp>
          <p:nvSpPr>
            <p:cNvPr id="56" name="TextBox 55">
              <a:extLst>
                <a:ext uri="{FF2B5EF4-FFF2-40B4-BE49-F238E27FC236}">
                  <a16:creationId xmlns:a16="http://schemas.microsoft.com/office/drawing/2014/main" id="{C94FD14B-19C1-A93C-799B-84150AE7FE14}"/>
                </a:ext>
              </a:extLst>
            </p:cNvPr>
            <p:cNvSpPr txBox="1"/>
            <p:nvPr/>
          </p:nvSpPr>
          <p:spPr>
            <a:xfrm>
              <a:off x="5132640" y="1175164"/>
              <a:ext cx="1570997" cy="308418"/>
            </a:xfrm>
            <a:prstGeom prst="rect">
              <a:avLst/>
            </a:prstGeom>
            <a:noFill/>
            <a:ln w="12700">
              <a:noFill/>
            </a:ln>
          </p:spPr>
          <p:txBody>
            <a:bodyPr wrap="square" rtlCol="0" anchor="ctr">
              <a:spAutoFit/>
            </a:bodyPr>
            <a:lstStyle/>
            <a:p>
              <a:pPr algn="ctr">
                <a:lnSpc>
                  <a:spcPct val="130000"/>
                </a:lnSpc>
              </a:pPr>
              <a:r>
                <a:rPr lang="en-US" altLang="ko-KR" sz="1200">
                  <a:latin typeface="Times New Roman" panose="02020603050405020304" pitchFamily="18" charset="0"/>
                  <a:cs typeface="Times New Roman" panose="02020603050405020304" pitchFamily="18" charset="0"/>
                </a:rPr>
                <a:t>v1: Classic Server</a:t>
              </a:r>
            </a:p>
          </p:txBody>
        </p:sp>
        <p:sp>
          <p:nvSpPr>
            <p:cNvPr id="57" name="TextBox 56">
              <a:extLst>
                <a:ext uri="{FF2B5EF4-FFF2-40B4-BE49-F238E27FC236}">
                  <a16:creationId xmlns:a16="http://schemas.microsoft.com/office/drawing/2014/main" id="{967A84EB-C052-EC6D-32DA-9E76F95E2B27}"/>
                </a:ext>
              </a:extLst>
            </p:cNvPr>
            <p:cNvSpPr txBox="1"/>
            <p:nvPr/>
          </p:nvSpPr>
          <p:spPr>
            <a:xfrm>
              <a:off x="5312371" y="2386109"/>
              <a:ext cx="1179617" cy="308418"/>
            </a:xfrm>
            <a:prstGeom prst="rect">
              <a:avLst/>
            </a:prstGeom>
            <a:noFill/>
            <a:ln w="12700">
              <a:noFill/>
            </a:ln>
          </p:spPr>
          <p:txBody>
            <a:bodyPr wrap="square" rtlCol="0" anchor="ctr">
              <a:spAutoFit/>
            </a:bodyPr>
            <a:lstStyle/>
            <a:p>
              <a:pPr algn="ctr">
                <a:lnSpc>
                  <a:spcPct val="130000"/>
                </a:lnSpc>
              </a:pPr>
              <a:r>
                <a:rPr lang="en-US" altLang="ko-KR" sz="1200">
                  <a:latin typeface="Times New Roman" panose="02020603050405020304" pitchFamily="18" charset="0"/>
                  <a:cs typeface="Times New Roman" panose="02020603050405020304" pitchFamily="18" charset="0"/>
                </a:rPr>
                <a:t>v2: PQC Server</a:t>
              </a:r>
            </a:p>
          </p:txBody>
        </p:sp>
        <p:pic>
          <p:nvPicPr>
            <p:cNvPr id="58" name="그림 57" descr="블랙, 어둠이(가) 표시된 사진&#10;&#10;AI 생성 콘텐츠는 정확하지 않을 수 있습니다.">
              <a:extLst>
                <a:ext uri="{FF2B5EF4-FFF2-40B4-BE49-F238E27FC236}">
                  <a16:creationId xmlns:a16="http://schemas.microsoft.com/office/drawing/2014/main" id="{6EEA1FFD-04CF-799B-5974-096A9291E96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80767" y="1345855"/>
              <a:ext cx="524313" cy="524313"/>
            </a:xfrm>
            <a:prstGeom prst="rect">
              <a:avLst/>
            </a:prstGeom>
          </p:spPr>
        </p:pic>
        <p:pic>
          <p:nvPicPr>
            <p:cNvPr id="59" name="그림 58" descr="블랙, 어둠이(가) 표시된 사진&#10;&#10;AI 생성 콘텐츠는 정확하지 않을 수 있습니다.">
              <a:extLst>
                <a:ext uri="{FF2B5EF4-FFF2-40B4-BE49-F238E27FC236}">
                  <a16:creationId xmlns:a16="http://schemas.microsoft.com/office/drawing/2014/main" id="{21FE6B41-6D01-66E5-23E8-611E9216BC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80767" y="2543430"/>
              <a:ext cx="524313" cy="524313"/>
            </a:xfrm>
            <a:prstGeom prst="rect">
              <a:avLst/>
            </a:prstGeom>
          </p:spPr>
        </p:pic>
        <p:grpSp>
          <p:nvGrpSpPr>
            <p:cNvPr id="60" name="그룹 59">
              <a:extLst>
                <a:ext uri="{FF2B5EF4-FFF2-40B4-BE49-F238E27FC236}">
                  <a16:creationId xmlns:a16="http://schemas.microsoft.com/office/drawing/2014/main" id="{FBA3CBA0-2B4F-1A1F-04DB-17138EE6D158}"/>
                </a:ext>
              </a:extLst>
            </p:cNvPr>
            <p:cNvGrpSpPr/>
            <p:nvPr/>
          </p:nvGrpSpPr>
          <p:grpSpPr>
            <a:xfrm>
              <a:off x="5313978" y="1484132"/>
              <a:ext cx="1279932" cy="392948"/>
              <a:chOff x="5313978" y="1654823"/>
              <a:chExt cx="1279932" cy="392948"/>
            </a:xfrm>
          </p:grpSpPr>
          <p:pic>
            <p:nvPicPr>
              <p:cNvPr id="76" name="그림 75" descr="블랙, 어둠이(가) 표시된 사진&#10;&#10;AI 생성 콘텐츠는 정확하지 않을 수 있습니다.">
                <a:extLst>
                  <a:ext uri="{FF2B5EF4-FFF2-40B4-BE49-F238E27FC236}">
                    <a16:creationId xmlns:a16="http://schemas.microsoft.com/office/drawing/2014/main" id="{C9F3B51C-EF14-0CEC-D264-C28D41C0FCA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13978" y="1654823"/>
                <a:ext cx="392948" cy="392948"/>
              </a:xfrm>
              <a:prstGeom prst="rect">
                <a:avLst/>
              </a:prstGeom>
            </p:spPr>
          </p:pic>
          <p:pic>
            <p:nvPicPr>
              <p:cNvPr id="77" name="그림 76" descr="블랙, 어둠이(가) 표시된 사진&#10;&#10;AI 생성 콘텐츠는 정확하지 않을 수 있습니다.">
                <a:extLst>
                  <a:ext uri="{FF2B5EF4-FFF2-40B4-BE49-F238E27FC236}">
                    <a16:creationId xmlns:a16="http://schemas.microsoft.com/office/drawing/2014/main" id="{210A69BF-5A42-AC6D-12A6-959F08A1330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14029" y="1654823"/>
                <a:ext cx="392948" cy="392948"/>
              </a:xfrm>
              <a:prstGeom prst="rect">
                <a:avLst/>
              </a:prstGeom>
            </p:spPr>
          </p:pic>
          <p:pic>
            <p:nvPicPr>
              <p:cNvPr id="78" name="그림 77" descr="블랙, 어둠이(가) 표시된 사진&#10;&#10;AI 생성 콘텐츠는 정확하지 않을 수 있습니다.">
                <a:extLst>
                  <a:ext uri="{FF2B5EF4-FFF2-40B4-BE49-F238E27FC236}">
                    <a16:creationId xmlns:a16="http://schemas.microsoft.com/office/drawing/2014/main" id="{597CF7C0-9DB7-E1AF-CC43-13E1192E57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00962" y="1654823"/>
                <a:ext cx="392948" cy="392948"/>
              </a:xfrm>
              <a:prstGeom prst="rect">
                <a:avLst/>
              </a:prstGeom>
            </p:spPr>
          </p:pic>
          <p:sp>
            <p:nvSpPr>
              <p:cNvPr id="79" name="TextBox 78">
                <a:extLst>
                  <a:ext uri="{FF2B5EF4-FFF2-40B4-BE49-F238E27FC236}">
                    <a16:creationId xmlns:a16="http://schemas.microsoft.com/office/drawing/2014/main" id="{D6E47EC1-FAA6-7657-6D57-0733AF4EE8D9}"/>
                  </a:ext>
                </a:extLst>
              </p:cNvPr>
              <p:cNvSpPr txBox="1"/>
              <p:nvPr/>
            </p:nvSpPr>
            <p:spPr>
              <a:xfrm>
                <a:off x="5804244" y="1680220"/>
                <a:ext cx="576446" cy="323165"/>
              </a:xfrm>
              <a:prstGeom prst="rect">
                <a:avLst/>
              </a:prstGeom>
              <a:noFill/>
            </p:spPr>
            <p:txBody>
              <a:bodyPr wrap="square" rtlCol="0">
                <a:spAutoFit/>
              </a:bodyPr>
              <a:lstStyle/>
              <a:p>
                <a:pPr algn="ctr"/>
                <a:r>
                  <a:rPr lang="en-US" altLang="ko-KR" sz="1500">
                    <a:latin typeface="Times New Roman" panose="02020603050405020304" pitchFamily="18" charset="0"/>
                    <a:cs typeface="Times New Roman" panose="02020603050405020304" pitchFamily="18" charset="0"/>
                  </a:rPr>
                  <a:t>…</a:t>
                </a:r>
                <a:endParaRPr lang="ko-KR" altLang="en-US" sz="1500">
                  <a:latin typeface="Times New Roman" panose="02020603050405020304" pitchFamily="18" charset="0"/>
                  <a:cs typeface="Times New Roman" panose="02020603050405020304" pitchFamily="18" charset="0"/>
                </a:endParaRPr>
              </a:p>
            </p:txBody>
          </p:sp>
        </p:grpSp>
        <p:cxnSp>
          <p:nvCxnSpPr>
            <p:cNvPr id="61" name="직선 화살표 연결선 60">
              <a:extLst>
                <a:ext uri="{FF2B5EF4-FFF2-40B4-BE49-F238E27FC236}">
                  <a16:creationId xmlns:a16="http://schemas.microsoft.com/office/drawing/2014/main" id="{0CB42F34-1F1F-5DBE-5E98-4AEA43064819}"/>
                </a:ext>
              </a:extLst>
            </p:cNvPr>
            <p:cNvCxnSpPr>
              <a:cxnSpLocks/>
            </p:cNvCxnSpPr>
            <p:nvPr/>
          </p:nvCxnSpPr>
          <p:spPr>
            <a:xfrm>
              <a:off x="4262066" y="2875114"/>
              <a:ext cx="367084" cy="0"/>
            </a:xfrm>
            <a:prstGeom prst="straightConnector1">
              <a:avLst/>
            </a:prstGeom>
            <a:ln w="12700">
              <a:solidFill>
                <a:srgbClr val="C0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2" name="직선 화살표 연결선 61">
              <a:extLst>
                <a:ext uri="{FF2B5EF4-FFF2-40B4-BE49-F238E27FC236}">
                  <a16:creationId xmlns:a16="http://schemas.microsoft.com/office/drawing/2014/main" id="{539C1661-5749-2AE7-C500-28C26730140C}"/>
                </a:ext>
              </a:extLst>
            </p:cNvPr>
            <p:cNvCxnSpPr>
              <a:cxnSpLocks/>
            </p:cNvCxnSpPr>
            <p:nvPr/>
          </p:nvCxnSpPr>
          <p:spPr>
            <a:xfrm>
              <a:off x="4262066" y="1654823"/>
              <a:ext cx="0" cy="1220291"/>
            </a:xfrm>
            <a:prstGeom prst="straightConnector1">
              <a:avLst/>
            </a:prstGeom>
            <a:ln w="12700">
              <a:solidFill>
                <a:srgbClr val="C0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63" name="그룹 62">
              <a:extLst>
                <a:ext uri="{FF2B5EF4-FFF2-40B4-BE49-F238E27FC236}">
                  <a16:creationId xmlns:a16="http://schemas.microsoft.com/office/drawing/2014/main" id="{283341E5-1F81-C5D8-6C39-81295CDB6C7A}"/>
                </a:ext>
              </a:extLst>
            </p:cNvPr>
            <p:cNvGrpSpPr/>
            <p:nvPr/>
          </p:nvGrpSpPr>
          <p:grpSpPr>
            <a:xfrm>
              <a:off x="5313978" y="2677041"/>
              <a:ext cx="1263186" cy="410434"/>
              <a:chOff x="5428278" y="2601006"/>
              <a:chExt cx="1263186" cy="410434"/>
            </a:xfrm>
          </p:grpSpPr>
          <p:sp>
            <p:nvSpPr>
              <p:cNvPr id="72" name="TextBox 71">
                <a:extLst>
                  <a:ext uri="{FF2B5EF4-FFF2-40B4-BE49-F238E27FC236}">
                    <a16:creationId xmlns:a16="http://schemas.microsoft.com/office/drawing/2014/main" id="{A368F176-AAFC-582F-8D5F-EED3F16DE371}"/>
                  </a:ext>
                </a:extLst>
              </p:cNvPr>
              <p:cNvSpPr txBox="1"/>
              <p:nvPr/>
            </p:nvSpPr>
            <p:spPr>
              <a:xfrm>
                <a:off x="5918544" y="2601006"/>
                <a:ext cx="576446" cy="323165"/>
              </a:xfrm>
              <a:prstGeom prst="rect">
                <a:avLst/>
              </a:prstGeom>
              <a:noFill/>
            </p:spPr>
            <p:txBody>
              <a:bodyPr wrap="square" rtlCol="0">
                <a:spAutoFit/>
              </a:bodyPr>
              <a:lstStyle/>
              <a:p>
                <a:pPr algn="ctr"/>
                <a:r>
                  <a:rPr lang="en-US" altLang="ko-KR" sz="1500">
                    <a:latin typeface="Times New Roman" panose="02020603050405020304" pitchFamily="18" charset="0"/>
                    <a:cs typeface="Times New Roman" panose="02020603050405020304" pitchFamily="18" charset="0"/>
                  </a:rPr>
                  <a:t>…</a:t>
                </a:r>
                <a:endParaRPr lang="ko-KR" altLang="en-US" sz="1500">
                  <a:latin typeface="Times New Roman" panose="02020603050405020304" pitchFamily="18" charset="0"/>
                  <a:cs typeface="Times New Roman" panose="02020603050405020304" pitchFamily="18" charset="0"/>
                </a:endParaRPr>
              </a:p>
            </p:txBody>
          </p:sp>
          <p:pic>
            <p:nvPicPr>
              <p:cNvPr id="73" name="그림 72" descr="블랙, 어둠이(가) 표시된 사진&#10;&#10;AI 생성 콘텐츠는 정확하지 않을 수 있습니다.">
                <a:extLst>
                  <a:ext uri="{FF2B5EF4-FFF2-40B4-BE49-F238E27FC236}">
                    <a16:creationId xmlns:a16="http://schemas.microsoft.com/office/drawing/2014/main" id="{4CE195DE-9953-B9FC-0D8D-B7CBB428D9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28278" y="2611391"/>
                <a:ext cx="392948" cy="392948"/>
              </a:xfrm>
              <a:prstGeom prst="rect">
                <a:avLst/>
              </a:prstGeom>
            </p:spPr>
          </p:pic>
          <p:pic>
            <p:nvPicPr>
              <p:cNvPr id="74" name="그림 73" descr="블랙, 어둠이(가) 표시된 사진&#10;&#10;AI 생성 콘텐츠는 정확하지 않을 수 있습니다.">
                <a:extLst>
                  <a:ext uri="{FF2B5EF4-FFF2-40B4-BE49-F238E27FC236}">
                    <a16:creationId xmlns:a16="http://schemas.microsoft.com/office/drawing/2014/main" id="{9E39DE2B-43FD-EB6F-178B-20199953576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28329" y="2601006"/>
                <a:ext cx="392948" cy="392948"/>
              </a:xfrm>
              <a:prstGeom prst="rect">
                <a:avLst/>
              </a:prstGeom>
            </p:spPr>
          </p:pic>
          <p:pic>
            <p:nvPicPr>
              <p:cNvPr id="75" name="그림 74" descr="블랙, 어둠이(가) 표시된 사진&#10;&#10;AI 생성 콘텐츠는 정확하지 않을 수 있습니다.">
                <a:extLst>
                  <a:ext uri="{FF2B5EF4-FFF2-40B4-BE49-F238E27FC236}">
                    <a16:creationId xmlns:a16="http://schemas.microsoft.com/office/drawing/2014/main" id="{500C6FBF-465C-5899-2633-D5C6DB5E7A9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98516" y="2618492"/>
                <a:ext cx="392948" cy="392948"/>
              </a:xfrm>
              <a:prstGeom prst="rect">
                <a:avLst/>
              </a:prstGeom>
            </p:spPr>
          </p:pic>
        </p:grpSp>
        <p:sp>
          <p:nvSpPr>
            <p:cNvPr id="64" name="TextBox 63">
              <a:extLst>
                <a:ext uri="{FF2B5EF4-FFF2-40B4-BE49-F238E27FC236}">
                  <a16:creationId xmlns:a16="http://schemas.microsoft.com/office/drawing/2014/main" id="{B275BD55-E27D-A8B9-C898-89F6A890DE67}"/>
                </a:ext>
              </a:extLst>
            </p:cNvPr>
            <p:cNvSpPr txBox="1"/>
            <p:nvPr/>
          </p:nvSpPr>
          <p:spPr>
            <a:xfrm>
              <a:off x="2804463" y="2224697"/>
              <a:ext cx="995894" cy="424732"/>
            </a:xfrm>
            <a:prstGeom prst="rect">
              <a:avLst/>
            </a:prstGeom>
            <a:noFill/>
            <a:ln w="12700">
              <a:noFill/>
            </a:ln>
          </p:spPr>
          <p:txBody>
            <a:bodyPr wrap="square" rtlCol="0" anchor="ctr">
              <a:spAutoFit/>
            </a:bodyPr>
            <a:lstStyle/>
            <a:p>
              <a:pPr algn="ctr">
                <a:lnSpc>
                  <a:spcPct val="90000"/>
                </a:lnSpc>
              </a:pPr>
              <a:r>
                <a:rPr lang="en-US" altLang="ko-KR" sz="1200">
                  <a:latin typeface="Times New Roman" panose="02020603050405020304" pitchFamily="18" charset="0"/>
                  <a:cs typeface="Times New Roman" panose="02020603050405020304" pitchFamily="18" charset="0"/>
                </a:rPr>
                <a:t>Routing Decision</a:t>
              </a:r>
            </a:p>
          </p:txBody>
        </p:sp>
        <p:sp>
          <p:nvSpPr>
            <p:cNvPr id="65" name="TextBox 64">
              <a:extLst>
                <a:ext uri="{FF2B5EF4-FFF2-40B4-BE49-F238E27FC236}">
                  <a16:creationId xmlns:a16="http://schemas.microsoft.com/office/drawing/2014/main" id="{32CE362E-15E9-581E-8EBA-5F68CBC6D998}"/>
                </a:ext>
              </a:extLst>
            </p:cNvPr>
            <p:cNvSpPr txBox="1"/>
            <p:nvPr/>
          </p:nvSpPr>
          <p:spPr>
            <a:xfrm>
              <a:off x="2527384" y="1778304"/>
              <a:ext cx="1545081" cy="424732"/>
            </a:xfrm>
            <a:prstGeom prst="rect">
              <a:avLst/>
            </a:prstGeom>
            <a:noFill/>
          </p:spPr>
          <p:txBody>
            <a:bodyPr wrap="square">
              <a:spAutoFit/>
            </a:bodyPr>
            <a:lstStyle/>
            <a:p>
              <a:pPr algn="ctr">
                <a:lnSpc>
                  <a:spcPct val="90000"/>
                </a:lnSpc>
              </a:pPr>
              <a:r>
                <a:rPr lang="en-US" altLang="ko-KR" sz="1200" b="1">
                  <a:solidFill>
                    <a:srgbClr val="C00000"/>
                  </a:solidFill>
                  <a:latin typeface="Times New Roman" panose="02020603050405020304" pitchFamily="18" charset="0"/>
                  <a:cs typeface="Times New Roman" panose="02020603050405020304" pitchFamily="18" charset="0"/>
                </a:rPr>
                <a:t>Check </a:t>
              </a:r>
            </a:p>
            <a:p>
              <a:pPr algn="ctr">
                <a:lnSpc>
                  <a:spcPct val="90000"/>
                </a:lnSpc>
              </a:pPr>
              <a:r>
                <a:rPr lang="en-US" altLang="ko-KR" sz="1200" b="1">
                  <a:solidFill>
                    <a:srgbClr val="C00000"/>
                  </a:solidFill>
                  <a:latin typeface="Times New Roman" panose="02020603050405020304" pitchFamily="18" charset="0"/>
                  <a:cs typeface="Times New Roman" panose="02020603050405020304" pitchFamily="18" charset="0"/>
                </a:rPr>
                <a:t>Preference Ratio</a:t>
              </a:r>
              <a:endParaRPr lang="ko-KR" altLang="en-US" sz="1200" b="1" dirty="0">
                <a:solidFill>
                  <a:srgbClr val="C00000"/>
                </a:solidFill>
                <a:latin typeface="Times New Roman" panose="02020603050405020304" pitchFamily="18" charset="0"/>
                <a:cs typeface="Times New Roman" panose="02020603050405020304" pitchFamily="18" charset="0"/>
              </a:endParaRPr>
            </a:p>
          </p:txBody>
        </p:sp>
        <p:cxnSp>
          <p:nvCxnSpPr>
            <p:cNvPr id="66" name="직선 화살표 연결선 65">
              <a:extLst>
                <a:ext uri="{FF2B5EF4-FFF2-40B4-BE49-F238E27FC236}">
                  <a16:creationId xmlns:a16="http://schemas.microsoft.com/office/drawing/2014/main" id="{999558A6-1AEE-77A8-CF26-78054B65833D}"/>
                </a:ext>
              </a:extLst>
            </p:cNvPr>
            <p:cNvCxnSpPr>
              <a:cxnSpLocks/>
              <a:stCxn id="47" idx="3"/>
            </p:cNvCxnSpPr>
            <p:nvPr/>
          </p:nvCxnSpPr>
          <p:spPr>
            <a:xfrm>
              <a:off x="3988860" y="2195644"/>
              <a:ext cx="273205" cy="0"/>
            </a:xfrm>
            <a:prstGeom prst="straightConnector1">
              <a:avLst/>
            </a:prstGeom>
            <a:ln w="12700">
              <a:solidFill>
                <a:srgbClr val="C00000"/>
              </a:solidFill>
              <a:prstDash val="soli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7" name="직사각형 66">
              <a:extLst>
                <a:ext uri="{FF2B5EF4-FFF2-40B4-BE49-F238E27FC236}">
                  <a16:creationId xmlns:a16="http://schemas.microsoft.com/office/drawing/2014/main" id="{802F30A0-BE55-313D-0B6A-3782DB297C91}"/>
                </a:ext>
              </a:extLst>
            </p:cNvPr>
            <p:cNvSpPr/>
            <p:nvPr/>
          </p:nvSpPr>
          <p:spPr>
            <a:xfrm>
              <a:off x="2588080" y="825498"/>
              <a:ext cx="1400780" cy="486085"/>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TextBox 67">
              <a:extLst>
                <a:ext uri="{FF2B5EF4-FFF2-40B4-BE49-F238E27FC236}">
                  <a16:creationId xmlns:a16="http://schemas.microsoft.com/office/drawing/2014/main" id="{348AFCDD-BED3-1333-FA9C-B36B8959D4F3}"/>
                </a:ext>
              </a:extLst>
            </p:cNvPr>
            <p:cNvSpPr txBox="1"/>
            <p:nvPr/>
          </p:nvSpPr>
          <p:spPr>
            <a:xfrm>
              <a:off x="2694502" y="708016"/>
              <a:ext cx="1187935" cy="276999"/>
            </a:xfrm>
            <a:prstGeom prst="rect">
              <a:avLst/>
            </a:prstGeom>
            <a:solidFill>
              <a:schemeClr val="bg1"/>
            </a:solidFill>
            <a:ln>
              <a:solidFill>
                <a:schemeClr val="tx1"/>
              </a:solidFill>
            </a:ln>
          </p:spPr>
          <p:txBody>
            <a:bodyPr wrap="square">
              <a:spAutoFit/>
            </a:bodyPr>
            <a:lstStyle/>
            <a:p>
              <a:pPr algn="ctr"/>
              <a:r>
                <a:rPr lang="en-US" altLang="ko-KR" sz="1200" b="1">
                  <a:latin typeface="Times New Roman" panose="02020603050405020304" pitchFamily="18" charset="0"/>
                  <a:cs typeface="Times New Roman" panose="02020603050405020304" pitchFamily="18" charset="0"/>
                </a:rPr>
                <a:t>Policy</a:t>
              </a:r>
              <a:endParaRPr lang="ko-KR" altLang="en-US" sz="1200" b="1" dirty="0">
                <a:latin typeface="Times New Roman" panose="02020603050405020304" pitchFamily="18" charset="0"/>
                <a:cs typeface="Times New Roman" panose="02020603050405020304" pitchFamily="18" charset="0"/>
              </a:endParaRPr>
            </a:p>
          </p:txBody>
        </p:sp>
        <p:sp>
          <p:nvSpPr>
            <p:cNvPr id="69" name="TextBox 68">
              <a:extLst>
                <a:ext uri="{FF2B5EF4-FFF2-40B4-BE49-F238E27FC236}">
                  <a16:creationId xmlns:a16="http://schemas.microsoft.com/office/drawing/2014/main" id="{FFFE0521-2183-4F22-A3D0-105362455AFF}"/>
                </a:ext>
              </a:extLst>
            </p:cNvPr>
            <p:cNvSpPr txBox="1"/>
            <p:nvPr/>
          </p:nvSpPr>
          <p:spPr>
            <a:xfrm>
              <a:off x="2702384" y="933553"/>
              <a:ext cx="1187935" cy="308418"/>
            </a:xfrm>
            <a:prstGeom prst="rect">
              <a:avLst/>
            </a:prstGeom>
            <a:noFill/>
            <a:ln w="12700">
              <a:noFill/>
            </a:ln>
          </p:spPr>
          <p:txBody>
            <a:bodyPr wrap="square" rtlCol="0" anchor="ctr">
              <a:spAutoFit/>
            </a:bodyPr>
            <a:lstStyle/>
            <a:p>
              <a:pPr algn="ctr">
                <a:lnSpc>
                  <a:spcPct val="130000"/>
                </a:lnSpc>
              </a:pPr>
              <a:r>
                <a:rPr lang="en-US" altLang="ko-KR" sz="1200" b="1">
                  <a:solidFill>
                    <a:srgbClr val="C00000"/>
                  </a:solidFill>
                  <a:latin typeface="Times New Roman" panose="02020603050405020304" pitchFamily="18" charset="0"/>
                  <a:cs typeface="Times New Roman" panose="02020603050405020304" pitchFamily="18" charset="0"/>
                </a:rPr>
                <a:t>Prefer </a:t>
              </a:r>
              <a:r>
                <a:rPr lang="en-US" altLang="ko-KR" sz="1200" b="1" dirty="0">
                  <a:solidFill>
                    <a:srgbClr val="C00000"/>
                  </a:solidFill>
                  <a:latin typeface="Times New Roman" panose="02020603050405020304" pitchFamily="18" charset="0"/>
                  <a:cs typeface="Times New Roman" panose="02020603050405020304" pitchFamily="18" charset="0"/>
                </a:rPr>
                <a:t>(%)</a:t>
              </a:r>
            </a:p>
          </p:txBody>
        </p:sp>
        <p:cxnSp>
          <p:nvCxnSpPr>
            <p:cNvPr id="70" name="직선 연결선 69">
              <a:extLst>
                <a:ext uri="{FF2B5EF4-FFF2-40B4-BE49-F238E27FC236}">
                  <a16:creationId xmlns:a16="http://schemas.microsoft.com/office/drawing/2014/main" id="{DA5905FC-EAA9-A6FF-05DC-3FE07F02150B}"/>
                </a:ext>
              </a:extLst>
            </p:cNvPr>
            <p:cNvCxnSpPr>
              <a:cxnSpLocks/>
              <a:stCxn id="67" idx="2"/>
              <a:endCxn id="47" idx="0"/>
            </p:cNvCxnSpPr>
            <p:nvPr/>
          </p:nvCxnSpPr>
          <p:spPr>
            <a:xfrm>
              <a:off x="3288470" y="1311583"/>
              <a:ext cx="0" cy="43027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C9C42124-8E77-D36F-B18B-F7BC851F80C0}"/>
                </a:ext>
              </a:extLst>
            </p:cNvPr>
            <p:cNvSpPr txBox="1"/>
            <p:nvPr/>
          </p:nvSpPr>
          <p:spPr>
            <a:xfrm>
              <a:off x="3311356" y="1345480"/>
              <a:ext cx="1142161" cy="326436"/>
            </a:xfrm>
            <a:prstGeom prst="rect">
              <a:avLst/>
            </a:prstGeom>
            <a:noFill/>
            <a:ln w="12700">
              <a:noFill/>
            </a:ln>
          </p:spPr>
          <p:txBody>
            <a:bodyPr wrap="square" rtlCol="0" anchor="ctr">
              <a:spAutoFit/>
            </a:bodyPr>
            <a:lstStyle>
              <a:defPPr>
                <a:defRPr lang="ko-KR"/>
              </a:defPPr>
              <a:lvl1pPr>
                <a:lnSpc>
                  <a:spcPct val="130000"/>
                </a:lnSpc>
                <a:defRPr sz="1300" b="1">
                  <a:solidFill>
                    <a:srgbClr val="C00000"/>
                  </a:solidFill>
                  <a:latin typeface="Times New Roman" panose="02020603050405020304" pitchFamily="18" charset="0"/>
                  <a:cs typeface="Times New Roman" panose="02020603050405020304" pitchFamily="18" charset="0"/>
                </a:defRPr>
              </a:lvl1pPr>
            </a:lstStyle>
            <a:p>
              <a:r>
                <a:rPr lang="en-US" altLang="ko-KR"/>
                <a:t>Hot Reload</a:t>
              </a:r>
            </a:p>
          </p:txBody>
        </p:sp>
      </p:grpSp>
      <p:sp>
        <p:nvSpPr>
          <p:cNvPr id="2" name="TextBox 1">
            <a:extLst>
              <a:ext uri="{FF2B5EF4-FFF2-40B4-BE49-F238E27FC236}">
                <a16:creationId xmlns:a16="http://schemas.microsoft.com/office/drawing/2014/main" id="{5AAE854E-0AE7-75A8-7D89-EB69F3225D0B}"/>
              </a:ext>
            </a:extLst>
          </p:cNvPr>
          <p:cNvSpPr txBox="1"/>
          <p:nvPr/>
        </p:nvSpPr>
        <p:spPr>
          <a:xfrm>
            <a:off x="1935678" y="6183295"/>
            <a:ext cx="8324602" cy="646331"/>
          </a:xfrm>
          <a:prstGeom prst="rect">
            <a:avLst/>
          </a:prstGeom>
          <a:noFill/>
        </p:spPr>
        <p:txBody>
          <a:bodyPr wrap="square" rtlCol="0">
            <a:spAutoFit/>
          </a:bodyPr>
          <a:lstStyle/>
          <a:p>
            <a:pPr algn="ctr"/>
            <a:r>
              <a:rPr lang="en-US" altLang="ko-KR" b="1"/>
              <a:t>Fig: </a:t>
            </a:r>
            <a:r>
              <a:rPr lang="en-US" altLang="ko-KR"/>
              <a:t>According to the Prefer ratio defined by the policy, classical TLS clients are appropriately routed between classical TLS servers and PQC TLS servers.</a:t>
            </a:r>
            <a:endParaRPr lang="ko-KR" altLang="en-US"/>
          </a:p>
        </p:txBody>
      </p:sp>
    </p:spTree>
    <p:extLst>
      <p:ext uri="{BB962C8B-B14F-4D97-AF65-F5344CB8AC3E}">
        <p14:creationId xmlns:p14="http://schemas.microsoft.com/office/powerpoint/2010/main" val="13224301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D79CF-0039-97E1-5396-88BD7C7271C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DFFC4B2-AD8D-B95F-32E3-8805252C2C6E}"/>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Critical Update Scenario: Gradual Migration – Require  </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9E97513E-4FE2-B8BA-AA39-B646A5F2354C}"/>
              </a:ext>
            </a:extLst>
          </p:cNvPr>
          <p:cNvSpPr>
            <a:spLocks noGrp="1"/>
          </p:cNvSpPr>
          <p:nvPr>
            <p:ph type="sldNum" sz="quarter" idx="12"/>
          </p:nvPr>
        </p:nvSpPr>
        <p:spPr/>
        <p:txBody>
          <a:bodyPr/>
          <a:lstStyle/>
          <a:p>
            <a:pPr rtl="0"/>
            <a:fld id="{401CF334-2D5C-4859-84A6-CA7E6E43FAEB}" type="slidenum">
              <a:rPr lang="en-US" altLang="ko-KR" smtClean="0"/>
              <a:t>16</a:t>
            </a:fld>
            <a:endParaRPr lang="ko-KR" altLang="en-US" dirty="0"/>
          </a:p>
        </p:txBody>
      </p:sp>
      <p:sp>
        <p:nvSpPr>
          <p:cNvPr id="9" name="내용 개체 틀 1">
            <a:extLst>
              <a:ext uri="{FF2B5EF4-FFF2-40B4-BE49-F238E27FC236}">
                <a16:creationId xmlns:a16="http://schemas.microsoft.com/office/drawing/2014/main" id="{0B861C1B-4751-F899-B186-896C00F3FFED}"/>
              </a:ext>
            </a:extLst>
          </p:cNvPr>
          <p:cNvSpPr>
            <a:spLocks noGrp="1"/>
          </p:cNvSpPr>
          <p:nvPr>
            <p:ph idx="1"/>
          </p:nvPr>
        </p:nvSpPr>
        <p:spPr>
          <a:xfrm>
            <a:off x="581192" y="1521132"/>
            <a:ext cx="11029615" cy="1123421"/>
          </a:xfrm>
        </p:spPr>
        <p:txBody>
          <a:bodyPr rtlCol="0">
            <a:normAutofit/>
          </a:bodyPr>
          <a:lstStyle/>
          <a:p>
            <a:pPr marL="0" indent="0">
              <a:buNone/>
            </a:pPr>
            <a:r>
              <a:rPr lang="en-US" altLang="ko-KR" sz="2400" b="1"/>
              <a:t>The Require phase signifies a </a:t>
            </a:r>
            <a:r>
              <a:rPr lang="en-US" altLang="ko-KR" sz="2400" b="1">
                <a:solidFill>
                  <a:srgbClr val="FF0000"/>
                </a:solidFill>
              </a:rPr>
              <a:t>full transition to PQC servers</a:t>
            </a:r>
            <a:r>
              <a:rPr lang="en-US" altLang="ko-KR" sz="2400" b="1"/>
              <a:t>.</a:t>
            </a:r>
            <a:endParaRPr lang="ko-KR" altLang="en-US" sz="2400" b="1"/>
          </a:p>
          <a:p>
            <a:pPr lvl="1"/>
            <a:r>
              <a:rPr lang="en-US" altLang="ko-KR" sz="1800"/>
              <a:t>All clients are forcibly routed to PQC TLS servers.</a:t>
            </a:r>
            <a:endParaRPr lang="ko-KR" altLang="en-US" sz="1800" dirty="0"/>
          </a:p>
        </p:txBody>
      </p:sp>
      <p:grpSp>
        <p:nvGrpSpPr>
          <p:cNvPr id="73" name="그룹 72">
            <a:extLst>
              <a:ext uri="{FF2B5EF4-FFF2-40B4-BE49-F238E27FC236}">
                <a16:creationId xmlns:a16="http://schemas.microsoft.com/office/drawing/2014/main" id="{582483F6-58F6-E559-0BDB-2D03355C30AB}"/>
              </a:ext>
            </a:extLst>
          </p:cNvPr>
          <p:cNvGrpSpPr/>
          <p:nvPr/>
        </p:nvGrpSpPr>
        <p:grpSpPr>
          <a:xfrm>
            <a:off x="2271366" y="3067486"/>
            <a:ext cx="7649265" cy="2291924"/>
            <a:chOff x="146755" y="356385"/>
            <a:chExt cx="6592520" cy="1975295"/>
          </a:xfrm>
        </p:grpSpPr>
        <p:pic>
          <p:nvPicPr>
            <p:cNvPr id="49" name="그림 48" descr="블랙, 어둠이(가) 표시된 사진&#10;&#10;AI 생성 콘텐츠는 정확하지 않을 수 있습니다.">
              <a:extLst>
                <a:ext uri="{FF2B5EF4-FFF2-40B4-BE49-F238E27FC236}">
                  <a16:creationId xmlns:a16="http://schemas.microsoft.com/office/drawing/2014/main" id="{1FA7BE85-B190-3EC0-A0EA-56B2BB9321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426" y="1399655"/>
              <a:ext cx="495716" cy="495716"/>
            </a:xfrm>
            <a:prstGeom prst="rect">
              <a:avLst/>
            </a:prstGeom>
          </p:spPr>
        </p:pic>
        <p:sp>
          <p:nvSpPr>
            <p:cNvPr id="50" name="직사각형 49">
              <a:extLst>
                <a:ext uri="{FF2B5EF4-FFF2-40B4-BE49-F238E27FC236}">
                  <a16:creationId xmlns:a16="http://schemas.microsoft.com/office/drawing/2014/main" id="{1E22DF91-107D-B336-04DB-00E6B618868E}"/>
                </a:ext>
              </a:extLst>
            </p:cNvPr>
            <p:cNvSpPr/>
            <p:nvPr/>
          </p:nvSpPr>
          <p:spPr>
            <a:xfrm>
              <a:off x="2588080" y="1399656"/>
              <a:ext cx="1400780" cy="524313"/>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TextBox 50">
              <a:extLst>
                <a:ext uri="{FF2B5EF4-FFF2-40B4-BE49-F238E27FC236}">
                  <a16:creationId xmlns:a16="http://schemas.microsoft.com/office/drawing/2014/main" id="{C034C79B-A854-FEFC-69AA-3BD59454FD62}"/>
                </a:ext>
              </a:extLst>
            </p:cNvPr>
            <p:cNvSpPr txBox="1"/>
            <p:nvPr/>
          </p:nvSpPr>
          <p:spPr>
            <a:xfrm>
              <a:off x="146755" y="1116858"/>
              <a:ext cx="992663" cy="308418"/>
            </a:xfrm>
            <a:prstGeom prst="rect">
              <a:avLst/>
            </a:prstGeom>
            <a:noFill/>
            <a:ln w="12700">
              <a:noFill/>
            </a:ln>
          </p:spPr>
          <p:txBody>
            <a:bodyPr wrap="square" rtlCol="0" anchor="ctr">
              <a:spAutoFit/>
            </a:bodyPr>
            <a:lstStyle/>
            <a:p>
              <a:pPr>
                <a:lnSpc>
                  <a:spcPct val="130000"/>
                </a:lnSpc>
              </a:pPr>
              <a:r>
                <a:rPr lang="en-US" altLang="ko-KR" sz="1200">
                  <a:latin typeface="Times New Roman" panose="02020603050405020304" pitchFamily="18" charset="0"/>
                  <a:cs typeface="Times New Roman" panose="02020603050405020304" pitchFamily="18" charset="0"/>
                </a:rPr>
                <a:t>Classic</a:t>
              </a:r>
            </a:p>
          </p:txBody>
        </p:sp>
        <p:cxnSp>
          <p:nvCxnSpPr>
            <p:cNvPr id="52" name="직선 화살표 연결선 51">
              <a:extLst>
                <a:ext uri="{FF2B5EF4-FFF2-40B4-BE49-F238E27FC236}">
                  <a16:creationId xmlns:a16="http://schemas.microsoft.com/office/drawing/2014/main" id="{9C021F12-5BB2-A4DA-CC33-985CFCA76AF6}"/>
                </a:ext>
              </a:extLst>
            </p:cNvPr>
            <p:cNvCxnSpPr>
              <a:cxnSpLocks/>
            </p:cNvCxnSpPr>
            <p:nvPr/>
          </p:nvCxnSpPr>
          <p:spPr>
            <a:xfrm>
              <a:off x="1983387" y="1657591"/>
              <a:ext cx="604692" cy="0"/>
            </a:xfrm>
            <a:prstGeom prst="straightConnector1">
              <a:avLst/>
            </a:prstGeom>
            <a:ln w="127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53" name="그림 52" descr="블랙, 어둠이(가) 표시된 사진&#10;&#10;AI 생성 콘텐츠는 정확하지 않을 수 있습니다.">
              <a:extLst>
                <a:ext uri="{FF2B5EF4-FFF2-40B4-BE49-F238E27FC236}">
                  <a16:creationId xmlns:a16="http://schemas.microsoft.com/office/drawing/2014/main" id="{5236E17F-7559-0B46-4B71-AA9EB85A1D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4690" y="1399655"/>
              <a:ext cx="495716" cy="495716"/>
            </a:xfrm>
            <a:prstGeom prst="rect">
              <a:avLst/>
            </a:prstGeom>
          </p:spPr>
        </p:pic>
        <p:pic>
          <p:nvPicPr>
            <p:cNvPr id="54" name="그림 53" descr="블랙, 어둠이(가) 표시된 사진&#10;&#10;AI 생성 콘텐츠는 정확하지 않을 수 있습니다.">
              <a:extLst>
                <a:ext uri="{FF2B5EF4-FFF2-40B4-BE49-F238E27FC236}">
                  <a16:creationId xmlns:a16="http://schemas.microsoft.com/office/drawing/2014/main" id="{B8670AF0-36CF-4F87-A2E8-FD2B18299E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68256" y="1399655"/>
              <a:ext cx="495716" cy="495716"/>
            </a:xfrm>
            <a:prstGeom prst="rect">
              <a:avLst/>
            </a:prstGeom>
          </p:spPr>
        </p:pic>
        <p:sp>
          <p:nvSpPr>
            <p:cNvPr id="55" name="TextBox 54">
              <a:extLst>
                <a:ext uri="{FF2B5EF4-FFF2-40B4-BE49-F238E27FC236}">
                  <a16:creationId xmlns:a16="http://schemas.microsoft.com/office/drawing/2014/main" id="{EF288D55-E69B-883D-726F-D871EEA63C1B}"/>
                </a:ext>
              </a:extLst>
            </p:cNvPr>
            <p:cNvSpPr txBox="1"/>
            <p:nvPr/>
          </p:nvSpPr>
          <p:spPr>
            <a:xfrm>
              <a:off x="926431" y="1408111"/>
              <a:ext cx="685800" cy="369332"/>
            </a:xfrm>
            <a:prstGeom prst="rect">
              <a:avLst/>
            </a:prstGeom>
            <a:noFill/>
          </p:spPr>
          <p:txBody>
            <a:bodyPr wrap="square" rtlCol="0">
              <a:spAutoFit/>
            </a:bodyPr>
            <a:lstStyle/>
            <a:p>
              <a:pPr algn="ctr"/>
              <a:r>
                <a:rPr lang="en-US" altLang="ko-KR">
                  <a:latin typeface="Times New Roman" panose="02020603050405020304" pitchFamily="18" charset="0"/>
                  <a:cs typeface="Times New Roman" panose="02020603050405020304" pitchFamily="18" charset="0"/>
                </a:rPr>
                <a:t>…</a:t>
              </a:r>
              <a:endParaRPr lang="ko-KR" altLang="en-US">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27936E91-3E7E-E1FA-8E7B-D7AF85FE37CD}"/>
                </a:ext>
              </a:extLst>
            </p:cNvPr>
            <p:cNvSpPr txBox="1"/>
            <p:nvPr/>
          </p:nvSpPr>
          <p:spPr>
            <a:xfrm>
              <a:off x="276667" y="2014253"/>
              <a:ext cx="1905993" cy="292388"/>
            </a:xfrm>
            <a:prstGeom prst="rect">
              <a:avLst/>
            </a:prstGeom>
            <a:solidFill>
              <a:schemeClr val="bg1"/>
            </a:solid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Client</a:t>
              </a:r>
              <a:endParaRPr lang="ko-KR" altLang="en-US" sz="1300" b="1"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641A5896-3621-F4E7-13A1-080F36604DCC}"/>
                </a:ext>
              </a:extLst>
            </p:cNvPr>
            <p:cNvSpPr txBox="1"/>
            <p:nvPr/>
          </p:nvSpPr>
          <p:spPr>
            <a:xfrm>
              <a:off x="2339407" y="2039292"/>
              <a:ext cx="1905993" cy="292388"/>
            </a:xfrm>
            <a:prstGeom prst="rect">
              <a:avLst/>
            </a:prstGeom>
            <a:solidFill>
              <a:schemeClr val="bg1"/>
            </a:solid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Bridge</a:t>
              </a:r>
              <a:endParaRPr lang="ko-KR" altLang="en-US" sz="1300" b="1"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6C55ABA5-D3FB-B422-9249-34AC9B224ED8}"/>
                </a:ext>
              </a:extLst>
            </p:cNvPr>
            <p:cNvSpPr txBox="1"/>
            <p:nvPr/>
          </p:nvSpPr>
          <p:spPr>
            <a:xfrm>
              <a:off x="4833282" y="2039292"/>
              <a:ext cx="1905993" cy="292388"/>
            </a:xfrm>
            <a:prstGeom prst="rect">
              <a:avLst/>
            </a:prstGeom>
            <a:solidFill>
              <a:schemeClr val="bg1"/>
            </a:solid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Server</a:t>
              </a:r>
              <a:endParaRPr lang="ko-KR" altLang="en-US" sz="1300" b="1" dirty="0">
                <a:latin typeface="Times New Roman" panose="02020603050405020304" pitchFamily="18" charset="0"/>
                <a:cs typeface="Times New Roman" panose="02020603050405020304" pitchFamily="18" charset="0"/>
              </a:endParaRPr>
            </a:p>
          </p:txBody>
        </p:sp>
        <p:cxnSp>
          <p:nvCxnSpPr>
            <p:cNvPr id="59" name="직선 화살표 연결선 58">
              <a:extLst>
                <a:ext uri="{FF2B5EF4-FFF2-40B4-BE49-F238E27FC236}">
                  <a16:creationId xmlns:a16="http://schemas.microsoft.com/office/drawing/2014/main" id="{4CF6DC20-8B8C-C727-6358-77048CA24224}"/>
                </a:ext>
              </a:extLst>
            </p:cNvPr>
            <p:cNvCxnSpPr>
              <a:cxnSpLocks/>
            </p:cNvCxnSpPr>
            <p:nvPr/>
          </p:nvCxnSpPr>
          <p:spPr>
            <a:xfrm>
              <a:off x="3986103" y="1657591"/>
              <a:ext cx="700197" cy="0"/>
            </a:xfrm>
            <a:prstGeom prst="straightConnector1">
              <a:avLst/>
            </a:prstGeom>
            <a:ln w="12700">
              <a:solidFill>
                <a:srgbClr val="C0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B54721EA-D3B3-EB34-318A-1375A238E57F}"/>
                </a:ext>
              </a:extLst>
            </p:cNvPr>
            <p:cNvSpPr txBox="1"/>
            <p:nvPr/>
          </p:nvSpPr>
          <p:spPr>
            <a:xfrm>
              <a:off x="3853233" y="1597533"/>
              <a:ext cx="992663" cy="326436"/>
            </a:xfrm>
            <a:prstGeom prst="rect">
              <a:avLst/>
            </a:prstGeom>
            <a:noFill/>
            <a:ln w="12700">
              <a:noFill/>
            </a:ln>
          </p:spPr>
          <p:txBody>
            <a:bodyPr wrap="square" rtlCol="0" anchor="ctr">
              <a:spAutoFit/>
            </a:bodyPr>
            <a:lstStyle/>
            <a:p>
              <a:pPr algn="ctr">
                <a:lnSpc>
                  <a:spcPct val="130000"/>
                </a:lnSpc>
              </a:pPr>
              <a:r>
                <a:rPr lang="en-US" altLang="ko-KR" sz="1300" b="1">
                  <a:latin typeface="Times New Roman" panose="02020603050405020304" pitchFamily="18" charset="0"/>
                  <a:cs typeface="Times New Roman" panose="02020603050405020304" pitchFamily="18" charset="0"/>
                </a:rPr>
                <a:t>Routing</a:t>
              </a:r>
            </a:p>
          </p:txBody>
        </p:sp>
        <p:pic>
          <p:nvPicPr>
            <p:cNvPr id="61" name="그림 60" descr="블랙, 어둠이(가) 표시된 사진&#10;&#10;AI 생성 콘텐츠는 정확하지 않을 수 있습니다.">
              <a:extLst>
                <a:ext uri="{FF2B5EF4-FFF2-40B4-BE49-F238E27FC236}">
                  <a16:creationId xmlns:a16="http://schemas.microsoft.com/office/drawing/2014/main" id="{DBA4B596-8307-833C-A6DB-699E0A273F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80767" y="1387409"/>
              <a:ext cx="524313" cy="524313"/>
            </a:xfrm>
            <a:prstGeom prst="rect">
              <a:avLst/>
            </a:prstGeom>
          </p:spPr>
        </p:pic>
        <p:pic>
          <p:nvPicPr>
            <p:cNvPr id="62" name="그림 61" descr="블랙, 어둠이(가) 표시된 사진&#10;&#10;AI 생성 콘텐츠는 정확하지 않을 수 있습니다.">
              <a:extLst>
                <a:ext uri="{FF2B5EF4-FFF2-40B4-BE49-F238E27FC236}">
                  <a16:creationId xmlns:a16="http://schemas.microsoft.com/office/drawing/2014/main" id="{0D02E9CA-4580-EDD8-ABD1-9E564D5FF1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13978" y="1589201"/>
              <a:ext cx="392948" cy="392948"/>
            </a:xfrm>
            <a:prstGeom prst="rect">
              <a:avLst/>
            </a:prstGeom>
          </p:spPr>
        </p:pic>
        <p:pic>
          <p:nvPicPr>
            <p:cNvPr id="63" name="그림 62" descr="블랙, 어둠이(가) 표시된 사진&#10;&#10;AI 생성 콘텐츠는 정확하지 않을 수 있습니다.">
              <a:extLst>
                <a:ext uri="{FF2B5EF4-FFF2-40B4-BE49-F238E27FC236}">
                  <a16:creationId xmlns:a16="http://schemas.microsoft.com/office/drawing/2014/main" id="{0A23E003-AA20-0EB5-324F-D574679FC9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14029" y="1589201"/>
              <a:ext cx="392948" cy="392948"/>
            </a:xfrm>
            <a:prstGeom prst="rect">
              <a:avLst/>
            </a:prstGeom>
          </p:spPr>
        </p:pic>
        <p:pic>
          <p:nvPicPr>
            <p:cNvPr id="64" name="그림 63" descr="블랙, 어둠이(가) 표시된 사진&#10;&#10;AI 생성 콘텐츠는 정확하지 않을 수 있습니다.">
              <a:extLst>
                <a:ext uri="{FF2B5EF4-FFF2-40B4-BE49-F238E27FC236}">
                  <a16:creationId xmlns:a16="http://schemas.microsoft.com/office/drawing/2014/main" id="{B0624B3E-8201-57BF-749A-667047310C9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00962" y="1589201"/>
              <a:ext cx="392948" cy="392948"/>
            </a:xfrm>
            <a:prstGeom prst="rect">
              <a:avLst/>
            </a:prstGeom>
          </p:spPr>
        </p:pic>
        <p:sp>
          <p:nvSpPr>
            <p:cNvPr id="65" name="TextBox 64">
              <a:extLst>
                <a:ext uri="{FF2B5EF4-FFF2-40B4-BE49-F238E27FC236}">
                  <a16:creationId xmlns:a16="http://schemas.microsoft.com/office/drawing/2014/main" id="{2280255A-437B-434E-E660-3121C904E189}"/>
                </a:ext>
              </a:extLst>
            </p:cNvPr>
            <p:cNvSpPr txBox="1"/>
            <p:nvPr/>
          </p:nvSpPr>
          <p:spPr>
            <a:xfrm>
              <a:off x="5804244" y="1614598"/>
              <a:ext cx="576446" cy="323165"/>
            </a:xfrm>
            <a:prstGeom prst="rect">
              <a:avLst/>
            </a:prstGeom>
            <a:noFill/>
          </p:spPr>
          <p:txBody>
            <a:bodyPr wrap="square" rtlCol="0">
              <a:spAutoFit/>
            </a:bodyPr>
            <a:lstStyle/>
            <a:p>
              <a:pPr algn="ctr"/>
              <a:r>
                <a:rPr lang="en-US" altLang="ko-KR" sz="1500">
                  <a:latin typeface="Times New Roman" panose="02020603050405020304" pitchFamily="18" charset="0"/>
                  <a:cs typeface="Times New Roman" panose="02020603050405020304" pitchFamily="18" charset="0"/>
                </a:rPr>
                <a:t>…</a:t>
              </a:r>
              <a:endParaRPr lang="ko-KR" altLang="en-US" sz="1500">
                <a:latin typeface="Times New Roman" panose="02020603050405020304" pitchFamily="18" charset="0"/>
                <a:cs typeface="Times New Roman" panose="02020603050405020304" pitchFamily="18" charset="0"/>
              </a:endParaRPr>
            </a:p>
          </p:txBody>
        </p:sp>
        <p:sp>
          <p:nvSpPr>
            <p:cNvPr id="66" name="직사각형 65">
              <a:extLst>
                <a:ext uri="{FF2B5EF4-FFF2-40B4-BE49-F238E27FC236}">
                  <a16:creationId xmlns:a16="http://schemas.microsoft.com/office/drawing/2014/main" id="{CDFD2204-0B51-E333-3485-40991899A021}"/>
                </a:ext>
              </a:extLst>
            </p:cNvPr>
            <p:cNvSpPr/>
            <p:nvPr/>
          </p:nvSpPr>
          <p:spPr>
            <a:xfrm>
              <a:off x="2588080" y="473867"/>
              <a:ext cx="1400780" cy="486085"/>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2FD16A54-BE50-D441-4D1B-3BD970BBD58D}"/>
                </a:ext>
              </a:extLst>
            </p:cNvPr>
            <p:cNvSpPr txBox="1"/>
            <p:nvPr/>
          </p:nvSpPr>
          <p:spPr>
            <a:xfrm>
              <a:off x="2694502" y="356385"/>
              <a:ext cx="1187935" cy="276999"/>
            </a:xfrm>
            <a:prstGeom prst="rect">
              <a:avLst/>
            </a:prstGeom>
            <a:solidFill>
              <a:schemeClr val="bg1"/>
            </a:solidFill>
            <a:ln>
              <a:solidFill>
                <a:schemeClr val="tx1"/>
              </a:solidFill>
            </a:ln>
          </p:spPr>
          <p:txBody>
            <a:bodyPr wrap="square">
              <a:spAutoFit/>
            </a:bodyPr>
            <a:lstStyle/>
            <a:p>
              <a:pPr algn="ctr"/>
              <a:r>
                <a:rPr lang="en-US" altLang="ko-KR" sz="1200" b="1">
                  <a:latin typeface="Times New Roman" panose="02020603050405020304" pitchFamily="18" charset="0"/>
                  <a:cs typeface="Times New Roman" panose="02020603050405020304" pitchFamily="18" charset="0"/>
                </a:rPr>
                <a:t>Policy</a:t>
              </a:r>
              <a:endParaRPr lang="ko-KR" altLang="en-US" sz="1200" b="1" dirty="0">
                <a:latin typeface="Times New Roman" panose="02020603050405020304" pitchFamily="18" charset="0"/>
                <a:cs typeface="Times New Roman" panose="02020603050405020304" pitchFamily="18" charset="0"/>
              </a:endParaRPr>
            </a:p>
          </p:txBody>
        </p:sp>
        <p:sp>
          <p:nvSpPr>
            <p:cNvPr id="68" name="TextBox 67">
              <a:extLst>
                <a:ext uri="{FF2B5EF4-FFF2-40B4-BE49-F238E27FC236}">
                  <a16:creationId xmlns:a16="http://schemas.microsoft.com/office/drawing/2014/main" id="{3D81F5AD-E473-DA20-D433-A144ADBD387C}"/>
                </a:ext>
              </a:extLst>
            </p:cNvPr>
            <p:cNvSpPr txBox="1"/>
            <p:nvPr/>
          </p:nvSpPr>
          <p:spPr>
            <a:xfrm>
              <a:off x="2702384" y="581922"/>
              <a:ext cx="1187935" cy="308418"/>
            </a:xfrm>
            <a:prstGeom prst="rect">
              <a:avLst/>
            </a:prstGeom>
            <a:noFill/>
            <a:ln w="12700">
              <a:noFill/>
            </a:ln>
          </p:spPr>
          <p:txBody>
            <a:bodyPr wrap="square" rtlCol="0" anchor="ctr">
              <a:spAutoFit/>
            </a:bodyPr>
            <a:lstStyle/>
            <a:p>
              <a:pPr algn="ctr">
                <a:lnSpc>
                  <a:spcPct val="130000"/>
                </a:lnSpc>
              </a:pPr>
              <a:r>
                <a:rPr lang="en-US" altLang="ko-KR" sz="1200" b="1">
                  <a:solidFill>
                    <a:srgbClr val="C00000"/>
                  </a:solidFill>
                  <a:latin typeface="Times New Roman" panose="02020603050405020304" pitchFamily="18" charset="0"/>
                  <a:cs typeface="Times New Roman" panose="02020603050405020304" pitchFamily="18" charset="0"/>
                </a:rPr>
                <a:t>Require</a:t>
              </a:r>
            </a:p>
          </p:txBody>
        </p:sp>
        <p:cxnSp>
          <p:nvCxnSpPr>
            <p:cNvPr id="69" name="직선 연결선 68">
              <a:extLst>
                <a:ext uri="{FF2B5EF4-FFF2-40B4-BE49-F238E27FC236}">
                  <a16:creationId xmlns:a16="http://schemas.microsoft.com/office/drawing/2014/main" id="{A3A14D63-C3B0-E5E0-A343-7E9459F4B98B}"/>
                </a:ext>
              </a:extLst>
            </p:cNvPr>
            <p:cNvCxnSpPr>
              <a:cxnSpLocks/>
              <a:stCxn id="66" idx="2"/>
              <a:endCxn id="50" idx="0"/>
            </p:cNvCxnSpPr>
            <p:nvPr/>
          </p:nvCxnSpPr>
          <p:spPr>
            <a:xfrm>
              <a:off x="3288470" y="959952"/>
              <a:ext cx="0" cy="43970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AE01A1CA-A643-2C75-12C5-7B58A7025AAC}"/>
                </a:ext>
              </a:extLst>
            </p:cNvPr>
            <p:cNvSpPr txBox="1"/>
            <p:nvPr/>
          </p:nvSpPr>
          <p:spPr>
            <a:xfrm>
              <a:off x="3311356" y="993849"/>
              <a:ext cx="1142161" cy="326436"/>
            </a:xfrm>
            <a:prstGeom prst="rect">
              <a:avLst/>
            </a:prstGeom>
            <a:noFill/>
            <a:ln w="12700">
              <a:noFill/>
            </a:ln>
          </p:spPr>
          <p:txBody>
            <a:bodyPr wrap="square" rtlCol="0" anchor="ctr">
              <a:spAutoFit/>
            </a:bodyPr>
            <a:lstStyle>
              <a:defPPr>
                <a:defRPr lang="ko-KR"/>
              </a:defPPr>
              <a:lvl1pPr>
                <a:lnSpc>
                  <a:spcPct val="130000"/>
                </a:lnSpc>
                <a:defRPr sz="1300" b="1">
                  <a:solidFill>
                    <a:srgbClr val="C00000"/>
                  </a:solidFill>
                  <a:latin typeface="Times New Roman" panose="02020603050405020304" pitchFamily="18" charset="0"/>
                  <a:cs typeface="Times New Roman" panose="02020603050405020304" pitchFamily="18" charset="0"/>
                </a:defRPr>
              </a:lvl1pPr>
            </a:lstStyle>
            <a:p>
              <a:r>
                <a:rPr lang="en-US" altLang="ko-KR"/>
                <a:t>Hot Reload</a:t>
              </a:r>
            </a:p>
          </p:txBody>
        </p:sp>
        <p:sp>
          <p:nvSpPr>
            <p:cNvPr id="71" name="TextBox 70">
              <a:extLst>
                <a:ext uri="{FF2B5EF4-FFF2-40B4-BE49-F238E27FC236}">
                  <a16:creationId xmlns:a16="http://schemas.microsoft.com/office/drawing/2014/main" id="{92876E6A-A889-BCAC-0608-48C2BD5C972E}"/>
                </a:ext>
              </a:extLst>
            </p:cNvPr>
            <p:cNvSpPr txBox="1"/>
            <p:nvPr/>
          </p:nvSpPr>
          <p:spPr>
            <a:xfrm>
              <a:off x="2648894" y="1363239"/>
              <a:ext cx="1294916" cy="548483"/>
            </a:xfrm>
            <a:prstGeom prst="rect">
              <a:avLst/>
            </a:prstGeom>
            <a:noFill/>
            <a:ln w="12700">
              <a:noFill/>
            </a:ln>
          </p:spPr>
          <p:txBody>
            <a:bodyPr wrap="square" rtlCol="0" anchor="ctr">
              <a:spAutoFit/>
            </a:bodyPr>
            <a:lstStyle/>
            <a:p>
              <a:pPr algn="ctr">
                <a:lnSpc>
                  <a:spcPct val="130000"/>
                </a:lnSpc>
              </a:pPr>
              <a:r>
                <a:rPr lang="en-US" altLang="ko-KR" sz="1200" b="1">
                  <a:solidFill>
                    <a:srgbClr val="C00000"/>
                  </a:solidFill>
                  <a:latin typeface="Times New Roman" panose="02020603050405020304" pitchFamily="18" charset="0"/>
                  <a:cs typeface="Times New Roman" panose="02020603050405020304" pitchFamily="18" charset="0"/>
                </a:rPr>
                <a:t>v2 Servers (PQC)</a:t>
              </a:r>
            </a:p>
            <a:p>
              <a:pPr algn="ctr">
                <a:lnSpc>
                  <a:spcPct val="130000"/>
                </a:lnSpc>
              </a:pPr>
              <a:r>
                <a:rPr lang="en-US" altLang="ko-KR" sz="1200" b="1">
                  <a:solidFill>
                    <a:srgbClr val="C00000"/>
                  </a:solidFill>
                  <a:latin typeface="Times New Roman" panose="02020603050405020304" pitchFamily="18" charset="0"/>
                  <a:cs typeface="Times New Roman" panose="02020603050405020304" pitchFamily="18" charset="0"/>
                </a:rPr>
                <a:t>Exclusively Use</a:t>
              </a:r>
            </a:p>
          </p:txBody>
        </p:sp>
        <p:sp>
          <p:nvSpPr>
            <p:cNvPr id="72" name="TextBox 71">
              <a:extLst>
                <a:ext uri="{FF2B5EF4-FFF2-40B4-BE49-F238E27FC236}">
                  <a16:creationId xmlns:a16="http://schemas.microsoft.com/office/drawing/2014/main" id="{0240F0F4-7788-CCEC-A96F-D21FC36EC2F2}"/>
                </a:ext>
              </a:extLst>
            </p:cNvPr>
            <p:cNvSpPr txBox="1"/>
            <p:nvPr/>
          </p:nvSpPr>
          <p:spPr>
            <a:xfrm>
              <a:off x="5266791" y="1289115"/>
              <a:ext cx="1348588" cy="308418"/>
            </a:xfrm>
            <a:prstGeom prst="rect">
              <a:avLst/>
            </a:prstGeom>
            <a:noFill/>
            <a:ln w="12700">
              <a:noFill/>
            </a:ln>
          </p:spPr>
          <p:txBody>
            <a:bodyPr wrap="square" rtlCol="0" anchor="ctr">
              <a:spAutoFit/>
            </a:bodyPr>
            <a:lstStyle/>
            <a:p>
              <a:pPr algn="ctr">
                <a:lnSpc>
                  <a:spcPct val="130000"/>
                </a:lnSpc>
              </a:pPr>
              <a:r>
                <a:rPr lang="en-US" altLang="ko-KR" sz="1200" b="1">
                  <a:solidFill>
                    <a:srgbClr val="C00000"/>
                  </a:solidFill>
                  <a:latin typeface="Times New Roman" panose="02020603050405020304" pitchFamily="18" charset="0"/>
                  <a:cs typeface="Times New Roman" panose="02020603050405020304" pitchFamily="18" charset="0"/>
                </a:rPr>
                <a:t>v2: PQC Server</a:t>
              </a:r>
            </a:p>
          </p:txBody>
        </p:sp>
      </p:grpSp>
      <p:sp>
        <p:nvSpPr>
          <p:cNvPr id="2" name="TextBox 1">
            <a:extLst>
              <a:ext uri="{FF2B5EF4-FFF2-40B4-BE49-F238E27FC236}">
                <a16:creationId xmlns:a16="http://schemas.microsoft.com/office/drawing/2014/main" id="{18CDDA4D-5774-0656-A69B-F140CF7B5546}"/>
              </a:ext>
            </a:extLst>
          </p:cNvPr>
          <p:cNvSpPr txBox="1"/>
          <p:nvPr/>
        </p:nvSpPr>
        <p:spPr>
          <a:xfrm>
            <a:off x="1935678" y="5656202"/>
            <a:ext cx="8324602" cy="369332"/>
          </a:xfrm>
          <a:prstGeom prst="rect">
            <a:avLst/>
          </a:prstGeom>
          <a:noFill/>
        </p:spPr>
        <p:txBody>
          <a:bodyPr wrap="square" rtlCol="0">
            <a:spAutoFit/>
          </a:bodyPr>
          <a:lstStyle/>
          <a:p>
            <a:pPr algn="ctr"/>
            <a:r>
              <a:rPr lang="en-US" altLang="ko-KR" b="1"/>
              <a:t>Fig: </a:t>
            </a:r>
            <a:r>
              <a:rPr lang="en-US" altLang="ko-KR"/>
              <a:t> All classical TLS clients are routed to PQC TLS servers.</a:t>
            </a:r>
            <a:endParaRPr lang="ko-KR" altLang="en-US"/>
          </a:p>
        </p:txBody>
      </p:sp>
    </p:spTree>
    <p:extLst>
      <p:ext uri="{BB962C8B-B14F-4D97-AF65-F5344CB8AC3E}">
        <p14:creationId xmlns:p14="http://schemas.microsoft.com/office/powerpoint/2010/main" val="1370657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32632-26AA-B34B-C01D-DB2AEE913C87}"/>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5B529B37-99BA-F64F-ED3D-A2C16481CFBF}"/>
              </a:ext>
            </a:extLst>
          </p:cNvPr>
          <p:cNvSpPr>
            <a:spLocks noGrp="1"/>
          </p:cNvSpPr>
          <p:nvPr>
            <p:ph idx="1"/>
          </p:nvPr>
        </p:nvSpPr>
        <p:spPr>
          <a:xfrm>
            <a:off x="581190" y="1484417"/>
            <a:ext cx="11029615" cy="1944584"/>
          </a:xfrm>
        </p:spPr>
        <p:txBody>
          <a:bodyPr rtlCol="0">
            <a:noAutofit/>
          </a:bodyPr>
          <a:lstStyle/>
          <a:p>
            <a:pPr marL="0" indent="0">
              <a:buNone/>
            </a:pPr>
            <a:r>
              <a:rPr lang="en-US" altLang="ko-KR" sz="2400" b="1"/>
              <a:t>The system performs periodic safety evaluations over a </a:t>
            </a:r>
            <a:r>
              <a:rPr lang="en-US" altLang="ko-KR" sz="2400" b="1">
                <a:solidFill>
                  <a:srgbClr val="FF0000"/>
                </a:solidFill>
              </a:rPr>
              <a:t>Long Window </a:t>
            </a:r>
            <a:r>
              <a:rPr lang="en-US" altLang="ko-KR" sz="2400" b="1"/>
              <a:t>and short-term rollback assessments over a </a:t>
            </a:r>
            <a:r>
              <a:rPr lang="en-US" altLang="ko-KR" sz="2400" b="1">
                <a:solidFill>
                  <a:srgbClr val="FF0000"/>
                </a:solidFill>
              </a:rPr>
              <a:t>Short Window</a:t>
            </a:r>
            <a:r>
              <a:rPr lang="en-US" altLang="ko-KR" sz="2400" b="1"/>
              <a:t>.</a:t>
            </a:r>
          </a:p>
          <a:p>
            <a:r>
              <a:rPr lang="en-US" altLang="ko-KR" sz="1800"/>
              <a:t>Long Window(1 hour): </a:t>
            </a:r>
            <a:r>
              <a:rPr lang="en-US" altLang="ko-KR"/>
              <a:t>This is </a:t>
            </a:r>
            <a:r>
              <a:rPr lang="en-US" altLang="ko-KR">
                <a:solidFill>
                  <a:srgbClr val="FF0000"/>
                </a:solidFill>
              </a:rPr>
              <a:t>to evaluate whether stable operation </a:t>
            </a:r>
            <a:r>
              <a:rPr lang="en-US" altLang="ko-KR"/>
              <a:t>is maintained after the migration.</a:t>
            </a:r>
          </a:p>
          <a:p>
            <a:pPr lvl="1"/>
            <a:endParaRPr lang="en-US" altLang="ko-KR" sz="1800"/>
          </a:p>
        </p:txBody>
      </p:sp>
      <p:sp>
        <p:nvSpPr>
          <p:cNvPr id="6" name="TextBox 5">
            <a:extLst>
              <a:ext uri="{FF2B5EF4-FFF2-40B4-BE49-F238E27FC236}">
                <a16:creationId xmlns:a16="http://schemas.microsoft.com/office/drawing/2014/main" id="{9714F06A-FE75-2629-C8FA-46FA7030AF55}"/>
              </a:ext>
            </a:extLst>
          </p:cNvPr>
          <p:cNvSpPr txBox="1"/>
          <p:nvPr/>
        </p:nvSpPr>
        <p:spPr>
          <a:xfrm>
            <a:off x="581192" y="698741"/>
            <a:ext cx="11029615" cy="584775"/>
          </a:xfrm>
          <a:prstGeom prst="rect">
            <a:avLst/>
          </a:prstGeom>
          <a:noFill/>
        </p:spPr>
        <p:txBody>
          <a:bodyPr wrap="square" rtlCol="0">
            <a:spAutoFit/>
          </a:bodyPr>
          <a:lstStyle/>
          <a:p>
            <a:r>
              <a:rPr lang="en-US" altLang="ko-KR" sz="3200" b="1">
                <a:solidFill>
                  <a:schemeClr val="bg1"/>
                </a:solidFill>
                <a:latin typeface="+mj-lt"/>
              </a:rPr>
              <a:t>Policy Criteria: Rollback Condition, Long Window</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AE38CB86-4CA8-D446-8C75-F98261CB885E}"/>
              </a:ext>
            </a:extLst>
          </p:cNvPr>
          <p:cNvSpPr>
            <a:spLocks noGrp="1"/>
          </p:cNvSpPr>
          <p:nvPr>
            <p:ph type="sldNum" sz="quarter" idx="12"/>
          </p:nvPr>
        </p:nvSpPr>
        <p:spPr>
          <a:xfrm>
            <a:off x="10558300" y="5736975"/>
            <a:ext cx="1052508" cy="365125"/>
          </a:xfrm>
        </p:spPr>
        <p:txBody>
          <a:bodyPr/>
          <a:lstStyle/>
          <a:p>
            <a:pPr rtl="0"/>
            <a:fld id="{401CF334-2D5C-4859-84A6-CA7E6E43FAEB}" type="slidenum">
              <a:rPr lang="en-US" altLang="ko-KR" smtClean="0"/>
              <a:t>17</a:t>
            </a:fld>
            <a:endParaRPr lang="ko-KR" altLang="en-US" dirty="0"/>
          </a:p>
        </p:txBody>
      </p:sp>
      <mc:AlternateContent xmlns:mc="http://schemas.openxmlformats.org/markup-compatibility/2006">
        <mc:Choice xmlns:a14="http://schemas.microsoft.com/office/drawing/2010/main" Requires="a14">
          <p:graphicFrame>
            <p:nvGraphicFramePr>
              <p:cNvPr id="9" name="표 8">
                <a:extLst>
                  <a:ext uri="{FF2B5EF4-FFF2-40B4-BE49-F238E27FC236}">
                    <a16:creationId xmlns:a16="http://schemas.microsoft.com/office/drawing/2014/main" id="{8A4DF81D-9EBC-9197-4DB1-87B99A1576AE}"/>
                  </a:ext>
                </a:extLst>
              </p:cNvPr>
              <p:cNvGraphicFramePr>
                <a:graphicFrameLocks noGrp="1"/>
              </p:cNvGraphicFramePr>
              <p:nvPr>
                <p:extLst>
                  <p:ext uri="{D42A27DB-BD31-4B8C-83A1-F6EECF244321}">
                    <p14:modId xmlns:p14="http://schemas.microsoft.com/office/powerpoint/2010/main" val="3323968372"/>
                  </p:ext>
                </p:extLst>
              </p:nvPr>
            </p:nvGraphicFramePr>
            <p:xfrm>
              <a:off x="1411842" y="3187532"/>
              <a:ext cx="9368313" cy="2286000"/>
            </p:xfrm>
            <a:graphic>
              <a:graphicData uri="http://schemas.openxmlformats.org/drawingml/2006/table">
                <a:tbl>
                  <a:tblPr firstRow="1" bandRow="1">
                    <a:tableStyleId>{8799B23B-EC83-4686-B30A-512413B5E67A}</a:tableStyleId>
                  </a:tblPr>
                  <a:tblGrid>
                    <a:gridCol w="2480623">
                      <a:extLst>
                        <a:ext uri="{9D8B030D-6E8A-4147-A177-3AD203B41FA5}">
                          <a16:colId xmlns:a16="http://schemas.microsoft.com/office/drawing/2014/main" val="3144330054"/>
                        </a:ext>
                      </a:extLst>
                    </a:gridCol>
                    <a:gridCol w="2600696">
                      <a:extLst>
                        <a:ext uri="{9D8B030D-6E8A-4147-A177-3AD203B41FA5}">
                          <a16:colId xmlns:a16="http://schemas.microsoft.com/office/drawing/2014/main" val="1903691691"/>
                        </a:ext>
                      </a:extLst>
                    </a:gridCol>
                    <a:gridCol w="4286994">
                      <a:extLst>
                        <a:ext uri="{9D8B030D-6E8A-4147-A177-3AD203B41FA5}">
                          <a16:colId xmlns:a16="http://schemas.microsoft.com/office/drawing/2014/main" val="1496100485"/>
                        </a:ext>
                      </a:extLst>
                    </a:gridCol>
                  </a:tblGrid>
                  <a:tr h="0">
                    <a:tc>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solidFill>
                                <a:schemeClr val="tx1"/>
                              </a:solidFill>
                            </a:rPr>
                            <a:t>Rollback Condition</a:t>
                          </a:r>
                          <a:endParaRPr lang="ko-KR" altLang="en-US">
                            <a:solidFill>
                              <a:schemeClr val="tx1"/>
                            </a:solidFill>
                          </a:endParaRPr>
                        </a:p>
                      </a:txBody>
                      <a:tcPr anchor="ctr">
                        <a:noFill/>
                      </a:tcPr>
                    </a:tc>
                    <a:tc>
                      <a:txBody>
                        <a:bodyPr/>
                        <a:lstStyle/>
                        <a:p>
                          <a:pPr latinLnBrk="1"/>
                          <a:r>
                            <a:rPr lang="en-US" altLang="ko-KR">
                              <a:solidFill>
                                <a:schemeClr val="tx1"/>
                              </a:solidFill>
                            </a:rPr>
                            <a:t>Evaluation Criteria</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370840">
                    <a:tc>
                      <a:txBody>
                        <a:bodyPr/>
                        <a:lstStyle/>
                        <a:p>
                          <a:pPr latinLnBrk="1"/>
                          <a:r>
                            <a:rPr lang="en-US" altLang="ko-KR">
                              <a:solidFill>
                                <a:schemeClr val="tx1"/>
                              </a:solidFill>
                            </a:rPr>
                            <a:t>Client Compatibility</a:t>
                          </a:r>
                          <a:endParaRPr lang="ko-KR" altLang="en-US">
                            <a:solidFill>
                              <a:schemeClr val="tx1"/>
                            </a:solidFill>
                          </a:endParaRPr>
                        </a:p>
                      </a:txBody>
                      <a:tcPr anchor="ctr">
                        <a:lnL w="12700" cmpd="sng">
                          <a:noFill/>
                        </a:lnL>
                        <a:noFill/>
                      </a:tcPr>
                    </a:tc>
                    <a:tc>
                      <a:txBody>
                        <a:bodyPr/>
                        <a:lstStyle/>
                        <a:p>
                          <a:pPr latinLnBrk="1"/>
                          <a14:m>
                            <m:oMathPara xmlns:m="http://schemas.openxmlformats.org/officeDocument/2006/math">
                              <m:oMathParaPr>
                                <m:jc m:val="centerGroup"/>
                              </m:oMathParaPr>
                              <m:oMath xmlns:m="http://schemas.openxmlformats.org/officeDocument/2006/math">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𝑆</m:t>
                                    </m:r>
                                  </m:e>
                                  <m:sub>
                                    <m:r>
                                      <a:rPr lang="en-US" altLang="ko-KR" b="0" i="1" smtClean="0">
                                        <a:solidFill>
                                          <a:schemeClr val="tx1"/>
                                        </a:solidFill>
                                        <a:latin typeface="Cambria Math" panose="02040503050406030204" pitchFamily="18" charset="0"/>
                                      </a:rPr>
                                      <m:t>𝑝𝑞𝑐</m:t>
                                    </m:r>
                                  </m:sub>
                                </m:sSub>
                                <m:r>
                                  <a:rPr lang="en-US" altLang="ko-KR" b="0" i="1" smtClean="0">
                                    <a:solidFill>
                                      <a:schemeClr val="tx1"/>
                                    </a:solidFill>
                                    <a:latin typeface="Cambria Math" panose="02040503050406030204" pitchFamily="18" charset="0"/>
                                  </a:rPr>
                                  <m:t>&lt; </m:t>
                                </m:r>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𝑆</m:t>
                                    </m:r>
                                  </m:e>
                                  <m:sub>
                                    <m:r>
                                      <a:rPr lang="en-US" altLang="ko-KR" b="0" i="1" smtClean="0">
                                        <a:solidFill>
                                          <a:schemeClr val="tx1"/>
                                        </a:solidFill>
                                        <a:latin typeface="Cambria Math" panose="02040503050406030204" pitchFamily="18" charset="0"/>
                                      </a:rPr>
                                      <m:t>𝑝𝑟𝑒𝑓𝑒𝑟</m:t>
                                    </m:r>
                                  </m:sub>
                                </m:sSub>
                                <m:r>
                                  <a:rPr lang="en-US" altLang="ko-KR" b="0" i="1" smtClean="0">
                                    <a:solidFill>
                                      <a:schemeClr val="tx1"/>
                                    </a:solidFill>
                                    <a:latin typeface="Cambria Math" panose="02040503050406030204" pitchFamily="18" charset="0"/>
                                  </a:rPr>
                                  <m:t> −5 %</m:t>
                                </m:r>
                              </m:oMath>
                            </m:oMathPara>
                          </a14:m>
                          <a:endParaRPr lang="ko-KR" altLang="en-US">
                            <a:solidFill>
                              <a:schemeClr val="tx1"/>
                            </a:solidFill>
                          </a:endParaRPr>
                        </a:p>
                      </a:txBody>
                      <a:tcPr anchor="ctr">
                        <a:noFill/>
                      </a:tcPr>
                    </a:tc>
                    <a:tc>
                      <a:txBody>
                        <a:bodyPr/>
                        <a:lstStyle/>
                        <a:p>
                          <a:pPr latinLnBrk="1"/>
                          <a:r>
                            <a:rPr lang="en-US" altLang="ko-KR">
                              <a:solidFill>
                                <a:schemeClr val="tx1"/>
                              </a:solidFill>
                            </a:rPr>
                            <a:t>PQC Communication success rate compared to the prefer baseline</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496333">
                    <a:tc>
                      <a:txBody>
                        <a:bodyPr/>
                        <a:lstStyle/>
                        <a:p>
                          <a:pPr latinLnBrk="1"/>
                          <a:r>
                            <a:rPr lang="en-US" altLang="ko-KR">
                              <a:solidFill>
                                <a:schemeClr val="tx1"/>
                              </a:solidFill>
                            </a:rPr>
                            <a:t>Latency</a:t>
                          </a:r>
                          <a:endParaRPr lang="ko-KR" altLang="en-US">
                            <a:solidFill>
                              <a:schemeClr val="tx1"/>
                            </a:solidFill>
                          </a:endParaRPr>
                        </a:p>
                      </a:txBody>
                      <a:tcPr anchor="ctr">
                        <a:lnL w="12700" cmpd="sng">
                          <a:noFill/>
                        </a:lnL>
                        <a:noFill/>
                      </a:tcPr>
                    </a:tc>
                    <a:tc>
                      <a:txBody>
                        <a:bodyPr/>
                        <a:lstStyle/>
                        <a:p>
                          <a:pPr latinLnBrk="1"/>
                          <a14:m>
                            <m:oMathPara xmlns:m="http://schemas.openxmlformats.org/officeDocument/2006/math">
                              <m:oMathParaPr>
                                <m:jc m:val="centerGroup"/>
                              </m:oMathParaPr>
                              <m:oMath xmlns:m="http://schemas.openxmlformats.org/officeDocument/2006/math">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𝑅</m:t>
                                    </m:r>
                                  </m:e>
                                  <m:sub>
                                    <m:r>
                                      <a:rPr lang="en-US" altLang="ko-KR" b="0" i="1" smtClean="0">
                                        <a:solidFill>
                                          <a:schemeClr val="tx1"/>
                                        </a:solidFill>
                                        <a:latin typeface="Cambria Math" panose="02040503050406030204" pitchFamily="18" charset="0"/>
                                      </a:rPr>
                                      <m:t>𝑑𝑒𝑙𝑎𝑦</m:t>
                                    </m:r>
                                  </m:sub>
                                </m:sSub>
                                <m:r>
                                  <a:rPr lang="en-US" altLang="ko-KR" b="0" i="1" smtClean="0">
                                    <a:solidFill>
                                      <a:schemeClr val="tx1"/>
                                    </a:solidFill>
                                    <a:latin typeface="Cambria Math" panose="02040503050406030204" pitchFamily="18" charset="0"/>
                                  </a:rPr>
                                  <m:t>&gt; 5 %</m:t>
                                </m:r>
                              </m:oMath>
                            </m:oMathPara>
                          </a14:m>
                          <a:endParaRPr lang="ko-KR" altLang="en-US">
                            <a:solidFill>
                              <a:schemeClr val="tx1"/>
                            </a:solidFill>
                          </a:endParaRPr>
                        </a:p>
                      </a:txBody>
                      <a:tcPr anchor="ctr">
                        <a:noFill/>
                      </a:tcPr>
                    </a:tc>
                    <a:tc>
                      <a:txBody>
                        <a:bodyPr/>
                        <a:lstStyle/>
                        <a:p>
                          <a:pPr latinLnBrk="1"/>
                          <a:r>
                            <a:rPr lang="en-US" altLang="ko-KR">
                              <a:solidFill>
                                <a:schemeClr val="tx1"/>
                              </a:solidFill>
                            </a:rPr>
                            <a:t>Average overhead ratio and proportion</a:t>
                          </a:r>
                        </a:p>
                        <a:p>
                          <a:pPr latinLnBrk="1"/>
                          <a:r>
                            <a:rPr lang="en-US" altLang="ko-KR">
                              <a:solidFill>
                                <a:schemeClr val="tx1"/>
                              </a:solidFill>
                            </a:rPr>
                            <a:t>of abnormal delay</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r h="370840">
                    <a:tc>
                      <a:txBody>
                        <a:bodyPr/>
                        <a:lstStyle/>
                        <a:p>
                          <a:pPr latinLnBrk="1"/>
                          <a:r>
                            <a:rPr lang="en-US" altLang="ko-KR">
                              <a:solidFill>
                                <a:schemeClr val="tx1"/>
                              </a:solidFill>
                            </a:rPr>
                            <a:t>Critical Error Rate</a:t>
                          </a:r>
                          <a:endParaRPr lang="ko-KR" altLang="en-US">
                            <a:solidFill>
                              <a:schemeClr val="tx1"/>
                            </a:solidFill>
                          </a:endParaRPr>
                        </a:p>
                      </a:txBody>
                      <a:tcPr anchor="ctr">
                        <a:lnL w="12700" cmpd="sng">
                          <a:noFill/>
                        </a:lnL>
                        <a:noFill/>
                      </a:tcPr>
                    </a:tc>
                    <a:tc>
                      <a:txBody>
                        <a:bodyPr/>
                        <a:lstStyle/>
                        <a:p>
                          <a:pPr latinLnBrk="1"/>
                          <a14:m>
                            <m:oMathPara xmlns:m="http://schemas.openxmlformats.org/officeDocument/2006/math">
                              <m:oMathParaPr>
                                <m:jc m:val="centerGroup"/>
                              </m:oMathParaPr>
                              <m:oMath xmlns:m="http://schemas.openxmlformats.org/officeDocument/2006/math">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𝐸</m:t>
                                    </m:r>
                                  </m:e>
                                  <m:sub>
                                    <m:r>
                                      <a:rPr lang="en-US" altLang="ko-KR" b="0" i="1" smtClean="0">
                                        <a:solidFill>
                                          <a:schemeClr val="tx1"/>
                                        </a:solidFill>
                                        <a:latin typeface="Cambria Math" panose="02040503050406030204" pitchFamily="18" charset="0"/>
                                      </a:rPr>
                                      <m:t>𝑓𝑎𝑖𝑙</m:t>
                                    </m:r>
                                  </m:sub>
                                </m:sSub>
                                <m:r>
                                  <a:rPr lang="en-US" altLang="ko-KR" b="0" i="1" smtClean="0">
                                    <a:solidFill>
                                      <a:schemeClr val="tx1"/>
                                    </a:solidFill>
                                    <a:latin typeface="Cambria Math" panose="02040503050406030204" pitchFamily="18" charset="0"/>
                                  </a:rPr>
                                  <m:t>&gt;0.1 %</m:t>
                                </m:r>
                              </m:oMath>
                            </m:oMathPara>
                          </a14:m>
                          <a:endParaRPr lang="ko-KR" altLang="en-US">
                            <a:solidFill>
                              <a:schemeClr val="tx1"/>
                            </a:solidFill>
                          </a:endParaRPr>
                        </a:p>
                      </a:txBody>
                      <a:tcPr anchor="ctr">
                        <a:noFill/>
                      </a:tcPr>
                    </a:tc>
                    <a:tc>
                      <a:txBody>
                        <a:bodyPr/>
                        <a:lstStyle/>
                        <a:p>
                          <a:pPr latinLnBrk="1"/>
                          <a:r>
                            <a:rPr lang="en-US" altLang="ko-KR">
                              <a:solidFill>
                                <a:schemeClr val="tx1"/>
                              </a:solidFill>
                            </a:rPr>
                            <a:t>Total connection failure rate including </a:t>
                          </a:r>
                        </a:p>
                        <a:p>
                          <a:pPr latinLnBrk="1"/>
                          <a:r>
                            <a:rPr lang="en-US" altLang="ko-KR">
                              <a:solidFill>
                                <a:schemeClr val="tx1"/>
                              </a:solidFill>
                            </a:rPr>
                            <a:t>handshake, authentication</a:t>
                          </a:r>
                        </a:p>
                      </a:txBody>
                      <a:tcPr anchor="ctr">
                        <a:lnR w="12700" cmpd="sng">
                          <a:noFill/>
                        </a:lnR>
                        <a:noFill/>
                      </a:tcPr>
                    </a:tc>
                    <a:extLst>
                      <a:ext uri="{0D108BD9-81ED-4DB2-BD59-A6C34878D82A}">
                        <a16:rowId xmlns:a16="http://schemas.microsoft.com/office/drawing/2014/main" val="1262219744"/>
                      </a:ext>
                    </a:extLst>
                  </a:tr>
                </a:tbl>
              </a:graphicData>
            </a:graphic>
          </p:graphicFrame>
        </mc:Choice>
        <mc:Fallback>
          <p:graphicFrame>
            <p:nvGraphicFramePr>
              <p:cNvPr id="9" name="표 8">
                <a:extLst>
                  <a:ext uri="{FF2B5EF4-FFF2-40B4-BE49-F238E27FC236}">
                    <a16:creationId xmlns:a16="http://schemas.microsoft.com/office/drawing/2014/main" id="{8A4DF81D-9EBC-9197-4DB1-87B99A1576AE}"/>
                  </a:ext>
                </a:extLst>
              </p:cNvPr>
              <p:cNvGraphicFramePr>
                <a:graphicFrameLocks noGrp="1"/>
              </p:cNvGraphicFramePr>
              <p:nvPr>
                <p:extLst>
                  <p:ext uri="{D42A27DB-BD31-4B8C-83A1-F6EECF244321}">
                    <p14:modId xmlns:p14="http://schemas.microsoft.com/office/powerpoint/2010/main" val="3323968372"/>
                  </p:ext>
                </p:extLst>
              </p:nvPr>
            </p:nvGraphicFramePr>
            <p:xfrm>
              <a:off x="1411842" y="3187532"/>
              <a:ext cx="9368313" cy="2286000"/>
            </p:xfrm>
            <a:graphic>
              <a:graphicData uri="http://schemas.openxmlformats.org/drawingml/2006/table">
                <a:tbl>
                  <a:tblPr firstRow="1" bandRow="1">
                    <a:tableStyleId>{8799B23B-EC83-4686-B30A-512413B5E67A}</a:tableStyleId>
                  </a:tblPr>
                  <a:tblGrid>
                    <a:gridCol w="2480623">
                      <a:extLst>
                        <a:ext uri="{9D8B030D-6E8A-4147-A177-3AD203B41FA5}">
                          <a16:colId xmlns:a16="http://schemas.microsoft.com/office/drawing/2014/main" val="3144330054"/>
                        </a:ext>
                      </a:extLst>
                    </a:gridCol>
                    <a:gridCol w="2600696">
                      <a:extLst>
                        <a:ext uri="{9D8B030D-6E8A-4147-A177-3AD203B41FA5}">
                          <a16:colId xmlns:a16="http://schemas.microsoft.com/office/drawing/2014/main" val="1903691691"/>
                        </a:ext>
                      </a:extLst>
                    </a:gridCol>
                    <a:gridCol w="4286994">
                      <a:extLst>
                        <a:ext uri="{9D8B030D-6E8A-4147-A177-3AD203B41FA5}">
                          <a16:colId xmlns:a16="http://schemas.microsoft.com/office/drawing/2014/main" val="1496100485"/>
                        </a:ext>
                      </a:extLst>
                    </a:gridCol>
                  </a:tblGrid>
                  <a:tr h="365760">
                    <a:tc>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solidFill>
                                <a:schemeClr val="tx1"/>
                              </a:solidFill>
                            </a:rPr>
                            <a:t>Rollback Condition</a:t>
                          </a:r>
                          <a:endParaRPr lang="ko-KR" altLang="en-US">
                            <a:solidFill>
                              <a:schemeClr val="tx1"/>
                            </a:solidFill>
                          </a:endParaRPr>
                        </a:p>
                      </a:txBody>
                      <a:tcPr anchor="ctr">
                        <a:noFill/>
                      </a:tcPr>
                    </a:tc>
                    <a:tc>
                      <a:txBody>
                        <a:bodyPr/>
                        <a:lstStyle/>
                        <a:p>
                          <a:pPr latinLnBrk="1"/>
                          <a:r>
                            <a:rPr lang="en-US" altLang="ko-KR">
                              <a:solidFill>
                                <a:schemeClr val="tx1"/>
                              </a:solidFill>
                            </a:rPr>
                            <a:t>Evaluation Criteria</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640080">
                    <a:tc>
                      <a:txBody>
                        <a:bodyPr/>
                        <a:lstStyle/>
                        <a:p>
                          <a:pPr latinLnBrk="1"/>
                          <a:r>
                            <a:rPr lang="en-US" altLang="ko-KR">
                              <a:solidFill>
                                <a:schemeClr val="tx1"/>
                              </a:solidFill>
                            </a:rPr>
                            <a:t>Client Compatibility</a:t>
                          </a:r>
                          <a:endParaRPr lang="ko-KR" altLang="en-US">
                            <a:solidFill>
                              <a:schemeClr val="tx1"/>
                            </a:solidFill>
                          </a:endParaRPr>
                        </a:p>
                      </a:txBody>
                      <a:tcPr anchor="ctr">
                        <a:lnL w="12700" cmpd="sng">
                          <a:noFill/>
                        </a:lnL>
                        <a:noFill/>
                      </a:tcPr>
                    </a:tc>
                    <a:tc>
                      <a:txBody>
                        <a:bodyPr/>
                        <a:lstStyle/>
                        <a:p>
                          <a:endParaRPr lang="ko-KR"/>
                        </a:p>
                      </a:txBody>
                      <a:tcPr anchor="ctr">
                        <a:blipFill>
                          <a:blip r:embed="rId3"/>
                          <a:stretch>
                            <a:fillRect l="-95316" t="-61905" r="-165340" b="-216190"/>
                          </a:stretch>
                        </a:blipFill>
                      </a:tcPr>
                    </a:tc>
                    <a:tc>
                      <a:txBody>
                        <a:bodyPr/>
                        <a:lstStyle/>
                        <a:p>
                          <a:pPr latinLnBrk="1"/>
                          <a:r>
                            <a:rPr lang="en-US" altLang="ko-KR">
                              <a:solidFill>
                                <a:schemeClr val="tx1"/>
                              </a:solidFill>
                            </a:rPr>
                            <a:t>PQC Communication success rate compared to the prefer baseline</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640080">
                    <a:tc>
                      <a:txBody>
                        <a:bodyPr/>
                        <a:lstStyle/>
                        <a:p>
                          <a:pPr latinLnBrk="1"/>
                          <a:r>
                            <a:rPr lang="en-US" altLang="ko-KR">
                              <a:solidFill>
                                <a:schemeClr val="tx1"/>
                              </a:solidFill>
                            </a:rPr>
                            <a:t>Latency</a:t>
                          </a:r>
                          <a:endParaRPr lang="ko-KR" altLang="en-US">
                            <a:solidFill>
                              <a:schemeClr val="tx1"/>
                            </a:solidFill>
                          </a:endParaRPr>
                        </a:p>
                      </a:txBody>
                      <a:tcPr anchor="ctr">
                        <a:lnL w="12700" cmpd="sng">
                          <a:noFill/>
                        </a:lnL>
                        <a:noFill/>
                      </a:tcPr>
                    </a:tc>
                    <a:tc>
                      <a:txBody>
                        <a:bodyPr/>
                        <a:lstStyle/>
                        <a:p>
                          <a:endParaRPr lang="ko-KR"/>
                        </a:p>
                      </a:txBody>
                      <a:tcPr anchor="ctr">
                        <a:blipFill>
                          <a:blip r:embed="rId3"/>
                          <a:stretch>
                            <a:fillRect l="-95316" t="-160377" r="-165340" b="-114151"/>
                          </a:stretch>
                        </a:blipFill>
                      </a:tcPr>
                    </a:tc>
                    <a:tc>
                      <a:txBody>
                        <a:bodyPr/>
                        <a:lstStyle/>
                        <a:p>
                          <a:pPr latinLnBrk="1"/>
                          <a:r>
                            <a:rPr lang="en-US" altLang="ko-KR">
                              <a:solidFill>
                                <a:schemeClr val="tx1"/>
                              </a:solidFill>
                            </a:rPr>
                            <a:t>Average overhead ratio and proportion</a:t>
                          </a:r>
                        </a:p>
                        <a:p>
                          <a:pPr latinLnBrk="1"/>
                          <a:r>
                            <a:rPr lang="en-US" altLang="ko-KR">
                              <a:solidFill>
                                <a:schemeClr val="tx1"/>
                              </a:solidFill>
                            </a:rPr>
                            <a:t>of abnormal delay</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r h="640080">
                    <a:tc>
                      <a:txBody>
                        <a:bodyPr/>
                        <a:lstStyle/>
                        <a:p>
                          <a:pPr latinLnBrk="1"/>
                          <a:r>
                            <a:rPr lang="en-US" altLang="ko-KR">
                              <a:solidFill>
                                <a:schemeClr val="tx1"/>
                              </a:solidFill>
                            </a:rPr>
                            <a:t>Critical Error Rate</a:t>
                          </a:r>
                          <a:endParaRPr lang="ko-KR" altLang="en-US">
                            <a:solidFill>
                              <a:schemeClr val="tx1"/>
                            </a:solidFill>
                          </a:endParaRPr>
                        </a:p>
                      </a:txBody>
                      <a:tcPr anchor="ctr">
                        <a:lnL w="12700" cmpd="sng">
                          <a:noFill/>
                        </a:lnL>
                        <a:noFill/>
                      </a:tcPr>
                    </a:tc>
                    <a:tc>
                      <a:txBody>
                        <a:bodyPr/>
                        <a:lstStyle/>
                        <a:p>
                          <a:endParaRPr lang="ko-KR"/>
                        </a:p>
                      </a:txBody>
                      <a:tcPr anchor="ctr">
                        <a:blipFill>
                          <a:blip r:embed="rId3"/>
                          <a:stretch>
                            <a:fillRect l="-95316" t="-262857" r="-165340" b="-15238"/>
                          </a:stretch>
                        </a:blipFill>
                      </a:tcPr>
                    </a:tc>
                    <a:tc>
                      <a:txBody>
                        <a:bodyPr/>
                        <a:lstStyle/>
                        <a:p>
                          <a:pPr latinLnBrk="1"/>
                          <a:r>
                            <a:rPr lang="en-US" altLang="ko-KR">
                              <a:solidFill>
                                <a:schemeClr val="tx1"/>
                              </a:solidFill>
                            </a:rPr>
                            <a:t>Total connection failure rate including </a:t>
                          </a:r>
                        </a:p>
                        <a:p>
                          <a:pPr latinLnBrk="1"/>
                          <a:r>
                            <a:rPr lang="en-US" altLang="ko-KR">
                              <a:solidFill>
                                <a:schemeClr val="tx1"/>
                              </a:solidFill>
                            </a:rPr>
                            <a:t>handshake, authentication</a:t>
                          </a:r>
                        </a:p>
                      </a:txBody>
                      <a:tcPr anchor="ctr">
                        <a:lnR w="12700" cmpd="sng">
                          <a:noFill/>
                        </a:lnR>
                        <a:noFill/>
                      </a:tcPr>
                    </a:tc>
                    <a:extLst>
                      <a:ext uri="{0D108BD9-81ED-4DB2-BD59-A6C34878D82A}">
                        <a16:rowId xmlns:a16="http://schemas.microsoft.com/office/drawing/2014/main" val="1262219744"/>
                      </a:ext>
                    </a:extLst>
                  </a:tr>
                </a:tbl>
              </a:graphicData>
            </a:graphic>
          </p:graphicFrame>
        </mc:Fallback>
      </mc:AlternateContent>
      <p:sp>
        <p:nvSpPr>
          <p:cNvPr id="4" name="TextBox 3">
            <a:extLst>
              <a:ext uri="{FF2B5EF4-FFF2-40B4-BE49-F238E27FC236}">
                <a16:creationId xmlns:a16="http://schemas.microsoft.com/office/drawing/2014/main" id="{12A19A40-8D66-4140-6977-953E01DCC2D1}"/>
              </a:ext>
            </a:extLst>
          </p:cNvPr>
          <p:cNvSpPr txBox="1"/>
          <p:nvPr/>
        </p:nvSpPr>
        <p:spPr>
          <a:xfrm>
            <a:off x="1935678" y="5492007"/>
            <a:ext cx="8324602" cy="369332"/>
          </a:xfrm>
          <a:prstGeom prst="rect">
            <a:avLst/>
          </a:prstGeom>
          <a:noFill/>
        </p:spPr>
        <p:txBody>
          <a:bodyPr wrap="square" rtlCol="0">
            <a:spAutoFit/>
          </a:bodyPr>
          <a:lstStyle/>
          <a:p>
            <a:pPr algn="ctr"/>
            <a:r>
              <a:rPr lang="en-US" altLang="ko-KR" b="1"/>
              <a:t>Table: </a:t>
            </a:r>
            <a:r>
              <a:rPr lang="en-US" altLang="ko-KR"/>
              <a:t>transition evaluation and rollback conditions in </a:t>
            </a:r>
            <a:r>
              <a:rPr lang="en-US" altLang="ko-KR">
                <a:solidFill>
                  <a:srgbClr val="FF0000"/>
                </a:solidFill>
              </a:rPr>
              <a:t>Long Window</a:t>
            </a:r>
            <a:r>
              <a:rPr lang="en-US" altLang="ko-KR"/>
              <a:t>.</a:t>
            </a:r>
            <a:endParaRPr lang="ko-KR" altLang="en-US"/>
          </a:p>
        </p:txBody>
      </p:sp>
      <p:sp>
        <p:nvSpPr>
          <p:cNvPr id="5" name="내용 개체 틀 1">
            <a:extLst>
              <a:ext uri="{FF2B5EF4-FFF2-40B4-BE49-F238E27FC236}">
                <a16:creationId xmlns:a16="http://schemas.microsoft.com/office/drawing/2014/main" id="{4223B766-D752-0BF3-C06F-65423A633F7C}"/>
              </a:ext>
            </a:extLst>
          </p:cNvPr>
          <p:cNvSpPr txBox="1">
            <a:spLocks/>
          </p:cNvSpPr>
          <p:nvPr/>
        </p:nvSpPr>
        <p:spPr>
          <a:xfrm>
            <a:off x="290592" y="5373583"/>
            <a:ext cx="11610810" cy="1944584"/>
          </a:xfrm>
          <a:prstGeom prst="rect">
            <a:avLst/>
          </a:prstGeom>
        </p:spPr>
        <p:txBody>
          <a:bodyPr vert="horz" lIns="91440" tIns="45720" rIns="91440" bIns="45720" rtlCol="0" anchor="ctr">
            <a:noAutofit/>
          </a:bodyPr>
          <a:lstStyle>
            <a:lvl1pPr marL="306000" indent="-306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altLang="ko-KR" sz="2400" b="1"/>
              <a:t>If defined thresholds are not met, the system </a:t>
            </a:r>
            <a:r>
              <a:rPr lang="en-US" altLang="ko-KR" sz="2400" b="1">
                <a:solidFill>
                  <a:srgbClr val="FF0000"/>
                </a:solidFill>
              </a:rPr>
              <a:t>rolls back to the previous phase</a:t>
            </a:r>
            <a:r>
              <a:rPr lang="en-US" altLang="ko-KR" sz="2400" b="1"/>
              <a:t>.</a:t>
            </a:r>
          </a:p>
        </p:txBody>
      </p:sp>
    </p:spTree>
    <p:extLst>
      <p:ext uri="{BB962C8B-B14F-4D97-AF65-F5344CB8AC3E}">
        <p14:creationId xmlns:p14="http://schemas.microsoft.com/office/powerpoint/2010/main" val="7625646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969C0-C066-075B-D20A-EF6572992F20}"/>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C92C7A5B-691D-AB68-307A-45A0F9F0FE63}"/>
              </a:ext>
            </a:extLst>
          </p:cNvPr>
          <p:cNvSpPr>
            <a:spLocks noGrp="1"/>
          </p:cNvSpPr>
          <p:nvPr>
            <p:ph idx="1"/>
          </p:nvPr>
        </p:nvSpPr>
        <p:spPr>
          <a:xfrm>
            <a:off x="581190" y="1484417"/>
            <a:ext cx="11029615" cy="1944584"/>
          </a:xfrm>
        </p:spPr>
        <p:txBody>
          <a:bodyPr rtlCol="0">
            <a:noAutofit/>
          </a:bodyPr>
          <a:lstStyle/>
          <a:p>
            <a:pPr marL="0" indent="0">
              <a:buNone/>
            </a:pPr>
            <a:r>
              <a:rPr lang="en-US" altLang="ko-KR" sz="2400" b="1"/>
              <a:t>The system performs periodic safety evaluations over a </a:t>
            </a:r>
            <a:r>
              <a:rPr lang="en-US" altLang="ko-KR" sz="2400" b="1">
                <a:solidFill>
                  <a:srgbClr val="FF0000"/>
                </a:solidFill>
              </a:rPr>
              <a:t>Long Window </a:t>
            </a:r>
            <a:r>
              <a:rPr lang="en-US" altLang="ko-KR" sz="2400" b="1"/>
              <a:t>and short-term rollback assessments over a </a:t>
            </a:r>
            <a:r>
              <a:rPr lang="en-US" altLang="ko-KR" sz="2400" b="1">
                <a:solidFill>
                  <a:srgbClr val="FF0000"/>
                </a:solidFill>
              </a:rPr>
              <a:t>Short Window</a:t>
            </a:r>
            <a:r>
              <a:rPr lang="en-US" altLang="ko-KR" sz="2400" b="1"/>
              <a:t>.</a:t>
            </a:r>
          </a:p>
          <a:p>
            <a:pPr lvl="1"/>
            <a:r>
              <a:rPr lang="en-US" altLang="ko-KR" sz="1800"/>
              <a:t>Short Window (5 minutes): Enables </a:t>
            </a:r>
            <a:r>
              <a:rPr lang="en-US" altLang="ko-KR" sz="1800">
                <a:solidFill>
                  <a:srgbClr val="FF0000"/>
                </a:solidFill>
              </a:rPr>
              <a:t>immediate rollback</a:t>
            </a:r>
            <a:r>
              <a:rPr lang="en-US" altLang="ko-KR" sz="1800"/>
              <a:t> upon detecting critical failures that threaten system continuity.</a:t>
            </a:r>
          </a:p>
        </p:txBody>
      </p:sp>
      <p:sp>
        <p:nvSpPr>
          <p:cNvPr id="6" name="TextBox 5">
            <a:extLst>
              <a:ext uri="{FF2B5EF4-FFF2-40B4-BE49-F238E27FC236}">
                <a16:creationId xmlns:a16="http://schemas.microsoft.com/office/drawing/2014/main" id="{5AB6BF83-E473-B80F-3024-7E4292738766}"/>
              </a:ext>
            </a:extLst>
          </p:cNvPr>
          <p:cNvSpPr txBox="1"/>
          <p:nvPr/>
        </p:nvSpPr>
        <p:spPr>
          <a:xfrm>
            <a:off x="581190" y="720275"/>
            <a:ext cx="11029615" cy="584775"/>
          </a:xfrm>
          <a:prstGeom prst="rect">
            <a:avLst/>
          </a:prstGeom>
          <a:noFill/>
        </p:spPr>
        <p:txBody>
          <a:bodyPr wrap="square" rtlCol="0">
            <a:spAutoFit/>
          </a:bodyPr>
          <a:lstStyle/>
          <a:p>
            <a:r>
              <a:rPr lang="en-US" altLang="ko-KR" sz="3200" b="1">
                <a:solidFill>
                  <a:schemeClr val="bg1"/>
                </a:solidFill>
                <a:latin typeface="+mj-lt"/>
              </a:rPr>
              <a:t>Policy Criteria: Rollback Condition, Short Window</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C4C0475C-E5DF-3A8A-65E6-9BB99D942704}"/>
              </a:ext>
            </a:extLst>
          </p:cNvPr>
          <p:cNvSpPr>
            <a:spLocks noGrp="1"/>
          </p:cNvSpPr>
          <p:nvPr>
            <p:ph type="sldNum" sz="quarter" idx="12"/>
          </p:nvPr>
        </p:nvSpPr>
        <p:spPr>
          <a:xfrm>
            <a:off x="10558300" y="5736975"/>
            <a:ext cx="1052508" cy="365125"/>
          </a:xfrm>
        </p:spPr>
        <p:txBody>
          <a:bodyPr/>
          <a:lstStyle/>
          <a:p>
            <a:pPr rtl="0"/>
            <a:fld id="{401CF334-2D5C-4859-84A6-CA7E6E43FAEB}" type="slidenum">
              <a:rPr lang="en-US" altLang="ko-KR" smtClean="0"/>
              <a:t>18</a:t>
            </a:fld>
            <a:endParaRPr lang="ko-KR" altLang="en-US" dirty="0"/>
          </a:p>
        </p:txBody>
      </p:sp>
      <mc:AlternateContent xmlns:mc="http://schemas.openxmlformats.org/markup-compatibility/2006" xmlns:a14="http://schemas.microsoft.com/office/drawing/2010/main">
        <mc:Choice Requires="a14">
          <p:graphicFrame>
            <p:nvGraphicFramePr>
              <p:cNvPr id="9" name="표 8">
                <a:extLst>
                  <a:ext uri="{FF2B5EF4-FFF2-40B4-BE49-F238E27FC236}">
                    <a16:creationId xmlns:a16="http://schemas.microsoft.com/office/drawing/2014/main" id="{2DA4E670-44A2-6BB4-DFA7-DC332BDFE61D}"/>
                  </a:ext>
                </a:extLst>
              </p:cNvPr>
              <p:cNvGraphicFramePr>
                <a:graphicFrameLocks noGrp="1"/>
              </p:cNvGraphicFramePr>
              <p:nvPr>
                <p:extLst>
                  <p:ext uri="{D42A27DB-BD31-4B8C-83A1-F6EECF244321}">
                    <p14:modId xmlns:p14="http://schemas.microsoft.com/office/powerpoint/2010/main" val="197932553"/>
                  </p:ext>
                </p:extLst>
              </p:nvPr>
            </p:nvGraphicFramePr>
            <p:xfrm>
              <a:off x="1411842" y="3330407"/>
              <a:ext cx="9368313" cy="2286000"/>
            </p:xfrm>
            <a:graphic>
              <a:graphicData uri="http://schemas.openxmlformats.org/drawingml/2006/table">
                <a:tbl>
                  <a:tblPr firstRow="1" bandRow="1">
                    <a:tableStyleId>{8799B23B-EC83-4686-B30A-512413B5E67A}</a:tableStyleId>
                  </a:tblPr>
                  <a:tblGrid>
                    <a:gridCol w="2480623">
                      <a:extLst>
                        <a:ext uri="{9D8B030D-6E8A-4147-A177-3AD203B41FA5}">
                          <a16:colId xmlns:a16="http://schemas.microsoft.com/office/drawing/2014/main" val="3144330054"/>
                        </a:ext>
                      </a:extLst>
                    </a:gridCol>
                    <a:gridCol w="2600696">
                      <a:extLst>
                        <a:ext uri="{9D8B030D-6E8A-4147-A177-3AD203B41FA5}">
                          <a16:colId xmlns:a16="http://schemas.microsoft.com/office/drawing/2014/main" val="1903691691"/>
                        </a:ext>
                      </a:extLst>
                    </a:gridCol>
                    <a:gridCol w="4286994">
                      <a:extLst>
                        <a:ext uri="{9D8B030D-6E8A-4147-A177-3AD203B41FA5}">
                          <a16:colId xmlns:a16="http://schemas.microsoft.com/office/drawing/2014/main" val="1496100485"/>
                        </a:ext>
                      </a:extLst>
                    </a:gridCol>
                  </a:tblGrid>
                  <a:tr h="0">
                    <a:tc>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solidFill>
                                <a:schemeClr val="tx1"/>
                              </a:solidFill>
                            </a:rPr>
                            <a:t>Rollback Condition</a:t>
                          </a:r>
                          <a:endParaRPr lang="ko-KR" altLang="en-US">
                            <a:solidFill>
                              <a:schemeClr val="tx1"/>
                            </a:solidFill>
                          </a:endParaRPr>
                        </a:p>
                      </a:txBody>
                      <a:tcPr anchor="ctr">
                        <a:noFill/>
                      </a:tcPr>
                    </a:tc>
                    <a:tc>
                      <a:txBody>
                        <a:bodyPr/>
                        <a:lstStyle/>
                        <a:p>
                          <a:pPr latinLnBrk="1"/>
                          <a:r>
                            <a:rPr lang="en-US" altLang="ko-KR">
                              <a:solidFill>
                                <a:schemeClr val="tx1"/>
                              </a:solidFill>
                            </a:rPr>
                            <a:t>Evaluation Criteria</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370840">
                    <a:tc>
                      <a:txBody>
                        <a:bodyPr/>
                        <a:lstStyle/>
                        <a:p>
                          <a:pPr latinLnBrk="1"/>
                          <a:r>
                            <a:rPr lang="en-US" altLang="ko-KR">
                              <a:solidFill>
                                <a:schemeClr val="tx1"/>
                              </a:solidFill>
                            </a:rPr>
                            <a:t>Client Compatibility</a:t>
                          </a:r>
                          <a:endParaRPr lang="ko-KR" altLang="en-US">
                            <a:solidFill>
                              <a:schemeClr val="tx1"/>
                            </a:solidFill>
                          </a:endParaRPr>
                        </a:p>
                      </a:txBody>
                      <a:tcPr anchor="ctr">
                        <a:lnL w="12700" cmpd="sng">
                          <a:noFill/>
                        </a:lnL>
                        <a:noFill/>
                      </a:tcPr>
                    </a:tc>
                    <a:tc>
                      <a:txBody>
                        <a:bodyPr/>
                        <a:lstStyle/>
                        <a:p>
                          <a:pPr latinLnBrk="1"/>
                          <a14:m>
                            <m:oMathPara xmlns:m="http://schemas.openxmlformats.org/officeDocument/2006/math">
                              <m:oMathParaPr>
                                <m:jc m:val="centerGroup"/>
                              </m:oMathParaPr>
                              <m:oMath xmlns:m="http://schemas.openxmlformats.org/officeDocument/2006/math">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𝑆</m:t>
                                    </m:r>
                                  </m:e>
                                  <m:sub>
                                    <m:r>
                                      <a:rPr lang="en-US" altLang="ko-KR" b="0" i="1" smtClean="0">
                                        <a:solidFill>
                                          <a:schemeClr val="tx1"/>
                                        </a:solidFill>
                                        <a:latin typeface="Cambria Math" panose="02040503050406030204" pitchFamily="18" charset="0"/>
                                      </a:rPr>
                                      <m:t>𝑝𝑞𝑐</m:t>
                                    </m:r>
                                  </m:sub>
                                </m:sSub>
                                <m:r>
                                  <a:rPr lang="en-US" altLang="ko-KR" b="0" i="1" smtClean="0">
                                    <a:solidFill>
                                      <a:schemeClr val="tx1"/>
                                    </a:solidFill>
                                    <a:latin typeface="Cambria Math" panose="02040503050406030204" pitchFamily="18" charset="0"/>
                                  </a:rPr>
                                  <m:t>&lt; </m:t>
                                </m:r>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𝑆</m:t>
                                    </m:r>
                                  </m:e>
                                  <m:sub>
                                    <m:r>
                                      <a:rPr lang="en-US" altLang="ko-KR" b="0" i="1" smtClean="0">
                                        <a:solidFill>
                                          <a:schemeClr val="tx1"/>
                                        </a:solidFill>
                                        <a:latin typeface="Cambria Math" panose="02040503050406030204" pitchFamily="18" charset="0"/>
                                      </a:rPr>
                                      <m:t>𝑝𝑟𝑒𝑓𝑒𝑟</m:t>
                                    </m:r>
                                  </m:sub>
                                </m:sSub>
                                <m:r>
                                  <a:rPr lang="en-US" altLang="ko-KR" b="0" i="1" smtClean="0">
                                    <a:solidFill>
                                      <a:schemeClr val="tx1"/>
                                    </a:solidFill>
                                    <a:latin typeface="Cambria Math" panose="02040503050406030204" pitchFamily="18" charset="0"/>
                                  </a:rPr>
                                  <m:t> </m:t>
                                </m:r>
                                <m:r>
                                  <a:rPr lang="en-US" altLang="ko-KR" b="0" i="1" smtClean="0">
                                    <a:solidFill>
                                      <a:schemeClr val="tx1"/>
                                    </a:solidFill>
                                    <a:latin typeface="Cambria Math" panose="02040503050406030204" pitchFamily="18" charset="0"/>
                                    <a:ea typeface="Cambria Math" panose="02040503050406030204" pitchFamily="18" charset="0"/>
                                  </a:rPr>
                                  <m:t>×0.5</m:t>
                                </m:r>
                                <m:r>
                                  <a:rPr lang="en-US" altLang="ko-KR" b="0" i="1" smtClean="0">
                                    <a:solidFill>
                                      <a:schemeClr val="tx1"/>
                                    </a:solidFill>
                                    <a:latin typeface="Cambria Math" panose="02040503050406030204" pitchFamily="18" charset="0"/>
                                  </a:rPr>
                                  <m:t> %</m:t>
                                </m:r>
                              </m:oMath>
                            </m:oMathPara>
                          </a14:m>
                          <a:endParaRPr lang="ko-KR" altLang="en-US">
                            <a:solidFill>
                              <a:schemeClr val="tx1"/>
                            </a:solidFill>
                          </a:endParaRPr>
                        </a:p>
                      </a:txBody>
                      <a:tcPr anchor="ctr">
                        <a:noFill/>
                      </a:tcPr>
                    </a:tc>
                    <a:tc>
                      <a:txBody>
                        <a:bodyPr/>
                        <a:lstStyle/>
                        <a:p>
                          <a:pPr latinLnBrk="1"/>
                          <a:r>
                            <a:rPr lang="en-US" altLang="ko-KR">
                              <a:solidFill>
                                <a:schemeClr val="tx1"/>
                              </a:solidFill>
                            </a:rPr>
                            <a:t>PQC Communication success rate compared to the prefer baseline</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496333">
                    <a:tc>
                      <a:txBody>
                        <a:bodyPr/>
                        <a:lstStyle/>
                        <a:p>
                          <a:pPr latinLnBrk="1"/>
                          <a:r>
                            <a:rPr lang="en-US" altLang="ko-KR">
                              <a:solidFill>
                                <a:schemeClr val="tx1"/>
                              </a:solidFill>
                            </a:rPr>
                            <a:t>Latency</a:t>
                          </a:r>
                          <a:endParaRPr lang="ko-KR" altLang="en-US">
                            <a:solidFill>
                              <a:schemeClr val="tx1"/>
                            </a:solidFill>
                          </a:endParaRPr>
                        </a:p>
                      </a:txBody>
                      <a:tcPr anchor="ctr">
                        <a:lnL w="12700" cmpd="sng">
                          <a:noFill/>
                        </a:lnL>
                        <a:noFill/>
                      </a:tcPr>
                    </a:tc>
                    <a:tc>
                      <a:txBody>
                        <a:bodyPr/>
                        <a:lstStyle/>
                        <a:p>
                          <a:pPr latinLnBrk="1"/>
                          <a14:m>
                            <m:oMathPara xmlns:m="http://schemas.openxmlformats.org/officeDocument/2006/math">
                              <m:oMathParaPr>
                                <m:jc m:val="centerGroup"/>
                              </m:oMathParaPr>
                              <m:oMath xmlns:m="http://schemas.openxmlformats.org/officeDocument/2006/math">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𝑅</m:t>
                                    </m:r>
                                  </m:e>
                                  <m:sub>
                                    <m:r>
                                      <a:rPr lang="en-US" altLang="ko-KR" b="0" i="1" smtClean="0">
                                        <a:solidFill>
                                          <a:schemeClr val="tx1"/>
                                        </a:solidFill>
                                        <a:latin typeface="Cambria Math" panose="02040503050406030204" pitchFamily="18" charset="0"/>
                                      </a:rPr>
                                      <m:t>𝑑𝑒𝑙𝑎𝑦</m:t>
                                    </m:r>
                                  </m:sub>
                                </m:sSub>
                                <m:r>
                                  <a:rPr lang="en-US" altLang="ko-KR" b="0" i="1" smtClean="0">
                                    <a:solidFill>
                                      <a:schemeClr val="tx1"/>
                                    </a:solidFill>
                                    <a:latin typeface="Cambria Math" panose="02040503050406030204" pitchFamily="18" charset="0"/>
                                  </a:rPr>
                                  <m:t>&gt;30 %</m:t>
                                </m:r>
                              </m:oMath>
                            </m:oMathPara>
                          </a14:m>
                          <a:endParaRPr lang="ko-KR" altLang="en-US">
                            <a:solidFill>
                              <a:schemeClr val="tx1"/>
                            </a:solidFill>
                          </a:endParaRPr>
                        </a:p>
                      </a:txBody>
                      <a:tcPr anchor="ctr">
                        <a:noFill/>
                      </a:tcPr>
                    </a:tc>
                    <a:tc>
                      <a:txBody>
                        <a:bodyPr/>
                        <a:lstStyle/>
                        <a:p>
                          <a:pPr latinLnBrk="1"/>
                          <a:r>
                            <a:rPr lang="en-US" altLang="ko-KR">
                              <a:solidFill>
                                <a:schemeClr val="tx1"/>
                              </a:solidFill>
                            </a:rPr>
                            <a:t>Average overhead ratio and proportion</a:t>
                          </a:r>
                        </a:p>
                        <a:p>
                          <a:pPr latinLnBrk="1"/>
                          <a:r>
                            <a:rPr lang="en-US" altLang="ko-KR">
                              <a:solidFill>
                                <a:schemeClr val="tx1"/>
                              </a:solidFill>
                            </a:rPr>
                            <a:t>of abnormal delay</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r h="370840">
                    <a:tc>
                      <a:txBody>
                        <a:bodyPr/>
                        <a:lstStyle/>
                        <a:p>
                          <a:pPr latinLnBrk="1"/>
                          <a:r>
                            <a:rPr lang="en-US" altLang="ko-KR">
                              <a:solidFill>
                                <a:schemeClr val="tx1"/>
                              </a:solidFill>
                            </a:rPr>
                            <a:t>Critical Error Rate</a:t>
                          </a:r>
                          <a:endParaRPr lang="ko-KR" altLang="en-US">
                            <a:solidFill>
                              <a:schemeClr val="tx1"/>
                            </a:solidFill>
                          </a:endParaRPr>
                        </a:p>
                      </a:txBody>
                      <a:tcPr anchor="ctr">
                        <a:lnL w="12700" cmpd="sng">
                          <a:noFill/>
                        </a:lnL>
                        <a:noFill/>
                      </a:tcPr>
                    </a:tc>
                    <a:tc>
                      <a:txBody>
                        <a:bodyPr/>
                        <a:lstStyle/>
                        <a:p>
                          <a:pPr latinLnBrk="1"/>
                          <a14:m>
                            <m:oMathPara xmlns:m="http://schemas.openxmlformats.org/officeDocument/2006/math">
                              <m:oMathParaPr>
                                <m:jc m:val="centerGroup"/>
                              </m:oMathParaPr>
                              <m:oMath xmlns:m="http://schemas.openxmlformats.org/officeDocument/2006/math">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𝐸</m:t>
                                    </m:r>
                                  </m:e>
                                  <m:sub>
                                    <m:r>
                                      <a:rPr lang="en-US" altLang="ko-KR" b="0" i="1" smtClean="0">
                                        <a:solidFill>
                                          <a:schemeClr val="tx1"/>
                                        </a:solidFill>
                                        <a:latin typeface="Cambria Math" panose="02040503050406030204" pitchFamily="18" charset="0"/>
                                      </a:rPr>
                                      <m:t>𝑓𝑎𝑖𝑙</m:t>
                                    </m:r>
                                  </m:sub>
                                </m:sSub>
                                <m:r>
                                  <a:rPr lang="en-US" altLang="ko-KR" b="0" i="1" smtClean="0">
                                    <a:solidFill>
                                      <a:schemeClr val="tx1"/>
                                    </a:solidFill>
                                    <a:latin typeface="Cambria Math" panose="02040503050406030204" pitchFamily="18" charset="0"/>
                                  </a:rPr>
                                  <m:t>&gt;1 %</m:t>
                                </m:r>
                              </m:oMath>
                            </m:oMathPara>
                          </a14:m>
                          <a:endParaRPr lang="ko-KR" altLang="en-US">
                            <a:solidFill>
                              <a:schemeClr val="tx1"/>
                            </a:solidFill>
                          </a:endParaRPr>
                        </a:p>
                      </a:txBody>
                      <a:tcPr anchor="ctr">
                        <a:noFill/>
                      </a:tcPr>
                    </a:tc>
                    <a:tc>
                      <a:txBody>
                        <a:bodyPr/>
                        <a:lstStyle/>
                        <a:p>
                          <a:pPr latinLnBrk="1"/>
                          <a:r>
                            <a:rPr lang="en-US" altLang="ko-KR">
                              <a:solidFill>
                                <a:schemeClr val="tx1"/>
                              </a:solidFill>
                            </a:rPr>
                            <a:t>Total connection failure rate including </a:t>
                          </a:r>
                        </a:p>
                        <a:p>
                          <a:pPr latinLnBrk="1"/>
                          <a:r>
                            <a:rPr lang="en-US" altLang="ko-KR">
                              <a:solidFill>
                                <a:schemeClr val="tx1"/>
                              </a:solidFill>
                            </a:rPr>
                            <a:t>handshake, authentication</a:t>
                          </a:r>
                        </a:p>
                      </a:txBody>
                      <a:tcPr anchor="ctr">
                        <a:lnR w="12700" cmpd="sng">
                          <a:noFill/>
                        </a:lnR>
                        <a:noFill/>
                      </a:tcPr>
                    </a:tc>
                    <a:extLst>
                      <a:ext uri="{0D108BD9-81ED-4DB2-BD59-A6C34878D82A}">
                        <a16:rowId xmlns:a16="http://schemas.microsoft.com/office/drawing/2014/main" val="1262219744"/>
                      </a:ext>
                    </a:extLst>
                  </a:tr>
                </a:tbl>
              </a:graphicData>
            </a:graphic>
          </p:graphicFrame>
        </mc:Choice>
        <mc:Fallback xmlns="">
          <p:graphicFrame>
            <p:nvGraphicFramePr>
              <p:cNvPr id="9" name="표 8">
                <a:extLst>
                  <a:ext uri="{FF2B5EF4-FFF2-40B4-BE49-F238E27FC236}">
                    <a16:creationId xmlns:a16="http://schemas.microsoft.com/office/drawing/2014/main" id="{2DA4E670-44A2-6BB4-DFA7-DC332BDFE61D}"/>
                  </a:ext>
                </a:extLst>
              </p:cNvPr>
              <p:cNvGraphicFramePr>
                <a:graphicFrameLocks noGrp="1"/>
              </p:cNvGraphicFramePr>
              <p:nvPr>
                <p:extLst>
                  <p:ext uri="{D42A27DB-BD31-4B8C-83A1-F6EECF244321}">
                    <p14:modId xmlns:p14="http://schemas.microsoft.com/office/powerpoint/2010/main" val="197932553"/>
                  </p:ext>
                </p:extLst>
              </p:nvPr>
            </p:nvGraphicFramePr>
            <p:xfrm>
              <a:off x="1411842" y="3330407"/>
              <a:ext cx="9368313" cy="2286000"/>
            </p:xfrm>
            <a:graphic>
              <a:graphicData uri="http://schemas.openxmlformats.org/drawingml/2006/table">
                <a:tbl>
                  <a:tblPr firstRow="1" bandRow="1">
                    <a:tableStyleId>{8799B23B-EC83-4686-B30A-512413B5E67A}</a:tableStyleId>
                  </a:tblPr>
                  <a:tblGrid>
                    <a:gridCol w="2480623">
                      <a:extLst>
                        <a:ext uri="{9D8B030D-6E8A-4147-A177-3AD203B41FA5}">
                          <a16:colId xmlns:a16="http://schemas.microsoft.com/office/drawing/2014/main" val="3144330054"/>
                        </a:ext>
                      </a:extLst>
                    </a:gridCol>
                    <a:gridCol w="2600696">
                      <a:extLst>
                        <a:ext uri="{9D8B030D-6E8A-4147-A177-3AD203B41FA5}">
                          <a16:colId xmlns:a16="http://schemas.microsoft.com/office/drawing/2014/main" val="1903691691"/>
                        </a:ext>
                      </a:extLst>
                    </a:gridCol>
                    <a:gridCol w="4286994">
                      <a:extLst>
                        <a:ext uri="{9D8B030D-6E8A-4147-A177-3AD203B41FA5}">
                          <a16:colId xmlns:a16="http://schemas.microsoft.com/office/drawing/2014/main" val="1496100485"/>
                        </a:ext>
                      </a:extLst>
                    </a:gridCol>
                  </a:tblGrid>
                  <a:tr h="365760">
                    <a:tc>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solidFill>
                                <a:schemeClr val="tx1"/>
                              </a:solidFill>
                            </a:rPr>
                            <a:t>Rollback Condition</a:t>
                          </a:r>
                          <a:endParaRPr lang="ko-KR" altLang="en-US">
                            <a:solidFill>
                              <a:schemeClr val="tx1"/>
                            </a:solidFill>
                          </a:endParaRPr>
                        </a:p>
                      </a:txBody>
                      <a:tcPr anchor="ctr">
                        <a:noFill/>
                      </a:tcPr>
                    </a:tc>
                    <a:tc>
                      <a:txBody>
                        <a:bodyPr/>
                        <a:lstStyle/>
                        <a:p>
                          <a:pPr latinLnBrk="1"/>
                          <a:r>
                            <a:rPr lang="en-US" altLang="ko-KR">
                              <a:solidFill>
                                <a:schemeClr val="tx1"/>
                              </a:solidFill>
                            </a:rPr>
                            <a:t>Evaluation Criteria</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640080">
                    <a:tc>
                      <a:txBody>
                        <a:bodyPr/>
                        <a:lstStyle/>
                        <a:p>
                          <a:pPr latinLnBrk="1"/>
                          <a:r>
                            <a:rPr lang="en-US" altLang="ko-KR">
                              <a:solidFill>
                                <a:schemeClr val="tx1"/>
                              </a:solidFill>
                            </a:rPr>
                            <a:t>Client Compatibility</a:t>
                          </a:r>
                          <a:endParaRPr lang="ko-KR" altLang="en-US">
                            <a:solidFill>
                              <a:schemeClr val="tx1"/>
                            </a:solidFill>
                          </a:endParaRPr>
                        </a:p>
                      </a:txBody>
                      <a:tcPr anchor="ctr">
                        <a:lnL w="12700" cmpd="sng">
                          <a:noFill/>
                        </a:lnL>
                        <a:noFill/>
                      </a:tcPr>
                    </a:tc>
                    <a:tc>
                      <a:txBody>
                        <a:bodyPr/>
                        <a:lstStyle/>
                        <a:p>
                          <a:endParaRPr lang="ko-KR"/>
                        </a:p>
                      </a:txBody>
                      <a:tcPr anchor="ctr">
                        <a:blipFill>
                          <a:blip r:embed="rId3"/>
                          <a:stretch>
                            <a:fillRect l="-95316" t="-61905" r="-165340" b="-215238"/>
                          </a:stretch>
                        </a:blipFill>
                      </a:tcPr>
                    </a:tc>
                    <a:tc>
                      <a:txBody>
                        <a:bodyPr/>
                        <a:lstStyle/>
                        <a:p>
                          <a:pPr latinLnBrk="1"/>
                          <a:r>
                            <a:rPr lang="en-US" altLang="ko-KR">
                              <a:solidFill>
                                <a:schemeClr val="tx1"/>
                              </a:solidFill>
                            </a:rPr>
                            <a:t>PQC Communication success rate compared to the prefer baseline</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640080">
                    <a:tc>
                      <a:txBody>
                        <a:bodyPr/>
                        <a:lstStyle/>
                        <a:p>
                          <a:pPr latinLnBrk="1"/>
                          <a:r>
                            <a:rPr lang="en-US" altLang="ko-KR">
                              <a:solidFill>
                                <a:schemeClr val="tx1"/>
                              </a:solidFill>
                            </a:rPr>
                            <a:t>Latency</a:t>
                          </a:r>
                          <a:endParaRPr lang="ko-KR" altLang="en-US">
                            <a:solidFill>
                              <a:schemeClr val="tx1"/>
                            </a:solidFill>
                          </a:endParaRPr>
                        </a:p>
                      </a:txBody>
                      <a:tcPr anchor="ctr">
                        <a:lnL w="12700" cmpd="sng">
                          <a:noFill/>
                        </a:lnL>
                        <a:noFill/>
                      </a:tcPr>
                    </a:tc>
                    <a:tc>
                      <a:txBody>
                        <a:bodyPr/>
                        <a:lstStyle/>
                        <a:p>
                          <a:endParaRPr lang="ko-KR"/>
                        </a:p>
                      </a:txBody>
                      <a:tcPr anchor="ctr">
                        <a:blipFill>
                          <a:blip r:embed="rId3"/>
                          <a:stretch>
                            <a:fillRect l="-95316" t="-160377" r="-165340" b="-113208"/>
                          </a:stretch>
                        </a:blipFill>
                      </a:tcPr>
                    </a:tc>
                    <a:tc>
                      <a:txBody>
                        <a:bodyPr/>
                        <a:lstStyle/>
                        <a:p>
                          <a:pPr latinLnBrk="1"/>
                          <a:r>
                            <a:rPr lang="en-US" altLang="ko-KR">
                              <a:solidFill>
                                <a:schemeClr val="tx1"/>
                              </a:solidFill>
                            </a:rPr>
                            <a:t>Average overhead ratio and proportion</a:t>
                          </a:r>
                        </a:p>
                        <a:p>
                          <a:pPr latinLnBrk="1"/>
                          <a:r>
                            <a:rPr lang="en-US" altLang="ko-KR">
                              <a:solidFill>
                                <a:schemeClr val="tx1"/>
                              </a:solidFill>
                            </a:rPr>
                            <a:t>of abnormal delay</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r h="640080">
                    <a:tc>
                      <a:txBody>
                        <a:bodyPr/>
                        <a:lstStyle/>
                        <a:p>
                          <a:pPr latinLnBrk="1"/>
                          <a:r>
                            <a:rPr lang="en-US" altLang="ko-KR">
                              <a:solidFill>
                                <a:schemeClr val="tx1"/>
                              </a:solidFill>
                            </a:rPr>
                            <a:t>Critical Error Rate</a:t>
                          </a:r>
                          <a:endParaRPr lang="ko-KR" altLang="en-US">
                            <a:solidFill>
                              <a:schemeClr val="tx1"/>
                            </a:solidFill>
                          </a:endParaRPr>
                        </a:p>
                      </a:txBody>
                      <a:tcPr anchor="ctr">
                        <a:lnL w="12700" cmpd="sng">
                          <a:noFill/>
                        </a:lnL>
                        <a:noFill/>
                      </a:tcPr>
                    </a:tc>
                    <a:tc>
                      <a:txBody>
                        <a:bodyPr/>
                        <a:lstStyle/>
                        <a:p>
                          <a:endParaRPr lang="ko-KR"/>
                        </a:p>
                      </a:txBody>
                      <a:tcPr anchor="ctr">
                        <a:blipFill>
                          <a:blip r:embed="rId3"/>
                          <a:stretch>
                            <a:fillRect l="-95316" t="-262857" r="-165340" b="-14286"/>
                          </a:stretch>
                        </a:blipFill>
                      </a:tcPr>
                    </a:tc>
                    <a:tc>
                      <a:txBody>
                        <a:bodyPr/>
                        <a:lstStyle/>
                        <a:p>
                          <a:pPr latinLnBrk="1"/>
                          <a:r>
                            <a:rPr lang="en-US" altLang="ko-KR">
                              <a:solidFill>
                                <a:schemeClr val="tx1"/>
                              </a:solidFill>
                            </a:rPr>
                            <a:t>Total connection failure rate including </a:t>
                          </a:r>
                        </a:p>
                        <a:p>
                          <a:pPr latinLnBrk="1"/>
                          <a:r>
                            <a:rPr lang="en-US" altLang="ko-KR">
                              <a:solidFill>
                                <a:schemeClr val="tx1"/>
                              </a:solidFill>
                            </a:rPr>
                            <a:t>handshake, authentication</a:t>
                          </a:r>
                        </a:p>
                      </a:txBody>
                      <a:tcPr anchor="ctr">
                        <a:lnR w="12700" cmpd="sng">
                          <a:noFill/>
                        </a:lnR>
                        <a:noFill/>
                      </a:tcPr>
                    </a:tc>
                    <a:extLst>
                      <a:ext uri="{0D108BD9-81ED-4DB2-BD59-A6C34878D82A}">
                        <a16:rowId xmlns:a16="http://schemas.microsoft.com/office/drawing/2014/main" val="1262219744"/>
                      </a:ext>
                    </a:extLst>
                  </a:tr>
                </a:tbl>
              </a:graphicData>
            </a:graphic>
          </p:graphicFrame>
        </mc:Fallback>
      </mc:AlternateContent>
      <p:sp>
        <p:nvSpPr>
          <p:cNvPr id="4" name="TextBox 3">
            <a:extLst>
              <a:ext uri="{FF2B5EF4-FFF2-40B4-BE49-F238E27FC236}">
                <a16:creationId xmlns:a16="http://schemas.microsoft.com/office/drawing/2014/main" id="{78C73A77-E5CF-B557-4A58-6A064F48046F}"/>
              </a:ext>
            </a:extLst>
          </p:cNvPr>
          <p:cNvSpPr txBox="1"/>
          <p:nvPr/>
        </p:nvSpPr>
        <p:spPr>
          <a:xfrm>
            <a:off x="1935678" y="5634882"/>
            <a:ext cx="8324602" cy="369332"/>
          </a:xfrm>
          <a:prstGeom prst="rect">
            <a:avLst/>
          </a:prstGeom>
          <a:noFill/>
        </p:spPr>
        <p:txBody>
          <a:bodyPr wrap="square" rtlCol="0">
            <a:spAutoFit/>
          </a:bodyPr>
          <a:lstStyle/>
          <a:p>
            <a:pPr algn="ctr"/>
            <a:r>
              <a:rPr lang="en-US" altLang="ko-KR" b="1"/>
              <a:t>Table: </a:t>
            </a:r>
            <a:r>
              <a:rPr lang="en-US" altLang="ko-KR"/>
              <a:t>transition evaluation and rollback conditions in </a:t>
            </a:r>
            <a:r>
              <a:rPr lang="en-US" altLang="ko-KR">
                <a:solidFill>
                  <a:srgbClr val="FF0000"/>
                </a:solidFill>
              </a:rPr>
              <a:t>Short Window</a:t>
            </a:r>
            <a:r>
              <a:rPr lang="en-US" altLang="ko-KR"/>
              <a:t>.</a:t>
            </a:r>
            <a:endParaRPr lang="ko-KR" altLang="en-US"/>
          </a:p>
        </p:txBody>
      </p:sp>
      <p:sp>
        <p:nvSpPr>
          <p:cNvPr id="5" name="내용 개체 틀 1">
            <a:extLst>
              <a:ext uri="{FF2B5EF4-FFF2-40B4-BE49-F238E27FC236}">
                <a16:creationId xmlns:a16="http://schemas.microsoft.com/office/drawing/2014/main" id="{73C48590-9583-2D08-6F28-E9D9B332DB9C}"/>
              </a:ext>
            </a:extLst>
          </p:cNvPr>
          <p:cNvSpPr txBox="1">
            <a:spLocks/>
          </p:cNvSpPr>
          <p:nvPr/>
        </p:nvSpPr>
        <p:spPr>
          <a:xfrm>
            <a:off x="581190" y="5475892"/>
            <a:ext cx="11320212" cy="1944584"/>
          </a:xfrm>
          <a:prstGeom prst="rect">
            <a:avLst/>
          </a:prstGeom>
        </p:spPr>
        <p:txBody>
          <a:bodyPr vert="horz" lIns="91440" tIns="45720" rIns="91440" bIns="45720" rtlCol="0" anchor="ctr">
            <a:noAutofit/>
          </a:bodyPr>
          <a:lstStyle>
            <a:lvl1pPr marL="306000" indent="-306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1"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altLang="ko-KR" sz="2400" b="1"/>
              <a:t>It is determined that </a:t>
            </a:r>
            <a:r>
              <a:rPr lang="en-US" altLang="ko-KR" sz="2400" b="1">
                <a:solidFill>
                  <a:srgbClr val="FF0000"/>
                </a:solidFill>
              </a:rPr>
              <a:t>a critical failure </a:t>
            </a:r>
            <a:r>
              <a:rPr lang="en-US" altLang="ko-KR" sz="2400" b="1"/>
              <a:t>has been discovered during system operation, and an immediate rollback is performed.</a:t>
            </a:r>
          </a:p>
        </p:txBody>
      </p:sp>
    </p:spTree>
    <p:extLst>
      <p:ext uri="{BB962C8B-B14F-4D97-AF65-F5344CB8AC3E}">
        <p14:creationId xmlns:p14="http://schemas.microsoft.com/office/powerpoint/2010/main" val="719306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E96E0-2240-7518-B404-5ECBDED97D9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2D5B635-58D7-5A65-E958-DDF01B1C64A5}"/>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Minor Update Scenario: Simple Text Errors Update</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F1482C42-3824-34CE-2757-344C6D961C32}"/>
              </a:ext>
            </a:extLst>
          </p:cNvPr>
          <p:cNvSpPr>
            <a:spLocks noGrp="1"/>
          </p:cNvSpPr>
          <p:nvPr>
            <p:ph type="sldNum" sz="quarter" idx="12"/>
          </p:nvPr>
        </p:nvSpPr>
        <p:spPr/>
        <p:txBody>
          <a:bodyPr/>
          <a:lstStyle/>
          <a:p>
            <a:pPr rtl="0"/>
            <a:fld id="{401CF334-2D5C-4859-84A6-CA7E6E43FAEB}" type="slidenum">
              <a:rPr lang="en-US" altLang="ko-KR" smtClean="0"/>
              <a:t>19</a:t>
            </a:fld>
            <a:endParaRPr lang="ko-KR" altLang="en-US" dirty="0"/>
          </a:p>
        </p:txBody>
      </p:sp>
      <p:grpSp>
        <p:nvGrpSpPr>
          <p:cNvPr id="44" name="그룹 43">
            <a:extLst>
              <a:ext uri="{FF2B5EF4-FFF2-40B4-BE49-F238E27FC236}">
                <a16:creationId xmlns:a16="http://schemas.microsoft.com/office/drawing/2014/main" id="{DDEAAD40-D3D0-118B-F240-A8FF8B137A97}"/>
              </a:ext>
            </a:extLst>
          </p:cNvPr>
          <p:cNvGrpSpPr/>
          <p:nvPr/>
        </p:nvGrpSpPr>
        <p:grpSpPr>
          <a:xfrm>
            <a:off x="1793978" y="2794237"/>
            <a:ext cx="8414038" cy="3344462"/>
            <a:chOff x="-553091" y="179315"/>
            <a:chExt cx="8414038" cy="3344462"/>
          </a:xfrm>
        </p:grpSpPr>
        <p:sp>
          <p:nvSpPr>
            <p:cNvPr id="5" name="TextBox 4">
              <a:extLst>
                <a:ext uri="{FF2B5EF4-FFF2-40B4-BE49-F238E27FC236}">
                  <a16:creationId xmlns:a16="http://schemas.microsoft.com/office/drawing/2014/main" id="{D930C78C-A9D0-11EA-CA9B-9D9C0C125426}"/>
                </a:ext>
              </a:extLst>
            </p:cNvPr>
            <p:cNvSpPr txBox="1"/>
            <p:nvPr/>
          </p:nvSpPr>
          <p:spPr>
            <a:xfrm>
              <a:off x="2127999" y="1937199"/>
              <a:ext cx="2024886" cy="276999"/>
            </a:xfrm>
            <a:prstGeom prst="rect">
              <a:avLst/>
            </a:prstGeom>
            <a:solidFill>
              <a:schemeClr val="bg1"/>
            </a:solidFill>
            <a:ln>
              <a:solidFill>
                <a:schemeClr val="tx1"/>
              </a:solidFill>
            </a:ln>
          </p:spPr>
          <p:txBody>
            <a:bodyPr wrap="square">
              <a:spAutoFit/>
            </a:bodyPr>
            <a:lstStyle/>
            <a:p>
              <a:r>
                <a:rPr lang="en-US" altLang="ko-KR" sz="1200" b="1">
                  <a:solidFill>
                    <a:srgbClr val="C00000"/>
                  </a:solidFill>
                  <a:latin typeface="Times New Roman" panose="02020603050405020304" pitchFamily="18" charset="0"/>
                  <a:cs typeface="Times New Roman" panose="02020603050405020304" pitchFamily="18" charset="0"/>
                </a:rPr>
                <a:t>Update Decision: </a:t>
              </a:r>
              <a:endParaRPr lang="ko-KR" altLang="en-US" sz="1200" b="1" dirty="0">
                <a:solidFill>
                  <a:srgbClr val="C00000"/>
                </a:solidFill>
                <a:latin typeface="Times New Roman" panose="02020603050405020304" pitchFamily="18" charset="0"/>
                <a:cs typeface="Times New Roman" panose="02020603050405020304" pitchFamily="18" charset="0"/>
              </a:endParaRPr>
            </a:p>
          </p:txBody>
        </p:sp>
        <p:pic>
          <p:nvPicPr>
            <p:cNvPr id="8" name="그림 7" descr="블랙, 어둠이(가) 표시된 사진&#10;&#10;AI 생성 콘텐츠는 정확하지 않을 수 있습니다.">
              <a:extLst>
                <a:ext uri="{FF2B5EF4-FFF2-40B4-BE49-F238E27FC236}">
                  <a16:creationId xmlns:a16="http://schemas.microsoft.com/office/drawing/2014/main" id="{6A57FE76-6B56-341D-B996-5A3CF90D4A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972" y="2584357"/>
              <a:ext cx="513237" cy="513237"/>
            </a:xfrm>
            <a:prstGeom prst="rect">
              <a:avLst/>
            </a:prstGeom>
          </p:spPr>
        </p:pic>
        <p:sp>
          <p:nvSpPr>
            <p:cNvPr id="9" name="직사각형 8">
              <a:extLst>
                <a:ext uri="{FF2B5EF4-FFF2-40B4-BE49-F238E27FC236}">
                  <a16:creationId xmlns:a16="http://schemas.microsoft.com/office/drawing/2014/main" id="{11CA3092-1347-4202-AD3F-3C7B25F7CE42}"/>
                </a:ext>
              </a:extLst>
            </p:cNvPr>
            <p:cNvSpPr/>
            <p:nvPr/>
          </p:nvSpPr>
          <p:spPr>
            <a:xfrm>
              <a:off x="1330505" y="2524575"/>
              <a:ext cx="3619874" cy="639404"/>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descr="블랙, 어둠이(가) 표시된 사진&#10;&#10;AI 생성 콘텐츠는 정확하지 않을 수 있습니다.">
              <a:extLst>
                <a:ext uri="{FF2B5EF4-FFF2-40B4-BE49-F238E27FC236}">
                  <a16:creationId xmlns:a16="http://schemas.microsoft.com/office/drawing/2014/main" id="{BA3DD855-56A8-C92D-CA0C-581F0F358F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70941" y="1377732"/>
              <a:ext cx="539001" cy="539001"/>
            </a:xfrm>
            <a:prstGeom prst="rect">
              <a:avLst/>
            </a:prstGeom>
          </p:spPr>
        </p:pic>
        <p:sp>
          <p:nvSpPr>
            <p:cNvPr id="11" name="TextBox 10">
              <a:extLst>
                <a:ext uri="{FF2B5EF4-FFF2-40B4-BE49-F238E27FC236}">
                  <a16:creationId xmlns:a16="http://schemas.microsoft.com/office/drawing/2014/main" id="{FD992C89-4F3B-18DF-EDC5-C3594D0FE7D3}"/>
                </a:ext>
              </a:extLst>
            </p:cNvPr>
            <p:cNvSpPr txBox="1"/>
            <p:nvPr/>
          </p:nvSpPr>
          <p:spPr>
            <a:xfrm>
              <a:off x="2356064" y="2609157"/>
              <a:ext cx="1535627" cy="461665"/>
            </a:xfrm>
            <a:prstGeom prst="rect">
              <a:avLst/>
            </a:prstGeom>
            <a:solidFill>
              <a:schemeClr val="bg1"/>
            </a:solidFill>
            <a:ln>
              <a:solidFill>
                <a:schemeClr val="tx1"/>
              </a:solidFill>
            </a:ln>
          </p:spPr>
          <p:txBody>
            <a:bodyPr wrap="square">
              <a:spAutoFit/>
            </a:bodyPr>
            <a:lstStyle/>
            <a:p>
              <a:pPr algn="ctr"/>
              <a:r>
                <a:rPr lang="en-US" altLang="ko-KR" sz="1200" b="1">
                  <a:solidFill>
                    <a:srgbClr val="C00000"/>
                  </a:solidFill>
                  <a:latin typeface="Times New Roman" panose="02020603050405020304" pitchFamily="18" charset="0"/>
                  <a:cs typeface="Times New Roman" panose="02020603050405020304" pitchFamily="18" charset="0"/>
                </a:rPr>
                <a:t>(Updated) Transform Map</a:t>
              </a:r>
              <a:endParaRPr lang="ko-KR" altLang="en-US" sz="1200" b="1" dirty="0">
                <a:solidFill>
                  <a:srgbClr val="C00000"/>
                </a:solidFill>
                <a:latin typeface="Times New Roman" panose="02020603050405020304" pitchFamily="18" charset="0"/>
                <a:cs typeface="Times New Roman" panose="02020603050405020304" pitchFamily="18" charset="0"/>
              </a:endParaRPr>
            </a:p>
          </p:txBody>
        </p:sp>
        <p:cxnSp>
          <p:nvCxnSpPr>
            <p:cNvPr id="12" name="직선 연결선 11">
              <a:extLst>
                <a:ext uri="{FF2B5EF4-FFF2-40B4-BE49-F238E27FC236}">
                  <a16:creationId xmlns:a16="http://schemas.microsoft.com/office/drawing/2014/main" id="{D2BAA763-D703-615B-07A3-8F8F29EF5467}"/>
                </a:ext>
              </a:extLst>
            </p:cNvPr>
            <p:cNvCxnSpPr>
              <a:cxnSpLocks/>
              <a:stCxn id="5" idx="2"/>
              <a:endCxn id="9" idx="0"/>
            </p:cNvCxnSpPr>
            <p:nvPr/>
          </p:nvCxnSpPr>
          <p:spPr>
            <a:xfrm>
              <a:off x="3140442" y="2214198"/>
              <a:ext cx="0" cy="310377"/>
            </a:xfrm>
            <a:prstGeom prst="line">
              <a:avLst/>
            </a:prstGeom>
            <a:ln>
              <a:solidFill>
                <a:schemeClr val="tx1"/>
              </a:solidFill>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4596917C-8A07-5E9F-B56D-196C74DF0362}"/>
                </a:ext>
              </a:extLst>
            </p:cNvPr>
            <p:cNvCxnSpPr>
              <a:cxnSpLocks/>
              <a:stCxn id="8" idx="3"/>
              <a:endCxn id="9" idx="1"/>
            </p:cNvCxnSpPr>
            <p:nvPr/>
          </p:nvCxnSpPr>
          <p:spPr>
            <a:xfrm>
              <a:off x="661209" y="2840976"/>
              <a:ext cx="669296" cy="3301"/>
            </a:xfrm>
            <a:prstGeom prst="straightConnector1">
              <a:avLst/>
            </a:prstGeom>
            <a:ln w="1270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grpSp>
          <p:nvGrpSpPr>
            <p:cNvPr id="14" name="그룹 13">
              <a:extLst>
                <a:ext uri="{FF2B5EF4-FFF2-40B4-BE49-F238E27FC236}">
                  <a16:creationId xmlns:a16="http://schemas.microsoft.com/office/drawing/2014/main" id="{8762466B-EA1F-E3E8-1B9F-92BB81443207}"/>
                </a:ext>
              </a:extLst>
            </p:cNvPr>
            <p:cNvGrpSpPr/>
            <p:nvPr/>
          </p:nvGrpSpPr>
          <p:grpSpPr>
            <a:xfrm>
              <a:off x="5845006" y="2359740"/>
              <a:ext cx="1337345" cy="845170"/>
              <a:chOff x="6466062" y="1576969"/>
              <a:chExt cx="1337345" cy="845170"/>
            </a:xfrm>
          </p:grpSpPr>
          <p:sp>
            <p:nvSpPr>
              <p:cNvPr id="15" name="직사각형 14">
                <a:extLst>
                  <a:ext uri="{FF2B5EF4-FFF2-40B4-BE49-F238E27FC236}">
                    <a16:creationId xmlns:a16="http://schemas.microsoft.com/office/drawing/2014/main" id="{71214B29-E61B-D623-311B-37DC41AE45D1}"/>
                  </a:ext>
                </a:extLst>
              </p:cNvPr>
              <p:cNvSpPr/>
              <p:nvPr/>
            </p:nvSpPr>
            <p:spPr>
              <a:xfrm>
                <a:off x="6466062" y="1715469"/>
                <a:ext cx="1337345" cy="70667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t>z</a:t>
                </a:r>
                <a:endParaRPr lang="ko-KR" altLang="en-US"/>
              </a:p>
            </p:txBody>
          </p:sp>
          <p:sp>
            <p:nvSpPr>
              <p:cNvPr id="16" name="TextBox 15">
                <a:extLst>
                  <a:ext uri="{FF2B5EF4-FFF2-40B4-BE49-F238E27FC236}">
                    <a16:creationId xmlns:a16="http://schemas.microsoft.com/office/drawing/2014/main" id="{3E419CE3-793F-90F0-587C-13E0F1F5E047}"/>
                  </a:ext>
                </a:extLst>
              </p:cNvPr>
              <p:cNvSpPr txBox="1"/>
              <p:nvPr/>
            </p:nvSpPr>
            <p:spPr>
              <a:xfrm>
                <a:off x="6679571" y="1576969"/>
                <a:ext cx="910326" cy="292388"/>
              </a:xfrm>
              <a:prstGeom prst="rect">
                <a:avLst/>
              </a:prstGeom>
              <a:solidFill>
                <a:schemeClr val="bg1"/>
              </a:solidFill>
              <a:ln>
                <a:noFill/>
              </a:ln>
            </p:spPr>
            <p:txBody>
              <a:bodyPr wrap="square">
                <a:spAutoFit/>
              </a:bodyPr>
              <a:lstStyle/>
              <a:p>
                <a:pPr algn="ctr"/>
                <a:r>
                  <a:rPr lang="en-US" altLang="ko-KR" sz="1300" b="1">
                    <a:latin typeface="Times New Roman" panose="02020603050405020304" pitchFamily="18" charset="0"/>
                    <a:cs typeface="Times New Roman" panose="02020603050405020304" pitchFamily="18" charset="0"/>
                  </a:rPr>
                  <a:t>Server</a:t>
                </a:r>
                <a:endParaRPr lang="ko-KR" altLang="en-US" sz="1300" b="1" dirty="0">
                  <a:latin typeface="Times New Roman" panose="02020603050405020304" pitchFamily="18" charset="0"/>
                  <a:cs typeface="Times New Roman" panose="02020603050405020304" pitchFamily="18" charset="0"/>
                </a:endParaRPr>
              </a:p>
            </p:txBody>
          </p:sp>
        </p:grpSp>
        <p:cxnSp>
          <p:nvCxnSpPr>
            <p:cNvPr id="17" name="직선 화살표 연결선 16">
              <a:extLst>
                <a:ext uri="{FF2B5EF4-FFF2-40B4-BE49-F238E27FC236}">
                  <a16:creationId xmlns:a16="http://schemas.microsoft.com/office/drawing/2014/main" id="{EBB6B174-C66E-04C7-BE29-88CE822391A5}"/>
                </a:ext>
              </a:extLst>
            </p:cNvPr>
            <p:cNvCxnSpPr>
              <a:cxnSpLocks/>
              <a:stCxn id="9" idx="3"/>
              <a:endCxn id="15" idx="1"/>
            </p:cNvCxnSpPr>
            <p:nvPr/>
          </p:nvCxnSpPr>
          <p:spPr>
            <a:xfrm>
              <a:off x="4950379" y="2844277"/>
              <a:ext cx="894627" cy="7298"/>
            </a:xfrm>
            <a:prstGeom prst="straightConnector1">
              <a:avLst/>
            </a:prstGeom>
            <a:ln w="1270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3F95114-0A83-649C-177E-79B521991114}"/>
                </a:ext>
              </a:extLst>
            </p:cNvPr>
            <p:cNvSpPr txBox="1"/>
            <p:nvPr/>
          </p:nvSpPr>
          <p:spPr>
            <a:xfrm>
              <a:off x="2187445" y="3229584"/>
              <a:ext cx="1905993" cy="292388"/>
            </a:xfrm>
            <a:prstGeom prst="rect">
              <a:avLst/>
            </a:prstGeom>
            <a:solidFill>
              <a:schemeClr val="bg1"/>
            </a:solid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Bridge</a:t>
              </a:r>
              <a:endParaRPr lang="ko-KR" altLang="en-US" sz="1300"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B8FE23AA-364D-5CC8-C8C7-7FC852621B6F}"/>
                </a:ext>
              </a:extLst>
            </p:cNvPr>
            <p:cNvSpPr txBox="1"/>
            <p:nvPr/>
          </p:nvSpPr>
          <p:spPr>
            <a:xfrm>
              <a:off x="-553091" y="3231389"/>
              <a:ext cx="1905993" cy="292388"/>
            </a:xfrm>
            <a:prstGeom prst="rect">
              <a:avLst/>
            </a:prstGeom>
            <a:no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Client</a:t>
              </a:r>
              <a:endParaRPr lang="ko-KR" altLang="en-US" sz="1300" b="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7702992-A27C-DC58-5D88-203137A4420E}"/>
                </a:ext>
              </a:extLst>
            </p:cNvPr>
            <p:cNvSpPr txBox="1"/>
            <p:nvPr/>
          </p:nvSpPr>
          <p:spPr>
            <a:xfrm>
              <a:off x="5812401" y="3229584"/>
              <a:ext cx="1337346" cy="292388"/>
            </a:xfrm>
            <a:prstGeom prst="rect">
              <a:avLst/>
            </a:prstGeom>
            <a:noFill/>
            <a:ln w="12700">
              <a:noFill/>
            </a:ln>
          </p:spPr>
          <p:txBody>
            <a:bodyPr wrap="square" rtlCol="0" anchor="ctr">
              <a:spAutoFit/>
            </a:bodyPr>
            <a:lstStyle/>
            <a:p>
              <a:pPr algn="ctr"/>
              <a:r>
                <a:rPr lang="en-US" altLang="ko-KR" sz="1300" b="1">
                  <a:latin typeface="Times New Roman" panose="02020603050405020304" pitchFamily="18" charset="0"/>
                  <a:cs typeface="Times New Roman" panose="02020603050405020304" pitchFamily="18" charset="0"/>
                </a:rPr>
                <a:t>Server</a:t>
              </a:r>
              <a:endParaRPr lang="ko-KR" altLang="en-US" sz="1300" b="1"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8DF580A-6416-D965-EDE4-0E2868CCDABD}"/>
                </a:ext>
              </a:extLst>
            </p:cNvPr>
            <p:cNvSpPr txBox="1"/>
            <p:nvPr/>
          </p:nvSpPr>
          <p:spPr>
            <a:xfrm>
              <a:off x="-255052" y="2275939"/>
              <a:ext cx="1337345" cy="308418"/>
            </a:xfrm>
            <a:prstGeom prst="rect">
              <a:avLst/>
            </a:prstGeom>
            <a:noFill/>
            <a:ln w="12700">
              <a:noFill/>
            </a:ln>
          </p:spPr>
          <p:txBody>
            <a:bodyPr wrap="square" rtlCol="0" anchor="ctr">
              <a:spAutoFit/>
            </a:bodyPr>
            <a:lstStyle/>
            <a:p>
              <a:pPr algn="ctr">
                <a:lnSpc>
                  <a:spcPct val="130000"/>
                </a:lnSpc>
              </a:pPr>
              <a:r>
                <a:rPr lang="en-US" altLang="ko-KR" sz="1200" b="1">
                  <a:latin typeface="Times New Roman" panose="02020603050405020304" pitchFamily="18" charset="0"/>
                  <a:cs typeface="Times New Roman" panose="02020603050405020304" pitchFamily="18" charset="0"/>
                </a:rPr>
                <a:t>Client 2</a:t>
              </a:r>
            </a:p>
          </p:txBody>
        </p:sp>
        <p:sp>
          <p:nvSpPr>
            <p:cNvPr id="22" name="직사각형 21">
              <a:extLst>
                <a:ext uri="{FF2B5EF4-FFF2-40B4-BE49-F238E27FC236}">
                  <a16:creationId xmlns:a16="http://schemas.microsoft.com/office/drawing/2014/main" id="{BD84FD6A-D99F-5C3D-C5CB-BC25F6A60D90}"/>
                </a:ext>
              </a:extLst>
            </p:cNvPr>
            <p:cNvSpPr/>
            <p:nvPr/>
          </p:nvSpPr>
          <p:spPr>
            <a:xfrm>
              <a:off x="1395302" y="2609157"/>
              <a:ext cx="895965" cy="451055"/>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a:solidFill>
                    <a:schemeClr val="tx1"/>
                  </a:solidFill>
                  <a:latin typeface="Times New Roman" panose="02020603050405020304" pitchFamily="18" charset="0"/>
                  <a:cs typeface="Times New Roman" panose="02020603050405020304" pitchFamily="18" charset="0"/>
                </a:rPr>
                <a:t>Policy</a:t>
              </a:r>
              <a:endParaRPr lang="ko-KR" altLang="en-US" sz="1200">
                <a:solidFill>
                  <a:schemeClr val="tx1"/>
                </a:solidFill>
                <a:latin typeface="Times New Roman" panose="02020603050405020304" pitchFamily="18" charset="0"/>
                <a:cs typeface="Times New Roman" panose="02020603050405020304" pitchFamily="18" charset="0"/>
              </a:endParaRPr>
            </a:p>
          </p:txBody>
        </p:sp>
        <p:sp>
          <p:nvSpPr>
            <p:cNvPr id="23" name="직사각형 22">
              <a:extLst>
                <a:ext uri="{FF2B5EF4-FFF2-40B4-BE49-F238E27FC236}">
                  <a16:creationId xmlns:a16="http://schemas.microsoft.com/office/drawing/2014/main" id="{058931E8-F934-2245-C2C9-3C1CEFD3E2D0}"/>
                </a:ext>
              </a:extLst>
            </p:cNvPr>
            <p:cNvSpPr/>
            <p:nvPr/>
          </p:nvSpPr>
          <p:spPr>
            <a:xfrm>
              <a:off x="3944479" y="2608706"/>
              <a:ext cx="895965" cy="461665"/>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a:solidFill>
                    <a:schemeClr val="tx1"/>
                  </a:solidFill>
                  <a:latin typeface="Times New Roman" panose="02020603050405020304" pitchFamily="18" charset="0"/>
                  <a:cs typeface="Times New Roman" panose="02020603050405020304" pitchFamily="18" charset="0"/>
                </a:rPr>
                <a:t>Routing</a:t>
              </a:r>
              <a:endParaRPr lang="ko-KR" altLang="en-US" sz="1200">
                <a:solidFill>
                  <a:schemeClr val="tx1"/>
                </a:solidFill>
                <a:latin typeface="Times New Roman" panose="02020603050405020304" pitchFamily="18" charset="0"/>
                <a:cs typeface="Times New Roman" panose="02020603050405020304" pitchFamily="18" charset="0"/>
              </a:endParaRPr>
            </a:p>
          </p:txBody>
        </p:sp>
        <p:pic>
          <p:nvPicPr>
            <p:cNvPr id="24" name="그림 23" descr="블랙, 어둠이(가) 표시된 사진&#10;&#10;AI 생성 콘텐츠는 정확하지 않을 수 있습니다.">
              <a:extLst>
                <a:ext uri="{FF2B5EF4-FFF2-40B4-BE49-F238E27FC236}">
                  <a16:creationId xmlns:a16="http://schemas.microsoft.com/office/drawing/2014/main" id="{1689127F-8B29-9A98-B3B6-4BBB48E97F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972" y="487733"/>
              <a:ext cx="513237" cy="513237"/>
            </a:xfrm>
            <a:prstGeom prst="rect">
              <a:avLst/>
            </a:prstGeom>
          </p:spPr>
        </p:pic>
        <p:sp>
          <p:nvSpPr>
            <p:cNvPr id="25" name="직사각형 24">
              <a:extLst>
                <a:ext uri="{FF2B5EF4-FFF2-40B4-BE49-F238E27FC236}">
                  <a16:creationId xmlns:a16="http://schemas.microsoft.com/office/drawing/2014/main" id="{122291F6-9BE2-CA72-EABA-20264EA89D9D}"/>
                </a:ext>
              </a:extLst>
            </p:cNvPr>
            <p:cNvSpPr/>
            <p:nvPr/>
          </p:nvSpPr>
          <p:spPr>
            <a:xfrm>
              <a:off x="1330505" y="427951"/>
              <a:ext cx="3619874" cy="639404"/>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6" name="직선 화살표 연결선 25">
              <a:extLst>
                <a:ext uri="{FF2B5EF4-FFF2-40B4-BE49-F238E27FC236}">
                  <a16:creationId xmlns:a16="http://schemas.microsoft.com/office/drawing/2014/main" id="{643AE561-CB32-A088-FE89-44AF2986BEB9}"/>
                </a:ext>
              </a:extLst>
            </p:cNvPr>
            <p:cNvCxnSpPr>
              <a:cxnSpLocks/>
              <a:stCxn id="24" idx="3"/>
              <a:endCxn id="25" idx="1"/>
            </p:cNvCxnSpPr>
            <p:nvPr/>
          </p:nvCxnSpPr>
          <p:spPr>
            <a:xfrm>
              <a:off x="661209" y="744352"/>
              <a:ext cx="669296" cy="3301"/>
            </a:xfrm>
            <a:prstGeom prst="straightConnector1">
              <a:avLst/>
            </a:prstGeom>
            <a:ln w="1270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grpSp>
          <p:nvGrpSpPr>
            <p:cNvPr id="27" name="그룹 26">
              <a:extLst>
                <a:ext uri="{FF2B5EF4-FFF2-40B4-BE49-F238E27FC236}">
                  <a16:creationId xmlns:a16="http://schemas.microsoft.com/office/drawing/2014/main" id="{9FDB47A7-9A01-4382-53EE-9E02D4757AF8}"/>
                </a:ext>
              </a:extLst>
            </p:cNvPr>
            <p:cNvGrpSpPr/>
            <p:nvPr/>
          </p:nvGrpSpPr>
          <p:grpSpPr>
            <a:xfrm>
              <a:off x="5845006" y="263116"/>
              <a:ext cx="1337345" cy="845170"/>
              <a:chOff x="6466062" y="1576969"/>
              <a:chExt cx="1337345" cy="845170"/>
            </a:xfrm>
          </p:grpSpPr>
          <p:sp>
            <p:nvSpPr>
              <p:cNvPr id="28" name="직사각형 27">
                <a:extLst>
                  <a:ext uri="{FF2B5EF4-FFF2-40B4-BE49-F238E27FC236}">
                    <a16:creationId xmlns:a16="http://schemas.microsoft.com/office/drawing/2014/main" id="{E5B54680-A6F0-48F5-98F7-197EEA55E42E}"/>
                  </a:ext>
                </a:extLst>
              </p:cNvPr>
              <p:cNvSpPr/>
              <p:nvPr/>
            </p:nvSpPr>
            <p:spPr>
              <a:xfrm>
                <a:off x="6466062" y="1715469"/>
                <a:ext cx="1337345" cy="70667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t>z</a:t>
                </a:r>
                <a:endParaRPr lang="ko-KR" altLang="en-US"/>
              </a:p>
            </p:txBody>
          </p:sp>
          <p:sp>
            <p:nvSpPr>
              <p:cNvPr id="29" name="TextBox 28">
                <a:extLst>
                  <a:ext uri="{FF2B5EF4-FFF2-40B4-BE49-F238E27FC236}">
                    <a16:creationId xmlns:a16="http://schemas.microsoft.com/office/drawing/2014/main" id="{20A49553-21F0-3B41-3DED-AB888768DCD8}"/>
                  </a:ext>
                </a:extLst>
              </p:cNvPr>
              <p:cNvSpPr txBox="1"/>
              <p:nvPr/>
            </p:nvSpPr>
            <p:spPr>
              <a:xfrm>
                <a:off x="6679571" y="1576969"/>
                <a:ext cx="910326" cy="292388"/>
              </a:xfrm>
              <a:prstGeom prst="rect">
                <a:avLst/>
              </a:prstGeom>
              <a:solidFill>
                <a:schemeClr val="bg1"/>
              </a:solidFill>
              <a:ln>
                <a:noFill/>
              </a:ln>
            </p:spPr>
            <p:txBody>
              <a:bodyPr wrap="square">
                <a:spAutoFit/>
              </a:bodyPr>
              <a:lstStyle/>
              <a:p>
                <a:pPr algn="ctr"/>
                <a:r>
                  <a:rPr lang="en-US" altLang="ko-KR" sz="1300" b="1">
                    <a:latin typeface="Times New Roman" panose="02020603050405020304" pitchFamily="18" charset="0"/>
                    <a:cs typeface="Times New Roman" panose="02020603050405020304" pitchFamily="18" charset="0"/>
                  </a:rPr>
                  <a:t>Server</a:t>
                </a:r>
                <a:endParaRPr lang="ko-KR" altLang="en-US" sz="1300" b="1" dirty="0">
                  <a:latin typeface="Times New Roman" panose="02020603050405020304" pitchFamily="18" charset="0"/>
                  <a:cs typeface="Times New Roman" panose="02020603050405020304" pitchFamily="18" charset="0"/>
                </a:endParaRPr>
              </a:p>
            </p:txBody>
          </p:sp>
        </p:grpSp>
        <p:cxnSp>
          <p:nvCxnSpPr>
            <p:cNvPr id="30" name="직선 화살표 연결선 29">
              <a:extLst>
                <a:ext uri="{FF2B5EF4-FFF2-40B4-BE49-F238E27FC236}">
                  <a16:creationId xmlns:a16="http://schemas.microsoft.com/office/drawing/2014/main" id="{9E5107B6-1184-7923-9B7D-A11857C860DD}"/>
                </a:ext>
              </a:extLst>
            </p:cNvPr>
            <p:cNvCxnSpPr>
              <a:cxnSpLocks/>
              <a:stCxn id="25" idx="3"/>
              <a:endCxn id="28" idx="1"/>
            </p:cNvCxnSpPr>
            <p:nvPr/>
          </p:nvCxnSpPr>
          <p:spPr>
            <a:xfrm>
              <a:off x="4950379" y="747653"/>
              <a:ext cx="894627" cy="7298"/>
            </a:xfrm>
            <a:prstGeom prst="straightConnector1">
              <a:avLst/>
            </a:prstGeom>
            <a:ln w="1270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A9F1B08-84BA-CF2C-35D6-DFA0023B0DC4}"/>
                </a:ext>
              </a:extLst>
            </p:cNvPr>
            <p:cNvSpPr txBox="1"/>
            <p:nvPr/>
          </p:nvSpPr>
          <p:spPr>
            <a:xfrm>
              <a:off x="-255052" y="179315"/>
              <a:ext cx="1337345" cy="308418"/>
            </a:xfrm>
            <a:prstGeom prst="rect">
              <a:avLst/>
            </a:prstGeom>
            <a:noFill/>
            <a:ln w="12700">
              <a:noFill/>
            </a:ln>
          </p:spPr>
          <p:txBody>
            <a:bodyPr wrap="square" rtlCol="0" anchor="ctr">
              <a:spAutoFit/>
            </a:bodyPr>
            <a:lstStyle/>
            <a:p>
              <a:pPr algn="ctr">
                <a:lnSpc>
                  <a:spcPct val="130000"/>
                </a:lnSpc>
              </a:pPr>
              <a:r>
                <a:rPr lang="en-US" altLang="ko-KR" sz="1200" b="1">
                  <a:latin typeface="Times New Roman" panose="02020603050405020304" pitchFamily="18" charset="0"/>
                  <a:cs typeface="Times New Roman" panose="02020603050405020304" pitchFamily="18" charset="0"/>
                </a:rPr>
                <a:t>Client 1</a:t>
              </a:r>
            </a:p>
          </p:txBody>
        </p:sp>
        <p:sp>
          <p:nvSpPr>
            <p:cNvPr id="32" name="직사각형 31">
              <a:extLst>
                <a:ext uri="{FF2B5EF4-FFF2-40B4-BE49-F238E27FC236}">
                  <a16:creationId xmlns:a16="http://schemas.microsoft.com/office/drawing/2014/main" id="{FCBFD3C2-C648-57EE-828B-236BBC91BF7F}"/>
                </a:ext>
              </a:extLst>
            </p:cNvPr>
            <p:cNvSpPr/>
            <p:nvPr/>
          </p:nvSpPr>
          <p:spPr>
            <a:xfrm>
              <a:off x="1395302" y="512533"/>
              <a:ext cx="895965" cy="451055"/>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a:solidFill>
                    <a:schemeClr val="tx1"/>
                  </a:solidFill>
                  <a:latin typeface="Times New Roman" panose="02020603050405020304" pitchFamily="18" charset="0"/>
                  <a:cs typeface="Times New Roman" panose="02020603050405020304" pitchFamily="18" charset="0"/>
                </a:rPr>
                <a:t>Policy</a:t>
              </a:r>
              <a:endParaRPr lang="ko-KR" altLang="en-US" sz="1200">
                <a:solidFill>
                  <a:schemeClr val="tx1"/>
                </a:solidFill>
                <a:latin typeface="Times New Roman" panose="02020603050405020304" pitchFamily="18" charset="0"/>
                <a:cs typeface="Times New Roman" panose="02020603050405020304" pitchFamily="18" charset="0"/>
              </a:endParaRPr>
            </a:p>
          </p:txBody>
        </p:sp>
        <p:sp>
          <p:nvSpPr>
            <p:cNvPr id="33" name="직사각형 32">
              <a:extLst>
                <a:ext uri="{FF2B5EF4-FFF2-40B4-BE49-F238E27FC236}">
                  <a16:creationId xmlns:a16="http://schemas.microsoft.com/office/drawing/2014/main" id="{49A0CF3A-C232-48A5-CDBC-0335BBD467C4}"/>
                </a:ext>
              </a:extLst>
            </p:cNvPr>
            <p:cNvSpPr/>
            <p:nvPr/>
          </p:nvSpPr>
          <p:spPr>
            <a:xfrm>
              <a:off x="3944479" y="511632"/>
              <a:ext cx="895965" cy="462566"/>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a:solidFill>
                    <a:schemeClr val="tx1"/>
                  </a:solidFill>
                  <a:latin typeface="Times New Roman" panose="02020603050405020304" pitchFamily="18" charset="0"/>
                  <a:cs typeface="Times New Roman" panose="02020603050405020304" pitchFamily="18" charset="0"/>
                </a:rPr>
                <a:t>Routing</a:t>
              </a:r>
              <a:endParaRPr lang="ko-KR" altLang="en-US" sz="1200">
                <a:solidFill>
                  <a:schemeClr val="tx1"/>
                </a:solidFill>
                <a:latin typeface="Times New Roman" panose="02020603050405020304" pitchFamily="18" charset="0"/>
                <a:cs typeface="Times New Roman" panose="02020603050405020304" pitchFamily="18" charset="0"/>
              </a:endParaRPr>
            </a:p>
          </p:txBody>
        </p:sp>
        <p:sp>
          <p:nvSpPr>
            <p:cNvPr id="34" name="직사각형 33">
              <a:extLst>
                <a:ext uri="{FF2B5EF4-FFF2-40B4-BE49-F238E27FC236}">
                  <a16:creationId xmlns:a16="http://schemas.microsoft.com/office/drawing/2014/main" id="{2A5FF423-AF7E-546D-7484-39FBDA57C2C4}"/>
                </a:ext>
              </a:extLst>
            </p:cNvPr>
            <p:cNvSpPr/>
            <p:nvPr/>
          </p:nvSpPr>
          <p:spPr>
            <a:xfrm>
              <a:off x="2356064" y="511632"/>
              <a:ext cx="1535627" cy="462566"/>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rgbClr val="C00000"/>
                  </a:solidFill>
                  <a:latin typeface="Times New Roman" panose="02020603050405020304" pitchFamily="18" charset="0"/>
                  <a:cs typeface="Times New Roman" panose="02020603050405020304" pitchFamily="18" charset="0"/>
                </a:rPr>
                <a:t>Transform Map</a:t>
              </a:r>
              <a:endParaRPr lang="ko-KR" altLang="en-US" sz="1200" b="1">
                <a:solidFill>
                  <a:srgbClr val="C00000"/>
                </a:solidFill>
                <a:latin typeface="Times New Roman" panose="02020603050405020304" pitchFamily="18" charset="0"/>
                <a:cs typeface="Times New Roman" panose="02020603050405020304" pitchFamily="18" charset="0"/>
              </a:endParaRPr>
            </a:p>
          </p:txBody>
        </p:sp>
        <p:cxnSp>
          <p:nvCxnSpPr>
            <p:cNvPr id="35" name="직선 연결선 34">
              <a:extLst>
                <a:ext uri="{FF2B5EF4-FFF2-40B4-BE49-F238E27FC236}">
                  <a16:creationId xmlns:a16="http://schemas.microsoft.com/office/drawing/2014/main" id="{C2FCD404-7B71-E5A0-31D0-907F530A22AB}"/>
                </a:ext>
              </a:extLst>
            </p:cNvPr>
            <p:cNvCxnSpPr>
              <a:cxnSpLocks/>
              <a:stCxn id="25" idx="2"/>
              <a:endCxn id="10" idx="0"/>
            </p:cNvCxnSpPr>
            <p:nvPr/>
          </p:nvCxnSpPr>
          <p:spPr>
            <a:xfrm>
              <a:off x="3140442" y="1067355"/>
              <a:ext cx="0" cy="310377"/>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sp>
          <p:nvSpPr>
            <p:cNvPr id="36" name="타원 35">
              <a:extLst>
                <a:ext uri="{FF2B5EF4-FFF2-40B4-BE49-F238E27FC236}">
                  <a16:creationId xmlns:a16="http://schemas.microsoft.com/office/drawing/2014/main" id="{0A87C13B-FDFC-73E7-2F12-524B9860C575}"/>
                </a:ext>
              </a:extLst>
            </p:cNvPr>
            <p:cNvSpPr/>
            <p:nvPr/>
          </p:nvSpPr>
          <p:spPr>
            <a:xfrm>
              <a:off x="3855162" y="1972192"/>
              <a:ext cx="213098" cy="207012"/>
            </a:xfrm>
            <a:prstGeom prst="ellipse">
              <a:avLst/>
            </a:prstGeom>
            <a:solidFill>
              <a:schemeClr val="tx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a:latin typeface="Times New Roman" panose="02020603050405020304" pitchFamily="18" charset="0"/>
                  <a:cs typeface="Times New Roman" panose="02020603050405020304" pitchFamily="18" charset="0"/>
                </a:rPr>
                <a:t>B</a:t>
              </a:r>
              <a:endParaRPr lang="ko-KR" altLang="en-US" sz="1200">
                <a:latin typeface="Times New Roman" panose="02020603050405020304" pitchFamily="18" charset="0"/>
                <a:cs typeface="Times New Roman" panose="02020603050405020304" pitchFamily="18" charset="0"/>
              </a:endParaRPr>
            </a:p>
          </p:txBody>
        </p:sp>
        <p:sp>
          <p:nvSpPr>
            <p:cNvPr id="37" name="타원 36">
              <a:extLst>
                <a:ext uri="{FF2B5EF4-FFF2-40B4-BE49-F238E27FC236}">
                  <a16:creationId xmlns:a16="http://schemas.microsoft.com/office/drawing/2014/main" id="{E25393C1-09DD-76AA-3AC7-4557400D6378}"/>
                </a:ext>
              </a:extLst>
            </p:cNvPr>
            <p:cNvSpPr/>
            <p:nvPr/>
          </p:nvSpPr>
          <p:spPr>
            <a:xfrm>
              <a:off x="3409942" y="1972192"/>
              <a:ext cx="213098" cy="20701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a:solidFill>
                    <a:schemeClr val="tx1"/>
                  </a:solidFill>
                  <a:latin typeface="Times New Roman" panose="02020603050405020304" pitchFamily="18" charset="0"/>
                  <a:cs typeface="Times New Roman" panose="02020603050405020304" pitchFamily="18" charset="0"/>
                </a:rPr>
                <a:t>A</a:t>
              </a:r>
              <a:endParaRPr lang="ko-KR" altLang="en-US" sz="1200">
                <a:solidFill>
                  <a:schemeClr val="tx1"/>
                </a:solidFill>
                <a:latin typeface="Times New Roman" panose="02020603050405020304" pitchFamily="18" charset="0"/>
                <a:cs typeface="Times New Roman" panose="02020603050405020304" pitchFamily="18" charset="0"/>
              </a:endParaRPr>
            </a:p>
          </p:txBody>
        </p:sp>
        <p:cxnSp>
          <p:nvCxnSpPr>
            <p:cNvPr id="38" name="직선 연결선 37">
              <a:extLst>
                <a:ext uri="{FF2B5EF4-FFF2-40B4-BE49-F238E27FC236}">
                  <a16:creationId xmlns:a16="http://schemas.microsoft.com/office/drawing/2014/main" id="{F7415FE0-B59B-758B-B7EA-00F4E118DB90}"/>
                </a:ext>
              </a:extLst>
            </p:cNvPr>
            <p:cNvCxnSpPr>
              <a:cxnSpLocks/>
              <a:stCxn id="28" idx="2"/>
              <a:endCxn id="16" idx="0"/>
            </p:cNvCxnSpPr>
            <p:nvPr/>
          </p:nvCxnSpPr>
          <p:spPr>
            <a:xfrm flipH="1">
              <a:off x="6513678" y="1108286"/>
              <a:ext cx="1" cy="1251454"/>
            </a:xfrm>
            <a:prstGeom prst="line">
              <a:avLst/>
            </a:prstGeom>
            <a:ln>
              <a:solidFill>
                <a:srgbClr val="C00000"/>
              </a:solidFill>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9" name="직선 화살표 연결선 38">
              <a:extLst>
                <a:ext uri="{FF2B5EF4-FFF2-40B4-BE49-F238E27FC236}">
                  <a16:creationId xmlns:a16="http://schemas.microsoft.com/office/drawing/2014/main" id="{22EF11FF-6416-CB44-18A5-D79DB27D61BD}"/>
                </a:ext>
              </a:extLst>
            </p:cNvPr>
            <p:cNvCxnSpPr>
              <a:stCxn id="37" idx="6"/>
              <a:endCxn id="36" idx="2"/>
            </p:cNvCxnSpPr>
            <p:nvPr/>
          </p:nvCxnSpPr>
          <p:spPr>
            <a:xfrm>
              <a:off x="3623040" y="2075698"/>
              <a:ext cx="23212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 name="직사각형 39">
              <a:extLst>
                <a:ext uri="{FF2B5EF4-FFF2-40B4-BE49-F238E27FC236}">
                  <a16:creationId xmlns:a16="http://schemas.microsoft.com/office/drawing/2014/main" id="{0AA15804-0ACC-DCCB-186A-FC5A357F51BF}"/>
                </a:ext>
              </a:extLst>
            </p:cNvPr>
            <p:cNvSpPr/>
            <p:nvPr/>
          </p:nvSpPr>
          <p:spPr>
            <a:xfrm>
              <a:off x="6438547" y="1466850"/>
              <a:ext cx="1422400" cy="461665"/>
            </a:xfrm>
            <a:prstGeom prst="rect">
              <a:avLst/>
            </a:prstGeom>
            <a:noFill/>
            <a:ln>
              <a:noFill/>
            </a:ln>
          </p:spPr>
          <p:txBody>
            <a:bodyPr wrap="square">
              <a:spAutoFit/>
            </a:bodyPr>
            <a:lstStyle/>
            <a:p>
              <a:pPr algn="ctr"/>
              <a:r>
                <a:rPr lang="en-US" altLang="ko-KR" sz="1200" b="1">
                  <a:solidFill>
                    <a:srgbClr val="C00000"/>
                  </a:solidFill>
                  <a:latin typeface="Times New Roman" panose="02020603050405020304" pitchFamily="18" charset="0"/>
                  <a:cs typeface="Times New Roman" panose="02020603050405020304" pitchFamily="18" charset="0"/>
                </a:rPr>
                <a:t>No delay</a:t>
              </a:r>
            </a:p>
            <a:p>
              <a:pPr algn="ctr"/>
              <a:r>
                <a:rPr lang="en-US" altLang="ko-KR" sz="1200" b="1">
                  <a:solidFill>
                    <a:srgbClr val="C00000"/>
                  </a:solidFill>
                  <a:latin typeface="Times New Roman" panose="02020603050405020304" pitchFamily="18" charset="0"/>
                  <a:cs typeface="Times New Roman" panose="02020603050405020304" pitchFamily="18" charset="0"/>
                </a:rPr>
                <a:t>Zero downtime</a:t>
              </a:r>
              <a:endParaRPr lang="ko-KR" altLang="en-US" sz="1200" b="1">
                <a:solidFill>
                  <a:srgbClr val="C00000"/>
                </a:solidFill>
                <a:latin typeface="Times New Roman" panose="02020603050405020304" pitchFamily="18" charset="0"/>
                <a:cs typeface="Times New Roman" panose="02020603050405020304" pitchFamily="18" charset="0"/>
              </a:endParaRPr>
            </a:p>
          </p:txBody>
        </p:sp>
        <p:sp>
          <p:nvSpPr>
            <p:cNvPr id="41" name="타원 40">
              <a:extLst>
                <a:ext uri="{FF2B5EF4-FFF2-40B4-BE49-F238E27FC236}">
                  <a16:creationId xmlns:a16="http://schemas.microsoft.com/office/drawing/2014/main" id="{A2739412-E20B-4C0D-458F-77D6A0DBAC15}"/>
                </a:ext>
              </a:extLst>
            </p:cNvPr>
            <p:cNvSpPr/>
            <p:nvPr/>
          </p:nvSpPr>
          <p:spPr>
            <a:xfrm>
              <a:off x="6407129" y="573555"/>
              <a:ext cx="213098" cy="20701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a:solidFill>
                    <a:schemeClr val="tx1"/>
                  </a:solidFill>
                  <a:latin typeface="Times New Roman" panose="02020603050405020304" pitchFamily="18" charset="0"/>
                  <a:cs typeface="Times New Roman" panose="02020603050405020304" pitchFamily="18" charset="0"/>
                </a:rPr>
                <a:t>A</a:t>
              </a:r>
              <a:endParaRPr lang="ko-KR" altLang="en-US" sz="1200">
                <a:solidFill>
                  <a:schemeClr val="tx1"/>
                </a:solidFill>
                <a:latin typeface="Times New Roman" panose="02020603050405020304" pitchFamily="18" charset="0"/>
                <a:cs typeface="Times New Roman" panose="02020603050405020304" pitchFamily="18" charset="0"/>
              </a:endParaRPr>
            </a:p>
          </p:txBody>
        </p:sp>
        <p:sp>
          <p:nvSpPr>
            <p:cNvPr id="42" name="직사각형 41">
              <a:extLst>
                <a:ext uri="{FF2B5EF4-FFF2-40B4-BE49-F238E27FC236}">
                  <a16:creationId xmlns:a16="http://schemas.microsoft.com/office/drawing/2014/main" id="{9662B49A-E852-91F0-CD9E-D0C75AB357A8}"/>
                </a:ext>
              </a:extLst>
            </p:cNvPr>
            <p:cNvSpPr/>
            <p:nvPr/>
          </p:nvSpPr>
          <p:spPr>
            <a:xfrm>
              <a:off x="5812401" y="788815"/>
              <a:ext cx="1422400" cy="276999"/>
            </a:xfrm>
            <a:prstGeom prst="rect">
              <a:avLst/>
            </a:prstGeom>
            <a:noFill/>
            <a:ln>
              <a:noFill/>
            </a:ln>
          </p:spPr>
          <p:txBody>
            <a:bodyPr wrap="square">
              <a:spAutoFit/>
            </a:bodyPr>
            <a:lstStyle/>
            <a:p>
              <a:pPr algn="ctr"/>
              <a:r>
                <a:rPr lang="en-US" altLang="ko-KR" sz="1200">
                  <a:latin typeface="Times New Roman" panose="02020603050405020304" pitchFamily="18" charset="0"/>
                  <a:cs typeface="Times New Roman" panose="02020603050405020304" pitchFamily="18" charset="0"/>
                </a:rPr>
                <a:t>Minor Error</a:t>
              </a:r>
              <a:endParaRPr lang="ko-KR" altLang="en-US" sz="1200">
                <a:latin typeface="Times New Roman" panose="02020603050405020304" pitchFamily="18" charset="0"/>
                <a:cs typeface="Times New Roman" panose="02020603050405020304" pitchFamily="18" charset="0"/>
              </a:endParaRPr>
            </a:p>
          </p:txBody>
        </p:sp>
        <p:sp>
          <p:nvSpPr>
            <p:cNvPr id="43" name="타원 42">
              <a:extLst>
                <a:ext uri="{FF2B5EF4-FFF2-40B4-BE49-F238E27FC236}">
                  <a16:creationId xmlns:a16="http://schemas.microsoft.com/office/drawing/2014/main" id="{F501606D-1214-CED2-B920-82AB77761010}"/>
                </a:ext>
              </a:extLst>
            </p:cNvPr>
            <p:cNvSpPr/>
            <p:nvPr/>
          </p:nvSpPr>
          <p:spPr>
            <a:xfrm>
              <a:off x="6417052" y="2739120"/>
              <a:ext cx="213098" cy="207012"/>
            </a:xfrm>
            <a:prstGeom prst="ellipse">
              <a:avLst/>
            </a:prstGeom>
            <a:solidFill>
              <a:schemeClr val="tx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a:latin typeface="Times New Roman" panose="02020603050405020304" pitchFamily="18" charset="0"/>
                  <a:cs typeface="Times New Roman" panose="02020603050405020304" pitchFamily="18" charset="0"/>
                </a:rPr>
                <a:t>B</a:t>
              </a:r>
              <a:endParaRPr lang="ko-KR" altLang="en-US" sz="1200">
                <a:latin typeface="Times New Roman" panose="02020603050405020304" pitchFamily="18" charset="0"/>
                <a:cs typeface="Times New Roman" panose="02020603050405020304" pitchFamily="18" charset="0"/>
              </a:endParaRPr>
            </a:p>
          </p:txBody>
        </p:sp>
      </p:grpSp>
      <p:sp>
        <p:nvSpPr>
          <p:cNvPr id="45" name="내용 개체 틀 1">
            <a:extLst>
              <a:ext uri="{FF2B5EF4-FFF2-40B4-BE49-F238E27FC236}">
                <a16:creationId xmlns:a16="http://schemas.microsoft.com/office/drawing/2014/main" id="{47A8E4A0-C376-7791-5B69-76F4CCFCDEF2}"/>
              </a:ext>
            </a:extLst>
          </p:cNvPr>
          <p:cNvSpPr>
            <a:spLocks noGrp="1"/>
          </p:cNvSpPr>
          <p:nvPr>
            <p:ph idx="1"/>
          </p:nvPr>
        </p:nvSpPr>
        <p:spPr>
          <a:xfrm>
            <a:off x="581192" y="1565216"/>
            <a:ext cx="11029615" cy="1123421"/>
          </a:xfrm>
        </p:spPr>
        <p:txBody>
          <a:bodyPr rtlCol="0">
            <a:noAutofit/>
          </a:bodyPr>
          <a:lstStyle/>
          <a:p>
            <a:pPr marL="0" indent="0">
              <a:buNone/>
            </a:pPr>
            <a:r>
              <a:rPr lang="en-US" altLang="ko-KR" sz="2400" b="1"/>
              <a:t>The administrator resolves </a:t>
            </a:r>
            <a:r>
              <a:rPr lang="en-US" altLang="ko-KR" sz="2400" b="1">
                <a:solidFill>
                  <a:srgbClr val="FF0000"/>
                </a:solidFill>
              </a:rPr>
              <a:t>simple errors</a:t>
            </a:r>
            <a:r>
              <a:rPr lang="en-US" altLang="ko-KR" sz="2400" b="1"/>
              <a:t>, such as typos, by updating the Transform_map </a:t>
            </a:r>
            <a:r>
              <a:rPr lang="en-US" altLang="ko-KR" sz="2400" b="1">
                <a:solidFill>
                  <a:srgbClr val="FF0000"/>
                </a:solidFill>
              </a:rPr>
              <a:t>without any server downtime</a:t>
            </a:r>
            <a:r>
              <a:rPr lang="en-US" altLang="ko-KR" sz="2400" b="1"/>
              <a:t>.</a:t>
            </a:r>
          </a:p>
          <a:p>
            <a:pPr lvl="1"/>
            <a:r>
              <a:rPr lang="en-US" altLang="ko-KR" sz="1800"/>
              <a:t>These changes do not affect existing sessions and are only applied to newly established sessions.</a:t>
            </a:r>
            <a:endParaRPr lang="ko-KR" altLang="en-US" sz="1800" dirty="0"/>
          </a:p>
        </p:txBody>
      </p:sp>
      <p:sp>
        <p:nvSpPr>
          <p:cNvPr id="2" name="TextBox 1">
            <a:extLst>
              <a:ext uri="{FF2B5EF4-FFF2-40B4-BE49-F238E27FC236}">
                <a16:creationId xmlns:a16="http://schemas.microsoft.com/office/drawing/2014/main" id="{FE287DE0-1AF2-DCBC-C701-0FED79AD9D08}"/>
              </a:ext>
            </a:extLst>
          </p:cNvPr>
          <p:cNvSpPr txBox="1"/>
          <p:nvPr/>
        </p:nvSpPr>
        <p:spPr>
          <a:xfrm>
            <a:off x="1933698" y="6165869"/>
            <a:ext cx="8324602" cy="646331"/>
          </a:xfrm>
          <a:prstGeom prst="rect">
            <a:avLst/>
          </a:prstGeom>
          <a:noFill/>
        </p:spPr>
        <p:txBody>
          <a:bodyPr wrap="square" rtlCol="0">
            <a:spAutoFit/>
          </a:bodyPr>
          <a:lstStyle/>
          <a:p>
            <a:pPr algn="ctr"/>
            <a:r>
              <a:rPr lang="en-US" altLang="ko-KR" b="1"/>
              <a:t>Fig: </a:t>
            </a:r>
            <a:r>
              <a:rPr lang="en-US" altLang="ko-KR"/>
              <a:t>Minor update scenario: policy changes and error corrections by the administrator are immediately applied without server interruption or delay.</a:t>
            </a:r>
            <a:r>
              <a:rPr lang="en-US" altLang="ko-KR" b="1"/>
              <a:t> </a:t>
            </a:r>
            <a:endParaRPr lang="ko-KR" altLang="en-US"/>
          </a:p>
        </p:txBody>
      </p:sp>
    </p:spTree>
    <p:extLst>
      <p:ext uri="{BB962C8B-B14F-4D97-AF65-F5344CB8AC3E}">
        <p14:creationId xmlns:p14="http://schemas.microsoft.com/office/powerpoint/2010/main" val="3856090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F6DD5-64CD-9E2C-49CC-0D62356A5B9E}"/>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A5289D93-FD6F-FBCA-7AF3-51B1070DC2B2}"/>
              </a:ext>
            </a:extLst>
          </p:cNvPr>
          <p:cNvSpPr>
            <a:spLocks noGrp="1"/>
          </p:cNvSpPr>
          <p:nvPr>
            <p:ph idx="1"/>
          </p:nvPr>
        </p:nvSpPr>
        <p:spPr>
          <a:xfrm>
            <a:off x="581192" y="1500312"/>
            <a:ext cx="11029615" cy="1613629"/>
          </a:xfrm>
        </p:spPr>
        <p:txBody>
          <a:bodyPr rtlCol="0">
            <a:normAutofit/>
          </a:bodyPr>
          <a:lstStyle/>
          <a:p>
            <a:pPr marL="0" indent="0">
              <a:buNone/>
            </a:pPr>
            <a:r>
              <a:rPr lang="en-US" altLang="ko-KR" sz="2400" b="1"/>
              <a:t>The performance of classical TLS using </a:t>
            </a:r>
            <a:r>
              <a:rPr lang="en-US" altLang="ko-KR" sz="2400" b="1">
                <a:solidFill>
                  <a:srgbClr val="FF0000"/>
                </a:solidFill>
              </a:rPr>
              <a:t>ECC-based key exchange </a:t>
            </a:r>
            <a:r>
              <a:rPr lang="en-US" altLang="ko-KR" sz="2400" b="1"/>
              <a:t>was evaluated.</a:t>
            </a:r>
            <a:endParaRPr lang="ko-KR" altLang="en-US" sz="2400" b="1"/>
          </a:p>
          <a:p>
            <a:pPr lvl="1"/>
            <a:r>
              <a:rPr lang="en-US" altLang="ko-KR" sz="1800"/>
              <a:t>Handshake performance was analyzed by measuring latency over 200 repetitions.</a:t>
            </a:r>
            <a:endParaRPr lang="ko-KR" altLang="en-US" sz="1800" dirty="0"/>
          </a:p>
        </p:txBody>
      </p:sp>
      <p:sp>
        <p:nvSpPr>
          <p:cNvPr id="6" name="TextBox 5">
            <a:extLst>
              <a:ext uri="{FF2B5EF4-FFF2-40B4-BE49-F238E27FC236}">
                <a16:creationId xmlns:a16="http://schemas.microsoft.com/office/drawing/2014/main" id="{179FAB86-DAE4-4D04-5EFC-CA8B323F873A}"/>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Handshake Evaluation: ECC</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0CC919FD-AE9A-B2CA-AA3B-AF8C0259062D}"/>
              </a:ext>
            </a:extLst>
          </p:cNvPr>
          <p:cNvSpPr>
            <a:spLocks noGrp="1"/>
          </p:cNvSpPr>
          <p:nvPr>
            <p:ph type="sldNum" sz="quarter" idx="12"/>
          </p:nvPr>
        </p:nvSpPr>
        <p:spPr/>
        <p:txBody>
          <a:bodyPr/>
          <a:lstStyle/>
          <a:p>
            <a:pPr rtl="0"/>
            <a:fld id="{401CF334-2D5C-4859-84A6-CA7E6E43FAEB}" type="slidenum">
              <a:rPr lang="en-US" altLang="ko-KR" smtClean="0"/>
              <a:t>20</a:t>
            </a:fld>
            <a:endParaRPr lang="ko-KR" altLang="en-US" dirty="0"/>
          </a:p>
        </p:txBody>
      </p:sp>
      <p:graphicFrame>
        <p:nvGraphicFramePr>
          <p:cNvPr id="10" name="표 9">
            <a:extLst>
              <a:ext uri="{FF2B5EF4-FFF2-40B4-BE49-F238E27FC236}">
                <a16:creationId xmlns:a16="http://schemas.microsoft.com/office/drawing/2014/main" id="{780048D0-EAF2-3DE9-6158-F0610120ED1E}"/>
              </a:ext>
            </a:extLst>
          </p:cNvPr>
          <p:cNvGraphicFramePr>
            <a:graphicFrameLocks noGrp="1"/>
          </p:cNvGraphicFramePr>
          <p:nvPr>
            <p:extLst>
              <p:ext uri="{D42A27DB-BD31-4B8C-83A1-F6EECF244321}">
                <p14:modId xmlns:p14="http://schemas.microsoft.com/office/powerpoint/2010/main" val="963436874"/>
              </p:ext>
            </p:extLst>
          </p:nvPr>
        </p:nvGraphicFramePr>
        <p:xfrm>
          <a:off x="1411842" y="3113941"/>
          <a:ext cx="9368315" cy="2345453"/>
        </p:xfrm>
        <a:graphic>
          <a:graphicData uri="http://schemas.openxmlformats.org/drawingml/2006/table">
            <a:tbl>
              <a:tblPr firstRow="1" bandRow="1">
                <a:tableStyleId>{8799B23B-EC83-4686-B30A-512413B5E67A}</a:tableStyleId>
              </a:tblPr>
              <a:tblGrid>
                <a:gridCol w="1877623">
                  <a:extLst>
                    <a:ext uri="{9D8B030D-6E8A-4147-A177-3AD203B41FA5}">
                      <a16:colId xmlns:a16="http://schemas.microsoft.com/office/drawing/2014/main" val="3144330054"/>
                    </a:ext>
                  </a:extLst>
                </a:gridCol>
                <a:gridCol w="1872673">
                  <a:extLst>
                    <a:ext uri="{9D8B030D-6E8A-4147-A177-3AD203B41FA5}">
                      <a16:colId xmlns:a16="http://schemas.microsoft.com/office/drawing/2014/main" val="1903691691"/>
                    </a:ext>
                  </a:extLst>
                </a:gridCol>
                <a:gridCol w="1872673">
                  <a:extLst>
                    <a:ext uri="{9D8B030D-6E8A-4147-A177-3AD203B41FA5}">
                      <a16:colId xmlns:a16="http://schemas.microsoft.com/office/drawing/2014/main" val="1496100485"/>
                    </a:ext>
                  </a:extLst>
                </a:gridCol>
                <a:gridCol w="1872673">
                  <a:extLst>
                    <a:ext uri="{9D8B030D-6E8A-4147-A177-3AD203B41FA5}">
                      <a16:colId xmlns:a16="http://schemas.microsoft.com/office/drawing/2014/main" val="1127462989"/>
                    </a:ext>
                  </a:extLst>
                </a:gridCol>
                <a:gridCol w="1872673">
                  <a:extLst>
                    <a:ext uri="{9D8B030D-6E8A-4147-A177-3AD203B41FA5}">
                      <a16:colId xmlns:a16="http://schemas.microsoft.com/office/drawing/2014/main" val="3772418004"/>
                    </a:ext>
                  </a:extLst>
                </a:gridCol>
              </a:tblGrid>
              <a:tr h="0">
                <a:tc>
                  <a:txBody>
                    <a:bodyPr/>
                    <a:lstStyle/>
                    <a:p>
                      <a:pPr latinLnBrk="1"/>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Latnecy(ms)</a:t>
                      </a:r>
                      <a:endParaRPr lang="ko-KR" altLang="en-US">
                        <a:solidFill>
                          <a:schemeClr val="tx1"/>
                        </a:solidFill>
                      </a:endParaRPr>
                    </a:p>
                  </a:txBody>
                  <a:tcPr anchor="ctr">
                    <a:noFill/>
                  </a:tcPr>
                </a:tc>
                <a:tc>
                  <a:txBody>
                    <a:bodyPr/>
                    <a:lstStyle/>
                    <a:p>
                      <a:pPr algn="ctr" latinLnBrk="1"/>
                      <a:r>
                        <a:rPr lang="en-US" altLang="ko-KR">
                          <a:solidFill>
                            <a:schemeClr val="tx1"/>
                          </a:solidFill>
                        </a:rPr>
                        <a:t>IQR (ms)</a:t>
                      </a:r>
                      <a:endParaRPr lang="ko-KR" altLang="en-US">
                        <a:solidFill>
                          <a:schemeClr val="tx1"/>
                        </a:solidFill>
                      </a:endParaRPr>
                    </a:p>
                  </a:txBody>
                  <a:tcPr anchor="ctr">
                    <a:noFill/>
                  </a:tcPr>
                </a:tc>
                <a:tc>
                  <a:txBody>
                    <a:bodyPr/>
                    <a:lstStyle/>
                    <a:p>
                      <a:pPr algn="ctr" latinLnBrk="1"/>
                      <a:r>
                        <a:rPr lang="en-US" altLang="ko-KR">
                          <a:solidFill>
                            <a:schemeClr val="tx1"/>
                          </a:solidFill>
                        </a:rPr>
                        <a:t>95% CI High</a:t>
                      </a:r>
                      <a:endParaRPr lang="ko-KR" altLang="en-US">
                        <a:solidFill>
                          <a:schemeClr val="tx1"/>
                        </a:solidFill>
                      </a:endParaRPr>
                    </a:p>
                  </a:txBody>
                  <a:tcPr anchor="ctr">
                    <a:noFill/>
                  </a:tcPr>
                </a:tc>
                <a:tc>
                  <a:txBody>
                    <a:bodyPr/>
                    <a:lstStyle/>
                    <a:p>
                      <a:pPr algn="ctr" latinLnBrk="1"/>
                      <a:r>
                        <a:rPr lang="en-US" altLang="ko-KR">
                          <a:solidFill>
                            <a:schemeClr val="tx1"/>
                          </a:solidFill>
                        </a:rPr>
                        <a:t>95% CI Low</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370840">
                <a:tc>
                  <a:txBody>
                    <a:bodyPr/>
                    <a:lstStyle/>
                    <a:p>
                      <a:pPr latinLnBrk="1"/>
                      <a:r>
                        <a:rPr lang="en-US" altLang="ko-KR">
                          <a:solidFill>
                            <a:schemeClr val="tx1"/>
                          </a:solidFill>
                        </a:rPr>
                        <a:t>X25519</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86.1</a:t>
                      </a:r>
                      <a:endParaRPr lang="ko-KR" altLang="en-US">
                        <a:solidFill>
                          <a:schemeClr val="tx1"/>
                        </a:solidFill>
                      </a:endParaRPr>
                    </a:p>
                  </a:txBody>
                  <a:tcPr anchor="ctr">
                    <a:noFill/>
                  </a:tcPr>
                </a:tc>
                <a:tc>
                  <a:txBody>
                    <a:bodyPr/>
                    <a:lstStyle/>
                    <a:p>
                      <a:pPr algn="ctr" latinLnBrk="1"/>
                      <a:r>
                        <a:rPr lang="en-US" altLang="ko-KR">
                          <a:solidFill>
                            <a:schemeClr val="tx1"/>
                          </a:solidFill>
                        </a:rPr>
                        <a:t>11.7</a:t>
                      </a:r>
                      <a:endParaRPr lang="ko-KR" altLang="en-US">
                        <a:solidFill>
                          <a:schemeClr val="tx1"/>
                        </a:solidFill>
                      </a:endParaRPr>
                    </a:p>
                  </a:txBody>
                  <a:tcPr anchor="ctr">
                    <a:noFill/>
                  </a:tcPr>
                </a:tc>
                <a:tc>
                  <a:txBody>
                    <a:bodyPr/>
                    <a:lstStyle/>
                    <a:p>
                      <a:pPr algn="ctr" latinLnBrk="1"/>
                      <a:r>
                        <a:rPr lang="en-US" altLang="ko-KR">
                          <a:solidFill>
                            <a:schemeClr val="tx1"/>
                          </a:solidFill>
                        </a:rPr>
                        <a:t>145.6</a:t>
                      </a:r>
                      <a:endParaRPr lang="ko-KR" altLang="en-US">
                        <a:solidFill>
                          <a:schemeClr val="tx1"/>
                        </a:solidFill>
                      </a:endParaRPr>
                    </a:p>
                  </a:txBody>
                  <a:tcPr anchor="ctr">
                    <a:noFill/>
                  </a:tcPr>
                </a:tc>
                <a:tc>
                  <a:txBody>
                    <a:bodyPr/>
                    <a:lstStyle/>
                    <a:p>
                      <a:pPr algn="ctr" latinLnBrk="1"/>
                      <a:r>
                        <a:rPr lang="en-US" altLang="ko-KR">
                          <a:solidFill>
                            <a:schemeClr val="tx1"/>
                          </a:solidFill>
                        </a:rPr>
                        <a:t>73.0</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496333">
                <a:tc>
                  <a:txBody>
                    <a:bodyPr/>
                    <a:lstStyle/>
                    <a:p>
                      <a:pPr latinLnBrk="1"/>
                      <a:r>
                        <a:rPr lang="en-US" altLang="ko-KR">
                          <a:solidFill>
                            <a:schemeClr val="tx1"/>
                          </a:solidFill>
                        </a:rPr>
                        <a:t>X448</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88.1</a:t>
                      </a:r>
                      <a:endParaRPr lang="ko-KR" altLang="en-US">
                        <a:solidFill>
                          <a:schemeClr val="tx1"/>
                        </a:solidFill>
                      </a:endParaRPr>
                    </a:p>
                  </a:txBody>
                  <a:tcPr anchor="ctr">
                    <a:noFill/>
                  </a:tcPr>
                </a:tc>
                <a:tc>
                  <a:txBody>
                    <a:bodyPr/>
                    <a:lstStyle/>
                    <a:p>
                      <a:pPr algn="ctr" latinLnBrk="1"/>
                      <a:r>
                        <a:rPr lang="en-US" altLang="ko-KR">
                          <a:solidFill>
                            <a:schemeClr val="tx1"/>
                          </a:solidFill>
                        </a:rPr>
                        <a:t>11.8</a:t>
                      </a:r>
                      <a:endParaRPr lang="ko-KR" altLang="en-US">
                        <a:solidFill>
                          <a:schemeClr val="tx1"/>
                        </a:solidFill>
                      </a:endParaRPr>
                    </a:p>
                  </a:txBody>
                  <a:tcPr anchor="ctr">
                    <a:noFill/>
                  </a:tcPr>
                </a:tc>
                <a:tc>
                  <a:txBody>
                    <a:bodyPr/>
                    <a:lstStyle/>
                    <a:p>
                      <a:pPr algn="ctr" latinLnBrk="1"/>
                      <a:r>
                        <a:rPr lang="en-US" altLang="ko-KR">
                          <a:solidFill>
                            <a:schemeClr val="tx1"/>
                          </a:solidFill>
                        </a:rPr>
                        <a:t>159.2</a:t>
                      </a:r>
                      <a:endParaRPr lang="ko-KR" altLang="en-US">
                        <a:solidFill>
                          <a:schemeClr val="tx1"/>
                        </a:solidFill>
                      </a:endParaRPr>
                    </a:p>
                  </a:txBody>
                  <a:tcPr anchor="ctr">
                    <a:noFill/>
                  </a:tcPr>
                </a:tc>
                <a:tc>
                  <a:txBody>
                    <a:bodyPr/>
                    <a:lstStyle/>
                    <a:p>
                      <a:pPr algn="ctr" latinLnBrk="1"/>
                      <a:r>
                        <a:rPr lang="en-US" altLang="ko-KR">
                          <a:solidFill>
                            <a:schemeClr val="tx1"/>
                          </a:solidFill>
                        </a:rPr>
                        <a:t>75.2</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r h="370840">
                <a:tc>
                  <a:txBody>
                    <a:bodyPr/>
                    <a:lstStyle/>
                    <a:p>
                      <a:pPr latinLnBrk="1"/>
                      <a:r>
                        <a:rPr lang="en-US" altLang="ko-KR">
                          <a:solidFill>
                            <a:schemeClr val="tx1"/>
                          </a:solidFill>
                        </a:rPr>
                        <a:t>P-256</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85.8</a:t>
                      </a:r>
                      <a:endParaRPr lang="ko-KR" altLang="en-US">
                        <a:solidFill>
                          <a:schemeClr val="tx1"/>
                        </a:solidFill>
                      </a:endParaRPr>
                    </a:p>
                  </a:txBody>
                  <a:tcPr anchor="ctr">
                    <a:noFill/>
                  </a:tcPr>
                </a:tc>
                <a:tc>
                  <a:txBody>
                    <a:bodyPr/>
                    <a:lstStyle/>
                    <a:p>
                      <a:pPr algn="ctr" latinLnBrk="1"/>
                      <a:r>
                        <a:rPr lang="en-US" altLang="ko-KR">
                          <a:solidFill>
                            <a:schemeClr val="tx1"/>
                          </a:solidFill>
                        </a:rPr>
                        <a:t>11.7</a:t>
                      </a:r>
                    </a:p>
                  </a:txBody>
                  <a:tcPr anchor="ctr">
                    <a:noFill/>
                  </a:tcPr>
                </a:tc>
                <a:tc>
                  <a:txBody>
                    <a:bodyPr/>
                    <a:lstStyle/>
                    <a:p>
                      <a:pPr algn="ctr" latinLnBrk="1"/>
                      <a:r>
                        <a:rPr lang="en-US" altLang="ko-KR">
                          <a:solidFill>
                            <a:schemeClr val="tx1"/>
                          </a:solidFill>
                        </a:rPr>
                        <a:t>161.2</a:t>
                      </a:r>
                    </a:p>
                  </a:txBody>
                  <a:tcPr anchor="ctr">
                    <a:noFill/>
                  </a:tcPr>
                </a:tc>
                <a:tc>
                  <a:txBody>
                    <a:bodyPr/>
                    <a:lstStyle/>
                    <a:p>
                      <a:pPr algn="ctr" latinLnBrk="1"/>
                      <a:r>
                        <a:rPr lang="en-US" altLang="ko-KR">
                          <a:solidFill>
                            <a:schemeClr val="tx1"/>
                          </a:solidFill>
                        </a:rPr>
                        <a:t>70.9</a:t>
                      </a:r>
                    </a:p>
                  </a:txBody>
                  <a:tcPr anchor="ctr">
                    <a:lnR w="12700" cmpd="sng">
                      <a:noFill/>
                    </a:lnR>
                    <a:noFill/>
                  </a:tcPr>
                </a:tc>
                <a:extLst>
                  <a:ext uri="{0D108BD9-81ED-4DB2-BD59-A6C34878D82A}">
                    <a16:rowId xmlns:a16="http://schemas.microsoft.com/office/drawing/2014/main" val="1262219744"/>
                  </a:ext>
                </a:extLst>
              </a:tr>
              <a:tr h="370840">
                <a:tc>
                  <a:txBody>
                    <a:bodyPr/>
                    <a:lstStyle/>
                    <a:p>
                      <a:pPr latinLnBrk="1"/>
                      <a:r>
                        <a:rPr lang="en-US" altLang="ko-KR">
                          <a:solidFill>
                            <a:schemeClr val="tx1"/>
                          </a:solidFill>
                        </a:rPr>
                        <a:t>P-384</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116.1</a:t>
                      </a:r>
                      <a:endParaRPr lang="ko-KR" altLang="en-US">
                        <a:solidFill>
                          <a:schemeClr val="tx1"/>
                        </a:solidFill>
                      </a:endParaRPr>
                    </a:p>
                  </a:txBody>
                  <a:tcPr anchor="ctr">
                    <a:noFill/>
                  </a:tcPr>
                </a:tc>
                <a:tc>
                  <a:txBody>
                    <a:bodyPr/>
                    <a:lstStyle/>
                    <a:p>
                      <a:pPr algn="ctr" latinLnBrk="1"/>
                      <a:r>
                        <a:rPr lang="en-US" altLang="ko-KR">
                          <a:solidFill>
                            <a:schemeClr val="tx1"/>
                          </a:solidFill>
                        </a:rPr>
                        <a:t>42.7</a:t>
                      </a:r>
                    </a:p>
                  </a:txBody>
                  <a:tcPr anchor="ctr">
                    <a:noFill/>
                  </a:tcPr>
                </a:tc>
                <a:tc>
                  <a:txBody>
                    <a:bodyPr/>
                    <a:lstStyle/>
                    <a:p>
                      <a:pPr algn="ctr" latinLnBrk="1"/>
                      <a:r>
                        <a:rPr lang="en-US" altLang="ko-KR">
                          <a:solidFill>
                            <a:schemeClr val="tx1"/>
                          </a:solidFill>
                        </a:rPr>
                        <a:t>209.5</a:t>
                      </a:r>
                    </a:p>
                  </a:txBody>
                  <a:tcPr anchor="ctr">
                    <a:noFill/>
                  </a:tcPr>
                </a:tc>
                <a:tc>
                  <a:txBody>
                    <a:bodyPr/>
                    <a:lstStyle/>
                    <a:p>
                      <a:pPr algn="ctr" latinLnBrk="1"/>
                      <a:r>
                        <a:rPr lang="en-US" altLang="ko-KR">
                          <a:solidFill>
                            <a:schemeClr val="tx1"/>
                          </a:solidFill>
                        </a:rPr>
                        <a:t>79.8</a:t>
                      </a:r>
                    </a:p>
                  </a:txBody>
                  <a:tcPr anchor="ctr">
                    <a:lnR w="12700" cmpd="sng">
                      <a:noFill/>
                    </a:lnR>
                    <a:noFill/>
                  </a:tcPr>
                </a:tc>
                <a:extLst>
                  <a:ext uri="{0D108BD9-81ED-4DB2-BD59-A6C34878D82A}">
                    <a16:rowId xmlns:a16="http://schemas.microsoft.com/office/drawing/2014/main" val="975904577"/>
                  </a:ext>
                </a:extLst>
              </a:tr>
              <a:tr h="370840">
                <a:tc>
                  <a:txBody>
                    <a:bodyPr/>
                    <a:lstStyle/>
                    <a:p>
                      <a:pPr latinLnBrk="1"/>
                      <a:r>
                        <a:rPr lang="en-US" altLang="ko-KR">
                          <a:solidFill>
                            <a:schemeClr val="tx1"/>
                          </a:solidFill>
                        </a:rPr>
                        <a:t>P-521</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90.7</a:t>
                      </a:r>
                      <a:endParaRPr lang="ko-KR" altLang="en-US">
                        <a:solidFill>
                          <a:schemeClr val="tx1"/>
                        </a:solidFill>
                      </a:endParaRPr>
                    </a:p>
                  </a:txBody>
                  <a:tcPr anchor="ctr">
                    <a:noFill/>
                  </a:tcPr>
                </a:tc>
                <a:tc>
                  <a:txBody>
                    <a:bodyPr/>
                    <a:lstStyle/>
                    <a:p>
                      <a:pPr algn="ctr" latinLnBrk="1"/>
                      <a:r>
                        <a:rPr lang="en-US" altLang="ko-KR">
                          <a:solidFill>
                            <a:schemeClr val="tx1"/>
                          </a:solidFill>
                        </a:rPr>
                        <a:t>10.3</a:t>
                      </a:r>
                    </a:p>
                  </a:txBody>
                  <a:tcPr anchor="ctr">
                    <a:noFill/>
                  </a:tcPr>
                </a:tc>
                <a:tc>
                  <a:txBody>
                    <a:bodyPr/>
                    <a:lstStyle/>
                    <a:p>
                      <a:pPr algn="ctr" latinLnBrk="1"/>
                      <a:r>
                        <a:rPr lang="en-US" altLang="ko-KR">
                          <a:solidFill>
                            <a:schemeClr val="tx1"/>
                          </a:solidFill>
                        </a:rPr>
                        <a:t>183.4</a:t>
                      </a:r>
                    </a:p>
                  </a:txBody>
                  <a:tcPr anchor="ctr">
                    <a:noFill/>
                  </a:tcPr>
                </a:tc>
                <a:tc>
                  <a:txBody>
                    <a:bodyPr/>
                    <a:lstStyle/>
                    <a:p>
                      <a:pPr algn="ctr" latinLnBrk="1"/>
                      <a:r>
                        <a:rPr lang="en-US" altLang="ko-KR">
                          <a:solidFill>
                            <a:schemeClr val="tx1"/>
                          </a:solidFill>
                        </a:rPr>
                        <a:t>76.7</a:t>
                      </a:r>
                    </a:p>
                  </a:txBody>
                  <a:tcPr anchor="ctr">
                    <a:lnR w="12700" cmpd="sng">
                      <a:noFill/>
                    </a:lnR>
                    <a:noFill/>
                  </a:tcPr>
                </a:tc>
                <a:extLst>
                  <a:ext uri="{0D108BD9-81ED-4DB2-BD59-A6C34878D82A}">
                    <a16:rowId xmlns:a16="http://schemas.microsoft.com/office/drawing/2014/main" val="3523169396"/>
                  </a:ext>
                </a:extLst>
              </a:tr>
            </a:tbl>
          </a:graphicData>
        </a:graphic>
      </p:graphicFrame>
      <p:sp>
        <p:nvSpPr>
          <p:cNvPr id="11" name="TextBox 10">
            <a:extLst>
              <a:ext uri="{FF2B5EF4-FFF2-40B4-BE49-F238E27FC236}">
                <a16:creationId xmlns:a16="http://schemas.microsoft.com/office/drawing/2014/main" id="{FD3E1206-A126-EBA1-AE95-1C962D98B21A}"/>
              </a:ext>
            </a:extLst>
          </p:cNvPr>
          <p:cNvSpPr txBox="1"/>
          <p:nvPr/>
        </p:nvSpPr>
        <p:spPr>
          <a:xfrm>
            <a:off x="1411842" y="5632971"/>
            <a:ext cx="9368314" cy="369332"/>
          </a:xfrm>
          <a:prstGeom prst="rect">
            <a:avLst/>
          </a:prstGeom>
          <a:noFill/>
        </p:spPr>
        <p:txBody>
          <a:bodyPr wrap="square" rtlCol="0">
            <a:spAutoFit/>
          </a:bodyPr>
          <a:lstStyle/>
          <a:p>
            <a:pPr algn="ctr"/>
            <a:r>
              <a:rPr lang="en-US" altLang="ko-KR" b="1"/>
              <a:t>Table: </a:t>
            </a:r>
            <a:r>
              <a:rPr lang="en-US" altLang="ko-KR"/>
              <a:t>TLS 1.3 handshake latency and IQR with ECC</a:t>
            </a:r>
            <a:endParaRPr lang="ko-KR" altLang="en-US"/>
          </a:p>
        </p:txBody>
      </p:sp>
    </p:spTree>
    <p:extLst>
      <p:ext uri="{BB962C8B-B14F-4D97-AF65-F5344CB8AC3E}">
        <p14:creationId xmlns:p14="http://schemas.microsoft.com/office/powerpoint/2010/main" val="900925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02E83-07A3-416B-C5E0-7F461C66947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F39D065-5D06-A79F-AEF8-9E557CBA34B7}"/>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Handshake Evaluation: PQC</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3698305C-54BB-38D2-513A-4F1578746F6F}"/>
              </a:ext>
            </a:extLst>
          </p:cNvPr>
          <p:cNvSpPr>
            <a:spLocks noGrp="1"/>
          </p:cNvSpPr>
          <p:nvPr>
            <p:ph type="sldNum" sz="quarter" idx="12"/>
          </p:nvPr>
        </p:nvSpPr>
        <p:spPr/>
        <p:txBody>
          <a:bodyPr/>
          <a:lstStyle/>
          <a:p>
            <a:pPr rtl="0"/>
            <a:fld id="{401CF334-2D5C-4859-84A6-CA7E6E43FAEB}" type="slidenum">
              <a:rPr lang="en-US" altLang="ko-KR" smtClean="0"/>
              <a:t>21</a:t>
            </a:fld>
            <a:endParaRPr lang="ko-KR" altLang="en-US" dirty="0"/>
          </a:p>
        </p:txBody>
      </p:sp>
      <p:graphicFrame>
        <p:nvGraphicFramePr>
          <p:cNvPr id="3" name="표 2">
            <a:extLst>
              <a:ext uri="{FF2B5EF4-FFF2-40B4-BE49-F238E27FC236}">
                <a16:creationId xmlns:a16="http://schemas.microsoft.com/office/drawing/2014/main" id="{BC0DE63A-F73B-FB14-314D-A6B6FE4571DA}"/>
              </a:ext>
            </a:extLst>
          </p:cNvPr>
          <p:cNvGraphicFramePr>
            <a:graphicFrameLocks noGrp="1"/>
          </p:cNvGraphicFramePr>
          <p:nvPr>
            <p:extLst>
              <p:ext uri="{D42A27DB-BD31-4B8C-83A1-F6EECF244321}">
                <p14:modId xmlns:p14="http://schemas.microsoft.com/office/powerpoint/2010/main" val="4018695366"/>
              </p:ext>
            </p:extLst>
          </p:nvPr>
        </p:nvGraphicFramePr>
        <p:xfrm>
          <a:off x="1411841" y="2121609"/>
          <a:ext cx="9368315" cy="4199653"/>
        </p:xfrm>
        <a:graphic>
          <a:graphicData uri="http://schemas.openxmlformats.org/drawingml/2006/table">
            <a:tbl>
              <a:tblPr firstRow="1" bandRow="1">
                <a:tableStyleId>{8799B23B-EC83-4686-B30A-512413B5E67A}</a:tableStyleId>
              </a:tblPr>
              <a:tblGrid>
                <a:gridCol w="2162631">
                  <a:extLst>
                    <a:ext uri="{9D8B030D-6E8A-4147-A177-3AD203B41FA5}">
                      <a16:colId xmlns:a16="http://schemas.microsoft.com/office/drawing/2014/main" val="3144330054"/>
                    </a:ext>
                  </a:extLst>
                </a:gridCol>
                <a:gridCol w="1801421">
                  <a:extLst>
                    <a:ext uri="{9D8B030D-6E8A-4147-A177-3AD203B41FA5}">
                      <a16:colId xmlns:a16="http://schemas.microsoft.com/office/drawing/2014/main" val="1903691691"/>
                    </a:ext>
                  </a:extLst>
                </a:gridCol>
                <a:gridCol w="1801421">
                  <a:extLst>
                    <a:ext uri="{9D8B030D-6E8A-4147-A177-3AD203B41FA5}">
                      <a16:colId xmlns:a16="http://schemas.microsoft.com/office/drawing/2014/main" val="1496100485"/>
                    </a:ext>
                  </a:extLst>
                </a:gridCol>
                <a:gridCol w="1801421">
                  <a:extLst>
                    <a:ext uri="{9D8B030D-6E8A-4147-A177-3AD203B41FA5}">
                      <a16:colId xmlns:a16="http://schemas.microsoft.com/office/drawing/2014/main" val="1127462989"/>
                    </a:ext>
                  </a:extLst>
                </a:gridCol>
                <a:gridCol w="1801421">
                  <a:extLst>
                    <a:ext uri="{9D8B030D-6E8A-4147-A177-3AD203B41FA5}">
                      <a16:colId xmlns:a16="http://schemas.microsoft.com/office/drawing/2014/main" val="3772418004"/>
                    </a:ext>
                  </a:extLst>
                </a:gridCol>
              </a:tblGrid>
              <a:tr h="0">
                <a:tc>
                  <a:txBody>
                    <a:bodyPr/>
                    <a:lstStyle/>
                    <a:p>
                      <a:pPr latinLnBrk="1"/>
                      <a:r>
                        <a:rPr lang="en-US" altLang="ko-KR">
                          <a:solidFill>
                            <a:schemeClr val="tx1"/>
                          </a:solidFill>
                        </a:rPr>
                        <a:t>PQC Algorithm</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Latnecy(ms)</a:t>
                      </a:r>
                      <a:endParaRPr lang="ko-KR" altLang="en-US">
                        <a:solidFill>
                          <a:schemeClr val="tx1"/>
                        </a:solidFill>
                      </a:endParaRPr>
                    </a:p>
                  </a:txBody>
                  <a:tcPr anchor="ctr">
                    <a:noFill/>
                  </a:tcPr>
                </a:tc>
                <a:tc>
                  <a:txBody>
                    <a:bodyPr/>
                    <a:lstStyle/>
                    <a:p>
                      <a:pPr algn="ctr" latinLnBrk="1"/>
                      <a:r>
                        <a:rPr lang="en-US" altLang="ko-KR">
                          <a:solidFill>
                            <a:schemeClr val="tx1"/>
                          </a:solidFill>
                        </a:rPr>
                        <a:t>IQR (ms)</a:t>
                      </a:r>
                      <a:endParaRPr lang="ko-KR" altLang="en-US">
                        <a:solidFill>
                          <a:schemeClr val="tx1"/>
                        </a:solidFill>
                      </a:endParaRPr>
                    </a:p>
                  </a:txBody>
                  <a:tcPr anchor="ctr">
                    <a:noFill/>
                  </a:tcPr>
                </a:tc>
                <a:tc>
                  <a:txBody>
                    <a:bodyPr/>
                    <a:lstStyle/>
                    <a:p>
                      <a:pPr algn="ctr" latinLnBrk="1"/>
                      <a:r>
                        <a:rPr lang="en-US" altLang="ko-KR">
                          <a:solidFill>
                            <a:schemeClr val="tx1"/>
                          </a:solidFill>
                        </a:rPr>
                        <a:t>95% CI High</a:t>
                      </a:r>
                      <a:endParaRPr lang="ko-KR" altLang="en-US">
                        <a:solidFill>
                          <a:schemeClr val="tx1"/>
                        </a:solidFill>
                      </a:endParaRPr>
                    </a:p>
                  </a:txBody>
                  <a:tcPr anchor="ctr">
                    <a:noFill/>
                  </a:tcPr>
                </a:tc>
                <a:tc>
                  <a:txBody>
                    <a:bodyPr/>
                    <a:lstStyle/>
                    <a:p>
                      <a:pPr algn="ctr" latinLnBrk="1"/>
                      <a:r>
                        <a:rPr lang="en-US" altLang="ko-KR">
                          <a:solidFill>
                            <a:schemeClr val="tx1"/>
                          </a:solidFill>
                        </a:rPr>
                        <a:t>95% CI Low</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370840">
                <a:tc>
                  <a:txBody>
                    <a:bodyPr/>
                    <a:lstStyle/>
                    <a:p>
                      <a:pPr latinLnBrk="1"/>
                      <a:r>
                        <a:rPr lang="en-US" altLang="ko-KR">
                          <a:solidFill>
                            <a:schemeClr val="tx1"/>
                          </a:solidFill>
                        </a:rPr>
                        <a:t>ML-KEM-512</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536</a:t>
                      </a:r>
                      <a:endParaRPr lang="ko-KR" altLang="en-US">
                        <a:solidFill>
                          <a:schemeClr val="tx1"/>
                        </a:solidFill>
                      </a:endParaRPr>
                    </a:p>
                  </a:txBody>
                  <a:tcPr anchor="ctr">
                    <a:noFill/>
                  </a:tcPr>
                </a:tc>
                <a:tc>
                  <a:txBody>
                    <a:bodyPr/>
                    <a:lstStyle/>
                    <a:p>
                      <a:pPr algn="ctr" latinLnBrk="1"/>
                      <a:r>
                        <a:rPr lang="en-US" altLang="ko-KR">
                          <a:solidFill>
                            <a:schemeClr val="tx1"/>
                          </a:solidFill>
                        </a:rPr>
                        <a:t>4.6</a:t>
                      </a:r>
                      <a:endParaRPr lang="ko-KR" altLang="en-US">
                        <a:solidFill>
                          <a:schemeClr val="tx1"/>
                        </a:solidFill>
                      </a:endParaRPr>
                    </a:p>
                  </a:txBody>
                  <a:tcPr anchor="ctr">
                    <a:noFill/>
                  </a:tcPr>
                </a:tc>
                <a:tc>
                  <a:txBody>
                    <a:bodyPr/>
                    <a:lstStyle/>
                    <a:p>
                      <a:pPr algn="ctr" latinLnBrk="1"/>
                      <a:r>
                        <a:rPr lang="en-US" altLang="ko-KR">
                          <a:solidFill>
                            <a:schemeClr val="tx1"/>
                          </a:solidFill>
                        </a:rPr>
                        <a:t>537</a:t>
                      </a:r>
                      <a:endParaRPr lang="ko-KR" altLang="en-US">
                        <a:solidFill>
                          <a:schemeClr val="tx1"/>
                        </a:solidFill>
                      </a:endParaRPr>
                    </a:p>
                  </a:txBody>
                  <a:tcPr anchor="ctr">
                    <a:noFill/>
                  </a:tcPr>
                </a:tc>
                <a:tc>
                  <a:txBody>
                    <a:bodyPr/>
                    <a:lstStyle/>
                    <a:p>
                      <a:pPr algn="ctr" latinLnBrk="1"/>
                      <a:r>
                        <a:rPr lang="en-US" altLang="ko-KR">
                          <a:solidFill>
                            <a:schemeClr val="tx1"/>
                          </a:solidFill>
                        </a:rPr>
                        <a:t>536</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496333">
                <a:tc>
                  <a:txBody>
                    <a:bodyPr/>
                    <a:lstStyle/>
                    <a:p>
                      <a:pPr latinLnBrk="1"/>
                      <a:r>
                        <a:rPr lang="en-US" altLang="ko-KR"/>
                        <a:t>ML-KEM-768</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535</a:t>
                      </a:r>
                      <a:endParaRPr lang="ko-KR" altLang="en-US">
                        <a:solidFill>
                          <a:schemeClr val="tx1"/>
                        </a:solidFill>
                      </a:endParaRPr>
                    </a:p>
                  </a:txBody>
                  <a:tcPr anchor="ctr">
                    <a:noFill/>
                  </a:tcPr>
                </a:tc>
                <a:tc>
                  <a:txBody>
                    <a:bodyPr/>
                    <a:lstStyle/>
                    <a:p>
                      <a:pPr algn="ctr" latinLnBrk="1"/>
                      <a:r>
                        <a:rPr lang="en-US" altLang="ko-KR">
                          <a:solidFill>
                            <a:schemeClr val="tx1"/>
                          </a:solidFill>
                        </a:rPr>
                        <a:t>3.8</a:t>
                      </a:r>
                      <a:endParaRPr lang="ko-KR" altLang="en-US">
                        <a:solidFill>
                          <a:schemeClr val="tx1"/>
                        </a:solidFill>
                      </a:endParaRPr>
                    </a:p>
                  </a:txBody>
                  <a:tcPr anchor="ctr">
                    <a:noFill/>
                  </a:tcPr>
                </a:tc>
                <a:tc>
                  <a:txBody>
                    <a:bodyPr/>
                    <a:lstStyle/>
                    <a:p>
                      <a:pPr algn="ctr" latinLnBrk="1"/>
                      <a:r>
                        <a:rPr lang="en-US" altLang="ko-KR">
                          <a:solidFill>
                            <a:schemeClr val="tx1"/>
                          </a:solidFill>
                        </a:rPr>
                        <a:t>536</a:t>
                      </a:r>
                      <a:endParaRPr lang="ko-KR" altLang="en-US">
                        <a:solidFill>
                          <a:schemeClr val="tx1"/>
                        </a:solidFill>
                      </a:endParaRPr>
                    </a:p>
                  </a:txBody>
                  <a:tcPr anchor="ctr">
                    <a:noFill/>
                  </a:tcPr>
                </a:tc>
                <a:tc>
                  <a:txBody>
                    <a:bodyPr/>
                    <a:lstStyle/>
                    <a:p>
                      <a:pPr algn="ctr" latinLnBrk="1"/>
                      <a:r>
                        <a:rPr lang="en-US" altLang="ko-KR">
                          <a:solidFill>
                            <a:schemeClr val="tx1"/>
                          </a:solidFill>
                        </a:rPr>
                        <a:t>535</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r h="370840">
                <a:tc>
                  <a:txBody>
                    <a:bodyPr/>
                    <a:lstStyle/>
                    <a:p>
                      <a:pPr latinLnBrk="1"/>
                      <a:r>
                        <a:rPr lang="en-US" altLang="ko-KR"/>
                        <a:t>ML-KEM-1024</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539</a:t>
                      </a:r>
                      <a:endParaRPr lang="ko-KR" altLang="en-US">
                        <a:solidFill>
                          <a:schemeClr val="tx1"/>
                        </a:solidFill>
                      </a:endParaRPr>
                    </a:p>
                  </a:txBody>
                  <a:tcPr anchor="ctr">
                    <a:noFill/>
                  </a:tcPr>
                </a:tc>
                <a:tc>
                  <a:txBody>
                    <a:bodyPr/>
                    <a:lstStyle/>
                    <a:p>
                      <a:pPr algn="ctr" latinLnBrk="1"/>
                      <a:r>
                        <a:rPr lang="en-US" altLang="ko-KR">
                          <a:solidFill>
                            <a:schemeClr val="tx1"/>
                          </a:solidFill>
                        </a:rPr>
                        <a:t>7.3</a:t>
                      </a:r>
                    </a:p>
                  </a:txBody>
                  <a:tcPr anchor="ctr">
                    <a:noFill/>
                  </a:tcPr>
                </a:tc>
                <a:tc>
                  <a:txBody>
                    <a:bodyPr/>
                    <a:lstStyle/>
                    <a:p>
                      <a:pPr algn="ctr" latinLnBrk="1"/>
                      <a:r>
                        <a:rPr lang="en-US" altLang="ko-KR">
                          <a:solidFill>
                            <a:schemeClr val="tx1"/>
                          </a:solidFill>
                        </a:rPr>
                        <a:t>540</a:t>
                      </a:r>
                    </a:p>
                  </a:txBody>
                  <a:tcPr anchor="ctr">
                    <a:noFill/>
                  </a:tcPr>
                </a:tc>
                <a:tc>
                  <a:txBody>
                    <a:bodyPr/>
                    <a:lstStyle/>
                    <a:p>
                      <a:pPr algn="ctr" latinLnBrk="1"/>
                      <a:r>
                        <a:rPr lang="en-US" altLang="ko-KR">
                          <a:solidFill>
                            <a:schemeClr val="tx1"/>
                          </a:solidFill>
                        </a:rPr>
                        <a:t>538</a:t>
                      </a:r>
                    </a:p>
                  </a:txBody>
                  <a:tcPr anchor="ctr">
                    <a:lnR w="12700" cmpd="sng">
                      <a:noFill/>
                    </a:lnR>
                    <a:noFill/>
                  </a:tcPr>
                </a:tc>
                <a:extLst>
                  <a:ext uri="{0D108BD9-81ED-4DB2-BD59-A6C34878D82A}">
                    <a16:rowId xmlns:a16="http://schemas.microsoft.com/office/drawing/2014/main" val="1262219744"/>
                  </a:ext>
                </a:extLst>
              </a:tr>
              <a:tr h="370840">
                <a:tc>
                  <a:txBody>
                    <a:bodyPr/>
                    <a:lstStyle/>
                    <a:p>
                      <a:pPr latinLnBrk="1"/>
                      <a:r>
                        <a:rPr lang="en-US" altLang="ko-KR"/>
                        <a:t>SMAUG-T1</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536</a:t>
                      </a:r>
                      <a:endParaRPr lang="ko-KR" altLang="en-US">
                        <a:solidFill>
                          <a:schemeClr val="tx1"/>
                        </a:solidFill>
                      </a:endParaRPr>
                    </a:p>
                  </a:txBody>
                  <a:tcPr anchor="ctr">
                    <a:noFill/>
                  </a:tcPr>
                </a:tc>
                <a:tc>
                  <a:txBody>
                    <a:bodyPr/>
                    <a:lstStyle/>
                    <a:p>
                      <a:pPr algn="ctr" latinLnBrk="1"/>
                      <a:r>
                        <a:rPr lang="en-US" altLang="ko-KR">
                          <a:solidFill>
                            <a:schemeClr val="tx1"/>
                          </a:solidFill>
                        </a:rPr>
                        <a:t>5.2</a:t>
                      </a:r>
                    </a:p>
                  </a:txBody>
                  <a:tcPr anchor="ctr">
                    <a:noFill/>
                  </a:tcPr>
                </a:tc>
                <a:tc>
                  <a:txBody>
                    <a:bodyPr/>
                    <a:lstStyle/>
                    <a:p>
                      <a:pPr algn="ctr" latinLnBrk="1"/>
                      <a:r>
                        <a:rPr lang="en-US" altLang="ko-KR">
                          <a:solidFill>
                            <a:schemeClr val="tx1"/>
                          </a:solidFill>
                        </a:rPr>
                        <a:t>537</a:t>
                      </a:r>
                    </a:p>
                  </a:txBody>
                  <a:tcPr anchor="ctr">
                    <a:noFill/>
                  </a:tcPr>
                </a:tc>
                <a:tc>
                  <a:txBody>
                    <a:bodyPr/>
                    <a:lstStyle/>
                    <a:p>
                      <a:pPr algn="ctr" latinLnBrk="1"/>
                      <a:r>
                        <a:rPr lang="en-US" altLang="ko-KR">
                          <a:solidFill>
                            <a:schemeClr val="tx1"/>
                          </a:solidFill>
                        </a:rPr>
                        <a:t>536</a:t>
                      </a:r>
                    </a:p>
                  </a:txBody>
                  <a:tcPr anchor="ctr">
                    <a:lnR w="12700" cmpd="sng">
                      <a:noFill/>
                    </a:lnR>
                    <a:noFill/>
                  </a:tcPr>
                </a:tc>
                <a:extLst>
                  <a:ext uri="{0D108BD9-81ED-4DB2-BD59-A6C34878D82A}">
                    <a16:rowId xmlns:a16="http://schemas.microsoft.com/office/drawing/2014/main" val="975904577"/>
                  </a:ext>
                </a:extLst>
              </a:tr>
              <a:tr h="370840">
                <a:tc>
                  <a:txBody>
                    <a:bodyPr/>
                    <a:lstStyle/>
                    <a:p>
                      <a:pPr latinLnBrk="1"/>
                      <a:r>
                        <a:rPr lang="en-US" altLang="ko-KR"/>
                        <a:t>SMAUG-T3</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537</a:t>
                      </a:r>
                      <a:endParaRPr lang="ko-KR" altLang="en-US">
                        <a:solidFill>
                          <a:schemeClr val="tx1"/>
                        </a:solidFill>
                      </a:endParaRPr>
                    </a:p>
                  </a:txBody>
                  <a:tcPr anchor="ctr">
                    <a:noFill/>
                  </a:tcPr>
                </a:tc>
                <a:tc>
                  <a:txBody>
                    <a:bodyPr/>
                    <a:lstStyle/>
                    <a:p>
                      <a:pPr algn="ctr" latinLnBrk="1"/>
                      <a:r>
                        <a:rPr lang="en-US" altLang="ko-KR">
                          <a:solidFill>
                            <a:schemeClr val="tx1"/>
                          </a:solidFill>
                        </a:rPr>
                        <a:t>5.2</a:t>
                      </a:r>
                    </a:p>
                  </a:txBody>
                  <a:tcPr anchor="ctr">
                    <a:noFill/>
                  </a:tcPr>
                </a:tc>
                <a:tc>
                  <a:txBody>
                    <a:bodyPr/>
                    <a:lstStyle/>
                    <a:p>
                      <a:pPr algn="ctr" latinLnBrk="1"/>
                      <a:r>
                        <a:rPr lang="en-US" altLang="ko-KR">
                          <a:solidFill>
                            <a:schemeClr val="tx1"/>
                          </a:solidFill>
                        </a:rPr>
                        <a:t>537</a:t>
                      </a:r>
                    </a:p>
                  </a:txBody>
                  <a:tcPr anchor="ctr">
                    <a:noFill/>
                  </a:tcPr>
                </a:tc>
                <a:tc>
                  <a:txBody>
                    <a:bodyPr/>
                    <a:lstStyle/>
                    <a:p>
                      <a:pPr algn="ctr" latinLnBrk="1"/>
                      <a:r>
                        <a:rPr lang="en-US" altLang="ko-KR">
                          <a:solidFill>
                            <a:schemeClr val="tx1"/>
                          </a:solidFill>
                        </a:rPr>
                        <a:t>536</a:t>
                      </a:r>
                    </a:p>
                  </a:txBody>
                  <a:tcPr anchor="ctr">
                    <a:lnR w="12700" cmpd="sng">
                      <a:noFill/>
                    </a:lnR>
                    <a:noFill/>
                  </a:tcPr>
                </a:tc>
                <a:extLst>
                  <a:ext uri="{0D108BD9-81ED-4DB2-BD59-A6C34878D82A}">
                    <a16:rowId xmlns:a16="http://schemas.microsoft.com/office/drawing/2014/main" val="3523169396"/>
                  </a:ext>
                </a:extLst>
              </a:tr>
              <a:tr h="370840">
                <a:tc>
                  <a:txBody>
                    <a:bodyPr/>
                    <a:lstStyle/>
                    <a:p>
                      <a:pPr latinLnBrk="1"/>
                      <a:r>
                        <a:rPr lang="en-US" altLang="ko-KR"/>
                        <a:t>SMAUG-T5</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538</a:t>
                      </a:r>
                      <a:endParaRPr lang="ko-KR" altLang="en-US">
                        <a:solidFill>
                          <a:schemeClr val="tx1"/>
                        </a:solidFill>
                      </a:endParaRPr>
                    </a:p>
                  </a:txBody>
                  <a:tcPr anchor="ctr">
                    <a:noFill/>
                  </a:tcPr>
                </a:tc>
                <a:tc>
                  <a:txBody>
                    <a:bodyPr/>
                    <a:lstStyle/>
                    <a:p>
                      <a:pPr algn="ctr" latinLnBrk="1"/>
                      <a:r>
                        <a:rPr lang="en-US" altLang="ko-KR">
                          <a:solidFill>
                            <a:schemeClr val="tx1"/>
                          </a:solidFill>
                        </a:rPr>
                        <a:t>5.4</a:t>
                      </a:r>
                    </a:p>
                  </a:txBody>
                  <a:tcPr anchor="ctr">
                    <a:noFill/>
                  </a:tcPr>
                </a:tc>
                <a:tc>
                  <a:txBody>
                    <a:bodyPr/>
                    <a:lstStyle/>
                    <a:p>
                      <a:pPr algn="ctr" latinLnBrk="1"/>
                      <a:r>
                        <a:rPr lang="en-US" altLang="ko-KR">
                          <a:solidFill>
                            <a:schemeClr val="tx1"/>
                          </a:solidFill>
                        </a:rPr>
                        <a:t>539</a:t>
                      </a:r>
                    </a:p>
                  </a:txBody>
                  <a:tcPr anchor="ctr">
                    <a:noFill/>
                  </a:tcPr>
                </a:tc>
                <a:tc>
                  <a:txBody>
                    <a:bodyPr/>
                    <a:lstStyle/>
                    <a:p>
                      <a:pPr algn="ctr" latinLnBrk="1"/>
                      <a:r>
                        <a:rPr lang="en-US" altLang="ko-KR">
                          <a:solidFill>
                            <a:schemeClr val="tx1"/>
                          </a:solidFill>
                        </a:rPr>
                        <a:t>537</a:t>
                      </a:r>
                    </a:p>
                  </a:txBody>
                  <a:tcPr anchor="ctr">
                    <a:lnR w="12700" cmpd="sng">
                      <a:noFill/>
                    </a:lnR>
                    <a:noFill/>
                  </a:tcPr>
                </a:tc>
                <a:extLst>
                  <a:ext uri="{0D108BD9-81ED-4DB2-BD59-A6C34878D82A}">
                    <a16:rowId xmlns:a16="http://schemas.microsoft.com/office/drawing/2014/main" val="1603480300"/>
                  </a:ext>
                </a:extLst>
              </a:tr>
              <a:tr h="370840">
                <a:tc>
                  <a:txBody>
                    <a:bodyPr/>
                    <a:lstStyle/>
                    <a:p>
                      <a:pPr latinLnBrk="1"/>
                      <a:r>
                        <a:rPr lang="en-US" altLang="ko-KR"/>
                        <a:t>NTRU+KEM-576</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555</a:t>
                      </a:r>
                      <a:endParaRPr lang="ko-KR" altLang="en-US">
                        <a:solidFill>
                          <a:schemeClr val="tx1"/>
                        </a:solidFill>
                      </a:endParaRPr>
                    </a:p>
                  </a:txBody>
                  <a:tcPr anchor="ctr">
                    <a:noFill/>
                  </a:tcPr>
                </a:tc>
                <a:tc>
                  <a:txBody>
                    <a:bodyPr/>
                    <a:lstStyle/>
                    <a:p>
                      <a:pPr algn="ctr" latinLnBrk="1"/>
                      <a:r>
                        <a:rPr lang="en-US" altLang="ko-KR">
                          <a:solidFill>
                            <a:schemeClr val="tx1"/>
                          </a:solidFill>
                        </a:rPr>
                        <a:t>15.2</a:t>
                      </a:r>
                    </a:p>
                  </a:txBody>
                  <a:tcPr anchor="ctr">
                    <a:noFill/>
                  </a:tcPr>
                </a:tc>
                <a:tc>
                  <a:txBody>
                    <a:bodyPr/>
                    <a:lstStyle/>
                    <a:p>
                      <a:pPr algn="ctr" latinLnBrk="1"/>
                      <a:r>
                        <a:rPr lang="en-US" altLang="ko-KR">
                          <a:solidFill>
                            <a:schemeClr val="tx1"/>
                          </a:solidFill>
                        </a:rPr>
                        <a:t>558</a:t>
                      </a:r>
                    </a:p>
                  </a:txBody>
                  <a:tcPr anchor="ctr">
                    <a:noFill/>
                  </a:tcPr>
                </a:tc>
                <a:tc>
                  <a:txBody>
                    <a:bodyPr/>
                    <a:lstStyle/>
                    <a:p>
                      <a:pPr algn="ctr" latinLnBrk="1"/>
                      <a:r>
                        <a:rPr lang="en-US" altLang="ko-KR">
                          <a:solidFill>
                            <a:schemeClr val="tx1"/>
                          </a:solidFill>
                        </a:rPr>
                        <a:t>553</a:t>
                      </a:r>
                    </a:p>
                  </a:txBody>
                  <a:tcPr anchor="ctr">
                    <a:lnR w="12700" cmpd="sng">
                      <a:noFill/>
                    </a:lnR>
                    <a:noFill/>
                  </a:tcPr>
                </a:tc>
                <a:extLst>
                  <a:ext uri="{0D108BD9-81ED-4DB2-BD59-A6C34878D82A}">
                    <a16:rowId xmlns:a16="http://schemas.microsoft.com/office/drawing/2014/main" val="3090107639"/>
                  </a:ext>
                </a:extLst>
              </a:tr>
              <a:tr h="37084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t>NTRU+KEM-768</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539</a:t>
                      </a:r>
                      <a:endParaRPr lang="ko-KR" altLang="en-US">
                        <a:solidFill>
                          <a:schemeClr val="tx1"/>
                        </a:solidFill>
                      </a:endParaRPr>
                    </a:p>
                  </a:txBody>
                  <a:tcPr anchor="ctr">
                    <a:noFill/>
                  </a:tcPr>
                </a:tc>
                <a:tc>
                  <a:txBody>
                    <a:bodyPr/>
                    <a:lstStyle/>
                    <a:p>
                      <a:pPr algn="ctr" latinLnBrk="1"/>
                      <a:r>
                        <a:rPr lang="en-US" altLang="ko-KR">
                          <a:solidFill>
                            <a:schemeClr val="tx1"/>
                          </a:solidFill>
                        </a:rPr>
                        <a:t>5.6</a:t>
                      </a:r>
                    </a:p>
                  </a:txBody>
                  <a:tcPr anchor="ctr">
                    <a:noFill/>
                  </a:tcPr>
                </a:tc>
                <a:tc>
                  <a:txBody>
                    <a:bodyPr/>
                    <a:lstStyle/>
                    <a:p>
                      <a:pPr algn="ctr" latinLnBrk="1"/>
                      <a:r>
                        <a:rPr lang="en-US" altLang="ko-KR">
                          <a:solidFill>
                            <a:schemeClr val="tx1"/>
                          </a:solidFill>
                        </a:rPr>
                        <a:t>540</a:t>
                      </a:r>
                    </a:p>
                  </a:txBody>
                  <a:tcPr anchor="ctr">
                    <a:noFill/>
                  </a:tcPr>
                </a:tc>
                <a:tc>
                  <a:txBody>
                    <a:bodyPr/>
                    <a:lstStyle/>
                    <a:p>
                      <a:pPr algn="ctr" latinLnBrk="1"/>
                      <a:r>
                        <a:rPr lang="en-US" altLang="ko-KR">
                          <a:solidFill>
                            <a:schemeClr val="tx1"/>
                          </a:solidFill>
                        </a:rPr>
                        <a:t>537</a:t>
                      </a:r>
                    </a:p>
                  </a:txBody>
                  <a:tcPr anchor="ctr">
                    <a:lnR w="12700" cmpd="sng">
                      <a:noFill/>
                    </a:lnR>
                    <a:noFill/>
                  </a:tcPr>
                </a:tc>
                <a:extLst>
                  <a:ext uri="{0D108BD9-81ED-4DB2-BD59-A6C34878D82A}">
                    <a16:rowId xmlns:a16="http://schemas.microsoft.com/office/drawing/2014/main" val="915558165"/>
                  </a:ext>
                </a:extLst>
              </a:tr>
              <a:tr h="37084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t>NTRU+KEM-864</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543</a:t>
                      </a:r>
                      <a:endParaRPr lang="ko-KR" altLang="en-US">
                        <a:solidFill>
                          <a:schemeClr val="tx1"/>
                        </a:solidFill>
                      </a:endParaRPr>
                    </a:p>
                  </a:txBody>
                  <a:tcPr anchor="ctr">
                    <a:noFill/>
                  </a:tcPr>
                </a:tc>
                <a:tc>
                  <a:txBody>
                    <a:bodyPr/>
                    <a:lstStyle/>
                    <a:p>
                      <a:pPr algn="ctr" latinLnBrk="1"/>
                      <a:r>
                        <a:rPr lang="en-US" altLang="ko-KR">
                          <a:solidFill>
                            <a:schemeClr val="tx1"/>
                          </a:solidFill>
                        </a:rPr>
                        <a:t>5.6</a:t>
                      </a:r>
                    </a:p>
                  </a:txBody>
                  <a:tcPr anchor="ctr">
                    <a:noFill/>
                  </a:tcPr>
                </a:tc>
                <a:tc>
                  <a:txBody>
                    <a:bodyPr/>
                    <a:lstStyle/>
                    <a:p>
                      <a:pPr algn="ctr" latinLnBrk="1"/>
                      <a:r>
                        <a:rPr lang="en-US" altLang="ko-KR">
                          <a:solidFill>
                            <a:schemeClr val="tx1"/>
                          </a:solidFill>
                        </a:rPr>
                        <a:t>543</a:t>
                      </a:r>
                    </a:p>
                  </a:txBody>
                  <a:tcPr anchor="ctr">
                    <a:noFill/>
                  </a:tcPr>
                </a:tc>
                <a:tc>
                  <a:txBody>
                    <a:bodyPr/>
                    <a:lstStyle/>
                    <a:p>
                      <a:pPr algn="ctr" latinLnBrk="1"/>
                      <a:r>
                        <a:rPr lang="en-US" altLang="ko-KR">
                          <a:solidFill>
                            <a:schemeClr val="tx1"/>
                          </a:solidFill>
                        </a:rPr>
                        <a:t>542</a:t>
                      </a:r>
                    </a:p>
                  </a:txBody>
                  <a:tcPr anchor="ctr">
                    <a:lnR w="12700" cmpd="sng">
                      <a:noFill/>
                    </a:lnR>
                    <a:noFill/>
                  </a:tcPr>
                </a:tc>
                <a:extLst>
                  <a:ext uri="{0D108BD9-81ED-4DB2-BD59-A6C34878D82A}">
                    <a16:rowId xmlns:a16="http://schemas.microsoft.com/office/drawing/2014/main" val="1998313676"/>
                  </a:ext>
                </a:extLst>
              </a:tr>
              <a:tr h="37084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t>NTRU+KEM-1152</a:t>
                      </a:r>
                      <a:endParaRPr lang="ko-KR" altLang="en-US">
                        <a:solidFill>
                          <a:schemeClr val="tx1"/>
                        </a:solidFill>
                      </a:endParaRPr>
                    </a:p>
                  </a:txBody>
                  <a:tcPr anchor="ctr">
                    <a:lnL w="12700" cmpd="sng">
                      <a:noFill/>
                    </a:lnL>
                    <a:noFill/>
                  </a:tcPr>
                </a:tc>
                <a:tc>
                  <a:txBody>
                    <a:bodyPr/>
                    <a:lstStyle/>
                    <a:p>
                      <a:pPr algn="ctr" latinLnBrk="1"/>
                      <a:r>
                        <a:rPr lang="en-US" altLang="ko-KR">
                          <a:solidFill>
                            <a:schemeClr val="tx1"/>
                          </a:solidFill>
                        </a:rPr>
                        <a:t>542</a:t>
                      </a:r>
                      <a:endParaRPr lang="ko-KR" altLang="en-US">
                        <a:solidFill>
                          <a:schemeClr val="tx1"/>
                        </a:solidFill>
                      </a:endParaRPr>
                    </a:p>
                  </a:txBody>
                  <a:tcPr anchor="ctr">
                    <a:noFill/>
                  </a:tcPr>
                </a:tc>
                <a:tc>
                  <a:txBody>
                    <a:bodyPr/>
                    <a:lstStyle/>
                    <a:p>
                      <a:pPr algn="ctr" latinLnBrk="1"/>
                      <a:r>
                        <a:rPr lang="en-US" altLang="ko-KR">
                          <a:solidFill>
                            <a:schemeClr val="tx1"/>
                          </a:solidFill>
                        </a:rPr>
                        <a:t>9.2</a:t>
                      </a:r>
                    </a:p>
                  </a:txBody>
                  <a:tcPr anchor="ctr">
                    <a:noFill/>
                  </a:tcPr>
                </a:tc>
                <a:tc>
                  <a:txBody>
                    <a:bodyPr/>
                    <a:lstStyle/>
                    <a:p>
                      <a:pPr algn="ctr" latinLnBrk="1"/>
                      <a:r>
                        <a:rPr lang="en-US" altLang="ko-KR">
                          <a:solidFill>
                            <a:schemeClr val="tx1"/>
                          </a:solidFill>
                        </a:rPr>
                        <a:t>544</a:t>
                      </a:r>
                    </a:p>
                  </a:txBody>
                  <a:tcPr anchor="ctr">
                    <a:noFill/>
                  </a:tcPr>
                </a:tc>
                <a:tc>
                  <a:txBody>
                    <a:bodyPr/>
                    <a:lstStyle/>
                    <a:p>
                      <a:pPr algn="ctr" latinLnBrk="1"/>
                      <a:r>
                        <a:rPr lang="en-US" altLang="ko-KR">
                          <a:solidFill>
                            <a:schemeClr val="tx1"/>
                          </a:solidFill>
                        </a:rPr>
                        <a:t>540</a:t>
                      </a:r>
                    </a:p>
                  </a:txBody>
                  <a:tcPr anchor="ctr">
                    <a:lnR w="12700" cmpd="sng">
                      <a:noFill/>
                    </a:lnR>
                    <a:noFill/>
                  </a:tcPr>
                </a:tc>
                <a:extLst>
                  <a:ext uri="{0D108BD9-81ED-4DB2-BD59-A6C34878D82A}">
                    <a16:rowId xmlns:a16="http://schemas.microsoft.com/office/drawing/2014/main" val="2000574000"/>
                  </a:ext>
                </a:extLst>
              </a:tr>
            </a:tbl>
          </a:graphicData>
        </a:graphic>
      </p:graphicFrame>
      <p:sp>
        <p:nvSpPr>
          <p:cNvPr id="8" name="TextBox 7">
            <a:extLst>
              <a:ext uri="{FF2B5EF4-FFF2-40B4-BE49-F238E27FC236}">
                <a16:creationId xmlns:a16="http://schemas.microsoft.com/office/drawing/2014/main" id="{9A5B6D7C-C29B-490F-DE9F-3A26B3E42BA4}"/>
              </a:ext>
            </a:extLst>
          </p:cNvPr>
          <p:cNvSpPr txBox="1"/>
          <p:nvPr/>
        </p:nvSpPr>
        <p:spPr>
          <a:xfrm>
            <a:off x="1411842" y="6321262"/>
            <a:ext cx="9368314" cy="369332"/>
          </a:xfrm>
          <a:prstGeom prst="rect">
            <a:avLst/>
          </a:prstGeom>
          <a:noFill/>
        </p:spPr>
        <p:txBody>
          <a:bodyPr wrap="square" rtlCol="0">
            <a:spAutoFit/>
          </a:bodyPr>
          <a:lstStyle/>
          <a:p>
            <a:pPr algn="ctr"/>
            <a:r>
              <a:rPr lang="en-US" altLang="ko-KR" b="1"/>
              <a:t>Table: </a:t>
            </a:r>
            <a:r>
              <a:rPr lang="en-US" altLang="ko-KR"/>
              <a:t>TLS 1.3 handshake latency and IQR with PQC</a:t>
            </a:r>
            <a:endParaRPr lang="ko-KR" altLang="en-US"/>
          </a:p>
        </p:txBody>
      </p:sp>
      <p:sp>
        <p:nvSpPr>
          <p:cNvPr id="11" name="내용 개체 틀 1">
            <a:extLst>
              <a:ext uri="{FF2B5EF4-FFF2-40B4-BE49-F238E27FC236}">
                <a16:creationId xmlns:a16="http://schemas.microsoft.com/office/drawing/2014/main" id="{403B1FE3-726A-B4C5-0D53-BB999F955475}"/>
              </a:ext>
            </a:extLst>
          </p:cNvPr>
          <p:cNvSpPr>
            <a:spLocks noGrp="1"/>
          </p:cNvSpPr>
          <p:nvPr>
            <p:ph idx="1"/>
          </p:nvPr>
        </p:nvSpPr>
        <p:spPr>
          <a:xfrm>
            <a:off x="361846" y="1414211"/>
            <a:ext cx="11468303" cy="584775"/>
          </a:xfrm>
        </p:spPr>
        <p:txBody>
          <a:bodyPr rtlCol="0">
            <a:normAutofit/>
          </a:bodyPr>
          <a:lstStyle/>
          <a:p>
            <a:pPr marL="0" indent="0">
              <a:buNone/>
            </a:pPr>
            <a:r>
              <a:rPr lang="en-US" altLang="ko-KR" sz="2400" b="1">
                <a:solidFill>
                  <a:srgbClr val="FF0000"/>
                </a:solidFill>
              </a:rPr>
              <a:t>PQC handshake performance </a:t>
            </a:r>
            <a:r>
              <a:rPr lang="en-US" altLang="ko-KR" sz="2400" b="1"/>
              <a:t>exhibited relatively high latency, around 600 ms.</a:t>
            </a:r>
            <a:endParaRPr lang="ko-KR" altLang="en-US" dirty="0"/>
          </a:p>
        </p:txBody>
      </p:sp>
    </p:spTree>
    <p:extLst>
      <p:ext uri="{BB962C8B-B14F-4D97-AF65-F5344CB8AC3E}">
        <p14:creationId xmlns:p14="http://schemas.microsoft.com/office/powerpoint/2010/main" val="2001219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EBA27-B2EE-18CC-9D18-6982095F066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F46963F-B85E-F9B7-28AB-A41D12631D66}"/>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Handshake Evaluation: Hybrid PQC</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3F3DDB38-E63B-E2D1-7028-D1D50EB0A0DC}"/>
              </a:ext>
            </a:extLst>
          </p:cNvPr>
          <p:cNvSpPr>
            <a:spLocks noGrp="1"/>
          </p:cNvSpPr>
          <p:nvPr>
            <p:ph type="sldNum" sz="quarter" idx="12"/>
          </p:nvPr>
        </p:nvSpPr>
        <p:spPr/>
        <p:txBody>
          <a:bodyPr/>
          <a:lstStyle/>
          <a:p>
            <a:pPr rtl="0"/>
            <a:fld id="{401CF334-2D5C-4859-84A6-CA7E6E43FAEB}" type="slidenum">
              <a:rPr lang="en-US" altLang="ko-KR" smtClean="0"/>
              <a:t>22</a:t>
            </a:fld>
            <a:endParaRPr lang="ko-KR" altLang="en-US" dirty="0"/>
          </a:p>
        </p:txBody>
      </p:sp>
      <p:graphicFrame>
        <p:nvGraphicFramePr>
          <p:cNvPr id="3" name="표 2">
            <a:extLst>
              <a:ext uri="{FF2B5EF4-FFF2-40B4-BE49-F238E27FC236}">
                <a16:creationId xmlns:a16="http://schemas.microsoft.com/office/drawing/2014/main" id="{C223265E-FA68-8994-1299-483BF7B50EDC}"/>
              </a:ext>
            </a:extLst>
          </p:cNvPr>
          <p:cNvGraphicFramePr>
            <a:graphicFrameLocks noGrp="1"/>
          </p:cNvGraphicFramePr>
          <p:nvPr>
            <p:extLst>
              <p:ext uri="{D42A27DB-BD31-4B8C-83A1-F6EECF244321}">
                <p14:modId xmlns:p14="http://schemas.microsoft.com/office/powerpoint/2010/main" val="1356880286"/>
              </p:ext>
            </p:extLst>
          </p:nvPr>
        </p:nvGraphicFramePr>
        <p:xfrm>
          <a:off x="710190" y="2101448"/>
          <a:ext cx="10771618" cy="4199653"/>
        </p:xfrm>
        <a:graphic>
          <a:graphicData uri="http://schemas.openxmlformats.org/drawingml/2006/table">
            <a:tbl>
              <a:tblPr firstRow="1" bandRow="1">
                <a:tableStyleId>{8799B23B-EC83-4686-B30A-512413B5E67A}</a:tableStyleId>
              </a:tblPr>
              <a:tblGrid>
                <a:gridCol w="2020219">
                  <a:extLst>
                    <a:ext uri="{9D8B030D-6E8A-4147-A177-3AD203B41FA5}">
                      <a16:colId xmlns:a16="http://schemas.microsoft.com/office/drawing/2014/main" val="3144330054"/>
                    </a:ext>
                  </a:extLst>
                </a:gridCol>
                <a:gridCol w="2020219">
                  <a:extLst>
                    <a:ext uri="{9D8B030D-6E8A-4147-A177-3AD203B41FA5}">
                      <a16:colId xmlns:a16="http://schemas.microsoft.com/office/drawing/2014/main" val="1915446878"/>
                    </a:ext>
                  </a:extLst>
                </a:gridCol>
                <a:gridCol w="1682795">
                  <a:extLst>
                    <a:ext uri="{9D8B030D-6E8A-4147-A177-3AD203B41FA5}">
                      <a16:colId xmlns:a16="http://schemas.microsoft.com/office/drawing/2014/main" val="1903691691"/>
                    </a:ext>
                  </a:extLst>
                </a:gridCol>
                <a:gridCol w="1682795">
                  <a:extLst>
                    <a:ext uri="{9D8B030D-6E8A-4147-A177-3AD203B41FA5}">
                      <a16:colId xmlns:a16="http://schemas.microsoft.com/office/drawing/2014/main" val="1496100485"/>
                    </a:ext>
                  </a:extLst>
                </a:gridCol>
                <a:gridCol w="1682795">
                  <a:extLst>
                    <a:ext uri="{9D8B030D-6E8A-4147-A177-3AD203B41FA5}">
                      <a16:colId xmlns:a16="http://schemas.microsoft.com/office/drawing/2014/main" val="1127462989"/>
                    </a:ext>
                  </a:extLst>
                </a:gridCol>
                <a:gridCol w="1682795">
                  <a:extLst>
                    <a:ext uri="{9D8B030D-6E8A-4147-A177-3AD203B41FA5}">
                      <a16:colId xmlns:a16="http://schemas.microsoft.com/office/drawing/2014/main" val="3772418004"/>
                    </a:ext>
                  </a:extLst>
                </a:gridCol>
              </a:tblGrid>
              <a:tr h="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solidFill>
                            <a:schemeClr val="tx1"/>
                          </a:solidFill>
                        </a:rPr>
                        <a:t>PQC Algorithm</a:t>
                      </a:r>
                      <a:endParaRPr lang="ko-KR" altLang="en-US">
                        <a:solidFill>
                          <a:schemeClr val="tx1"/>
                        </a:solidFill>
                      </a:endParaRPr>
                    </a:p>
                  </a:txBody>
                  <a:tcPr anchor="ctr">
                    <a:lnL w="12700" cmpd="sng">
                      <a:noFill/>
                    </a:lnL>
                    <a:noFill/>
                  </a:tcPr>
                </a:tc>
                <a:tc>
                  <a:txBody>
                    <a:bodyPr/>
                    <a:lstStyle/>
                    <a:p>
                      <a:pPr latinLnBrk="1"/>
                      <a:r>
                        <a:rPr lang="en-US" altLang="ko-KR">
                          <a:solidFill>
                            <a:schemeClr val="tx1"/>
                          </a:solidFill>
                        </a:rPr>
                        <a:t>Hybrid(ECC)</a:t>
                      </a:r>
                      <a:endParaRPr lang="ko-KR" altLang="en-US">
                        <a:solidFill>
                          <a:schemeClr val="tx1"/>
                        </a:solidFill>
                      </a:endParaRPr>
                    </a:p>
                  </a:txBody>
                  <a:tcPr anchor="ctr">
                    <a:noFill/>
                  </a:tcPr>
                </a:tc>
                <a:tc>
                  <a:txBody>
                    <a:bodyPr/>
                    <a:lstStyle/>
                    <a:p>
                      <a:pPr algn="ctr" latinLnBrk="1"/>
                      <a:r>
                        <a:rPr lang="en-US" altLang="ko-KR">
                          <a:solidFill>
                            <a:schemeClr val="tx1"/>
                          </a:solidFill>
                        </a:rPr>
                        <a:t>Latnecy(ms)</a:t>
                      </a:r>
                      <a:endParaRPr lang="ko-KR" altLang="en-US">
                        <a:solidFill>
                          <a:schemeClr val="tx1"/>
                        </a:solidFill>
                      </a:endParaRPr>
                    </a:p>
                  </a:txBody>
                  <a:tcPr anchor="ctr">
                    <a:noFill/>
                  </a:tcPr>
                </a:tc>
                <a:tc>
                  <a:txBody>
                    <a:bodyPr/>
                    <a:lstStyle/>
                    <a:p>
                      <a:pPr algn="ctr" latinLnBrk="1"/>
                      <a:r>
                        <a:rPr lang="en-US" altLang="ko-KR">
                          <a:solidFill>
                            <a:schemeClr val="tx1"/>
                          </a:solidFill>
                        </a:rPr>
                        <a:t>IQR (ms)</a:t>
                      </a:r>
                      <a:endParaRPr lang="ko-KR" altLang="en-US">
                        <a:solidFill>
                          <a:schemeClr val="tx1"/>
                        </a:solidFill>
                      </a:endParaRPr>
                    </a:p>
                  </a:txBody>
                  <a:tcPr anchor="ctr">
                    <a:noFill/>
                  </a:tcPr>
                </a:tc>
                <a:tc>
                  <a:txBody>
                    <a:bodyPr/>
                    <a:lstStyle/>
                    <a:p>
                      <a:pPr algn="ctr" latinLnBrk="1"/>
                      <a:r>
                        <a:rPr lang="en-US" altLang="ko-KR">
                          <a:solidFill>
                            <a:schemeClr val="tx1"/>
                          </a:solidFill>
                        </a:rPr>
                        <a:t>95% CI High</a:t>
                      </a:r>
                      <a:endParaRPr lang="ko-KR" altLang="en-US">
                        <a:solidFill>
                          <a:schemeClr val="tx1"/>
                        </a:solidFill>
                      </a:endParaRPr>
                    </a:p>
                  </a:txBody>
                  <a:tcPr anchor="ctr">
                    <a:noFill/>
                  </a:tcPr>
                </a:tc>
                <a:tc>
                  <a:txBody>
                    <a:bodyPr/>
                    <a:lstStyle/>
                    <a:p>
                      <a:pPr algn="ctr" latinLnBrk="1"/>
                      <a:r>
                        <a:rPr lang="en-US" altLang="ko-KR">
                          <a:solidFill>
                            <a:schemeClr val="tx1"/>
                          </a:solidFill>
                        </a:rPr>
                        <a:t>95% CI Low</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370840">
                <a:tc>
                  <a:txBody>
                    <a:bodyPr/>
                    <a:lstStyle/>
                    <a:p>
                      <a:pPr latinLnBrk="1"/>
                      <a:r>
                        <a:rPr lang="en-US" altLang="ko-KR">
                          <a:solidFill>
                            <a:schemeClr val="tx1"/>
                          </a:solidFill>
                        </a:rPr>
                        <a:t>ML-KEM-512</a:t>
                      </a:r>
                      <a:endParaRPr lang="ko-KR" altLang="en-US">
                        <a:solidFill>
                          <a:schemeClr val="tx1"/>
                        </a:solidFill>
                      </a:endParaRPr>
                    </a:p>
                  </a:txBody>
                  <a:tcPr anchor="ctr">
                    <a:lnL w="12700" cmpd="sng">
                      <a:noFill/>
                    </a:lnL>
                    <a:noFill/>
                  </a:tcPr>
                </a:tc>
                <a:tc>
                  <a:txBody>
                    <a:bodyPr/>
                    <a:lstStyle/>
                    <a:p>
                      <a:pPr latinLnBrk="1"/>
                      <a:r>
                        <a:rPr lang="en-US" altLang="ko-KR">
                          <a:solidFill>
                            <a:schemeClr val="tx1"/>
                          </a:solidFill>
                        </a:rPr>
                        <a:t>secp256rl</a:t>
                      </a:r>
                      <a:endParaRPr lang="ko-KR" altLang="en-US">
                        <a:solidFill>
                          <a:schemeClr val="tx1"/>
                        </a:solidFill>
                      </a:endParaRPr>
                    </a:p>
                  </a:txBody>
                  <a:tcPr anchor="ctr">
                    <a:noFill/>
                  </a:tcPr>
                </a:tc>
                <a:tc>
                  <a:txBody>
                    <a:bodyPr/>
                    <a:lstStyle/>
                    <a:p>
                      <a:pPr algn="ctr" latinLnBrk="1"/>
                      <a:r>
                        <a:rPr lang="en-US" altLang="ko-KR">
                          <a:solidFill>
                            <a:schemeClr val="tx1"/>
                          </a:solidFill>
                        </a:rPr>
                        <a:t>557</a:t>
                      </a:r>
                      <a:endParaRPr lang="ko-KR" altLang="en-US">
                        <a:solidFill>
                          <a:schemeClr val="tx1"/>
                        </a:solidFill>
                      </a:endParaRPr>
                    </a:p>
                  </a:txBody>
                  <a:tcPr anchor="ctr">
                    <a:noFill/>
                  </a:tcPr>
                </a:tc>
                <a:tc>
                  <a:txBody>
                    <a:bodyPr/>
                    <a:lstStyle/>
                    <a:p>
                      <a:pPr algn="ctr" latinLnBrk="1"/>
                      <a:r>
                        <a:rPr lang="en-US" altLang="ko-KR">
                          <a:solidFill>
                            <a:schemeClr val="tx1"/>
                          </a:solidFill>
                        </a:rPr>
                        <a:t>6.6</a:t>
                      </a:r>
                      <a:endParaRPr lang="ko-KR" altLang="en-US">
                        <a:solidFill>
                          <a:schemeClr val="tx1"/>
                        </a:solidFill>
                      </a:endParaRPr>
                    </a:p>
                  </a:txBody>
                  <a:tcPr anchor="ctr">
                    <a:noFill/>
                  </a:tcPr>
                </a:tc>
                <a:tc>
                  <a:txBody>
                    <a:bodyPr/>
                    <a:lstStyle/>
                    <a:p>
                      <a:pPr algn="ctr" latinLnBrk="1"/>
                      <a:r>
                        <a:rPr lang="en-US" altLang="ko-KR">
                          <a:solidFill>
                            <a:schemeClr val="tx1"/>
                          </a:solidFill>
                        </a:rPr>
                        <a:t>559</a:t>
                      </a:r>
                      <a:endParaRPr lang="ko-KR" altLang="en-US">
                        <a:solidFill>
                          <a:schemeClr val="tx1"/>
                        </a:solidFill>
                      </a:endParaRPr>
                    </a:p>
                  </a:txBody>
                  <a:tcPr anchor="ctr">
                    <a:noFill/>
                  </a:tcPr>
                </a:tc>
                <a:tc>
                  <a:txBody>
                    <a:bodyPr/>
                    <a:lstStyle/>
                    <a:p>
                      <a:pPr algn="ctr" latinLnBrk="1"/>
                      <a:r>
                        <a:rPr lang="en-US" altLang="ko-KR">
                          <a:solidFill>
                            <a:schemeClr val="tx1"/>
                          </a:solidFill>
                        </a:rPr>
                        <a:t>555</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496333">
                <a:tc>
                  <a:txBody>
                    <a:bodyPr/>
                    <a:lstStyle/>
                    <a:p>
                      <a:pPr latinLnBrk="1"/>
                      <a:r>
                        <a:rPr lang="en-US" altLang="ko-KR"/>
                        <a:t>ML-KEM-768</a:t>
                      </a:r>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secp384rl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557</a:t>
                      </a:r>
                      <a:endParaRPr lang="ko-KR" altLang="en-US">
                        <a:solidFill>
                          <a:schemeClr val="tx1"/>
                        </a:solidFill>
                      </a:endParaRPr>
                    </a:p>
                  </a:txBody>
                  <a:tcPr anchor="ctr">
                    <a:noFill/>
                  </a:tcPr>
                </a:tc>
                <a:tc>
                  <a:txBody>
                    <a:bodyPr/>
                    <a:lstStyle/>
                    <a:p>
                      <a:pPr algn="ctr" latinLnBrk="1"/>
                      <a:r>
                        <a:rPr lang="en-US" altLang="ko-KR">
                          <a:solidFill>
                            <a:schemeClr val="tx1"/>
                          </a:solidFill>
                        </a:rPr>
                        <a:t>7.2</a:t>
                      </a:r>
                      <a:endParaRPr lang="ko-KR" altLang="en-US">
                        <a:solidFill>
                          <a:schemeClr val="tx1"/>
                        </a:solidFill>
                      </a:endParaRPr>
                    </a:p>
                  </a:txBody>
                  <a:tcPr anchor="ctr">
                    <a:noFill/>
                  </a:tcPr>
                </a:tc>
                <a:tc>
                  <a:txBody>
                    <a:bodyPr/>
                    <a:lstStyle/>
                    <a:p>
                      <a:pPr algn="ctr" latinLnBrk="1"/>
                      <a:r>
                        <a:rPr lang="en-US" altLang="ko-KR">
                          <a:solidFill>
                            <a:schemeClr val="tx1"/>
                          </a:solidFill>
                        </a:rPr>
                        <a:t>559</a:t>
                      </a:r>
                      <a:endParaRPr lang="ko-KR" altLang="en-US">
                        <a:solidFill>
                          <a:schemeClr val="tx1"/>
                        </a:solidFill>
                      </a:endParaRPr>
                    </a:p>
                  </a:txBody>
                  <a:tcPr anchor="ctr">
                    <a:noFill/>
                  </a:tcPr>
                </a:tc>
                <a:tc>
                  <a:txBody>
                    <a:bodyPr/>
                    <a:lstStyle/>
                    <a:p>
                      <a:pPr algn="ctr" latinLnBrk="1"/>
                      <a:r>
                        <a:rPr lang="en-US" altLang="ko-KR">
                          <a:solidFill>
                            <a:schemeClr val="tx1"/>
                          </a:solidFill>
                        </a:rPr>
                        <a:t>555</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r h="370840">
                <a:tc>
                  <a:txBody>
                    <a:bodyPr/>
                    <a:lstStyle/>
                    <a:p>
                      <a:pPr latinLnBrk="1"/>
                      <a:r>
                        <a:rPr lang="en-US" altLang="ko-KR"/>
                        <a:t>ML-KEM-1024</a:t>
                      </a:r>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secp521rl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554</a:t>
                      </a:r>
                      <a:endParaRPr lang="ko-KR" altLang="en-US">
                        <a:solidFill>
                          <a:schemeClr val="tx1"/>
                        </a:solidFill>
                      </a:endParaRPr>
                    </a:p>
                  </a:txBody>
                  <a:tcPr anchor="ctr">
                    <a:noFill/>
                  </a:tcPr>
                </a:tc>
                <a:tc>
                  <a:txBody>
                    <a:bodyPr/>
                    <a:lstStyle/>
                    <a:p>
                      <a:pPr algn="ctr" latinLnBrk="1"/>
                      <a:r>
                        <a:rPr lang="en-US" altLang="ko-KR">
                          <a:solidFill>
                            <a:schemeClr val="tx1"/>
                          </a:solidFill>
                        </a:rPr>
                        <a:t>7.5</a:t>
                      </a:r>
                    </a:p>
                  </a:txBody>
                  <a:tcPr anchor="ctr">
                    <a:noFill/>
                  </a:tcPr>
                </a:tc>
                <a:tc>
                  <a:txBody>
                    <a:bodyPr/>
                    <a:lstStyle/>
                    <a:p>
                      <a:pPr algn="ctr" latinLnBrk="1"/>
                      <a:r>
                        <a:rPr lang="en-US" altLang="ko-KR">
                          <a:solidFill>
                            <a:schemeClr val="tx1"/>
                          </a:solidFill>
                        </a:rPr>
                        <a:t>555</a:t>
                      </a:r>
                    </a:p>
                  </a:txBody>
                  <a:tcPr anchor="ctr">
                    <a:noFill/>
                  </a:tcPr>
                </a:tc>
                <a:tc>
                  <a:txBody>
                    <a:bodyPr/>
                    <a:lstStyle/>
                    <a:p>
                      <a:pPr algn="ctr" latinLnBrk="1"/>
                      <a:r>
                        <a:rPr lang="en-US" altLang="ko-KR">
                          <a:solidFill>
                            <a:schemeClr val="tx1"/>
                          </a:solidFill>
                        </a:rPr>
                        <a:t>553</a:t>
                      </a:r>
                    </a:p>
                  </a:txBody>
                  <a:tcPr anchor="ctr">
                    <a:lnR w="12700" cmpd="sng">
                      <a:noFill/>
                    </a:lnR>
                    <a:noFill/>
                  </a:tcPr>
                </a:tc>
                <a:extLst>
                  <a:ext uri="{0D108BD9-81ED-4DB2-BD59-A6C34878D82A}">
                    <a16:rowId xmlns:a16="http://schemas.microsoft.com/office/drawing/2014/main" val="1262219744"/>
                  </a:ext>
                </a:extLst>
              </a:tr>
              <a:tr h="370840">
                <a:tc>
                  <a:txBody>
                    <a:bodyPr/>
                    <a:lstStyle/>
                    <a:p>
                      <a:pPr latinLnBrk="1"/>
                      <a:r>
                        <a:rPr lang="en-US" altLang="ko-KR"/>
                        <a:t>SMAUG-T1</a:t>
                      </a:r>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secp256rl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551</a:t>
                      </a:r>
                      <a:endParaRPr lang="ko-KR" altLang="en-US">
                        <a:solidFill>
                          <a:schemeClr val="tx1"/>
                        </a:solidFill>
                      </a:endParaRPr>
                    </a:p>
                  </a:txBody>
                  <a:tcPr anchor="ctr">
                    <a:noFill/>
                  </a:tcPr>
                </a:tc>
                <a:tc>
                  <a:txBody>
                    <a:bodyPr/>
                    <a:lstStyle/>
                    <a:p>
                      <a:pPr algn="ctr" latinLnBrk="1"/>
                      <a:r>
                        <a:rPr lang="en-US" altLang="ko-KR">
                          <a:solidFill>
                            <a:schemeClr val="tx1"/>
                          </a:solidFill>
                        </a:rPr>
                        <a:t>5.4</a:t>
                      </a:r>
                    </a:p>
                  </a:txBody>
                  <a:tcPr anchor="ctr">
                    <a:noFill/>
                  </a:tcPr>
                </a:tc>
                <a:tc>
                  <a:txBody>
                    <a:bodyPr/>
                    <a:lstStyle/>
                    <a:p>
                      <a:pPr algn="ctr" latinLnBrk="1"/>
                      <a:r>
                        <a:rPr lang="en-US" altLang="ko-KR">
                          <a:solidFill>
                            <a:schemeClr val="tx1"/>
                          </a:solidFill>
                        </a:rPr>
                        <a:t>552</a:t>
                      </a:r>
                    </a:p>
                  </a:txBody>
                  <a:tcPr anchor="ctr">
                    <a:noFill/>
                  </a:tcPr>
                </a:tc>
                <a:tc>
                  <a:txBody>
                    <a:bodyPr/>
                    <a:lstStyle/>
                    <a:p>
                      <a:pPr algn="ctr" latinLnBrk="1"/>
                      <a:r>
                        <a:rPr lang="en-US" altLang="ko-KR">
                          <a:solidFill>
                            <a:schemeClr val="tx1"/>
                          </a:solidFill>
                        </a:rPr>
                        <a:t>551</a:t>
                      </a:r>
                    </a:p>
                  </a:txBody>
                  <a:tcPr anchor="ctr">
                    <a:lnR w="12700" cmpd="sng">
                      <a:noFill/>
                    </a:lnR>
                    <a:noFill/>
                  </a:tcPr>
                </a:tc>
                <a:extLst>
                  <a:ext uri="{0D108BD9-81ED-4DB2-BD59-A6C34878D82A}">
                    <a16:rowId xmlns:a16="http://schemas.microsoft.com/office/drawing/2014/main" val="975904577"/>
                  </a:ext>
                </a:extLst>
              </a:tr>
              <a:tr h="370840">
                <a:tc>
                  <a:txBody>
                    <a:bodyPr/>
                    <a:lstStyle/>
                    <a:p>
                      <a:pPr latinLnBrk="1"/>
                      <a:r>
                        <a:rPr lang="en-US" altLang="ko-KR"/>
                        <a:t>SMAUG-T3</a:t>
                      </a:r>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secp384rl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561</a:t>
                      </a:r>
                      <a:endParaRPr lang="ko-KR" altLang="en-US">
                        <a:solidFill>
                          <a:schemeClr val="tx1"/>
                        </a:solidFill>
                      </a:endParaRPr>
                    </a:p>
                  </a:txBody>
                  <a:tcPr anchor="ctr">
                    <a:noFill/>
                  </a:tcPr>
                </a:tc>
                <a:tc>
                  <a:txBody>
                    <a:bodyPr/>
                    <a:lstStyle/>
                    <a:p>
                      <a:pPr algn="ctr" latinLnBrk="1"/>
                      <a:r>
                        <a:rPr lang="en-US" altLang="ko-KR">
                          <a:solidFill>
                            <a:schemeClr val="tx1"/>
                          </a:solidFill>
                        </a:rPr>
                        <a:t>10.8</a:t>
                      </a:r>
                    </a:p>
                  </a:txBody>
                  <a:tcPr anchor="ctr">
                    <a:noFill/>
                  </a:tcPr>
                </a:tc>
                <a:tc>
                  <a:txBody>
                    <a:bodyPr/>
                    <a:lstStyle/>
                    <a:p>
                      <a:pPr algn="ctr" latinLnBrk="1"/>
                      <a:r>
                        <a:rPr lang="en-US" altLang="ko-KR">
                          <a:solidFill>
                            <a:schemeClr val="tx1"/>
                          </a:solidFill>
                        </a:rPr>
                        <a:t>564</a:t>
                      </a:r>
                    </a:p>
                  </a:txBody>
                  <a:tcPr anchor="ctr">
                    <a:noFill/>
                  </a:tcPr>
                </a:tc>
                <a:tc>
                  <a:txBody>
                    <a:bodyPr/>
                    <a:lstStyle/>
                    <a:p>
                      <a:pPr algn="ctr" latinLnBrk="1"/>
                      <a:r>
                        <a:rPr lang="en-US" altLang="ko-KR">
                          <a:solidFill>
                            <a:schemeClr val="tx1"/>
                          </a:solidFill>
                        </a:rPr>
                        <a:t>559</a:t>
                      </a:r>
                    </a:p>
                  </a:txBody>
                  <a:tcPr anchor="ctr">
                    <a:lnR w="12700" cmpd="sng">
                      <a:noFill/>
                    </a:lnR>
                    <a:noFill/>
                  </a:tcPr>
                </a:tc>
                <a:extLst>
                  <a:ext uri="{0D108BD9-81ED-4DB2-BD59-A6C34878D82A}">
                    <a16:rowId xmlns:a16="http://schemas.microsoft.com/office/drawing/2014/main" val="3523169396"/>
                  </a:ext>
                </a:extLst>
              </a:tr>
              <a:tr h="370840">
                <a:tc>
                  <a:txBody>
                    <a:bodyPr/>
                    <a:lstStyle/>
                    <a:p>
                      <a:pPr latinLnBrk="1"/>
                      <a:r>
                        <a:rPr lang="en-US" altLang="ko-KR"/>
                        <a:t>SMAUG-T5</a:t>
                      </a:r>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secp521rl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553</a:t>
                      </a:r>
                      <a:endParaRPr lang="ko-KR" altLang="en-US">
                        <a:solidFill>
                          <a:schemeClr val="tx1"/>
                        </a:solidFill>
                      </a:endParaRPr>
                    </a:p>
                  </a:txBody>
                  <a:tcPr anchor="ctr">
                    <a:noFill/>
                  </a:tcPr>
                </a:tc>
                <a:tc>
                  <a:txBody>
                    <a:bodyPr/>
                    <a:lstStyle/>
                    <a:p>
                      <a:pPr algn="ctr" latinLnBrk="1"/>
                      <a:r>
                        <a:rPr lang="en-US" altLang="ko-KR">
                          <a:solidFill>
                            <a:schemeClr val="tx1"/>
                          </a:solidFill>
                        </a:rPr>
                        <a:t>6.2</a:t>
                      </a:r>
                    </a:p>
                  </a:txBody>
                  <a:tcPr anchor="ctr">
                    <a:noFill/>
                  </a:tcPr>
                </a:tc>
                <a:tc>
                  <a:txBody>
                    <a:bodyPr/>
                    <a:lstStyle/>
                    <a:p>
                      <a:pPr algn="ctr" latinLnBrk="1"/>
                      <a:r>
                        <a:rPr lang="en-US" altLang="ko-KR">
                          <a:solidFill>
                            <a:schemeClr val="tx1"/>
                          </a:solidFill>
                        </a:rPr>
                        <a:t>554</a:t>
                      </a:r>
                    </a:p>
                  </a:txBody>
                  <a:tcPr anchor="ctr">
                    <a:noFill/>
                  </a:tcPr>
                </a:tc>
                <a:tc>
                  <a:txBody>
                    <a:bodyPr/>
                    <a:lstStyle/>
                    <a:p>
                      <a:pPr algn="ctr" latinLnBrk="1"/>
                      <a:r>
                        <a:rPr lang="en-US" altLang="ko-KR">
                          <a:solidFill>
                            <a:schemeClr val="tx1"/>
                          </a:solidFill>
                        </a:rPr>
                        <a:t>551</a:t>
                      </a:r>
                    </a:p>
                  </a:txBody>
                  <a:tcPr anchor="ctr">
                    <a:lnR w="12700" cmpd="sng">
                      <a:noFill/>
                    </a:lnR>
                    <a:noFill/>
                  </a:tcPr>
                </a:tc>
                <a:extLst>
                  <a:ext uri="{0D108BD9-81ED-4DB2-BD59-A6C34878D82A}">
                    <a16:rowId xmlns:a16="http://schemas.microsoft.com/office/drawing/2014/main" val="1603480300"/>
                  </a:ext>
                </a:extLst>
              </a:tr>
              <a:tr h="370840">
                <a:tc>
                  <a:txBody>
                    <a:bodyPr/>
                    <a:lstStyle/>
                    <a:p>
                      <a:pPr latinLnBrk="1"/>
                      <a:r>
                        <a:rPr lang="en-US" altLang="ko-KR"/>
                        <a:t>NTRU+KEM-576</a:t>
                      </a:r>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secp256rl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555</a:t>
                      </a:r>
                      <a:endParaRPr lang="ko-KR" altLang="en-US">
                        <a:solidFill>
                          <a:schemeClr val="tx1"/>
                        </a:solidFill>
                      </a:endParaRPr>
                    </a:p>
                  </a:txBody>
                  <a:tcPr anchor="ctr">
                    <a:noFill/>
                  </a:tcPr>
                </a:tc>
                <a:tc>
                  <a:txBody>
                    <a:bodyPr/>
                    <a:lstStyle/>
                    <a:p>
                      <a:pPr algn="ctr" latinLnBrk="1"/>
                      <a:r>
                        <a:rPr lang="en-US" altLang="ko-KR">
                          <a:solidFill>
                            <a:schemeClr val="tx1"/>
                          </a:solidFill>
                        </a:rPr>
                        <a:t>7.5</a:t>
                      </a:r>
                    </a:p>
                  </a:txBody>
                  <a:tcPr anchor="ctr">
                    <a:noFill/>
                  </a:tcPr>
                </a:tc>
                <a:tc>
                  <a:txBody>
                    <a:bodyPr/>
                    <a:lstStyle/>
                    <a:p>
                      <a:pPr algn="ctr" latinLnBrk="1"/>
                      <a:r>
                        <a:rPr lang="en-US" altLang="ko-KR">
                          <a:solidFill>
                            <a:schemeClr val="tx1"/>
                          </a:solidFill>
                        </a:rPr>
                        <a:t>556</a:t>
                      </a:r>
                    </a:p>
                  </a:txBody>
                  <a:tcPr anchor="ctr">
                    <a:noFill/>
                  </a:tcPr>
                </a:tc>
                <a:tc>
                  <a:txBody>
                    <a:bodyPr/>
                    <a:lstStyle/>
                    <a:p>
                      <a:pPr algn="ctr" latinLnBrk="1"/>
                      <a:r>
                        <a:rPr lang="en-US" altLang="ko-KR">
                          <a:solidFill>
                            <a:schemeClr val="tx1"/>
                          </a:solidFill>
                        </a:rPr>
                        <a:t>553</a:t>
                      </a:r>
                    </a:p>
                  </a:txBody>
                  <a:tcPr anchor="ctr">
                    <a:lnR w="12700" cmpd="sng">
                      <a:noFill/>
                    </a:lnR>
                    <a:noFill/>
                  </a:tcPr>
                </a:tc>
                <a:extLst>
                  <a:ext uri="{0D108BD9-81ED-4DB2-BD59-A6C34878D82A}">
                    <a16:rowId xmlns:a16="http://schemas.microsoft.com/office/drawing/2014/main" val="3090107639"/>
                  </a:ext>
                </a:extLst>
              </a:tr>
              <a:tr h="37084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t>NTRU+KEM-768</a:t>
                      </a:r>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secp384rl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lnR w="12700" cmpd="sng">
                      <a:noFill/>
                    </a:lnR>
                    <a:noFill/>
                  </a:tcPr>
                </a:tc>
                <a:extLst>
                  <a:ext uri="{0D108BD9-81ED-4DB2-BD59-A6C34878D82A}">
                    <a16:rowId xmlns:a16="http://schemas.microsoft.com/office/drawing/2014/main" val="915558165"/>
                  </a:ext>
                </a:extLst>
              </a:tr>
              <a:tr h="37084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t>NTRU+KEM-864</a:t>
                      </a:r>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secp384rl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lnR w="12700" cmpd="sng">
                      <a:noFill/>
                    </a:lnR>
                    <a:noFill/>
                  </a:tcPr>
                </a:tc>
                <a:extLst>
                  <a:ext uri="{0D108BD9-81ED-4DB2-BD59-A6C34878D82A}">
                    <a16:rowId xmlns:a16="http://schemas.microsoft.com/office/drawing/2014/main" val="1998313676"/>
                  </a:ext>
                </a:extLst>
              </a:tr>
              <a:tr h="37084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t>NTRU+KEM-1152</a:t>
                      </a:r>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secp256rl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lnR w="12700" cmpd="sng">
                      <a:noFill/>
                    </a:lnR>
                    <a:noFill/>
                  </a:tcPr>
                </a:tc>
                <a:extLst>
                  <a:ext uri="{0D108BD9-81ED-4DB2-BD59-A6C34878D82A}">
                    <a16:rowId xmlns:a16="http://schemas.microsoft.com/office/drawing/2014/main" val="2000574000"/>
                  </a:ext>
                </a:extLst>
              </a:tr>
            </a:tbl>
          </a:graphicData>
        </a:graphic>
      </p:graphicFrame>
      <p:sp>
        <p:nvSpPr>
          <p:cNvPr id="2" name="TextBox 1">
            <a:extLst>
              <a:ext uri="{FF2B5EF4-FFF2-40B4-BE49-F238E27FC236}">
                <a16:creationId xmlns:a16="http://schemas.microsoft.com/office/drawing/2014/main" id="{6C8F7D94-BE06-7F29-F36B-B31459262E30}"/>
              </a:ext>
            </a:extLst>
          </p:cNvPr>
          <p:cNvSpPr txBox="1"/>
          <p:nvPr/>
        </p:nvSpPr>
        <p:spPr>
          <a:xfrm>
            <a:off x="1411842" y="6324851"/>
            <a:ext cx="9368314" cy="369332"/>
          </a:xfrm>
          <a:prstGeom prst="rect">
            <a:avLst/>
          </a:prstGeom>
          <a:noFill/>
        </p:spPr>
        <p:txBody>
          <a:bodyPr wrap="square" rtlCol="0">
            <a:spAutoFit/>
          </a:bodyPr>
          <a:lstStyle/>
          <a:p>
            <a:pPr algn="ctr"/>
            <a:r>
              <a:rPr lang="en-US" altLang="ko-KR" b="1"/>
              <a:t>Table: </a:t>
            </a:r>
            <a:r>
              <a:rPr lang="en-US" altLang="ko-KR"/>
              <a:t>TLS 1.3 handshake latency and IQR with Hybrid PQC</a:t>
            </a:r>
            <a:endParaRPr lang="ko-KR" altLang="en-US"/>
          </a:p>
        </p:txBody>
      </p:sp>
      <p:sp>
        <p:nvSpPr>
          <p:cNvPr id="4" name="내용 개체 틀 1">
            <a:extLst>
              <a:ext uri="{FF2B5EF4-FFF2-40B4-BE49-F238E27FC236}">
                <a16:creationId xmlns:a16="http://schemas.microsoft.com/office/drawing/2014/main" id="{1B7C1A80-23A8-5AC5-61F6-8F8833720986}"/>
              </a:ext>
            </a:extLst>
          </p:cNvPr>
          <p:cNvSpPr>
            <a:spLocks noGrp="1"/>
          </p:cNvSpPr>
          <p:nvPr>
            <p:ph idx="1"/>
          </p:nvPr>
        </p:nvSpPr>
        <p:spPr>
          <a:xfrm>
            <a:off x="480599" y="1414211"/>
            <a:ext cx="11468303" cy="584775"/>
          </a:xfrm>
        </p:spPr>
        <p:txBody>
          <a:bodyPr rtlCol="0">
            <a:normAutofit/>
          </a:bodyPr>
          <a:lstStyle/>
          <a:p>
            <a:pPr marL="0" indent="0">
              <a:buNone/>
            </a:pPr>
            <a:r>
              <a:rPr lang="en-US" altLang="ko-KR" sz="2400" b="1">
                <a:solidFill>
                  <a:srgbClr val="FF0000"/>
                </a:solidFill>
              </a:rPr>
              <a:t>Hybrid PQC </a:t>
            </a:r>
            <a:r>
              <a:rPr lang="en-US" altLang="ko-KR" sz="2400" b="1"/>
              <a:t>configurations also experienced elevated handshake delays.</a:t>
            </a:r>
            <a:endParaRPr lang="ko-KR" altLang="en-US" dirty="0"/>
          </a:p>
        </p:txBody>
      </p:sp>
    </p:spTree>
    <p:extLst>
      <p:ext uri="{BB962C8B-B14F-4D97-AF65-F5344CB8AC3E}">
        <p14:creationId xmlns:p14="http://schemas.microsoft.com/office/powerpoint/2010/main" val="4258111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49EAB-85CC-9899-0DA1-D6AD73C29A9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842F2E9-96F5-400B-6B72-391E298BD471}"/>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rPr>
              <a:t>Handshake Latency of PQC relative to their ECC</a:t>
            </a:r>
            <a:endParaRPr lang="ko-KR" altLang="en-US" sz="3200" b="1">
              <a:solidFill>
                <a:schemeClr val="bg1"/>
              </a:solidFill>
            </a:endParaRPr>
          </a:p>
        </p:txBody>
      </p:sp>
      <p:sp>
        <p:nvSpPr>
          <p:cNvPr id="7" name="슬라이드 번호 개체 틀 6">
            <a:extLst>
              <a:ext uri="{FF2B5EF4-FFF2-40B4-BE49-F238E27FC236}">
                <a16:creationId xmlns:a16="http://schemas.microsoft.com/office/drawing/2014/main" id="{149DA278-5003-74BE-C718-8B4948611C0C}"/>
              </a:ext>
            </a:extLst>
          </p:cNvPr>
          <p:cNvSpPr>
            <a:spLocks noGrp="1"/>
          </p:cNvSpPr>
          <p:nvPr>
            <p:ph type="sldNum" sz="quarter" idx="12"/>
          </p:nvPr>
        </p:nvSpPr>
        <p:spPr>
          <a:xfrm>
            <a:off x="10558299" y="5968624"/>
            <a:ext cx="1052508" cy="365125"/>
          </a:xfrm>
        </p:spPr>
        <p:txBody>
          <a:bodyPr/>
          <a:lstStyle/>
          <a:p>
            <a:pPr rtl="0"/>
            <a:fld id="{401CF334-2D5C-4859-84A6-CA7E6E43FAEB}" type="slidenum">
              <a:rPr lang="en-US" altLang="ko-KR" smtClean="0"/>
              <a:t>23</a:t>
            </a:fld>
            <a:endParaRPr lang="ko-KR" altLang="en-US" dirty="0"/>
          </a:p>
        </p:txBody>
      </p:sp>
      <p:graphicFrame>
        <p:nvGraphicFramePr>
          <p:cNvPr id="3" name="표 2">
            <a:extLst>
              <a:ext uri="{FF2B5EF4-FFF2-40B4-BE49-F238E27FC236}">
                <a16:creationId xmlns:a16="http://schemas.microsoft.com/office/drawing/2014/main" id="{0DF7B2E1-3A93-C6E7-EFC7-C4F83CAC561D}"/>
              </a:ext>
            </a:extLst>
          </p:cNvPr>
          <p:cNvGraphicFramePr>
            <a:graphicFrameLocks noGrp="1"/>
          </p:cNvGraphicFramePr>
          <p:nvPr>
            <p:extLst>
              <p:ext uri="{D42A27DB-BD31-4B8C-83A1-F6EECF244321}">
                <p14:modId xmlns:p14="http://schemas.microsoft.com/office/powerpoint/2010/main" val="2802990909"/>
              </p:ext>
            </p:extLst>
          </p:nvPr>
        </p:nvGraphicFramePr>
        <p:xfrm>
          <a:off x="976323" y="2488418"/>
          <a:ext cx="10049424" cy="3361456"/>
        </p:xfrm>
        <a:graphic>
          <a:graphicData uri="http://schemas.openxmlformats.org/drawingml/2006/table">
            <a:tbl>
              <a:tblPr firstRow="1" bandRow="1">
                <a:tableStyleId>{8799B23B-EC83-4686-B30A-512413B5E67A}</a:tableStyleId>
              </a:tblPr>
              <a:tblGrid>
                <a:gridCol w="2246808">
                  <a:extLst>
                    <a:ext uri="{9D8B030D-6E8A-4147-A177-3AD203B41FA5}">
                      <a16:colId xmlns:a16="http://schemas.microsoft.com/office/drawing/2014/main" val="3144330054"/>
                    </a:ext>
                  </a:extLst>
                </a:gridCol>
                <a:gridCol w="3582000">
                  <a:extLst>
                    <a:ext uri="{9D8B030D-6E8A-4147-A177-3AD203B41FA5}">
                      <a16:colId xmlns:a16="http://schemas.microsoft.com/office/drawing/2014/main" val="1915446878"/>
                    </a:ext>
                  </a:extLst>
                </a:gridCol>
                <a:gridCol w="2110308">
                  <a:extLst>
                    <a:ext uri="{9D8B030D-6E8A-4147-A177-3AD203B41FA5}">
                      <a16:colId xmlns:a16="http://schemas.microsoft.com/office/drawing/2014/main" val="1496100485"/>
                    </a:ext>
                  </a:extLst>
                </a:gridCol>
                <a:gridCol w="2110308">
                  <a:extLst>
                    <a:ext uri="{9D8B030D-6E8A-4147-A177-3AD203B41FA5}">
                      <a16:colId xmlns:a16="http://schemas.microsoft.com/office/drawing/2014/main" val="3772418004"/>
                    </a:ext>
                  </a:extLst>
                </a:gridCol>
              </a:tblGrid>
              <a:tr h="137216">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solidFill>
                            <a:schemeClr val="tx1"/>
                          </a:solidFill>
                        </a:rPr>
                        <a:t>Type</a:t>
                      </a:r>
                      <a:endParaRPr lang="ko-KR" altLang="en-US">
                        <a:solidFill>
                          <a:schemeClr val="tx1"/>
                        </a:solidFill>
                      </a:endParaRPr>
                    </a:p>
                  </a:txBody>
                  <a:tcPr anchor="ctr">
                    <a:lnL w="12700" cmpd="sng">
                      <a:noFill/>
                    </a:lnL>
                    <a:noFill/>
                  </a:tcPr>
                </a:tc>
                <a:tc>
                  <a:txBody>
                    <a:bodyPr/>
                    <a:lstStyle/>
                    <a:p>
                      <a:pPr latinLnBrk="1"/>
                      <a:r>
                        <a:rPr lang="en-US" altLang="ko-KR">
                          <a:solidFill>
                            <a:schemeClr val="tx1"/>
                          </a:solidFill>
                        </a:rPr>
                        <a:t>Algorithm</a:t>
                      </a:r>
                      <a:endParaRPr lang="ko-KR" altLang="en-US">
                        <a:solidFill>
                          <a:schemeClr val="tx1"/>
                        </a:solidFill>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lang="en-US" altLang="ko-KR">
                          <a:solidFill>
                            <a:schemeClr val="tx1"/>
                          </a:solidFill>
                        </a:rPr>
                        <a:t>ECC Baseline</a:t>
                      </a:r>
                      <a:endParaRPr lang="ko-KR" altLang="en-US">
                        <a:solidFill>
                          <a:schemeClr val="tx1"/>
                        </a:solidFill>
                      </a:endParaRPr>
                    </a:p>
                  </a:txBody>
                  <a:tcPr anchor="ctr">
                    <a:noFill/>
                  </a:tcPr>
                </a:tc>
                <a:tc>
                  <a:txBody>
                    <a:bodyPr/>
                    <a:lstStyle/>
                    <a:p>
                      <a:pPr algn="ctr" latinLnBrk="1"/>
                      <a:r>
                        <a:rPr lang="en-US" altLang="ko-KR">
                          <a:solidFill>
                            <a:schemeClr val="tx1"/>
                          </a:solidFill>
                        </a:rPr>
                        <a:t>Overhead vs. ECC</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388768">
                <a:tc rowSpan="7">
                  <a:txBody>
                    <a:bodyPr/>
                    <a:lstStyle/>
                    <a:p>
                      <a:pPr latinLnBrk="1"/>
                      <a:r>
                        <a:rPr lang="en-US" altLang="ko-KR">
                          <a:solidFill>
                            <a:schemeClr val="tx1"/>
                          </a:solidFill>
                        </a:rPr>
                        <a:t>PQC-only</a:t>
                      </a:r>
                      <a:endParaRPr lang="ko-KR" altLang="en-US">
                        <a:solidFill>
                          <a:schemeClr val="tx1"/>
                        </a:solidFill>
                      </a:endParaRPr>
                    </a:p>
                  </a:txBody>
                  <a:tcPr anchor="ctr">
                    <a:lnL w="12700" cmpd="sng">
                      <a:noFill/>
                    </a:lnL>
                    <a:noFill/>
                  </a:tcPr>
                </a:tc>
                <a:tc>
                  <a:txBody>
                    <a:bodyPr/>
                    <a:lstStyle/>
                    <a:p>
                      <a:pPr latinLnBrk="1"/>
                      <a:r>
                        <a:rPr lang="en-US" altLang="ko-KR">
                          <a:solidFill>
                            <a:schemeClr val="tx1"/>
                          </a:solidFill>
                        </a:rPr>
                        <a:t>ML-KEM-512 </a:t>
                      </a:r>
                      <a:endParaRPr lang="ko-KR" altLang="en-US">
                        <a:solidFill>
                          <a:schemeClr val="tx1"/>
                        </a:solidFill>
                      </a:endParaRPr>
                    </a:p>
                  </a:txBody>
                  <a:tcPr anchor="ctr">
                    <a:noFill/>
                  </a:tcPr>
                </a:tc>
                <a:tc>
                  <a:txBody>
                    <a:bodyPr/>
                    <a:lstStyle/>
                    <a:p>
                      <a:pPr algn="ctr" latinLnBrk="1"/>
                      <a:r>
                        <a:rPr lang="en-US" altLang="ko-KR">
                          <a:solidFill>
                            <a:schemeClr val="tx1"/>
                          </a:solidFill>
                        </a:rPr>
                        <a:t>P-256</a:t>
                      </a:r>
                      <a:endParaRPr lang="ko-KR" altLang="en-US">
                        <a:solidFill>
                          <a:schemeClr val="tx1"/>
                        </a:solidFill>
                      </a:endParaRPr>
                    </a:p>
                  </a:txBody>
                  <a:tcPr anchor="ctr">
                    <a:noFill/>
                  </a:tcPr>
                </a:tc>
                <a:tc>
                  <a:txBody>
                    <a:bodyPr/>
                    <a:lstStyle/>
                    <a:p>
                      <a:pPr algn="ctr" latinLnBrk="1"/>
                      <a:r>
                        <a:rPr lang="en-US" altLang="ko-KR"/>
                        <a:t>+524.7%(6.25×)</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388768">
                <a:tc vMerge="1">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t>ML-KEM-768</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P-384</a:t>
                      </a:r>
                      <a:endParaRPr lang="ko-KR" altLang="en-US">
                        <a:solidFill>
                          <a:schemeClr val="tx1"/>
                        </a:solidFill>
                      </a:endParaRPr>
                    </a:p>
                  </a:txBody>
                  <a:tcPr anchor="ctr">
                    <a:noFill/>
                  </a:tcPr>
                </a:tc>
                <a:tc>
                  <a:txBody>
                    <a:bodyPr/>
                    <a:lstStyle/>
                    <a:p>
                      <a:pPr algn="ctr" latinLnBrk="1"/>
                      <a:r>
                        <a:rPr lang="en-US" altLang="ko-KR"/>
                        <a:t>+360.8%(4.61×)</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r h="388768">
                <a:tc vMerge="1">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t>ML-KEM-1024</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P-521</a:t>
                      </a:r>
                    </a:p>
                  </a:txBody>
                  <a:tcPr anchor="ctr">
                    <a:noFill/>
                  </a:tcPr>
                </a:tc>
                <a:tc>
                  <a:txBody>
                    <a:bodyPr/>
                    <a:lstStyle/>
                    <a:p>
                      <a:pPr algn="ctr" latinLnBrk="1"/>
                      <a:r>
                        <a:rPr lang="en-US" altLang="ko-KR"/>
                        <a:t>+494.3%(5.94×)</a:t>
                      </a:r>
                      <a:endParaRPr lang="en-US" altLang="ko-KR">
                        <a:solidFill>
                          <a:schemeClr val="tx1"/>
                        </a:solidFill>
                      </a:endParaRPr>
                    </a:p>
                  </a:txBody>
                  <a:tcPr anchor="ctr">
                    <a:lnR w="12700" cmpd="sng">
                      <a:noFill/>
                    </a:lnR>
                    <a:noFill/>
                  </a:tcPr>
                </a:tc>
                <a:extLst>
                  <a:ext uri="{0D108BD9-81ED-4DB2-BD59-A6C34878D82A}">
                    <a16:rowId xmlns:a16="http://schemas.microsoft.com/office/drawing/2014/main" val="1262219744"/>
                  </a:ext>
                </a:extLst>
              </a:tr>
              <a:tr h="388768">
                <a:tc vMerge="1">
                  <a:txBody>
                    <a:bodyPr/>
                    <a:lstStyle/>
                    <a:p>
                      <a:pPr latinLnBrk="1"/>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t>SMAUG-T1</a:t>
                      </a:r>
                      <a:endParaRPr kumimoji="0" lang="ko-KR" altLang="en-US" sz="1800" b="0" i="0" u="none" strike="noStrike" kern="1200" cap="none" spc="0" normalizeH="0" baseline="0" noProof="0">
                        <a:ln>
                          <a:noFill/>
                        </a:ln>
                        <a:solidFill>
                          <a:prstClr val="black"/>
                        </a:solidFill>
                        <a:effectLst/>
                        <a:uLnTx/>
                        <a:uFillTx/>
                        <a:latin typeface="+mn-lt"/>
                        <a:ea typeface="+mn-ea"/>
                        <a:cs typeface="+mn-cs"/>
                      </a:endParaRPr>
                    </a:p>
                  </a:txBody>
                  <a:tcPr anchor="ctr">
                    <a:noFill/>
                  </a:tcPr>
                </a:tc>
                <a:tc>
                  <a:txBody>
                    <a:bodyPr/>
                    <a:lstStyle/>
                    <a:p>
                      <a:pPr algn="ctr" latinLnBrk="1"/>
                      <a:r>
                        <a:rPr lang="en-US" altLang="ko-KR">
                          <a:solidFill>
                            <a:schemeClr val="tx1"/>
                          </a:solidFill>
                        </a:rPr>
                        <a:t>P-256</a:t>
                      </a:r>
                    </a:p>
                  </a:txBody>
                  <a:tcPr anchor="ctr">
                    <a:noFill/>
                  </a:tcPr>
                </a:tc>
                <a:tc>
                  <a:txBody>
                    <a:bodyPr/>
                    <a:lstStyle/>
                    <a:p>
                      <a:pPr algn="ctr" latinLnBrk="1"/>
                      <a:r>
                        <a:rPr lang="en-US" altLang="ko-KR"/>
                        <a:t>+524.7%(6.25×)</a:t>
                      </a:r>
                      <a:endParaRPr lang="en-US" altLang="ko-KR">
                        <a:solidFill>
                          <a:schemeClr val="tx1"/>
                        </a:solidFill>
                      </a:endParaRPr>
                    </a:p>
                  </a:txBody>
                  <a:tcPr anchor="ctr">
                    <a:lnR w="12700" cmpd="sng">
                      <a:noFill/>
                    </a:lnR>
                    <a:noFill/>
                  </a:tcPr>
                </a:tc>
                <a:extLst>
                  <a:ext uri="{0D108BD9-81ED-4DB2-BD59-A6C34878D82A}">
                    <a16:rowId xmlns:a16="http://schemas.microsoft.com/office/drawing/2014/main" val="975904577"/>
                  </a:ext>
                </a:extLst>
              </a:tr>
              <a:tr h="388768">
                <a:tc vMerge="1">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t>SMAUG-T3</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P-384</a:t>
                      </a:r>
                    </a:p>
                  </a:txBody>
                  <a:tcPr anchor="ctr">
                    <a:noFill/>
                  </a:tcPr>
                </a:tc>
                <a:tc>
                  <a:txBody>
                    <a:bodyPr/>
                    <a:lstStyle/>
                    <a:p>
                      <a:pPr algn="ctr" latinLnBrk="1"/>
                      <a:r>
                        <a:rPr lang="en-US" altLang="ko-KR"/>
                        <a:t>+362.5%(4.63×)</a:t>
                      </a:r>
                      <a:endParaRPr lang="en-US" altLang="ko-KR">
                        <a:solidFill>
                          <a:schemeClr val="tx1"/>
                        </a:solidFill>
                      </a:endParaRPr>
                    </a:p>
                  </a:txBody>
                  <a:tcPr anchor="ctr">
                    <a:lnR w="12700" cmpd="sng">
                      <a:noFill/>
                    </a:lnR>
                    <a:noFill/>
                  </a:tcPr>
                </a:tc>
                <a:extLst>
                  <a:ext uri="{0D108BD9-81ED-4DB2-BD59-A6C34878D82A}">
                    <a16:rowId xmlns:a16="http://schemas.microsoft.com/office/drawing/2014/main" val="3523169396"/>
                  </a:ext>
                </a:extLst>
              </a:tr>
              <a:tr h="388768">
                <a:tc vMerge="1">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t>SMAUG-T5</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P-521</a:t>
                      </a:r>
                    </a:p>
                  </a:txBody>
                  <a:tcPr anchor="ctr">
                    <a:noFill/>
                  </a:tcPr>
                </a:tc>
                <a:tc>
                  <a:txBody>
                    <a:bodyPr/>
                    <a:lstStyle/>
                    <a:p>
                      <a:pPr algn="ctr" latinLnBrk="1"/>
                      <a:r>
                        <a:rPr lang="en-US" altLang="ko-KR"/>
                        <a:t>+493.2%(5.93×)</a:t>
                      </a:r>
                      <a:endParaRPr lang="en-US" altLang="ko-KR">
                        <a:solidFill>
                          <a:schemeClr val="tx1"/>
                        </a:solidFill>
                      </a:endParaRPr>
                    </a:p>
                  </a:txBody>
                  <a:tcPr anchor="ctr">
                    <a:lnR w="12700" cmpd="sng">
                      <a:noFill/>
                    </a:lnR>
                    <a:noFill/>
                  </a:tcPr>
                </a:tc>
                <a:extLst>
                  <a:ext uri="{0D108BD9-81ED-4DB2-BD59-A6C34878D82A}">
                    <a16:rowId xmlns:a16="http://schemas.microsoft.com/office/drawing/2014/main" val="1603480300"/>
                  </a:ext>
                </a:extLst>
              </a:tr>
              <a:tr h="388768">
                <a:tc vMerge="1">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t>NTRU+KEM-576</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P-256</a:t>
                      </a:r>
                    </a:p>
                  </a:txBody>
                  <a:tcPr anchor="ctr">
                    <a:noFill/>
                  </a:tcPr>
                </a:tc>
                <a:tc>
                  <a:txBody>
                    <a:bodyPr/>
                    <a:lstStyle/>
                    <a:p>
                      <a:pPr algn="ctr" latinLnBrk="1"/>
                      <a:r>
                        <a:rPr lang="en-US" altLang="ko-KR"/>
                        <a:t>+546.9%(6.47×)</a:t>
                      </a:r>
                      <a:endParaRPr lang="en-US" altLang="ko-KR">
                        <a:solidFill>
                          <a:schemeClr val="tx1"/>
                        </a:solidFill>
                      </a:endParaRPr>
                    </a:p>
                  </a:txBody>
                  <a:tcPr anchor="ctr">
                    <a:lnR w="12700" cmpd="sng">
                      <a:noFill/>
                    </a:lnR>
                    <a:noFill/>
                  </a:tcPr>
                </a:tc>
                <a:extLst>
                  <a:ext uri="{0D108BD9-81ED-4DB2-BD59-A6C34878D82A}">
                    <a16:rowId xmlns:a16="http://schemas.microsoft.com/office/drawing/2014/main" val="3090107639"/>
                  </a:ext>
                </a:extLst>
              </a:tr>
            </a:tbl>
          </a:graphicData>
        </a:graphic>
      </p:graphicFrame>
      <p:sp>
        <p:nvSpPr>
          <p:cNvPr id="2" name="내용 개체 틀 1">
            <a:extLst>
              <a:ext uri="{FF2B5EF4-FFF2-40B4-BE49-F238E27FC236}">
                <a16:creationId xmlns:a16="http://schemas.microsoft.com/office/drawing/2014/main" id="{D19360FE-AD67-77AF-BB18-3B22BB949514}"/>
              </a:ext>
            </a:extLst>
          </p:cNvPr>
          <p:cNvSpPr>
            <a:spLocks noGrp="1"/>
          </p:cNvSpPr>
          <p:nvPr>
            <p:ph idx="1"/>
          </p:nvPr>
        </p:nvSpPr>
        <p:spPr>
          <a:xfrm>
            <a:off x="581192" y="1410338"/>
            <a:ext cx="11029615" cy="835588"/>
          </a:xfrm>
        </p:spPr>
        <p:txBody>
          <a:bodyPr rtlCol="0">
            <a:normAutofit/>
          </a:bodyPr>
          <a:lstStyle/>
          <a:p>
            <a:pPr marL="0" indent="0">
              <a:buNone/>
            </a:pPr>
            <a:r>
              <a:rPr lang="en-US" altLang="ko-KR" sz="2400" b="1">
                <a:solidFill>
                  <a:srgbClr val="FF0000"/>
                </a:solidFill>
              </a:rPr>
              <a:t>Compared to ECC</a:t>
            </a:r>
            <a:r>
              <a:rPr lang="en-US" altLang="ko-KR" sz="2400" b="1"/>
              <a:t>, PQC incurred approximately </a:t>
            </a:r>
            <a:r>
              <a:rPr lang="en-US" altLang="ko-KR" sz="2400" b="1">
                <a:solidFill>
                  <a:srgbClr val="FF0000"/>
                </a:solidFill>
              </a:rPr>
              <a:t>5.8 times greater overhead</a:t>
            </a:r>
            <a:r>
              <a:rPr lang="en-US" altLang="ko-KR" sz="2400" b="1"/>
              <a:t>.</a:t>
            </a:r>
            <a:endParaRPr lang="ko-KR" altLang="en-US" sz="1800" dirty="0"/>
          </a:p>
        </p:txBody>
      </p:sp>
      <p:sp>
        <p:nvSpPr>
          <p:cNvPr id="4" name="TextBox 3">
            <a:extLst>
              <a:ext uri="{FF2B5EF4-FFF2-40B4-BE49-F238E27FC236}">
                <a16:creationId xmlns:a16="http://schemas.microsoft.com/office/drawing/2014/main" id="{E4C341B6-E73C-0E49-6AA7-38D74C7144BC}"/>
              </a:ext>
            </a:extLst>
          </p:cNvPr>
          <p:cNvSpPr txBox="1"/>
          <p:nvPr/>
        </p:nvSpPr>
        <p:spPr>
          <a:xfrm>
            <a:off x="1411842" y="5964417"/>
            <a:ext cx="9368314" cy="369332"/>
          </a:xfrm>
          <a:prstGeom prst="rect">
            <a:avLst/>
          </a:prstGeom>
          <a:noFill/>
        </p:spPr>
        <p:txBody>
          <a:bodyPr wrap="square" rtlCol="0">
            <a:spAutoFit/>
          </a:bodyPr>
          <a:lstStyle/>
          <a:p>
            <a:pPr algn="ctr"/>
            <a:r>
              <a:rPr lang="en-US" altLang="ko-KR" b="1"/>
              <a:t>Table: </a:t>
            </a:r>
            <a:r>
              <a:rPr lang="en-US" altLang="ko-KR"/>
              <a:t>Handshake latency of PQC relative to their ECC counterparts (compute-bound).</a:t>
            </a:r>
            <a:endParaRPr lang="ko-KR" altLang="en-US"/>
          </a:p>
        </p:txBody>
      </p:sp>
    </p:spTree>
    <p:extLst>
      <p:ext uri="{BB962C8B-B14F-4D97-AF65-F5344CB8AC3E}">
        <p14:creationId xmlns:p14="http://schemas.microsoft.com/office/powerpoint/2010/main" val="2323339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C30F8-3BF9-25EC-52E3-1477F5ED06F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F620E22-EBB7-574E-5428-58D8EDC111E9}"/>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rPr>
              <a:t>Handshake Latency of PQC relative to their ECC</a:t>
            </a:r>
            <a:endParaRPr lang="ko-KR" altLang="en-US" sz="3200" b="1">
              <a:solidFill>
                <a:schemeClr val="bg1"/>
              </a:solidFill>
            </a:endParaRPr>
          </a:p>
        </p:txBody>
      </p:sp>
      <p:sp>
        <p:nvSpPr>
          <p:cNvPr id="7" name="슬라이드 번호 개체 틀 6">
            <a:extLst>
              <a:ext uri="{FF2B5EF4-FFF2-40B4-BE49-F238E27FC236}">
                <a16:creationId xmlns:a16="http://schemas.microsoft.com/office/drawing/2014/main" id="{EEBC39A2-0F62-570D-8698-96ACE38E9122}"/>
              </a:ext>
            </a:extLst>
          </p:cNvPr>
          <p:cNvSpPr>
            <a:spLocks noGrp="1"/>
          </p:cNvSpPr>
          <p:nvPr>
            <p:ph type="sldNum" sz="quarter" idx="12"/>
          </p:nvPr>
        </p:nvSpPr>
        <p:spPr>
          <a:xfrm>
            <a:off x="10558299" y="5968624"/>
            <a:ext cx="1052508" cy="365125"/>
          </a:xfrm>
        </p:spPr>
        <p:txBody>
          <a:bodyPr/>
          <a:lstStyle/>
          <a:p>
            <a:pPr rtl="0"/>
            <a:fld id="{401CF334-2D5C-4859-84A6-CA7E6E43FAEB}" type="slidenum">
              <a:rPr lang="en-US" altLang="ko-KR" smtClean="0"/>
              <a:t>24</a:t>
            </a:fld>
            <a:endParaRPr lang="ko-KR" altLang="en-US" dirty="0"/>
          </a:p>
        </p:txBody>
      </p:sp>
      <p:graphicFrame>
        <p:nvGraphicFramePr>
          <p:cNvPr id="3" name="표 2">
            <a:extLst>
              <a:ext uri="{FF2B5EF4-FFF2-40B4-BE49-F238E27FC236}">
                <a16:creationId xmlns:a16="http://schemas.microsoft.com/office/drawing/2014/main" id="{4CF4ED80-D1D5-A7CE-2F12-FF6C0BF0CD4A}"/>
              </a:ext>
            </a:extLst>
          </p:cNvPr>
          <p:cNvGraphicFramePr>
            <a:graphicFrameLocks noGrp="1"/>
          </p:cNvGraphicFramePr>
          <p:nvPr>
            <p:extLst>
              <p:ext uri="{D42A27DB-BD31-4B8C-83A1-F6EECF244321}">
                <p14:modId xmlns:p14="http://schemas.microsoft.com/office/powerpoint/2010/main" val="3746642735"/>
              </p:ext>
            </p:extLst>
          </p:nvPr>
        </p:nvGraphicFramePr>
        <p:xfrm>
          <a:off x="976323" y="2488418"/>
          <a:ext cx="10108230" cy="3355891"/>
        </p:xfrm>
        <a:graphic>
          <a:graphicData uri="http://schemas.openxmlformats.org/drawingml/2006/table">
            <a:tbl>
              <a:tblPr firstRow="1" bandRow="1">
                <a:tableStyleId>{8799B23B-EC83-4686-B30A-512413B5E67A}</a:tableStyleId>
              </a:tblPr>
              <a:tblGrid>
                <a:gridCol w="2246808">
                  <a:extLst>
                    <a:ext uri="{9D8B030D-6E8A-4147-A177-3AD203B41FA5}">
                      <a16:colId xmlns:a16="http://schemas.microsoft.com/office/drawing/2014/main" val="3144330054"/>
                    </a:ext>
                  </a:extLst>
                </a:gridCol>
                <a:gridCol w="3581430">
                  <a:extLst>
                    <a:ext uri="{9D8B030D-6E8A-4147-A177-3AD203B41FA5}">
                      <a16:colId xmlns:a16="http://schemas.microsoft.com/office/drawing/2014/main" val="1915446878"/>
                    </a:ext>
                  </a:extLst>
                </a:gridCol>
                <a:gridCol w="2139996">
                  <a:extLst>
                    <a:ext uri="{9D8B030D-6E8A-4147-A177-3AD203B41FA5}">
                      <a16:colId xmlns:a16="http://schemas.microsoft.com/office/drawing/2014/main" val="1496100485"/>
                    </a:ext>
                  </a:extLst>
                </a:gridCol>
                <a:gridCol w="2139996">
                  <a:extLst>
                    <a:ext uri="{9D8B030D-6E8A-4147-A177-3AD203B41FA5}">
                      <a16:colId xmlns:a16="http://schemas.microsoft.com/office/drawing/2014/main" val="3772418004"/>
                    </a:ext>
                  </a:extLst>
                </a:gridCol>
              </a:tblGrid>
              <a:tr h="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solidFill>
                            <a:schemeClr val="tx1"/>
                          </a:solidFill>
                        </a:rPr>
                        <a:t>Type</a:t>
                      </a:r>
                      <a:endParaRPr lang="ko-KR" altLang="en-US">
                        <a:solidFill>
                          <a:schemeClr val="tx1"/>
                        </a:solidFill>
                      </a:endParaRPr>
                    </a:p>
                  </a:txBody>
                  <a:tcPr anchor="ctr">
                    <a:lnL w="12700" cmpd="sng">
                      <a:noFill/>
                    </a:lnL>
                    <a:noFill/>
                  </a:tcPr>
                </a:tc>
                <a:tc>
                  <a:txBody>
                    <a:bodyPr/>
                    <a:lstStyle/>
                    <a:p>
                      <a:pPr latinLnBrk="1"/>
                      <a:r>
                        <a:rPr lang="en-US" altLang="ko-KR">
                          <a:solidFill>
                            <a:schemeClr val="tx1"/>
                          </a:solidFill>
                        </a:rPr>
                        <a:t>Algorithm</a:t>
                      </a:r>
                      <a:endParaRPr lang="ko-KR" altLang="en-US">
                        <a:solidFill>
                          <a:schemeClr val="tx1"/>
                        </a:solidFill>
                      </a:endParaRPr>
                    </a:p>
                  </a:txBody>
                  <a:tcPr anchor="ctr">
                    <a:noFill/>
                  </a:tcPr>
                </a:tc>
                <a:tc>
                  <a:txBody>
                    <a:bodyPr/>
                    <a:lstStyle/>
                    <a:p>
                      <a:pPr marL="0" marR="0" lvl="0" indent="0" algn="ctr" defTabSz="457200" rtl="0" eaLnBrk="1" fontAlgn="auto" latinLnBrk="1" hangingPunct="1">
                        <a:lnSpc>
                          <a:spcPct val="100000"/>
                        </a:lnSpc>
                        <a:spcBef>
                          <a:spcPts val="0"/>
                        </a:spcBef>
                        <a:spcAft>
                          <a:spcPts val="0"/>
                        </a:spcAft>
                        <a:buClrTx/>
                        <a:buSzTx/>
                        <a:buFontTx/>
                        <a:buNone/>
                        <a:tabLst/>
                        <a:defRPr/>
                      </a:pPr>
                      <a:r>
                        <a:rPr lang="en-US" altLang="ko-KR">
                          <a:solidFill>
                            <a:schemeClr val="tx1"/>
                          </a:solidFill>
                        </a:rPr>
                        <a:t>ECC Baseline</a:t>
                      </a:r>
                      <a:endParaRPr lang="ko-KR" altLang="en-US">
                        <a:solidFill>
                          <a:schemeClr val="tx1"/>
                        </a:solidFill>
                      </a:endParaRPr>
                    </a:p>
                  </a:txBody>
                  <a:tcPr anchor="ctr">
                    <a:noFill/>
                  </a:tcPr>
                </a:tc>
                <a:tc>
                  <a:txBody>
                    <a:bodyPr/>
                    <a:lstStyle/>
                    <a:p>
                      <a:pPr algn="ctr" latinLnBrk="1"/>
                      <a:r>
                        <a:rPr lang="en-US" altLang="ko-KR">
                          <a:solidFill>
                            <a:schemeClr val="tx1"/>
                          </a:solidFill>
                        </a:rPr>
                        <a:t>Overhead vs. ECC</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387973">
                <a:tc rowSpan="7">
                  <a:txBody>
                    <a:bodyPr/>
                    <a:lstStyle/>
                    <a:p>
                      <a:pPr latinLnBrk="1"/>
                      <a:r>
                        <a:rPr lang="en-US" altLang="ko-KR">
                          <a:solidFill>
                            <a:schemeClr val="tx1"/>
                          </a:solidFill>
                        </a:rPr>
                        <a:t>Hybrid</a:t>
                      </a:r>
                      <a:endParaRPr lang="ko-KR" altLang="en-US">
                        <a:solidFill>
                          <a:schemeClr val="tx1"/>
                        </a:solidFill>
                      </a:endParaRPr>
                    </a:p>
                  </a:txBody>
                  <a:tcPr anchor="ctr">
                    <a:lnL w="12700" cmpd="sng">
                      <a:noFill/>
                    </a:lnL>
                    <a:noFill/>
                  </a:tcPr>
                </a:tc>
                <a:tc>
                  <a:txBody>
                    <a:bodyPr/>
                    <a:lstStyle/>
                    <a:p>
                      <a:pPr latinLnBrk="1"/>
                      <a:r>
                        <a:rPr lang="en-US" altLang="ko-KR">
                          <a:solidFill>
                            <a:schemeClr val="tx1"/>
                          </a:solidFill>
                        </a:rPr>
                        <a:t>ML-KEM-512 + secp256rl</a:t>
                      </a:r>
                      <a:endParaRPr lang="ko-KR" altLang="en-US">
                        <a:solidFill>
                          <a:schemeClr val="tx1"/>
                        </a:solidFill>
                      </a:endParaRPr>
                    </a:p>
                  </a:txBody>
                  <a:tcPr anchor="ctr">
                    <a:noFill/>
                  </a:tcPr>
                </a:tc>
                <a:tc>
                  <a:txBody>
                    <a:bodyPr/>
                    <a:lstStyle/>
                    <a:p>
                      <a:pPr algn="ctr" latinLnBrk="1"/>
                      <a:r>
                        <a:rPr lang="en-US" altLang="ko-KR">
                          <a:solidFill>
                            <a:schemeClr val="tx1"/>
                          </a:solidFill>
                        </a:rPr>
                        <a:t>P-256</a:t>
                      </a:r>
                      <a:endParaRPr lang="ko-KR" altLang="en-US">
                        <a:solidFill>
                          <a:schemeClr val="tx1"/>
                        </a:solidFill>
                      </a:endParaRPr>
                    </a:p>
                  </a:txBody>
                  <a:tcPr anchor="ctr">
                    <a:noFill/>
                  </a:tcPr>
                </a:tc>
                <a:tc>
                  <a:txBody>
                    <a:bodyPr/>
                    <a:lstStyle/>
                    <a:p>
                      <a:pPr algn="ctr" latinLnBrk="1"/>
                      <a:r>
                        <a:rPr lang="en-US" altLang="ko-KR"/>
                        <a:t>+549.2%(6.49×)</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387973">
                <a:tc vMerge="1">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t>ML-KEM-768 + </a:t>
                      </a: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secp384rl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P-384</a:t>
                      </a:r>
                      <a:endParaRPr lang="ko-KR" altLang="en-US">
                        <a:solidFill>
                          <a:schemeClr val="tx1"/>
                        </a:solidFill>
                      </a:endParaRPr>
                    </a:p>
                  </a:txBody>
                  <a:tcPr anchor="ctr">
                    <a:noFill/>
                  </a:tcPr>
                </a:tc>
                <a:tc>
                  <a:txBody>
                    <a:bodyPr/>
                    <a:lstStyle/>
                    <a:p>
                      <a:pPr algn="ctr" latinLnBrk="1"/>
                      <a:r>
                        <a:rPr lang="en-US" altLang="ko-KR"/>
                        <a:t>+379.8%(4.80×)</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r h="387973">
                <a:tc vMerge="1">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t>ML-KEM-1024 + </a:t>
                      </a: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secp521rl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P-521</a:t>
                      </a:r>
                    </a:p>
                  </a:txBody>
                  <a:tcPr anchor="ctr">
                    <a:noFill/>
                  </a:tcPr>
                </a:tc>
                <a:tc>
                  <a:txBody>
                    <a:bodyPr/>
                    <a:lstStyle/>
                    <a:p>
                      <a:pPr algn="ctr" latinLnBrk="1"/>
                      <a:r>
                        <a:rPr lang="en-US" altLang="ko-KR"/>
                        <a:t>+510.9%(6.11×)</a:t>
                      </a:r>
                      <a:endParaRPr lang="en-US" altLang="ko-KR">
                        <a:solidFill>
                          <a:schemeClr val="tx1"/>
                        </a:solidFill>
                      </a:endParaRPr>
                    </a:p>
                  </a:txBody>
                  <a:tcPr anchor="ctr">
                    <a:lnR w="12700" cmpd="sng">
                      <a:noFill/>
                    </a:lnR>
                    <a:noFill/>
                  </a:tcPr>
                </a:tc>
                <a:extLst>
                  <a:ext uri="{0D108BD9-81ED-4DB2-BD59-A6C34878D82A}">
                    <a16:rowId xmlns:a16="http://schemas.microsoft.com/office/drawing/2014/main" val="1262219744"/>
                  </a:ext>
                </a:extLst>
              </a:tr>
              <a:tr h="387973">
                <a:tc vMerge="1">
                  <a:txBody>
                    <a:bodyPr/>
                    <a:lstStyle/>
                    <a:p>
                      <a:pPr latinLnBrk="1"/>
                      <a:endParaRPr lang="ko-KR" altLang="en-US">
                        <a:solidFill>
                          <a:schemeClr val="tx1"/>
                        </a:solidFill>
                      </a:endParaRPr>
                    </a:p>
                  </a:txBody>
                  <a:tcPr anchor="ctr">
                    <a:lnL w="12700" cmpd="sng">
                      <a:noFill/>
                    </a:lnL>
                    <a:noFill/>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a:t>SMAUG-T1 + </a:t>
                      </a:r>
                      <a:r>
                        <a:rPr kumimoji="0" lang="en-US" altLang="ko-KR" sz="1800" b="0" i="0" u="none" strike="noStrike" kern="1200" cap="none" spc="0" normalizeH="0" baseline="0" noProof="0">
                          <a:ln>
                            <a:noFill/>
                          </a:ln>
                          <a:solidFill>
                            <a:prstClr val="black"/>
                          </a:solidFill>
                          <a:effectLst/>
                          <a:uLnTx/>
                          <a:uFillTx/>
                          <a:latin typeface="+mn-lt"/>
                          <a:ea typeface="+mn-ea"/>
                          <a:cs typeface="+mn-cs"/>
                        </a:rPr>
                        <a:t>secp256rl</a:t>
                      </a:r>
                      <a:endParaRPr kumimoji="0" lang="ko-KR" altLang="en-US" sz="1800" b="0" i="0" u="none" strike="noStrike" kern="1200" cap="none" spc="0" normalizeH="0" baseline="0" noProof="0">
                        <a:ln>
                          <a:noFill/>
                        </a:ln>
                        <a:solidFill>
                          <a:prstClr val="black"/>
                        </a:solidFill>
                        <a:effectLst/>
                        <a:uLnTx/>
                        <a:uFillTx/>
                        <a:latin typeface="+mn-lt"/>
                        <a:ea typeface="+mn-ea"/>
                        <a:cs typeface="+mn-cs"/>
                      </a:endParaRPr>
                    </a:p>
                  </a:txBody>
                  <a:tcPr anchor="ctr">
                    <a:noFill/>
                  </a:tcPr>
                </a:tc>
                <a:tc>
                  <a:txBody>
                    <a:bodyPr/>
                    <a:lstStyle/>
                    <a:p>
                      <a:pPr algn="ctr" latinLnBrk="1"/>
                      <a:r>
                        <a:rPr lang="en-US" altLang="ko-KR">
                          <a:solidFill>
                            <a:schemeClr val="tx1"/>
                          </a:solidFill>
                        </a:rPr>
                        <a:t>P-256</a:t>
                      </a:r>
                    </a:p>
                  </a:txBody>
                  <a:tcPr anchor="ctr">
                    <a:noFill/>
                  </a:tcPr>
                </a:tc>
                <a:tc>
                  <a:txBody>
                    <a:bodyPr/>
                    <a:lstStyle/>
                    <a:p>
                      <a:pPr algn="ctr" latinLnBrk="1"/>
                      <a:r>
                        <a:rPr lang="en-US" altLang="ko-KR"/>
                        <a:t>+542.2%(6.42×)</a:t>
                      </a:r>
                      <a:endParaRPr lang="en-US" altLang="ko-KR">
                        <a:solidFill>
                          <a:schemeClr val="tx1"/>
                        </a:solidFill>
                      </a:endParaRPr>
                    </a:p>
                  </a:txBody>
                  <a:tcPr anchor="ctr">
                    <a:lnR w="12700" cmpd="sng">
                      <a:noFill/>
                    </a:lnR>
                    <a:noFill/>
                  </a:tcPr>
                </a:tc>
                <a:extLst>
                  <a:ext uri="{0D108BD9-81ED-4DB2-BD59-A6C34878D82A}">
                    <a16:rowId xmlns:a16="http://schemas.microsoft.com/office/drawing/2014/main" val="975904577"/>
                  </a:ext>
                </a:extLst>
              </a:tr>
              <a:tr h="387973">
                <a:tc vMerge="1">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t>SMAUG-T3 + </a:t>
                      </a: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secp384rl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P-384</a:t>
                      </a:r>
                    </a:p>
                  </a:txBody>
                  <a:tcPr anchor="ctr">
                    <a:noFill/>
                  </a:tcPr>
                </a:tc>
                <a:tc>
                  <a:txBody>
                    <a:bodyPr/>
                    <a:lstStyle/>
                    <a:p>
                      <a:pPr algn="ctr" latinLnBrk="1"/>
                      <a:r>
                        <a:rPr lang="en-US" altLang="ko-KR"/>
                        <a:t>+383.2%(4.83×)</a:t>
                      </a:r>
                      <a:endParaRPr lang="en-US" altLang="ko-KR">
                        <a:solidFill>
                          <a:schemeClr val="tx1"/>
                        </a:solidFill>
                      </a:endParaRPr>
                    </a:p>
                  </a:txBody>
                  <a:tcPr anchor="ctr">
                    <a:lnR w="12700" cmpd="sng">
                      <a:noFill/>
                    </a:lnR>
                    <a:noFill/>
                  </a:tcPr>
                </a:tc>
                <a:extLst>
                  <a:ext uri="{0D108BD9-81ED-4DB2-BD59-A6C34878D82A}">
                    <a16:rowId xmlns:a16="http://schemas.microsoft.com/office/drawing/2014/main" val="3523169396"/>
                  </a:ext>
                </a:extLst>
              </a:tr>
              <a:tr h="387973">
                <a:tc vMerge="1">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t>SMAUG-T5 + </a:t>
                      </a: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secp521rl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P-521</a:t>
                      </a:r>
                    </a:p>
                  </a:txBody>
                  <a:tcPr anchor="ctr">
                    <a:noFill/>
                  </a:tcPr>
                </a:tc>
                <a:tc>
                  <a:txBody>
                    <a:bodyPr/>
                    <a:lstStyle/>
                    <a:p>
                      <a:pPr algn="ctr" latinLnBrk="1"/>
                      <a:r>
                        <a:rPr lang="en-US" altLang="ko-KR"/>
                        <a:t>+509.7%(6.10×)</a:t>
                      </a:r>
                      <a:endParaRPr lang="en-US" altLang="ko-KR">
                        <a:solidFill>
                          <a:schemeClr val="tx1"/>
                        </a:solidFill>
                      </a:endParaRPr>
                    </a:p>
                  </a:txBody>
                  <a:tcPr anchor="ctr">
                    <a:lnR w="12700" cmpd="sng">
                      <a:noFill/>
                    </a:lnR>
                    <a:noFill/>
                  </a:tcPr>
                </a:tc>
                <a:extLst>
                  <a:ext uri="{0D108BD9-81ED-4DB2-BD59-A6C34878D82A}">
                    <a16:rowId xmlns:a16="http://schemas.microsoft.com/office/drawing/2014/main" val="1603480300"/>
                  </a:ext>
                </a:extLst>
              </a:tr>
              <a:tr h="387973">
                <a:tc vMerge="1">
                  <a:txBody>
                    <a:bodyPr/>
                    <a:lstStyle/>
                    <a:p>
                      <a:pPr latinLnBrk="1"/>
                      <a:endParaRPr lang="ko-KR" altLang="en-US">
                        <a:solidFill>
                          <a:schemeClr val="tx1"/>
                        </a:solidFill>
                      </a:endParaRPr>
                    </a:p>
                  </a:txBody>
                  <a:tcPr anchor="ctr">
                    <a:lnL w="12700" cmpd="sng">
                      <a:noFill/>
                    </a:lnL>
                    <a:noFill/>
                  </a:tcPr>
                </a:tc>
                <a:tc>
                  <a:txBody>
                    <a:bodyPr/>
                    <a:lstStyle/>
                    <a:p>
                      <a:pPr latinLnBrk="1"/>
                      <a:r>
                        <a:rPr lang="en-US" altLang="ko-KR"/>
                        <a:t>NTRU+KEM-576 + </a:t>
                      </a:r>
                      <a:r>
                        <a:rPr kumimoji="0" lang="en-US" altLang="ko-KR" sz="1800" b="0" i="0" u="none" strike="noStrike" kern="1200" cap="none" spc="0" normalizeH="0" baseline="0" noProof="0">
                          <a:ln>
                            <a:noFill/>
                          </a:ln>
                          <a:solidFill>
                            <a:prstClr val="black"/>
                          </a:solidFill>
                          <a:effectLst/>
                          <a:uLnTx/>
                          <a:uFillTx/>
                          <a:latin typeface="Arial"/>
                          <a:ea typeface="맑은 고딕"/>
                          <a:cs typeface="+mn-cs"/>
                        </a:rPr>
                        <a:t>secp256rl</a:t>
                      </a:r>
                      <a:endParaRPr kumimoji="0" lang="ko-KR" altLang="en-US" sz="1800" b="0" i="0" u="none" strike="noStrike" kern="1200" cap="none" spc="0" normalizeH="0" baseline="0" noProof="0">
                        <a:ln>
                          <a:noFill/>
                        </a:ln>
                        <a:solidFill>
                          <a:prstClr val="black"/>
                        </a:solidFill>
                        <a:effectLst/>
                        <a:uLnTx/>
                        <a:uFillTx/>
                        <a:latin typeface="Arial"/>
                        <a:ea typeface="맑은 고딕"/>
                        <a:cs typeface="+mn-cs"/>
                      </a:endParaRPr>
                    </a:p>
                  </a:txBody>
                  <a:tcPr anchor="ctr">
                    <a:noFill/>
                  </a:tcPr>
                </a:tc>
                <a:tc>
                  <a:txBody>
                    <a:bodyPr/>
                    <a:lstStyle/>
                    <a:p>
                      <a:pPr algn="ctr" latinLnBrk="1"/>
                      <a:r>
                        <a:rPr lang="en-US" altLang="ko-KR">
                          <a:solidFill>
                            <a:schemeClr val="tx1"/>
                          </a:solidFill>
                        </a:rPr>
                        <a:t>P-256</a:t>
                      </a:r>
                    </a:p>
                  </a:txBody>
                  <a:tcPr anchor="ctr">
                    <a:noFill/>
                  </a:tcPr>
                </a:tc>
                <a:tc>
                  <a:txBody>
                    <a:bodyPr/>
                    <a:lstStyle/>
                    <a:p>
                      <a:pPr algn="ctr" latinLnBrk="1"/>
                      <a:r>
                        <a:rPr lang="en-US" altLang="ko-KR"/>
                        <a:t>+546.9%(6.47×)</a:t>
                      </a:r>
                      <a:endParaRPr lang="en-US" altLang="ko-KR">
                        <a:solidFill>
                          <a:schemeClr val="tx1"/>
                        </a:solidFill>
                      </a:endParaRPr>
                    </a:p>
                  </a:txBody>
                  <a:tcPr anchor="ctr">
                    <a:lnR w="12700" cmpd="sng">
                      <a:noFill/>
                    </a:lnR>
                    <a:noFill/>
                  </a:tcPr>
                </a:tc>
                <a:extLst>
                  <a:ext uri="{0D108BD9-81ED-4DB2-BD59-A6C34878D82A}">
                    <a16:rowId xmlns:a16="http://schemas.microsoft.com/office/drawing/2014/main" val="3090107639"/>
                  </a:ext>
                </a:extLst>
              </a:tr>
            </a:tbl>
          </a:graphicData>
        </a:graphic>
      </p:graphicFrame>
      <p:sp>
        <p:nvSpPr>
          <p:cNvPr id="5" name="내용 개체 틀 1">
            <a:extLst>
              <a:ext uri="{FF2B5EF4-FFF2-40B4-BE49-F238E27FC236}">
                <a16:creationId xmlns:a16="http://schemas.microsoft.com/office/drawing/2014/main" id="{E8E7FFBF-E344-6E3E-384B-EED7A62B4C38}"/>
              </a:ext>
            </a:extLst>
          </p:cNvPr>
          <p:cNvSpPr>
            <a:spLocks noGrp="1"/>
          </p:cNvSpPr>
          <p:nvPr>
            <p:ph idx="1"/>
          </p:nvPr>
        </p:nvSpPr>
        <p:spPr>
          <a:xfrm>
            <a:off x="581192" y="1472209"/>
            <a:ext cx="11029615" cy="835588"/>
          </a:xfrm>
        </p:spPr>
        <p:txBody>
          <a:bodyPr rtlCol="0">
            <a:normAutofit/>
          </a:bodyPr>
          <a:lstStyle/>
          <a:p>
            <a:pPr marL="0" indent="0">
              <a:buNone/>
            </a:pPr>
            <a:r>
              <a:rPr lang="en-US" altLang="ko-KR" sz="2400" b="1"/>
              <a:t>Hybrid KEM exhibited slightly higher overhead than PQC alone but remained within a range </a:t>
            </a:r>
            <a:r>
              <a:rPr lang="en-US" altLang="ko-KR" sz="2400" b="1">
                <a:solidFill>
                  <a:srgbClr val="FF0000"/>
                </a:solidFill>
              </a:rPr>
              <a:t>consistent with service continuity</a:t>
            </a:r>
            <a:r>
              <a:rPr lang="en-US" altLang="ko-KR" sz="2400" b="1"/>
              <a:t>.</a:t>
            </a:r>
            <a:endParaRPr lang="ko-KR" altLang="en-US" sz="1800" dirty="0"/>
          </a:p>
        </p:txBody>
      </p:sp>
      <p:sp>
        <p:nvSpPr>
          <p:cNvPr id="8" name="TextBox 7">
            <a:extLst>
              <a:ext uri="{FF2B5EF4-FFF2-40B4-BE49-F238E27FC236}">
                <a16:creationId xmlns:a16="http://schemas.microsoft.com/office/drawing/2014/main" id="{A2F395B0-3C24-D325-8AD2-DBC974CE1D58}"/>
              </a:ext>
            </a:extLst>
          </p:cNvPr>
          <p:cNvSpPr txBox="1"/>
          <p:nvPr/>
        </p:nvSpPr>
        <p:spPr>
          <a:xfrm>
            <a:off x="976323" y="5964417"/>
            <a:ext cx="10108230" cy="369332"/>
          </a:xfrm>
          <a:prstGeom prst="rect">
            <a:avLst/>
          </a:prstGeom>
          <a:noFill/>
        </p:spPr>
        <p:txBody>
          <a:bodyPr wrap="square" rtlCol="0">
            <a:spAutoFit/>
          </a:bodyPr>
          <a:lstStyle/>
          <a:p>
            <a:pPr algn="ctr"/>
            <a:r>
              <a:rPr lang="en-US" altLang="ko-KR" b="1"/>
              <a:t>Table: </a:t>
            </a:r>
            <a:r>
              <a:rPr lang="en-US" altLang="ko-KR"/>
              <a:t>Handshake latency of Hybrid PQC relative to their ECC counterparts (compute-bound).</a:t>
            </a:r>
            <a:endParaRPr lang="ko-KR" altLang="en-US"/>
          </a:p>
        </p:txBody>
      </p:sp>
    </p:spTree>
    <p:extLst>
      <p:ext uri="{BB962C8B-B14F-4D97-AF65-F5344CB8AC3E}">
        <p14:creationId xmlns:p14="http://schemas.microsoft.com/office/powerpoint/2010/main" val="780025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13D9A-BFA3-0FBB-AFF2-A20346669FB5}"/>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C2C406C4-E6EB-1DE0-E5F7-A9BA8C7C7607}"/>
              </a:ext>
            </a:extLst>
          </p:cNvPr>
          <p:cNvSpPr>
            <a:spLocks noGrp="1"/>
          </p:cNvSpPr>
          <p:nvPr>
            <p:ph idx="1"/>
          </p:nvPr>
        </p:nvSpPr>
        <p:spPr>
          <a:xfrm>
            <a:off x="581192" y="783425"/>
            <a:ext cx="11029615" cy="3161660"/>
          </a:xfrm>
        </p:spPr>
        <p:txBody>
          <a:bodyPr rtlCol="0">
            <a:normAutofit/>
          </a:bodyPr>
          <a:lstStyle/>
          <a:p>
            <a:pPr marL="0" indent="0">
              <a:buNone/>
            </a:pPr>
            <a:r>
              <a:rPr lang="en-US" altLang="ko-KR" sz="2400" b="1">
                <a:solidFill>
                  <a:srgbClr val="FF0000"/>
                </a:solidFill>
              </a:rPr>
              <a:t>Migration time </a:t>
            </a:r>
            <a:r>
              <a:rPr lang="en-US" altLang="ko-KR" sz="2400" b="1"/>
              <a:t>was measured at each phase to evaluate performance.</a:t>
            </a:r>
          </a:p>
          <a:p>
            <a:r>
              <a:rPr lang="en-US" altLang="ko-KR">
                <a:solidFill>
                  <a:srgbClr val="FF0000"/>
                </a:solidFill>
              </a:rPr>
              <a:t>Migration time refers to the duration from changing the PQC configuration to sending a SIGHUP signal to the bridge and until the configuration is applied</a:t>
            </a:r>
            <a:r>
              <a:rPr lang="en-US" altLang="ko-KR"/>
              <a:t>.</a:t>
            </a:r>
          </a:p>
          <a:p>
            <a:r>
              <a:rPr lang="en-US" altLang="ko-KR"/>
              <a:t>An artificial 2000 ms delay was added to estimate migration time considering early activation before bridge settings apply.</a:t>
            </a:r>
            <a:endParaRPr lang="ko-KR" altLang="en-US" dirty="0"/>
          </a:p>
        </p:txBody>
      </p:sp>
      <p:sp>
        <p:nvSpPr>
          <p:cNvPr id="6" name="TextBox 5">
            <a:extLst>
              <a:ext uri="{FF2B5EF4-FFF2-40B4-BE49-F238E27FC236}">
                <a16:creationId xmlns:a16="http://schemas.microsoft.com/office/drawing/2014/main" id="{A9572492-FCB7-9442-6C53-26372EDA066F}"/>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Migration Times Evaluation</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E13F9AB9-9BDA-C6C8-1386-074AC03A77B5}"/>
              </a:ext>
            </a:extLst>
          </p:cNvPr>
          <p:cNvSpPr>
            <a:spLocks noGrp="1"/>
          </p:cNvSpPr>
          <p:nvPr>
            <p:ph type="sldNum" sz="quarter" idx="12"/>
          </p:nvPr>
        </p:nvSpPr>
        <p:spPr/>
        <p:txBody>
          <a:bodyPr/>
          <a:lstStyle/>
          <a:p>
            <a:pPr rtl="0"/>
            <a:fld id="{401CF334-2D5C-4859-84A6-CA7E6E43FAEB}" type="slidenum">
              <a:rPr lang="en-US" altLang="ko-KR" smtClean="0"/>
              <a:t>25</a:t>
            </a:fld>
            <a:endParaRPr lang="ko-KR" altLang="en-US" dirty="0"/>
          </a:p>
        </p:txBody>
      </p:sp>
      <p:graphicFrame>
        <p:nvGraphicFramePr>
          <p:cNvPr id="3" name="표 2">
            <a:extLst>
              <a:ext uri="{FF2B5EF4-FFF2-40B4-BE49-F238E27FC236}">
                <a16:creationId xmlns:a16="http://schemas.microsoft.com/office/drawing/2014/main" id="{40A61357-2DC7-DA02-E014-054FCA9A390E}"/>
              </a:ext>
            </a:extLst>
          </p:cNvPr>
          <p:cNvGraphicFramePr>
            <a:graphicFrameLocks noGrp="1"/>
          </p:cNvGraphicFramePr>
          <p:nvPr>
            <p:extLst>
              <p:ext uri="{D42A27DB-BD31-4B8C-83A1-F6EECF244321}">
                <p14:modId xmlns:p14="http://schemas.microsoft.com/office/powerpoint/2010/main" val="3314586053"/>
              </p:ext>
            </p:extLst>
          </p:nvPr>
        </p:nvGraphicFramePr>
        <p:xfrm>
          <a:off x="1256143" y="3429000"/>
          <a:ext cx="9679711" cy="2420650"/>
        </p:xfrm>
        <a:graphic>
          <a:graphicData uri="http://schemas.openxmlformats.org/drawingml/2006/table">
            <a:tbl>
              <a:tblPr firstRow="1" bandRow="1">
                <a:tableStyleId>{8799B23B-EC83-4686-B30A-512413B5E67A}</a:tableStyleId>
              </a:tblPr>
              <a:tblGrid>
                <a:gridCol w="3019799">
                  <a:extLst>
                    <a:ext uri="{9D8B030D-6E8A-4147-A177-3AD203B41FA5}">
                      <a16:colId xmlns:a16="http://schemas.microsoft.com/office/drawing/2014/main" val="3144330054"/>
                    </a:ext>
                  </a:extLst>
                </a:gridCol>
                <a:gridCol w="3329956">
                  <a:extLst>
                    <a:ext uri="{9D8B030D-6E8A-4147-A177-3AD203B41FA5}">
                      <a16:colId xmlns:a16="http://schemas.microsoft.com/office/drawing/2014/main" val="1903691691"/>
                    </a:ext>
                  </a:extLst>
                </a:gridCol>
                <a:gridCol w="3329956">
                  <a:extLst>
                    <a:ext uri="{9D8B030D-6E8A-4147-A177-3AD203B41FA5}">
                      <a16:colId xmlns:a16="http://schemas.microsoft.com/office/drawing/2014/main" val="1127462989"/>
                    </a:ext>
                  </a:extLst>
                </a:gridCol>
              </a:tblGrid>
              <a:tr h="0">
                <a:tc>
                  <a:txBody>
                    <a:bodyPr/>
                    <a:lstStyle/>
                    <a:p>
                      <a:pPr latinLnBrk="1"/>
                      <a:r>
                        <a:rPr lang="en-US" altLang="ko-KR">
                          <a:solidFill>
                            <a:schemeClr val="tx1"/>
                          </a:solidFill>
                        </a:rPr>
                        <a:t>Process</a:t>
                      </a:r>
                      <a:endParaRPr lang="ko-KR" altLang="en-US">
                        <a:solidFill>
                          <a:schemeClr val="tx1"/>
                        </a:solidFill>
                      </a:endParaRPr>
                    </a:p>
                  </a:txBody>
                  <a:tcPr anchor="ctr">
                    <a:lnL w="12700" cmpd="sng">
                      <a:noFill/>
                    </a:lnL>
                    <a:noFill/>
                  </a:tcPr>
                </a:tc>
                <a:tc>
                  <a:txBody>
                    <a:bodyPr/>
                    <a:lstStyle/>
                    <a:p>
                      <a:pPr algn="r" latinLnBrk="1"/>
                      <a:r>
                        <a:rPr lang="en-US" altLang="ko-KR">
                          <a:solidFill>
                            <a:schemeClr val="tx1"/>
                          </a:solidFill>
                        </a:rPr>
                        <a:t>Migration Time (ms)</a:t>
                      </a:r>
                      <a:endParaRPr lang="ko-KR" altLang="en-US">
                        <a:solidFill>
                          <a:schemeClr val="tx1"/>
                        </a:solidFill>
                      </a:endParaRPr>
                    </a:p>
                  </a:txBody>
                  <a:tcPr anchor="ctr">
                    <a:noFill/>
                  </a:tcPr>
                </a:tc>
                <a:tc>
                  <a:txBody>
                    <a:bodyPr/>
                    <a:lstStyle/>
                    <a:p>
                      <a:pPr algn="ctr" latinLnBrk="1"/>
                      <a:r>
                        <a:rPr lang="en-US" altLang="ko-KR">
                          <a:solidFill>
                            <a:schemeClr val="tx1"/>
                          </a:solidFill>
                        </a:rPr>
                        <a:t>Adjusted Migration Time (ms)</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410978">
                <a:tc>
                  <a:txBody>
                    <a:bodyPr/>
                    <a:lstStyle/>
                    <a:p>
                      <a:pPr latinLnBrk="1"/>
                      <a:r>
                        <a:rPr lang="en-US" altLang="ko-KR"/>
                        <a:t>announce → prefer 25%</a:t>
                      </a:r>
                      <a:endParaRPr lang="ko-KR" altLang="en-US">
                        <a:solidFill>
                          <a:schemeClr val="tx1"/>
                        </a:solidFill>
                      </a:endParaRPr>
                    </a:p>
                  </a:txBody>
                  <a:tcPr anchor="ctr">
                    <a:lnL w="12700" cmpd="sng">
                      <a:noFill/>
                    </a:lnL>
                    <a:noFill/>
                  </a:tcPr>
                </a:tc>
                <a:tc>
                  <a:txBody>
                    <a:bodyPr/>
                    <a:lstStyle/>
                    <a:p>
                      <a:pPr algn="r" latinLnBrk="1"/>
                      <a:r>
                        <a:rPr lang="en-US" altLang="ko-KR"/>
                        <a:t>2,036.7</a:t>
                      </a:r>
                      <a:endParaRPr lang="ko-KR" altLang="en-US">
                        <a:solidFill>
                          <a:schemeClr val="tx1"/>
                        </a:solidFill>
                      </a:endParaRPr>
                    </a:p>
                  </a:txBody>
                  <a:tcPr anchor="ctr">
                    <a:noFill/>
                  </a:tcPr>
                </a:tc>
                <a:tc>
                  <a:txBody>
                    <a:bodyPr/>
                    <a:lstStyle/>
                    <a:p>
                      <a:pPr algn="r" latinLnBrk="1"/>
                      <a:r>
                        <a:rPr lang="en-US" altLang="ko-KR"/>
                        <a:t>36.7</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410978">
                <a:tc>
                  <a:txBody>
                    <a:bodyPr/>
                    <a:lstStyle/>
                    <a:p>
                      <a:pPr latinLnBrk="1"/>
                      <a:r>
                        <a:rPr lang="en-US" altLang="ko-KR"/>
                        <a:t>prefer 25% → prefer 50%</a:t>
                      </a:r>
                      <a:endParaRPr lang="ko-KR" altLang="en-US">
                        <a:solidFill>
                          <a:schemeClr val="tx1"/>
                        </a:solidFill>
                      </a:endParaRPr>
                    </a:p>
                  </a:txBody>
                  <a:tcPr anchor="ctr">
                    <a:lnL w="12700" cmpd="sng">
                      <a:noFill/>
                    </a:lnL>
                    <a:noFill/>
                  </a:tcPr>
                </a:tc>
                <a:tc>
                  <a:txBody>
                    <a:bodyPr/>
                    <a:lstStyle/>
                    <a:p>
                      <a:pPr algn="r" latinLnBrk="1"/>
                      <a:r>
                        <a:rPr lang="en-US" altLang="ko-KR"/>
                        <a:t>2,035.2</a:t>
                      </a:r>
                      <a:endParaRPr lang="ko-KR" altLang="en-US">
                        <a:solidFill>
                          <a:schemeClr val="tx1"/>
                        </a:solidFill>
                      </a:endParaRPr>
                    </a:p>
                  </a:txBody>
                  <a:tcPr anchor="ctr">
                    <a:noFill/>
                  </a:tcPr>
                </a:tc>
                <a:tc>
                  <a:txBody>
                    <a:bodyPr/>
                    <a:lstStyle/>
                    <a:p>
                      <a:pPr algn="r" latinLnBrk="1"/>
                      <a:r>
                        <a:rPr lang="en-US" altLang="ko-KR"/>
                        <a:t>35.2</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r h="410978">
                <a:tc>
                  <a:txBody>
                    <a:bodyPr/>
                    <a:lstStyle/>
                    <a:p>
                      <a:pPr latinLnBrk="1"/>
                      <a:r>
                        <a:rPr lang="en-US" altLang="ko-KR"/>
                        <a:t>prefer 50% → prefer 75%</a:t>
                      </a:r>
                      <a:endParaRPr lang="ko-KR" altLang="en-US">
                        <a:solidFill>
                          <a:schemeClr val="tx1"/>
                        </a:solidFill>
                      </a:endParaRPr>
                    </a:p>
                  </a:txBody>
                  <a:tcPr anchor="ctr">
                    <a:lnL w="12700" cmpd="sng">
                      <a:noFill/>
                    </a:lnL>
                    <a:noFill/>
                  </a:tcPr>
                </a:tc>
                <a:tc>
                  <a:txBody>
                    <a:bodyPr/>
                    <a:lstStyle/>
                    <a:p>
                      <a:pPr algn="r" latinLnBrk="1"/>
                      <a:r>
                        <a:rPr lang="en-US" altLang="ko-KR"/>
                        <a:t>2,030.7</a:t>
                      </a:r>
                      <a:endParaRPr lang="ko-KR" altLang="en-US">
                        <a:solidFill>
                          <a:schemeClr val="tx1"/>
                        </a:solidFill>
                      </a:endParaRPr>
                    </a:p>
                  </a:txBody>
                  <a:tcPr anchor="ctr">
                    <a:noFill/>
                  </a:tcPr>
                </a:tc>
                <a:tc>
                  <a:txBody>
                    <a:bodyPr/>
                    <a:lstStyle/>
                    <a:p>
                      <a:pPr algn="r" latinLnBrk="1"/>
                      <a:r>
                        <a:rPr lang="en-US" altLang="ko-KR"/>
                        <a:t>30.7</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5338411"/>
                  </a:ext>
                </a:extLst>
              </a:tr>
              <a:tr h="410978">
                <a:tc>
                  <a:txBody>
                    <a:bodyPr/>
                    <a:lstStyle/>
                    <a:p>
                      <a:pPr latinLnBrk="1"/>
                      <a:r>
                        <a:rPr lang="en-US" altLang="ko-KR"/>
                        <a:t>prefer 75% → require</a:t>
                      </a:r>
                      <a:endParaRPr lang="ko-KR" altLang="en-US">
                        <a:solidFill>
                          <a:schemeClr val="tx1"/>
                        </a:solidFill>
                      </a:endParaRPr>
                    </a:p>
                  </a:txBody>
                  <a:tcPr anchor="ctr">
                    <a:lnL w="12700" cmpd="sng">
                      <a:noFill/>
                    </a:lnL>
                    <a:noFill/>
                  </a:tcPr>
                </a:tc>
                <a:tc>
                  <a:txBody>
                    <a:bodyPr/>
                    <a:lstStyle/>
                    <a:p>
                      <a:pPr algn="r" latinLnBrk="1"/>
                      <a:r>
                        <a:rPr lang="en-US" altLang="ko-KR"/>
                        <a:t>2,027.7</a:t>
                      </a:r>
                      <a:endParaRPr lang="ko-KR" altLang="en-US">
                        <a:solidFill>
                          <a:schemeClr val="tx1"/>
                        </a:solidFill>
                      </a:endParaRPr>
                    </a:p>
                  </a:txBody>
                  <a:tcPr anchor="ctr">
                    <a:noFill/>
                  </a:tcPr>
                </a:tc>
                <a:tc>
                  <a:txBody>
                    <a:bodyPr/>
                    <a:lstStyle/>
                    <a:p>
                      <a:pPr algn="r" latinLnBrk="1"/>
                      <a:r>
                        <a:rPr lang="en-US" altLang="ko-KR"/>
                        <a:t>27.7</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2942346967"/>
                  </a:ext>
                </a:extLst>
              </a:tr>
              <a:tr h="410978">
                <a:tc>
                  <a:txBody>
                    <a:bodyPr/>
                    <a:lstStyle/>
                    <a:p>
                      <a:pPr latinLnBrk="1"/>
                      <a:r>
                        <a:rPr lang="en-US" altLang="ko-KR"/>
                        <a:t>Total Migration</a:t>
                      </a:r>
                      <a:endParaRPr lang="ko-KR" altLang="en-US">
                        <a:solidFill>
                          <a:schemeClr val="tx1"/>
                        </a:solidFill>
                      </a:endParaRPr>
                    </a:p>
                  </a:txBody>
                  <a:tcPr anchor="ctr">
                    <a:lnL w="12700" cmpd="sng">
                      <a:noFill/>
                    </a:lnL>
                    <a:noFill/>
                  </a:tcPr>
                </a:tc>
                <a:tc>
                  <a:txBody>
                    <a:bodyPr/>
                    <a:lstStyle/>
                    <a:p>
                      <a:pPr algn="r" latinLnBrk="1"/>
                      <a:r>
                        <a:rPr lang="en-US" altLang="ko-KR"/>
                        <a:t>2032.6</a:t>
                      </a:r>
                      <a:endParaRPr lang="ko-KR" altLang="en-US">
                        <a:solidFill>
                          <a:schemeClr val="tx1"/>
                        </a:solidFill>
                      </a:endParaRPr>
                    </a:p>
                  </a:txBody>
                  <a:tcPr anchor="ctr">
                    <a:noFill/>
                  </a:tcPr>
                </a:tc>
                <a:tc>
                  <a:txBody>
                    <a:bodyPr/>
                    <a:lstStyle/>
                    <a:p>
                      <a:pPr algn="r" latinLnBrk="1"/>
                      <a:r>
                        <a:rPr lang="en-US" altLang="ko-KR"/>
                        <a:t>32.6</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670164417"/>
                  </a:ext>
                </a:extLst>
              </a:tr>
            </a:tbl>
          </a:graphicData>
        </a:graphic>
      </p:graphicFrame>
      <p:sp>
        <p:nvSpPr>
          <p:cNvPr id="10" name="TextBox 9">
            <a:extLst>
              <a:ext uri="{FF2B5EF4-FFF2-40B4-BE49-F238E27FC236}">
                <a16:creationId xmlns:a16="http://schemas.microsoft.com/office/drawing/2014/main" id="{14C7286A-4580-FD31-431C-A274F3CABA11}"/>
              </a:ext>
            </a:extLst>
          </p:cNvPr>
          <p:cNvSpPr txBox="1"/>
          <p:nvPr/>
        </p:nvSpPr>
        <p:spPr>
          <a:xfrm>
            <a:off x="1256143" y="5924012"/>
            <a:ext cx="9764158" cy="369332"/>
          </a:xfrm>
          <a:prstGeom prst="rect">
            <a:avLst/>
          </a:prstGeom>
          <a:noFill/>
        </p:spPr>
        <p:txBody>
          <a:bodyPr wrap="square">
            <a:spAutoFit/>
          </a:bodyPr>
          <a:lstStyle/>
          <a:p>
            <a:pPr algn="ctr"/>
            <a:r>
              <a:rPr lang="en-US" altLang="ko-KR" b="1"/>
              <a:t>Table: </a:t>
            </a:r>
            <a:r>
              <a:rPr lang="en-US" altLang="ko-KR"/>
              <a:t>Migration times for each PQC migration step according to policy</a:t>
            </a:r>
            <a:endParaRPr lang="ko-KR" altLang="en-US"/>
          </a:p>
        </p:txBody>
      </p:sp>
    </p:spTree>
    <p:extLst>
      <p:ext uri="{BB962C8B-B14F-4D97-AF65-F5344CB8AC3E}">
        <p14:creationId xmlns:p14="http://schemas.microsoft.com/office/powerpoint/2010/main" val="4247741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DB6D0-5662-6A6C-662F-271C915E572C}"/>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E795A000-14AD-91F9-BE3B-14D5B364C13E}"/>
              </a:ext>
            </a:extLst>
          </p:cNvPr>
          <p:cNvSpPr>
            <a:spLocks noGrp="1"/>
          </p:cNvSpPr>
          <p:nvPr>
            <p:ph idx="1"/>
          </p:nvPr>
        </p:nvSpPr>
        <p:spPr>
          <a:xfrm>
            <a:off x="581192" y="1624244"/>
            <a:ext cx="11029615" cy="1999618"/>
          </a:xfrm>
        </p:spPr>
        <p:txBody>
          <a:bodyPr rtlCol="0"/>
          <a:lstStyle/>
          <a:p>
            <a:pPr marL="0" indent="0">
              <a:buNone/>
            </a:pPr>
            <a:r>
              <a:rPr lang="en-US" altLang="ko-KR" sz="2400" b="1">
                <a:solidFill>
                  <a:srgbClr val="FF0000"/>
                </a:solidFill>
              </a:rPr>
              <a:t>The minor scenario</a:t>
            </a:r>
            <a:r>
              <a:rPr lang="en-US" altLang="ko-KR" sz="2400" b="1"/>
              <a:t> assumed text modifications during server operation for evaluation.</a:t>
            </a:r>
          </a:p>
          <a:p>
            <a:r>
              <a:rPr lang="en-US" altLang="ko-KR">
                <a:solidFill>
                  <a:srgbClr val="FF0000"/>
                </a:solidFill>
              </a:rPr>
              <a:t>Performance was measured from the time the message was changed until it was reflected on the server</a:t>
            </a:r>
            <a:r>
              <a:rPr lang="en-US" altLang="ko-KR"/>
              <a:t>.</a:t>
            </a:r>
          </a:p>
          <a:p>
            <a:r>
              <a:rPr lang="en-US" altLang="ko-KR"/>
              <a:t>Both classical TLS and PQC TLS servers exhibited update performance with an average latency of 40 ms.</a:t>
            </a:r>
            <a:endParaRPr lang="ko-KR" altLang="en-US" dirty="0"/>
          </a:p>
        </p:txBody>
      </p:sp>
      <p:sp>
        <p:nvSpPr>
          <p:cNvPr id="6" name="TextBox 5">
            <a:extLst>
              <a:ext uri="{FF2B5EF4-FFF2-40B4-BE49-F238E27FC236}">
                <a16:creationId xmlns:a16="http://schemas.microsoft.com/office/drawing/2014/main" id="{3D9F5EBA-8B89-376D-6DF5-2BC2A1277690}"/>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Transform Map Update Time Evaluation</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84B1CEE1-E80A-440E-62F7-9F7F5769E27A}"/>
              </a:ext>
            </a:extLst>
          </p:cNvPr>
          <p:cNvSpPr>
            <a:spLocks noGrp="1"/>
          </p:cNvSpPr>
          <p:nvPr>
            <p:ph type="sldNum" sz="quarter" idx="12"/>
          </p:nvPr>
        </p:nvSpPr>
        <p:spPr/>
        <p:txBody>
          <a:bodyPr/>
          <a:lstStyle/>
          <a:p>
            <a:pPr rtl="0"/>
            <a:fld id="{401CF334-2D5C-4859-84A6-CA7E6E43FAEB}" type="slidenum">
              <a:rPr lang="en-US" altLang="ko-KR" smtClean="0"/>
              <a:t>26</a:t>
            </a:fld>
            <a:endParaRPr lang="ko-KR" altLang="en-US" dirty="0"/>
          </a:p>
        </p:txBody>
      </p:sp>
      <p:graphicFrame>
        <p:nvGraphicFramePr>
          <p:cNvPr id="3" name="표 2">
            <a:extLst>
              <a:ext uri="{FF2B5EF4-FFF2-40B4-BE49-F238E27FC236}">
                <a16:creationId xmlns:a16="http://schemas.microsoft.com/office/drawing/2014/main" id="{BA18ED2A-824B-2000-3660-110E8E1803F2}"/>
              </a:ext>
            </a:extLst>
          </p:cNvPr>
          <p:cNvGraphicFramePr>
            <a:graphicFrameLocks noGrp="1"/>
          </p:cNvGraphicFramePr>
          <p:nvPr>
            <p:extLst>
              <p:ext uri="{D42A27DB-BD31-4B8C-83A1-F6EECF244321}">
                <p14:modId xmlns:p14="http://schemas.microsoft.com/office/powerpoint/2010/main" val="244637511"/>
              </p:ext>
            </p:extLst>
          </p:nvPr>
        </p:nvGraphicFramePr>
        <p:xfrm>
          <a:off x="1411842" y="3956518"/>
          <a:ext cx="9368315" cy="1232934"/>
        </p:xfrm>
        <a:graphic>
          <a:graphicData uri="http://schemas.openxmlformats.org/drawingml/2006/table">
            <a:tbl>
              <a:tblPr firstRow="1" bandRow="1">
                <a:tableStyleId>{8799B23B-EC83-4686-B30A-512413B5E67A}</a:tableStyleId>
              </a:tblPr>
              <a:tblGrid>
                <a:gridCol w="2412013">
                  <a:extLst>
                    <a:ext uri="{9D8B030D-6E8A-4147-A177-3AD203B41FA5}">
                      <a16:colId xmlns:a16="http://schemas.microsoft.com/office/drawing/2014/main" val="3144330054"/>
                    </a:ext>
                  </a:extLst>
                </a:gridCol>
                <a:gridCol w="3478151">
                  <a:extLst>
                    <a:ext uri="{9D8B030D-6E8A-4147-A177-3AD203B41FA5}">
                      <a16:colId xmlns:a16="http://schemas.microsoft.com/office/drawing/2014/main" val="1903691691"/>
                    </a:ext>
                  </a:extLst>
                </a:gridCol>
                <a:gridCol w="3478151">
                  <a:extLst>
                    <a:ext uri="{9D8B030D-6E8A-4147-A177-3AD203B41FA5}">
                      <a16:colId xmlns:a16="http://schemas.microsoft.com/office/drawing/2014/main" val="1127462989"/>
                    </a:ext>
                  </a:extLst>
                </a:gridCol>
              </a:tblGrid>
              <a:tr h="410978">
                <a:tc>
                  <a:txBody>
                    <a:bodyPr/>
                    <a:lstStyle/>
                    <a:p>
                      <a:pPr latinLnBrk="1"/>
                      <a:r>
                        <a:rPr lang="en-US" altLang="ko-KR">
                          <a:solidFill>
                            <a:schemeClr val="tx1"/>
                          </a:solidFill>
                        </a:rPr>
                        <a:t>Server</a:t>
                      </a:r>
                      <a:endParaRPr lang="ko-KR" altLang="en-US">
                        <a:solidFill>
                          <a:schemeClr val="tx1"/>
                        </a:solidFill>
                      </a:endParaRPr>
                    </a:p>
                  </a:txBody>
                  <a:tcPr anchor="ctr">
                    <a:lnL w="12700" cmpd="sng">
                      <a:noFill/>
                    </a:lnL>
                    <a:noFill/>
                  </a:tcPr>
                </a:tc>
                <a:tc>
                  <a:txBody>
                    <a:bodyPr/>
                    <a:lstStyle/>
                    <a:p>
                      <a:pPr algn="r" latinLnBrk="1"/>
                      <a:r>
                        <a:rPr lang="en-US" altLang="ko-KR">
                          <a:solidFill>
                            <a:schemeClr val="tx1"/>
                          </a:solidFill>
                        </a:rPr>
                        <a:t>Migration Time (ms)</a:t>
                      </a:r>
                      <a:endParaRPr lang="ko-KR" altLang="en-US">
                        <a:solidFill>
                          <a:schemeClr val="tx1"/>
                        </a:solidFill>
                      </a:endParaRPr>
                    </a:p>
                  </a:txBody>
                  <a:tcPr anchor="ctr">
                    <a:noFill/>
                  </a:tcPr>
                </a:tc>
                <a:tc>
                  <a:txBody>
                    <a:bodyPr/>
                    <a:lstStyle/>
                    <a:p>
                      <a:pPr algn="ctr" latinLnBrk="1"/>
                      <a:r>
                        <a:rPr lang="en-US" altLang="ko-KR">
                          <a:solidFill>
                            <a:schemeClr val="tx1"/>
                          </a:solidFill>
                        </a:rPr>
                        <a:t>Adjusted Migration Time (ms)</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575044494"/>
                  </a:ext>
                </a:extLst>
              </a:tr>
              <a:tr h="410978">
                <a:tc>
                  <a:txBody>
                    <a:bodyPr/>
                    <a:lstStyle/>
                    <a:p>
                      <a:pPr latinLnBrk="1"/>
                      <a:r>
                        <a:rPr lang="en-US" altLang="ko-KR"/>
                        <a:t>v1 (Classic TLS 1.3)</a:t>
                      </a:r>
                      <a:endParaRPr lang="ko-KR" altLang="en-US">
                        <a:solidFill>
                          <a:schemeClr val="tx1"/>
                        </a:solidFill>
                      </a:endParaRPr>
                    </a:p>
                  </a:txBody>
                  <a:tcPr anchor="ctr">
                    <a:lnL w="12700" cmpd="sng">
                      <a:noFill/>
                    </a:lnL>
                    <a:noFill/>
                  </a:tcPr>
                </a:tc>
                <a:tc>
                  <a:txBody>
                    <a:bodyPr/>
                    <a:lstStyle/>
                    <a:p>
                      <a:pPr algn="r" latinLnBrk="1"/>
                      <a:r>
                        <a:rPr lang="en-US" altLang="ko-KR"/>
                        <a:t>2,042.0</a:t>
                      </a:r>
                      <a:endParaRPr lang="ko-KR" altLang="en-US">
                        <a:solidFill>
                          <a:schemeClr val="tx1"/>
                        </a:solidFill>
                      </a:endParaRPr>
                    </a:p>
                  </a:txBody>
                  <a:tcPr anchor="ctr">
                    <a:noFill/>
                  </a:tcPr>
                </a:tc>
                <a:tc>
                  <a:txBody>
                    <a:bodyPr/>
                    <a:lstStyle/>
                    <a:p>
                      <a:pPr algn="r" latinLnBrk="1"/>
                      <a:r>
                        <a:rPr lang="en-US" altLang="ko-KR"/>
                        <a:t>42.0</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839518773"/>
                  </a:ext>
                </a:extLst>
              </a:tr>
              <a:tr h="410978">
                <a:tc>
                  <a:txBody>
                    <a:bodyPr/>
                    <a:lstStyle/>
                    <a:p>
                      <a:pPr latinLnBrk="1"/>
                      <a:r>
                        <a:rPr lang="en-US" altLang="ko-KR"/>
                        <a:t>v2 (PQC)</a:t>
                      </a:r>
                      <a:endParaRPr lang="ko-KR" altLang="en-US">
                        <a:solidFill>
                          <a:schemeClr val="tx1"/>
                        </a:solidFill>
                      </a:endParaRPr>
                    </a:p>
                  </a:txBody>
                  <a:tcPr anchor="ctr">
                    <a:lnL w="12700" cmpd="sng">
                      <a:noFill/>
                    </a:lnL>
                    <a:noFill/>
                  </a:tcPr>
                </a:tc>
                <a:tc>
                  <a:txBody>
                    <a:bodyPr/>
                    <a:lstStyle/>
                    <a:p>
                      <a:pPr algn="r" latinLnBrk="1"/>
                      <a:r>
                        <a:rPr lang="en-US" altLang="ko-KR"/>
                        <a:t>2,038.3</a:t>
                      </a:r>
                      <a:endParaRPr lang="ko-KR" altLang="en-US">
                        <a:solidFill>
                          <a:schemeClr val="tx1"/>
                        </a:solidFill>
                      </a:endParaRPr>
                    </a:p>
                  </a:txBody>
                  <a:tcPr anchor="ctr">
                    <a:noFill/>
                  </a:tcPr>
                </a:tc>
                <a:tc>
                  <a:txBody>
                    <a:bodyPr/>
                    <a:lstStyle/>
                    <a:p>
                      <a:pPr algn="r" latinLnBrk="1"/>
                      <a:r>
                        <a:rPr lang="en-US" altLang="ko-KR"/>
                        <a:t>38.3</a:t>
                      </a:r>
                      <a:endParaRPr lang="ko-KR" altLang="en-US">
                        <a:solidFill>
                          <a:schemeClr val="tx1"/>
                        </a:solidFill>
                      </a:endParaRPr>
                    </a:p>
                  </a:txBody>
                  <a:tcPr anchor="ctr">
                    <a:lnR w="12700" cmpd="sng">
                      <a:noFill/>
                    </a:lnR>
                    <a:noFill/>
                  </a:tcPr>
                </a:tc>
                <a:extLst>
                  <a:ext uri="{0D108BD9-81ED-4DB2-BD59-A6C34878D82A}">
                    <a16:rowId xmlns:a16="http://schemas.microsoft.com/office/drawing/2014/main" val="1153023144"/>
                  </a:ext>
                </a:extLst>
              </a:tr>
            </a:tbl>
          </a:graphicData>
        </a:graphic>
      </p:graphicFrame>
      <p:sp>
        <p:nvSpPr>
          <p:cNvPr id="9" name="TextBox 8">
            <a:extLst>
              <a:ext uri="{FF2B5EF4-FFF2-40B4-BE49-F238E27FC236}">
                <a16:creationId xmlns:a16="http://schemas.microsoft.com/office/drawing/2014/main" id="{0300DFC1-637C-3C63-2055-F60F871052DD}"/>
              </a:ext>
            </a:extLst>
          </p:cNvPr>
          <p:cNvSpPr txBox="1"/>
          <p:nvPr/>
        </p:nvSpPr>
        <p:spPr>
          <a:xfrm>
            <a:off x="1411842" y="5337442"/>
            <a:ext cx="9368314" cy="369332"/>
          </a:xfrm>
          <a:prstGeom prst="rect">
            <a:avLst/>
          </a:prstGeom>
          <a:noFill/>
        </p:spPr>
        <p:txBody>
          <a:bodyPr wrap="square">
            <a:spAutoFit/>
          </a:bodyPr>
          <a:lstStyle/>
          <a:p>
            <a:pPr algn="ctr"/>
            <a:r>
              <a:rPr lang="en-US" altLang="ko-KR" b="1"/>
              <a:t>Table: </a:t>
            </a:r>
            <a:r>
              <a:rPr lang="en-US" altLang="ko-KR"/>
              <a:t>Migration times for a minor update within the server</a:t>
            </a:r>
            <a:endParaRPr lang="ko-KR" altLang="en-US"/>
          </a:p>
        </p:txBody>
      </p:sp>
    </p:spTree>
    <p:extLst>
      <p:ext uri="{BB962C8B-B14F-4D97-AF65-F5344CB8AC3E}">
        <p14:creationId xmlns:p14="http://schemas.microsoft.com/office/powerpoint/2010/main" val="29749531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6BBB0-9345-E770-6C66-B1C2534EF0EC}"/>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16B6B8CB-3291-C179-DDF0-47ACD4ECFC8F}"/>
              </a:ext>
            </a:extLst>
          </p:cNvPr>
          <p:cNvSpPr>
            <a:spLocks noGrp="1"/>
          </p:cNvSpPr>
          <p:nvPr>
            <p:ph idx="1"/>
          </p:nvPr>
        </p:nvSpPr>
        <p:spPr>
          <a:xfrm>
            <a:off x="581192" y="1448790"/>
            <a:ext cx="11029615" cy="4987636"/>
          </a:xfrm>
        </p:spPr>
        <p:txBody>
          <a:bodyPr rtlCol="0">
            <a:normAutofit/>
          </a:bodyPr>
          <a:lstStyle/>
          <a:p>
            <a:pPr marL="0" indent="0">
              <a:buNone/>
            </a:pPr>
            <a:r>
              <a:rPr lang="en-US" altLang="ko-KR" sz="2400" b="1"/>
              <a:t>This study proposes a </a:t>
            </a:r>
            <a:r>
              <a:rPr lang="en-US" altLang="ko-KR" sz="2400" b="1">
                <a:solidFill>
                  <a:srgbClr val="FF0000"/>
                </a:solidFill>
              </a:rPr>
              <a:t>bridge-server-based framework </a:t>
            </a:r>
            <a:r>
              <a:rPr lang="en-US" altLang="ko-KR" sz="2400" b="1"/>
              <a:t>enabling </a:t>
            </a:r>
            <a:r>
              <a:rPr lang="en-US" altLang="ko-KR" sz="2400" b="1">
                <a:solidFill>
                  <a:srgbClr val="FF0000"/>
                </a:solidFill>
              </a:rPr>
              <a:t>zero-downtime TLS 1.3 migration</a:t>
            </a:r>
            <a:r>
              <a:rPr lang="en-US" altLang="ko-KR" sz="2400" b="1"/>
              <a:t>.</a:t>
            </a:r>
          </a:p>
          <a:p>
            <a:pPr lvl="1"/>
            <a:r>
              <a:rPr lang="en-US" altLang="ko-KR" sz="2400"/>
              <a:t>It integrates </a:t>
            </a:r>
            <a:r>
              <a:rPr lang="en-US" altLang="ko-KR" sz="2400">
                <a:solidFill>
                  <a:srgbClr val="FF0000"/>
                </a:solidFill>
              </a:rPr>
              <a:t>policy-based routing, hot reload, and rollback mechanisms </a:t>
            </a:r>
            <a:r>
              <a:rPr lang="en-US" altLang="ko-KR" sz="2400"/>
              <a:t>to realize crypto agility.</a:t>
            </a:r>
          </a:p>
          <a:p>
            <a:pPr lvl="1"/>
            <a:r>
              <a:rPr lang="en-US" altLang="ko-KR" sz="2400">
                <a:solidFill>
                  <a:srgbClr val="FF0000"/>
                </a:solidFill>
              </a:rPr>
              <a:t>A practical approach </a:t>
            </a:r>
            <a:r>
              <a:rPr lang="en-US" altLang="ko-KR" sz="2400"/>
              <a:t>to TLS security through phased migration during operation is presented.</a:t>
            </a:r>
          </a:p>
          <a:p>
            <a:pPr lvl="1"/>
            <a:r>
              <a:rPr lang="en-US" altLang="ko-KR" sz="2400">
                <a:solidFill>
                  <a:srgbClr val="FF0000"/>
                </a:solidFill>
              </a:rPr>
              <a:t>Experimental validation </a:t>
            </a:r>
            <a:r>
              <a:rPr lang="en-US" altLang="ko-KR" sz="2400"/>
              <a:t>confirms that the bridge approach maintains service continuity while incurring only measurable overhead.</a:t>
            </a:r>
          </a:p>
        </p:txBody>
      </p:sp>
      <p:sp>
        <p:nvSpPr>
          <p:cNvPr id="6" name="TextBox 5">
            <a:extLst>
              <a:ext uri="{FF2B5EF4-FFF2-40B4-BE49-F238E27FC236}">
                <a16:creationId xmlns:a16="http://schemas.microsoft.com/office/drawing/2014/main" id="{3C958E4C-C0BD-727E-F0BF-42E45FA9CE61}"/>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Conclusion</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3DE4BFD6-FAC6-E35E-ED85-00095E0C6E93}"/>
              </a:ext>
            </a:extLst>
          </p:cNvPr>
          <p:cNvSpPr>
            <a:spLocks noGrp="1"/>
          </p:cNvSpPr>
          <p:nvPr>
            <p:ph type="sldNum" sz="quarter" idx="12"/>
          </p:nvPr>
        </p:nvSpPr>
        <p:spPr/>
        <p:txBody>
          <a:bodyPr/>
          <a:lstStyle/>
          <a:p>
            <a:pPr rtl="0"/>
            <a:fld id="{401CF334-2D5C-4859-84A6-CA7E6E43FAEB}" type="slidenum">
              <a:rPr lang="en-US" altLang="ko-KR" smtClean="0"/>
              <a:t>27</a:t>
            </a:fld>
            <a:endParaRPr lang="ko-KR" altLang="en-US" dirty="0"/>
          </a:p>
        </p:txBody>
      </p:sp>
    </p:spTree>
    <p:extLst>
      <p:ext uri="{BB962C8B-B14F-4D97-AF65-F5344CB8AC3E}">
        <p14:creationId xmlns:p14="http://schemas.microsoft.com/office/powerpoint/2010/main" val="42939726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5F62F-941A-1991-ADF9-DB8B78D0A0EF}"/>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61F18C10-F9A3-6729-2367-033F55B76883}"/>
              </a:ext>
            </a:extLst>
          </p:cNvPr>
          <p:cNvSpPr>
            <a:spLocks noGrp="1"/>
          </p:cNvSpPr>
          <p:nvPr>
            <p:ph idx="1"/>
          </p:nvPr>
        </p:nvSpPr>
        <p:spPr>
          <a:xfrm>
            <a:off x="581192" y="1496292"/>
            <a:ext cx="11029615" cy="4952010"/>
          </a:xfrm>
        </p:spPr>
        <p:txBody>
          <a:bodyPr rtlCol="0">
            <a:normAutofit/>
          </a:bodyPr>
          <a:lstStyle/>
          <a:p>
            <a:pPr marL="0" indent="0">
              <a:buNone/>
            </a:pPr>
            <a:r>
              <a:rPr lang="en-US" altLang="ko-KR" sz="2400" b="1"/>
              <a:t>The goal is to extend the scope of this study.</a:t>
            </a:r>
          </a:p>
          <a:p>
            <a:pPr lvl="1"/>
            <a:r>
              <a:rPr lang="en-US" altLang="ko-KR" sz="2400"/>
              <a:t>Testing will be conducted in </a:t>
            </a:r>
            <a:r>
              <a:rPr lang="en-US" altLang="ko-KR" sz="2400">
                <a:solidFill>
                  <a:srgbClr val="FF0000"/>
                </a:solidFill>
              </a:rPr>
              <a:t>a real-service scale environment</a:t>
            </a:r>
            <a:r>
              <a:rPr lang="en-US" altLang="ko-KR" sz="2400"/>
              <a:t>, although initial work was done in a virtual environment.</a:t>
            </a:r>
          </a:p>
          <a:p>
            <a:pPr lvl="1"/>
            <a:r>
              <a:rPr lang="en-US" altLang="ko-KR" sz="2400"/>
              <a:t>Expansion of support for </a:t>
            </a:r>
            <a:r>
              <a:rPr lang="en-US" altLang="ko-KR" sz="2400">
                <a:solidFill>
                  <a:srgbClr val="FF0000"/>
                </a:solidFill>
              </a:rPr>
              <a:t>various PQC algorithms</a:t>
            </a:r>
            <a:r>
              <a:rPr lang="en-US" altLang="ko-KR" sz="2400"/>
              <a:t>.</a:t>
            </a:r>
          </a:p>
          <a:p>
            <a:pPr lvl="1"/>
            <a:r>
              <a:rPr lang="en-US" altLang="ko-KR" sz="2400">
                <a:solidFill>
                  <a:srgbClr val="FF0000"/>
                </a:solidFill>
              </a:rPr>
              <a:t>Policy automation </a:t>
            </a:r>
            <a:r>
              <a:rPr lang="en-US" altLang="ko-KR" sz="2400"/>
              <a:t>based on rollback criteria.</a:t>
            </a:r>
          </a:p>
          <a:p>
            <a:pPr lvl="1"/>
            <a:r>
              <a:rPr lang="en-US" altLang="ko-KR" sz="2400"/>
              <a:t>Deployment evaluation </a:t>
            </a:r>
            <a:r>
              <a:rPr lang="en-US" altLang="ko-KR" sz="2400">
                <a:solidFill>
                  <a:srgbClr val="FF0000"/>
                </a:solidFill>
              </a:rPr>
              <a:t>in diverse network environments</a:t>
            </a:r>
            <a:r>
              <a:rPr lang="en-US" altLang="ko-KR" sz="2400"/>
              <a:t>.</a:t>
            </a:r>
          </a:p>
        </p:txBody>
      </p:sp>
      <p:sp>
        <p:nvSpPr>
          <p:cNvPr id="6" name="TextBox 5">
            <a:extLst>
              <a:ext uri="{FF2B5EF4-FFF2-40B4-BE49-F238E27FC236}">
                <a16:creationId xmlns:a16="http://schemas.microsoft.com/office/drawing/2014/main" id="{B71410CF-43D7-043A-31B5-59FF58A8B600}"/>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Future Work</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68D7E16A-7B24-266C-C8AC-10F77391A4EB}"/>
              </a:ext>
            </a:extLst>
          </p:cNvPr>
          <p:cNvSpPr>
            <a:spLocks noGrp="1"/>
          </p:cNvSpPr>
          <p:nvPr>
            <p:ph type="sldNum" sz="quarter" idx="12"/>
          </p:nvPr>
        </p:nvSpPr>
        <p:spPr/>
        <p:txBody>
          <a:bodyPr/>
          <a:lstStyle/>
          <a:p>
            <a:pPr rtl="0"/>
            <a:fld id="{401CF334-2D5C-4859-84A6-CA7E6E43FAEB}" type="slidenum">
              <a:rPr lang="en-US" altLang="ko-KR" smtClean="0"/>
              <a:t>28</a:t>
            </a:fld>
            <a:endParaRPr lang="ko-KR" altLang="en-US" dirty="0"/>
          </a:p>
        </p:txBody>
      </p:sp>
    </p:spTree>
    <p:extLst>
      <p:ext uri="{BB962C8B-B14F-4D97-AF65-F5344CB8AC3E}">
        <p14:creationId xmlns:p14="http://schemas.microsoft.com/office/powerpoint/2010/main" val="15125729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86ADF-6372-509D-918B-48B9EDF492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2E4BBA-9303-40BF-E7F5-39DD08834562}"/>
              </a:ext>
            </a:extLst>
          </p:cNvPr>
          <p:cNvSpPr txBox="1"/>
          <p:nvPr/>
        </p:nvSpPr>
        <p:spPr>
          <a:xfrm>
            <a:off x="581194" y="1295116"/>
            <a:ext cx="11029612" cy="1200329"/>
          </a:xfrm>
          <a:prstGeom prst="rect">
            <a:avLst/>
          </a:prstGeom>
          <a:noFill/>
        </p:spPr>
        <p:txBody>
          <a:bodyPr wrap="square" rtlCol="0">
            <a:spAutoFit/>
          </a:bodyPr>
          <a:lstStyle/>
          <a:p>
            <a:r>
              <a:rPr lang="en-US" altLang="ko-KR" sz="3600" b="1">
                <a:solidFill>
                  <a:srgbClr val="4A66AC"/>
                </a:solidFill>
              </a:rPr>
              <a:t>Thank you for </a:t>
            </a:r>
          </a:p>
          <a:p>
            <a:r>
              <a:rPr lang="en-US" altLang="ko-KR" sz="3600" b="1">
                <a:solidFill>
                  <a:srgbClr val="4A66AC"/>
                </a:solidFill>
              </a:rPr>
              <a:t>listening to our presentation</a:t>
            </a:r>
            <a:endParaRPr lang="ko-KR" altLang="en-US" sz="3600" b="1">
              <a:solidFill>
                <a:srgbClr val="4A66AC"/>
              </a:solidFill>
            </a:endParaRPr>
          </a:p>
        </p:txBody>
      </p:sp>
      <p:sp>
        <p:nvSpPr>
          <p:cNvPr id="3" name="TextBox 2">
            <a:extLst>
              <a:ext uri="{FF2B5EF4-FFF2-40B4-BE49-F238E27FC236}">
                <a16:creationId xmlns:a16="http://schemas.microsoft.com/office/drawing/2014/main" id="{79DB0AE7-C6FF-8F3E-4172-12445BF6ACA8}"/>
              </a:ext>
            </a:extLst>
          </p:cNvPr>
          <p:cNvSpPr txBox="1"/>
          <p:nvPr/>
        </p:nvSpPr>
        <p:spPr>
          <a:xfrm>
            <a:off x="581194" y="2495445"/>
            <a:ext cx="9455435" cy="369332"/>
          </a:xfrm>
          <a:prstGeom prst="rect">
            <a:avLst/>
          </a:prstGeom>
          <a:noFill/>
        </p:spPr>
        <p:txBody>
          <a:bodyPr wrap="square" rtlCol="0">
            <a:spAutoFit/>
          </a:bodyPr>
          <a:lstStyle/>
          <a:p>
            <a:r>
              <a:rPr lang="en-US" altLang="ko-KR">
                <a:solidFill>
                  <a:srgbClr val="629DD1"/>
                </a:solidFill>
              </a:rPr>
              <a:t>Minjoo Sim, Subeen Cho, Hyuntae Song, Eunseong Kim, and Hwajeong Seo </a:t>
            </a:r>
            <a:endParaRPr lang="ko-KR" altLang="en-US">
              <a:solidFill>
                <a:srgbClr val="629DD1"/>
              </a:solidFill>
            </a:endParaRPr>
          </a:p>
        </p:txBody>
      </p:sp>
    </p:spTree>
    <p:extLst>
      <p:ext uri="{BB962C8B-B14F-4D97-AF65-F5344CB8AC3E}">
        <p14:creationId xmlns:p14="http://schemas.microsoft.com/office/powerpoint/2010/main" val="22595567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6EDA9-5D5C-627D-E728-6FAD2576C3A0}"/>
            </a:ext>
          </a:extLst>
        </p:cNvPr>
        <p:cNvGrpSpPr/>
        <p:nvPr/>
      </p:nvGrpSpPr>
      <p:grpSpPr>
        <a:xfrm>
          <a:off x="0" y="0"/>
          <a:ext cx="0" cy="0"/>
          <a:chOff x="0" y="0"/>
          <a:chExt cx="0" cy="0"/>
        </a:xfrm>
      </p:grpSpPr>
      <p:sp>
        <p:nvSpPr>
          <p:cNvPr id="2" name="내용 개체 틀 1">
            <a:extLst>
              <a:ext uri="{FF2B5EF4-FFF2-40B4-BE49-F238E27FC236}">
                <a16:creationId xmlns:a16="http://schemas.microsoft.com/office/drawing/2014/main" id="{617A04A3-3D36-15A1-4B28-684E7ECCDE93}"/>
              </a:ext>
            </a:extLst>
          </p:cNvPr>
          <p:cNvSpPr>
            <a:spLocks noGrp="1"/>
          </p:cNvSpPr>
          <p:nvPr>
            <p:ph idx="1"/>
          </p:nvPr>
        </p:nvSpPr>
        <p:spPr>
          <a:xfrm>
            <a:off x="581192" y="1439142"/>
            <a:ext cx="11029615" cy="5285508"/>
          </a:xfrm>
        </p:spPr>
        <p:txBody>
          <a:bodyPr rtlCol="0">
            <a:normAutofit/>
          </a:bodyPr>
          <a:lstStyle/>
          <a:p>
            <a:pPr marL="0" indent="0">
              <a:buNone/>
            </a:pPr>
            <a:r>
              <a:rPr lang="en-US" altLang="ko-KR" sz="2400" b="1"/>
              <a:t>Quantitative analysis and experimental evaluation of overhead introduced by the bridge server.</a:t>
            </a:r>
          </a:p>
          <a:p>
            <a:pPr lvl="1"/>
            <a:r>
              <a:rPr lang="en-US" altLang="ko-KR" sz="2400"/>
              <a:t>in future work, we plan to measure the overhead under operational conditions and pursue relevant optimizations in real environments.</a:t>
            </a:r>
          </a:p>
          <a:p>
            <a:pPr marL="0" indent="0">
              <a:buNone/>
            </a:pPr>
            <a:r>
              <a:rPr lang="en-US" altLang="ko-KR" sz="2400" b="1"/>
              <a:t>Strategic comparison with traditional load balancer-based approaches</a:t>
            </a:r>
          </a:p>
          <a:p>
            <a:pPr lvl="1"/>
            <a:r>
              <a:rPr lang="en-US" altLang="ko-KR" sz="2400"/>
              <a:t>Our bridge server framework dynamically assigns encryption policies tailored to each session, allowing for more flexible migration.</a:t>
            </a:r>
          </a:p>
          <a:p>
            <a:pPr marL="0" indent="0">
              <a:buNone/>
            </a:pPr>
            <a:r>
              <a:rPr lang="en-US" altLang="ko-KR" sz="2400" b="1"/>
              <a:t>Security issues arising from the introduction of the bridge server</a:t>
            </a:r>
          </a:p>
          <a:p>
            <a:pPr lvl="1"/>
            <a:r>
              <a:rPr lang="en-US" altLang="ko-KR" sz="2400"/>
              <a:t>The bridge routes between the client and server, concentrating important keys and certificates, which may increase vulnerability to security issues such as session compromise and man-in-the-middle attacks.</a:t>
            </a:r>
          </a:p>
        </p:txBody>
      </p:sp>
      <p:sp>
        <p:nvSpPr>
          <p:cNvPr id="6" name="TextBox 5">
            <a:extLst>
              <a:ext uri="{FF2B5EF4-FFF2-40B4-BE49-F238E27FC236}">
                <a16:creationId xmlns:a16="http://schemas.microsoft.com/office/drawing/2014/main" id="{C7E8123B-FB85-923B-7F86-A99E119A5887}"/>
              </a:ext>
            </a:extLst>
          </p:cNvPr>
          <p:cNvSpPr txBox="1"/>
          <p:nvPr/>
        </p:nvSpPr>
        <p:spPr>
          <a:xfrm>
            <a:off x="581192" y="706813"/>
            <a:ext cx="11029615" cy="584775"/>
          </a:xfrm>
          <a:prstGeom prst="rect">
            <a:avLst/>
          </a:prstGeom>
          <a:noFill/>
        </p:spPr>
        <p:txBody>
          <a:bodyPr wrap="square" rtlCol="0">
            <a:spAutoFit/>
          </a:bodyPr>
          <a:lstStyle/>
          <a:p>
            <a:r>
              <a:rPr lang="en-US" altLang="ko-KR" sz="3200" b="1">
                <a:solidFill>
                  <a:schemeClr val="bg1"/>
                </a:solidFill>
                <a:latin typeface="+mj-lt"/>
              </a:rPr>
              <a:t>Q&amp;A and Future Work</a:t>
            </a:r>
            <a:endParaRPr lang="ko-KR" altLang="en-US" sz="3200" b="1">
              <a:solidFill>
                <a:schemeClr val="bg1"/>
              </a:solidFill>
              <a:latin typeface="+mj-lt"/>
            </a:endParaRPr>
          </a:p>
        </p:txBody>
      </p:sp>
      <p:sp>
        <p:nvSpPr>
          <p:cNvPr id="7" name="슬라이드 번호 개체 틀 6">
            <a:extLst>
              <a:ext uri="{FF2B5EF4-FFF2-40B4-BE49-F238E27FC236}">
                <a16:creationId xmlns:a16="http://schemas.microsoft.com/office/drawing/2014/main" id="{5D1886C1-F6D2-939B-20DF-509BC51A66CA}"/>
              </a:ext>
            </a:extLst>
          </p:cNvPr>
          <p:cNvSpPr>
            <a:spLocks noGrp="1"/>
          </p:cNvSpPr>
          <p:nvPr>
            <p:ph type="sldNum" sz="quarter" idx="12"/>
          </p:nvPr>
        </p:nvSpPr>
        <p:spPr/>
        <p:txBody>
          <a:bodyPr/>
          <a:lstStyle/>
          <a:p>
            <a:pPr rtl="0"/>
            <a:fld id="{401CF334-2D5C-4859-84A6-CA7E6E43FAEB}" type="slidenum">
              <a:rPr lang="en-US" altLang="ko-KR" smtClean="0"/>
              <a:t>30</a:t>
            </a:fld>
            <a:endParaRPr lang="ko-KR" altLang="en-US" dirty="0"/>
          </a:p>
        </p:txBody>
      </p:sp>
    </p:spTree>
    <p:extLst>
      <p:ext uri="{BB962C8B-B14F-4D97-AF65-F5344CB8AC3E}">
        <p14:creationId xmlns:p14="http://schemas.microsoft.com/office/powerpoint/2010/main" val="21940807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분할">
  <a:themeElements>
    <a:clrScheme name="따뜻한 파란색">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사용자 지정 28">
      <a:majorFont>
        <a:latin typeface="Arial"/>
        <a:ea typeface="맑은 고딕"/>
        <a:cs typeface=""/>
      </a:majorFont>
      <a:minorFont>
        <a:latin typeface="Arial"/>
        <a:ea typeface="맑은 고딕"/>
        <a:cs typeface=""/>
      </a:minorFont>
    </a:fontScheme>
    <a:fmtScheme name="분할">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TM03457464[[fn=분할]]</Template>
  <TotalTime>1862</TotalTime>
  <Words>6978</Words>
  <Application>Microsoft Office PowerPoint</Application>
  <PresentationFormat>와이드스크린</PresentationFormat>
  <Paragraphs>839</Paragraphs>
  <Slides>30</Slides>
  <Notes>30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30</vt:i4>
      </vt:variant>
    </vt:vector>
  </HeadingPairs>
  <TitlesOfParts>
    <vt:vector size="37" baseType="lpstr">
      <vt:lpstr>Arial</vt:lpstr>
      <vt:lpstr>Wingdings</vt:lpstr>
      <vt:lpstr>Wingdings 2</vt:lpstr>
      <vt:lpstr>Times New Roman</vt:lpstr>
      <vt:lpstr>맑은 고딕</vt:lpstr>
      <vt:lpstr>Cambria Math</vt:lpstr>
      <vt:lpstr>분할</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조수빈</dc:creator>
  <cp:lastModifiedBy>조수빈</cp:lastModifiedBy>
  <cp:revision>80</cp:revision>
  <dcterms:created xsi:type="dcterms:W3CDTF">2025-11-12T06:20:53Z</dcterms:created>
  <dcterms:modified xsi:type="dcterms:W3CDTF">2025-11-19T21:29:50Z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74069100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