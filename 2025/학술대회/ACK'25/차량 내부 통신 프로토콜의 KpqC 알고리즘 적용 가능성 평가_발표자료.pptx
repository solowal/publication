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  <p:sldMasterId id="2147483664" r:id="rId2"/>
  </p:sldMasterIdLst>
  <p:notesMasterIdLst>
    <p:notesMasterId r:id="rId16"/>
  </p:notesMasterIdLst>
  <p:handoutMasterIdLst>
    <p:handoutMasterId r:id="rId17"/>
  </p:handoutMasterIdLst>
  <p:sldIdLst>
    <p:sldId id="269" r:id="rId3"/>
    <p:sldId id="283" r:id="rId4"/>
    <p:sldId id="304" r:id="rId5"/>
    <p:sldId id="809" r:id="rId6"/>
    <p:sldId id="301" r:id="rId7"/>
    <p:sldId id="311" r:id="rId8"/>
    <p:sldId id="307" r:id="rId9"/>
    <p:sldId id="308" r:id="rId10"/>
    <p:sldId id="309" r:id="rId11"/>
    <p:sldId id="274" r:id="rId12"/>
    <p:sldId id="764" r:id="rId13"/>
    <p:sldId id="807" r:id="rId14"/>
    <p:sldId id="808" r:id="rId1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E75B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AF606853-7671-496A-8E4F-DF71F8EC918B}" styleName="어두운 스타일 1 - 강조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8FD4443E-F989-4FC4-A0C8-D5A2AF1F390B}" styleName="어두운 스타일 1 - 강조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46F890A9-2807-4EBB-B81D-B2AA78EC7F39}" styleName="어두운 스타일 2 - 강조 5/강조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6D9F66E-5EB9-4882-86FB-DCBF35E3C3E4}" styleName="보통 스타일 4 - 강조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2A488322-F2BA-4B5B-9748-0D474271808F}" styleName="보통 스타일 3 - 강조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0A1B5D5-9B99-4C35-A422-299274C87663}" styleName="보통 스타일 1 - 강조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FABFCF23-3B69-468F-B69F-88F6DE6A72F2}" styleName="보통 스타일 1 - 강조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E8B1032C-EA38-4F05-BA0D-38AFFFC7BED3}" styleName="밝은 스타일 3 - 강조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12C8C85-51F0-491E-9774-3900AFEF0FD7}" styleName="밝은 스타일 2 - 강조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68D230F3-CF80-4859-8CE7-A43EE81993B5}" styleName="밝은 스타일 1 - 강조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38B1855-1B75-4FBE-930C-398BA8C253C6}" styleName="테마 스타일 2 - 강조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08FB837D-C827-4EFA-A057-4D05807E0F7C}" styleName="테마 스타일 1 - 강조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102" autoAdjust="0"/>
    <p:restoredTop sz="88054"/>
  </p:normalViewPr>
  <p:slideViewPr>
    <p:cSldViewPr snapToGrid="0">
      <p:cViewPr varScale="1">
        <p:scale>
          <a:sx n="97" d="100"/>
          <a:sy n="97" d="100"/>
        </p:scale>
        <p:origin x="1386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3730" y="91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6.7406664814658249E-2"/>
          <c:y val="4.6136808185481777E-2"/>
          <c:w val="0.90333353463859667"/>
          <c:h val="0.7163597615428296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PK (ms)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Sheet1!$A$2:$A$12</c:f>
              <c:strCache>
                <c:ptCount val="11"/>
                <c:pt idx="0">
                  <c:v>ML-KEM512</c:v>
                </c:pt>
                <c:pt idx="1">
                  <c:v>HQC-128</c:v>
                </c:pt>
                <c:pt idx="2">
                  <c:v>SMAUG-T1</c:v>
                </c:pt>
                <c:pt idx="3">
                  <c:v>NTRU+KEM576</c:v>
                </c:pt>
                <c:pt idx="4">
                  <c:v>Falcon-512</c:v>
                </c:pt>
                <c:pt idx="5">
                  <c:v>SPHINCS+128s</c:v>
                </c:pt>
                <c:pt idx="6">
                  <c:v>SPHINCS+128f</c:v>
                </c:pt>
                <c:pt idx="7">
                  <c:v>AIMer128s</c:v>
                </c:pt>
                <c:pt idx="8">
                  <c:v>AIMer128f</c:v>
                </c:pt>
                <c:pt idx="9">
                  <c:v>ML-DSA44</c:v>
                </c:pt>
                <c:pt idx="10">
                  <c:v>HAETAE2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2.13</c:v>
                </c:pt>
                <c:pt idx="1">
                  <c:v>5.9</c:v>
                </c:pt>
                <c:pt idx="2">
                  <c:v>1.8</c:v>
                </c:pt>
                <c:pt idx="3">
                  <c:v>2.2999999999999998</c:v>
                </c:pt>
                <c:pt idx="4">
                  <c:v>2.46</c:v>
                </c:pt>
                <c:pt idx="5">
                  <c:v>0.16</c:v>
                </c:pt>
                <c:pt idx="6">
                  <c:v>0.16</c:v>
                </c:pt>
                <c:pt idx="7">
                  <c:v>0.16</c:v>
                </c:pt>
                <c:pt idx="8">
                  <c:v>0.16</c:v>
                </c:pt>
                <c:pt idx="9">
                  <c:v>3.44</c:v>
                </c:pt>
                <c:pt idx="10">
                  <c:v>2.62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F75-4646-9958-341B008082F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CT / Sig (ms)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ore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Sheet1!$A$2:$A$12</c:f>
              <c:strCache>
                <c:ptCount val="11"/>
                <c:pt idx="0">
                  <c:v>ML-KEM512</c:v>
                </c:pt>
                <c:pt idx="1">
                  <c:v>HQC-128</c:v>
                </c:pt>
                <c:pt idx="2">
                  <c:v>SMAUG-T1</c:v>
                </c:pt>
                <c:pt idx="3">
                  <c:v>NTRU+KEM576</c:v>
                </c:pt>
                <c:pt idx="4">
                  <c:v>Falcon-512</c:v>
                </c:pt>
                <c:pt idx="5">
                  <c:v>SPHINCS+128s</c:v>
                </c:pt>
                <c:pt idx="6">
                  <c:v>SPHINCS+128f</c:v>
                </c:pt>
                <c:pt idx="7">
                  <c:v>AIMer128s</c:v>
                </c:pt>
                <c:pt idx="8">
                  <c:v>AIMer128f</c:v>
                </c:pt>
                <c:pt idx="9">
                  <c:v>ML-DSA44</c:v>
                </c:pt>
                <c:pt idx="10">
                  <c:v>HAETAE2</c:v>
                </c:pt>
              </c:strCache>
            </c: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1.97</c:v>
                </c:pt>
                <c:pt idx="1">
                  <c:v>11.48</c:v>
                </c:pt>
                <c:pt idx="2">
                  <c:v>1.8</c:v>
                </c:pt>
                <c:pt idx="3">
                  <c:v>2.2999999999999998</c:v>
                </c:pt>
                <c:pt idx="4">
                  <c:v>1.8</c:v>
                </c:pt>
                <c:pt idx="5">
                  <c:v>20.170000000000002</c:v>
                </c:pt>
                <c:pt idx="6">
                  <c:v>43.79</c:v>
                </c:pt>
                <c:pt idx="7">
                  <c:v>10.66</c:v>
                </c:pt>
                <c:pt idx="8">
                  <c:v>15.09</c:v>
                </c:pt>
                <c:pt idx="9">
                  <c:v>6.23</c:v>
                </c:pt>
                <c:pt idx="10">
                  <c:v>3.94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F75-4646-9958-341B008082F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914192863"/>
        <c:axId val="1100316976"/>
      </c:barChart>
      <c:catAx>
        <c:axId val="191419286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ore-KR"/>
          </a:p>
        </c:txPr>
        <c:crossAx val="1100316976"/>
        <c:crosses val="autoZero"/>
        <c:auto val="1"/>
        <c:lblAlgn val="ctr"/>
        <c:lblOffset val="100"/>
        <c:noMultiLvlLbl val="0"/>
      </c:catAx>
      <c:valAx>
        <c:axId val="110031697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ore-KR"/>
          </a:p>
        </c:txPr>
        <c:crossAx val="191419286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9.0347383207195389E-2"/>
          <c:y val="0.11894458052398799"/>
          <c:w val="0.33089412615415464"/>
          <c:h val="6.695221732720542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ore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ore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546E7E-6CE1-4F62-BC39-1BE7148D0D0D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F56489-CFDC-4DF4-92D1-C366C0FB173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984057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8A1C54-2D0D-48EB-888A-9786B070F533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02C913-610E-4BF0-B55F-9CE65BBA65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29765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ore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02C913-610E-4BF0-B55F-9CE65BBA65D1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82450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ore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02C913-610E-4BF0-B55F-9CE65BBA65D1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81939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46E69D-A542-7D1E-D0C7-5FF3D7C278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8AACF9C-4FD1-FA52-C98F-4811DB63A3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20DE1D4-472D-4821-3147-2D4D420556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ore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A8018A-AFDD-75DF-F528-93B45D4F6E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02C913-610E-4BF0-B55F-9CE65BBA65D1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95756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ore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02C913-610E-4BF0-B55F-9CE65BBA65D1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45481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B4F1B1-D563-F7A3-BD21-353DA04BE9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D6074BB-BF95-7003-3202-BBD3F65861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1111AEB-BB8D-565A-C8EB-C50FEC4711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ore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2184468-1475-E385-F1FE-802EA96E59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02C913-610E-4BF0-B55F-9CE65BBA65D1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90474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ore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02C913-610E-4BF0-B55F-9CE65BBA65D1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5592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ore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02C913-610E-4BF0-B55F-9CE65BBA65D1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9748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ore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02C913-610E-4BF0-B55F-9CE65BBA65D1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582845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1C868C-0160-FC4C-AC83-D26960EE29D4}" type="slidenum">
              <a:rPr kumimoji="1" lang="ko-KR" altLang="en-US" smtClean="0"/>
              <a:t>11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6472257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11920" y="207747"/>
            <a:ext cx="11368160" cy="762163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20" name="모서리가 둥근 직사각형 19"/>
          <p:cNvSpPr/>
          <p:nvPr userDrawn="1"/>
        </p:nvSpPr>
        <p:spPr>
          <a:xfrm>
            <a:off x="411920" y="207747"/>
            <a:ext cx="11368160" cy="762163"/>
          </a:xfrm>
          <a:prstGeom prst="roundRect">
            <a:avLst/>
          </a:prstGeom>
          <a:noFill/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텍스트 개체 틀 8"/>
          <p:cNvSpPr>
            <a:spLocks noGrp="1"/>
          </p:cNvSpPr>
          <p:nvPr>
            <p:ph type="body" sz="quarter" idx="10"/>
          </p:nvPr>
        </p:nvSpPr>
        <p:spPr>
          <a:xfrm>
            <a:off x="411163" y="1152525"/>
            <a:ext cx="11369675" cy="505777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8198505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0" y="1223120"/>
            <a:ext cx="12192000" cy="2387600"/>
          </a:xfrm>
        </p:spPr>
        <p:txBody>
          <a:bodyPr anchor="ctr"/>
          <a:lstStyle>
            <a:lvl1pPr algn="ctr">
              <a:defRPr sz="6000" b="0">
                <a:latin typeface="+mj-ea"/>
                <a:ea typeface="+mj-ea"/>
                <a:cs typeface="함초롬돋움" panose="020B0604000101010101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-2" y="3794871"/>
            <a:ext cx="12192001" cy="1655762"/>
          </a:xfrm>
        </p:spPr>
        <p:txBody>
          <a:bodyPr anchor="ctr"/>
          <a:lstStyle>
            <a:lvl1pPr marL="0" indent="0" algn="ctr">
              <a:buNone/>
              <a:defRPr sz="2400">
                <a:latin typeface="+mn-ea"/>
                <a:ea typeface="+mn-ea"/>
                <a:cs typeface="함초롬돋움" panose="020B0604000101010101" pitchFamily="50" charset="-12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클릭하여 마스터 부제목 스타일 편집</a:t>
            </a:r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230" t="65598" b="9375"/>
          <a:stretch/>
        </p:blipFill>
        <p:spPr>
          <a:xfrm>
            <a:off x="0" y="6646331"/>
            <a:ext cx="1809148" cy="160867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460" b="12513"/>
          <a:stretch/>
        </p:blipFill>
        <p:spPr>
          <a:xfrm>
            <a:off x="10880202" y="6675969"/>
            <a:ext cx="1311798" cy="160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75165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종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 userDrawn="1"/>
        </p:nvSpPr>
        <p:spPr>
          <a:xfrm>
            <a:off x="0" y="2767280"/>
            <a:ext cx="12191999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8000" dirty="0">
                <a:latin typeface="+mj-lt"/>
              </a:rPr>
              <a:t>Q &amp; A</a:t>
            </a:r>
            <a:endParaRPr lang="ko-KR" altLang="en-US" sz="80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3249727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0" y="1223120"/>
            <a:ext cx="12192000" cy="2387600"/>
          </a:xfrm>
        </p:spPr>
        <p:txBody>
          <a:bodyPr anchor="ctr"/>
          <a:lstStyle>
            <a:lvl1pPr algn="ctr">
              <a:defRPr sz="6000" b="0">
                <a:latin typeface="+mj-ea"/>
                <a:ea typeface="+mj-ea"/>
                <a:cs typeface="함초롬돋움" panose="020B0604000101010101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-2" y="3794871"/>
            <a:ext cx="12192001" cy="1655762"/>
          </a:xfrm>
        </p:spPr>
        <p:txBody>
          <a:bodyPr anchor="ctr"/>
          <a:lstStyle>
            <a:lvl1pPr marL="0" indent="0" algn="ctr">
              <a:buNone/>
              <a:defRPr sz="2400">
                <a:latin typeface="+mn-ea"/>
                <a:ea typeface="+mn-ea"/>
                <a:cs typeface="함초롬돋움" panose="020B0604000101010101" pitchFamily="50" charset="-12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클릭하여 마스터 부제목 스타일 편집</a:t>
            </a:r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96" y="6195047"/>
            <a:ext cx="3026852" cy="642781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0202" y="6215220"/>
            <a:ext cx="1311798" cy="642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82633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직선 연결선 8"/>
          <p:cNvCxnSpPr>
            <a:cxnSpLocks/>
          </p:cNvCxnSpPr>
          <p:nvPr userDrawn="1"/>
        </p:nvCxnSpPr>
        <p:spPr>
          <a:xfrm>
            <a:off x="4863597" y="2208981"/>
            <a:ext cx="1994074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텍스트 개체 틀 4"/>
          <p:cNvSpPr>
            <a:spLocks noGrp="1"/>
          </p:cNvSpPr>
          <p:nvPr>
            <p:ph type="body" sz="quarter" idx="11" hasCustomPrompt="1"/>
          </p:nvPr>
        </p:nvSpPr>
        <p:spPr>
          <a:xfrm>
            <a:off x="1055592" y="1691017"/>
            <a:ext cx="10071852" cy="718952"/>
          </a:xfrm>
          <a:ln w="28575">
            <a:noFill/>
          </a:ln>
        </p:spPr>
        <p:txBody>
          <a:bodyPr anchor="ctr">
            <a:normAutofit/>
          </a:bodyPr>
          <a:lstStyle>
            <a:lvl1pPr marL="0" indent="0">
              <a:buNone/>
              <a:defRPr sz="2800" b="0" baseline="0">
                <a:ln>
                  <a:solidFill>
                    <a:schemeClr val="bg2">
                      <a:lumMod val="2500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ko-KR" altLang="en-US" dirty="0"/>
              <a:t>제목</a:t>
            </a:r>
          </a:p>
        </p:txBody>
      </p:sp>
      <p:sp>
        <p:nvSpPr>
          <p:cNvPr id="70" name="텍스트 개체 틀 4"/>
          <p:cNvSpPr>
            <a:spLocks noGrp="1"/>
          </p:cNvSpPr>
          <p:nvPr>
            <p:ph type="body" sz="quarter" idx="25" hasCustomPrompt="1"/>
          </p:nvPr>
        </p:nvSpPr>
        <p:spPr>
          <a:xfrm>
            <a:off x="1055592" y="2606858"/>
            <a:ext cx="10071850" cy="718952"/>
          </a:xfrm>
          <a:ln w="28575">
            <a:noFill/>
          </a:ln>
        </p:spPr>
        <p:txBody>
          <a:bodyPr anchor="ctr">
            <a:normAutofit/>
          </a:bodyPr>
          <a:lstStyle>
            <a:lvl1pPr marL="0" indent="0">
              <a:buNone/>
              <a:defRPr sz="2800" b="0" baseline="0">
                <a:ln>
                  <a:solidFill>
                    <a:schemeClr val="bg2">
                      <a:lumMod val="2500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ko-KR" altLang="en-US" dirty="0"/>
              <a:t>제목</a:t>
            </a:r>
          </a:p>
        </p:txBody>
      </p:sp>
      <p:sp>
        <p:nvSpPr>
          <p:cNvPr id="76" name="텍스트 개체 틀 4"/>
          <p:cNvSpPr>
            <a:spLocks noGrp="1"/>
          </p:cNvSpPr>
          <p:nvPr>
            <p:ph type="body" sz="quarter" idx="27" hasCustomPrompt="1"/>
          </p:nvPr>
        </p:nvSpPr>
        <p:spPr>
          <a:xfrm>
            <a:off x="1055592" y="3526039"/>
            <a:ext cx="10071850" cy="718952"/>
          </a:xfrm>
          <a:ln w="28575">
            <a:noFill/>
          </a:ln>
        </p:spPr>
        <p:txBody>
          <a:bodyPr anchor="ctr">
            <a:normAutofit/>
          </a:bodyPr>
          <a:lstStyle>
            <a:lvl1pPr marL="0" indent="0">
              <a:buNone/>
              <a:defRPr sz="2800" b="0" baseline="0">
                <a:ln>
                  <a:solidFill>
                    <a:schemeClr val="bg2">
                      <a:lumMod val="2500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ko-KR" altLang="en-US" dirty="0"/>
              <a:t>제목</a:t>
            </a:r>
          </a:p>
        </p:txBody>
      </p:sp>
      <p:sp>
        <p:nvSpPr>
          <p:cNvPr id="79" name="텍스트 개체 틀 4"/>
          <p:cNvSpPr>
            <a:spLocks noGrp="1"/>
          </p:cNvSpPr>
          <p:nvPr>
            <p:ph type="body" sz="quarter" idx="29" hasCustomPrompt="1"/>
          </p:nvPr>
        </p:nvSpPr>
        <p:spPr>
          <a:xfrm>
            <a:off x="1055593" y="4441880"/>
            <a:ext cx="10071849" cy="718952"/>
          </a:xfrm>
          <a:ln w="28575">
            <a:noFill/>
          </a:ln>
        </p:spPr>
        <p:txBody>
          <a:bodyPr anchor="ctr">
            <a:normAutofit/>
          </a:bodyPr>
          <a:lstStyle>
            <a:lvl1pPr marL="0" indent="0">
              <a:buNone/>
              <a:defRPr sz="2800" b="0" baseline="0">
                <a:ln>
                  <a:solidFill>
                    <a:schemeClr val="bg2">
                      <a:lumMod val="2500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ko-KR" altLang="en-US" dirty="0"/>
              <a:t>제목</a:t>
            </a:r>
          </a:p>
        </p:txBody>
      </p:sp>
      <p:sp>
        <p:nvSpPr>
          <p:cNvPr id="11" name="모서리가 둥근 직사각형 19">
            <a:extLst>
              <a:ext uri="{FF2B5EF4-FFF2-40B4-BE49-F238E27FC236}">
                <a16:creationId xmlns:a16="http://schemas.microsoft.com/office/drawing/2014/main" id="{9A1001AF-7C71-4701-94B0-3772F84D3418}"/>
              </a:ext>
            </a:extLst>
          </p:cNvPr>
          <p:cNvSpPr/>
          <p:nvPr userDrawn="1"/>
        </p:nvSpPr>
        <p:spPr>
          <a:xfrm>
            <a:off x="1064556" y="1691018"/>
            <a:ext cx="10062886" cy="715612"/>
          </a:xfrm>
          <a:prstGeom prst="roundRect">
            <a:avLst/>
          </a:prstGeom>
          <a:noFill/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모서리가 둥근 직사각형 19">
            <a:extLst>
              <a:ext uri="{FF2B5EF4-FFF2-40B4-BE49-F238E27FC236}">
                <a16:creationId xmlns:a16="http://schemas.microsoft.com/office/drawing/2014/main" id="{D9E18A4C-9D39-4312-9D41-EA0FA0703DAD}"/>
              </a:ext>
            </a:extLst>
          </p:cNvPr>
          <p:cNvSpPr/>
          <p:nvPr userDrawn="1"/>
        </p:nvSpPr>
        <p:spPr>
          <a:xfrm>
            <a:off x="1064556" y="2603620"/>
            <a:ext cx="10062886" cy="715612"/>
          </a:xfrm>
          <a:prstGeom prst="roundRect">
            <a:avLst/>
          </a:prstGeom>
          <a:noFill/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모서리가 둥근 직사각형 19">
            <a:extLst>
              <a:ext uri="{FF2B5EF4-FFF2-40B4-BE49-F238E27FC236}">
                <a16:creationId xmlns:a16="http://schemas.microsoft.com/office/drawing/2014/main" id="{DD43020D-DDFD-4ED7-A112-51545002358E}"/>
              </a:ext>
            </a:extLst>
          </p:cNvPr>
          <p:cNvSpPr/>
          <p:nvPr userDrawn="1"/>
        </p:nvSpPr>
        <p:spPr>
          <a:xfrm>
            <a:off x="1064556" y="3532617"/>
            <a:ext cx="10062886" cy="715612"/>
          </a:xfrm>
          <a:prstGeom prst="roundRect">
            <a:avLst/>
          </a:prstGeom>
          <a:noFill/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모서리가 둥근 직사각형 19">
            <a:extLst>
              <a:ext uri="{FF2B5EF4-FFF2-40B4-BE49-F238E27FC236}">
                <a16:creationId xmlns:a16="http://schemas.microsoft.com/office/drawing/2014/main" id="{7B5C337D-B310-4C62-8229-6DD25DC8C899}"/>
              </a:ext>
            </a:extLst>
          </p:cNvPr>
          <p:cNvSpPr/>
          <p:nvPr userDrawn="1"/>
        </p:nvSpPr>
        <p:spPr>
          <a:xfrm>
            <a:off x="1064556" y="4445220"/>
            <a:ext cx="10062886" cy="715612"/>
          </a:xfrm>
          <a:prstGeom prst="roundRect">
            <a:avLst/>
          </a:prstGeom>
          <a:noFill/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91475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종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 userDrawn="1"/>
        </p:nvSpPr>
        <p:spPr>
          <a:xfrm>
            <a:off x="0" y="2767280"/>
            <a:ext cx="12191999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8000" dirty="0">
                <a:latin typeface="+mj-lt"/>
              </a:rPr>
              <a:t>Q &amp; A</a:t>
            </a:r>
            <a:endParaRPr lang="ko-KR" altLang="en-US" sz="80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3294381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10" name="직사각형 9"/>
          <p:cNvSpPr/>
          <p:nvPr userDrawn="1"/>
        </p:nvSpPr>
        <p:spPr>
          <a:xfrm>
            <a:off x="8623390" y="6412231"/>
            <a:ext cx="356861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fld id="{86B743E8-9D27-4F69-87ED-4623B89CBF9F}" type="slidenum">
              <a:rPr lang="ko-KR" altLang="en-US" sz="2000" smtClean="0">
                <a:solidFill>
                  <a:schemeClr val="tx1"/>
                </a:solidFill>
                <a:latin typeface="+mn-lt"/>
              </a:rPr>
              <a:t>‹#›</a:t>
            </a:fld>
            <a:endParaRPr lang="ko-KR" altLang="en-US" sz="2000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1069932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70" r:id="rId2"/>
    <p:sldLayoutId id="2147483671" r:id="rId3"/>
  </p:sldLayoutIdLst>
  <p:hf sldNum="0"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8DAAC8-442A-4C15-9819-F07FF5E73150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966651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9" r:id="rId3"/>
  </p:sldLayoutIdLst>
  <p:hf sldNum="0"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ko-KR" altLang="en-US" sz="5400" dirty="0"/>
              <a:t>차량 내부 통신 프로토콜의</a:t>
            </a:r>
            <a:br>
              <a:rPr lang="en-US" altLang="ko-KR" sz="5400" dirty="0"/>
            </a:br>
            <a:r>
              <a:rPr lang="en-US" altLang="ko-KR" sz="5400" dirty="0" err="1"/>
              <a:t>KpqC</a:t>
            </a:r>
            <a:r>
              <a:rPr lang="en-US" altLang="ko-KR" sz="5400" dirty="0"/>
              <a:t> </a:t>
            </a:r>
            <a:r>
              <a:rPr lang="ko-KR" altLang="en-US" sz="5400" dirty="0"/>
              <a:t>알고리즘 적용 가능성 평가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/>
              <a:t>발표자</a:t>
            </a:r>
            <a:r>
              <a:rPr lang="en-US" altLang="ko-KR" dirty="0"/>
              <a:t>: </a:t>
            </a:r>
            <a:r>
              <a:rPr lang="ko-KR" altLang="en-US" dirty="0"/>
              <a:t>이민우</a:t>
            </a:r>
          </a:p>
        </p:txBody>
      </p:sp>
    </p:spTree>
    <p:extLst>
      <p:ext uri="{BB962C8B-B14F-4D97-AF65-F5344CB8AC3E}">
        <p14:creationId xmlns:p14="http://schemas.microsoft.com/office/powerpoint/2010/main" val="24063222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A0CB96-C851-E746-06F5-7B93968AD2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03E6F4-006B-7D0C-1933-49128DF91B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2800" dirty="0"/>
              <a:t>주요 자동차 내부 통신 프로토콜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37F9B6B-8268-8917-785D-E7F9A83A9F2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대부분의 내부 통신 </a:t>
            </a:r>
            <a:r>
              <a:rPr lang="en-US" altLang="ko-KR" dirty="0"/>
              <a:t>BUS</a:t>
            </a:r>
            <a:r>
              <a:rPr lang="ko-KR" altLang="en-US" dirty="0"/>
              <a:t>는 </a:t>
            </a:r>
            <a:r>
              <a:rPr lang="ko-KR" altLang="en-US" b="1" dirty="0">
                <a:solidFill>
                  <a:srgbClr val="FF0000"/>
                </a:solidFill>
              </a:rPr>
              <a:t>실시간성을 위해 프레임 크기가 작음</a:t>
            </a:r>
            <a:endParaRPr lang="en-US" altLang="ko-KR" b="1" dirty="0">
              <a:solidFill>
                <a:srgbClr val="FF0000"/>
              </a:solidFill>
            </a:endParaRPr>
          </a:p>
          <a:p>
            <a:pPr lvl="1"/>
            <a:r>
              <a:rPr lang="ko-KR" altLang="en-US" b="1" dirty="0">
                <a:solidFill>
                  <a:srgbClr val="2E75B6"/>
                </a:solidFill>
              </a:rPr>
              <a:t>대용량 </a:t>
            </a:r>
            <a:r>
              <a:rPr lang="en-US" altLang="ko-KR" b="1" dirty="0">
                <a:solidFill>
                  <a:srgbClr val="2E75B6"/>
                </a:solidFill>
              </a:rPr>
              <a:t>payload</a:t>
            </a:r>
            <a:r>
              <a:rPr lang="ko-KR" altLang="en-US" b="1" dirty="0">
                <a:solidFill>
                  <a:srgbClr val="2E75B6"/>
                </a:solidFill>
              </a:rPr>
              <a:t>가 필요한</a:t>
            </a:r>
            <a:r>
              <a:rPr lang="ko-KR" altLang="en-US" dirty="0"/>
              <a:t> </a:t>
            </a:r>
            <a:r>
              <a:rPr lang="en-US" altLang="ko-KR" b="1" dirty="0">
                <a:solidFill>
                  <a:srgbClr val="2E75B6"/>
                </a:solidFill>
              </a:rPr>
              <a:t>PQC</a:t>
            </a:r>
            <a:r>
              <a:rPr lang="ko-KR" altLang="en-US" b="1" dirty="0">
                <a:solidFill>
                  <a:srgbClr val="2E75B6"/>
                </a:solidFill>
              </a:rPr>
              <a:t>는</a:t>
            </a:r>
            <a:r>
              <a:rPr lang="en-US" altLang="ko-KR" b="1" dirty="0">
                <a:solidFill>
                  <a:srgbClr val="2E75B6"/>
                </a:solidFill>
              </a:rPr>
              <a:t> </a:t>
            </a:r>
            <a:r>
              <a:rPr lang="ko-KR" altLang="en-US" b="1" dirty="0">
                <a:solidFill>
                  <a:srgbClr val="2E75B6"/>
                </a:solidFill>
              </a:rPr>
              <a:t>적용 어려움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BE2B622C-7203-9A7C-2B2A-C53A9B617F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1739303"/>
              </p:ext>
            </p:extLst>
          </p:nvPr>
        </p:nvGraphicFramePr>
        <p:xfrm>
          <a:off x="648867" y="2155779"/>
          <a:ext cx="10919986" cy="42371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6966">
                  <a:extLst>
                    <a:ext uri="{9D8B030D-6E8A-4147-A177-3AD203B41FA5}">
                      <a16:colId xmlns:a16="http://schemas.microsoft.com/office/drawing/2014/main" val="2698918099"/>
                    </a:ext>
                  </a:extLst>
                </a:gridCol>
                <a:gridCol w="1530924">
                  <a:extLst>
                    <a:ext uri="{9D8B030D-6E8A-4147-A177-3AD203B41FA5}">
                      <a16:colId xmlns:a16="http://schemas.microsoft.com/office/drawing/2014/main" val="960212451"/>
                    </a:ext>
                  </a:extLst>
                </a:gridCol>
                <a:gridCol w="2566639">
                  <a:extLst>
                    <a:ext uri="{9D8B030D-6E8A-4147-A177-3AD203B41FA5}">
                      <a16:colId xmlns:a16="http://schemas.microsoft.com/office/drawing/2014/main" val="2791648371"/>
                    </a:ext>
                  </a:extLst>
                </a:gridCol>
                <a:gridCol w="1444126">
                  <a:extLst>
                    <a:ext uri="{9D8B030D-6E8A-4147-A177-3AD203B41FA5}">
                      <a16:colId xmlns:a16="http://schemas.microsoft.com/office/drawing/2014/main" val="3579507214"/>
                    </a:ext>
                  </a:extLst>
                </a:gridCol>
                <a:gridCol w="3111331">
                  <a:extLst>
                    <a:ext uri="{9D8B030D-6E8A-4147-A177-3AD203B41FA5}">
                      <a16:colId xmlns:a16="http://schemas.microsoft.com/office/drawing/2014/main" val="406065251"/>
                    </a:ext>
                  </a:extLst>
                </a:gridCol>
              </a:tblGrid>
              <a:tr h="686936">
                <a:tc>
                  <a:txBody>
                    <a:bodyPr/>
                    <a:lstStyle/>
                    <a:p>
                      <a:pPr algn="ctr"/>
                      <a:r>
                        <a:rPr lang="ko-KR" altLang="en-US" dirty="0"/>
                        <a:t>프로토콜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dirty="0"/>
                        <a:t>1-</a:t>
                      </a:r>
                      <a:r>
                        <a:rPr lang="ko-KR" altLang="en-US" dirty="0"/>
                        <a:t>프레임</a:t>
                      </a:r>
                      <a:endParaRPr lang="en-US" altLang="ko-KR" dirty="0"/>
                    </a:p>
                    <a:p>
                      <a:pPr algn="ctr"/>
                      <a:r>
                        <a:rPr lang="en" dirty="0"/>
                        <a:t>payload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dirty="0"/>
                        <a:t>지연 한계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dirty="0"/>
                        <a:t>현행 보안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dirty="0"/>
                        <a:t>비고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7053884"/>
                  </a:ext>
                </a:extLst>
              </a:tr>
              <a:tr h="710040">
                <a:tc>
                  <a:txBody>
                    <a:bodyPr/>
                    <a:lstStyle/>
                    <a:p>
                      <a:pPr algn="ctr"/>
                      <a:r>
                        <a:rPr lang="en" b="1" dirty="0">
                          <a:solidFill>
                            <a:srgbClr val="FF0000"/>
                          </a:solidFill>
                        </a:rPr>
                        <a:t>CAN 2.0B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b="1" dirty="0">
                          <a:solidFill>
                            <a:srgbClr val="FF0000"/>
                          </a:solidFill>
                        </a:rPr>
                        <a:t>8 Byte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b="1" dirty="0">
                          <a:solidFill>
                            <a:srgbClr val="FF0000"/>
                          </a:solidFill>
                        </a:rPr>
                        <a:t>≤ 5 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b="1" dirty="0">
                          <a:solidFill>
                            <a:srgbClr val="FF0000"/>
                          </a:solidFill>
                        </a:rPr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b="1" dirty="0" err="1">
                          <a:solidFill>
                            <a:srgbClr val="FF0000"/>
                          </a:solidFill>
                        </a:rPr>
                        <a:t>클래식</a:t>
                      </a:r>
                      <a:r>
                        <a:rPr lang="en" b="1" dirty="0">
                          <a:solidFill>
                            <a:srgbClr val="FF0000"/>
                          </a:solidFill>
                        </a:rPr>
                        <a:t> CAN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03951801"/>
                  </a:ext>
                </a:extLst>
              </a:tr>
              <a:tr h="710040">
                <a:tc>
                  <a:txBody>
                    <a:bodyPr/>
                    <a:lstStyle/>
                    <a:p>
                      <a:pPr algn="ctr"/>
                      <a:r>
                        <a:rPr lang="en" b="1" dirty="0">
                          <a:solidFill>
                            <a:srgbClr val="2E75B6"/>
                          </a:solidFill>
                        </a:rPr>
                        <a:t>CAN-FD</a:t>
                      </a:r>
                      <a:endParaRPr lang="en" dirty="0">
                        <a:solidFill>
                          <a:srgbClr val="2E75B6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b="1" dirty="0">
                          <a:solidFill>
                            <a:srgbClr val="2E75B6"/>
                          </a:solidFill>
                        </a:rPr>
                        <a:t>64 Byte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b="1" dirty="0">
                          <a:solidFill>
                            <a:srgbClr val="2E75B6"/>
                          </a:solidFill>
                        </a:rPr>
                        <a:t>≤ 5 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b="1" dirty="0">
                          <a:solidFill>
                            <a:srgbClr val="2E75B6"/>
                          </a:solidFill>
                        </a:rPr>
                        <a:t>X</a:t>
                      </a:r>
                      <a:endParaRPr lang="ko-KR" altLang="en-US" b="1" dirty="0">
                        <a:solidFill>
                          <a:srgbClr val="2E75B6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b="1" dirty="0" err="1">
                          <a:solidFill>
                            <a:srgbClr val="2E75B6"/>
                          </a:solidFill>
                        </a:rPr>
                        <a:t>차세대</a:t>
                      </a:r>
                      <a:r>
                        <a:rPr lang="en" b="1" dirty="0">
                          <a:solidFill>
                            <a:srgbClr val="2E75B6"/>
                          </a:solidFill>
                        </a:rPr>
                        <a:t> CAN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66332636"/>
                  </a:ext>
                </a:extLst>
              </a:tr>
              <a:tr h="710040">
                <a:tc>
                  <a:txBody>
                    <a:bodyPr/>
                    <a:lstStyle/>
                    <a:p>
                      <a:pPr algn="ctr"/>
                      <a:r>
                        <a:rPr lang="en" b="1" dirty="0"/>
                        <a:t>LIN 2.x</a:t>
                      </a:r>
                      <a:endParaRPr lang="e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dirty="0"/>
                        <a:t>8 Byte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dirty="0"/>
                        <a:t>≤ 10 </a:t>
                      </a:r>
                      <a:r>
                        <a:rPr lang="en" dirty="0" err="1"/>
                        <a:t>ms</a:t>
                      </a:r>
                      <a:endParaRPr lang="e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dirty="0"/>
                        <a:t>X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dirty="0" err="1"/>
                        <a:t>저속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저가 네트워크</a:t>
                      </a:r>
                      <a:endParaRPr lang="en-US" altLang="ko-KR" dirty="0"/>
                    </a:p>
                    <a:p>
                      <a:pPr algn="ctr"/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창문</a:t>
                      </a:r>
                      <a:r>
                        <a:rPr lang="en-US" altLang="ko-KR" dirty="0"/>
                        <a:t>·</a:t>
                      </a:r>
                      <a:r>
                        <a:rPr lang="ko-KR" altLang="en-US" dirty="0"/>
                        <a:t>시트</a:t>
                      </a:r>
                      <a:r>
                        <a:rPr lang="en-US" altLang="ko-KR" dirty="0"/>
                        <a:t>·</a:t>
                      </a:r>
                      <a:r>
                        <a:rPr lang="ko-KR" altLang="en-US" dirty="0"/>
                        <a:t>조명 등 적용</a:t>
                      </a:r>
                      <a:r>
                        <a:rPr lang="en-US" altLang="ko-KR" dirty="0"/>
                        <a:t>)</a:t>
                      </a:r>
                      <a:endParaRPr lang="e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80260503"/>
                  </a:ext>
                </a:extLst>
              </a:tr>
              <a:tr h="710040">
                <a:tc>
                  <a:txBody>
                    <a:bodyPr/>
                    <a:lstStyle/>
                    <a:p>
                      <a:pPr algn="ctr"/>
                      <a:r>
                        <a:rPr lang="en" b="1" dirty="0" err="1"/>
                        <a:t>FlexRay</a:t>
                      </a:r>
                      <a:endParaRPr lang="en" b="1" dirty="0"/>
                    </a:p>
                    <a:p>
                      <a:pPr algn="ctr"/>
                      <a:r>
                        <a:rPr lang="en-US" altLang="ko-KR" b="1" dirty="0"/>
                        <a:t>(</a:t>
                      </a:r>
                      <a:r>
                        <a:rPr lang="ko-KR" altLang="en-US" b="1" dirty="0"/>
                        <a:t>전자식 제동 통신</a:t>
                      </a:r>
                      <a:r>
                        <a:rPr lang="en-US" altLang="ko-KR" b="1" dirty="0"/>
                        <a:t>)</a:t>
                      </a:r>
                      <a:endParaRPr lang="e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dirty="0"/>
                        <a:t>254 Byte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dirty="0"/>
                        <a:t>≤ 2 </a:t>
                      </a:r>
                      <a:r>
                        <a:rPr lang="en" dirty="0" err="1"/>
                        <a:t>ms</a:t>
                      </a:r>
                      <a:endParaRPr lang="e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dirty="0"/>
                        <a:t>MAC</a:t>
                      </a:r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옵션</a:t>
                      </a:r>
                      <a:r>
                        <a:rPr lang="en-US" altLang="ko-KR" dirty="0"/>
                        <a:t>)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dirty="0" err="1"/>
                        <a:t>과거</a:t>
                      </a:r>
                      <a:r>
                        <a:rPr lang="en" dirty="0"/>
                        <a:t> </a:t>
                      </a:r>
                      <a:r>
                        <a:rPr lang="en" dirty="0" err="1"/>
                        <a:t>일부</a:t>
                      </a:r>
                      <a:r>
                        <a:rPr lang="en" dirty="0"/>
                        <a:t> </a:t>
                      </a:r>
                      <a:r>
                        <a:rPr lang="en" dirty="0" err="1"/>
                        <a:t>고급</a:t>
                      </a:r>
                      <a:r>
                        <a:rPr lang="en" dirty="0"/>
                        <a:t> </a:t>
                      </a:r>
                      <a:r>
                        <a:rPr lang="en" dirty="0" err="1"/>
                        <a:t>차량</a:t>
                      </a:r>
                      <a:r>
                        <a:rPr lang="en" dirty="0"/>
                        <a:t> </a:t>
                      </a:r>
                      <a:r>
                        <a:rPr lang="en" dirty="0" err="1"/>
                        <a:t>적용</a:t>
                      </a:r>
                      <a:endParaRPr lang="en" dirty="0"/>
                    </a:p>
                    <a:p>
                      <a:pPr algn="ctr"/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보급률 추정치 </a:t>
                      </a:r>
                      <a:r>
                        <a:rPr lang="ko-Kore-KR" altLang="en-US" dirty="0"/>
                        <a:t>≈ </a:t>
                      </a:r>
                      <a:r>
                        <a:rPr lang="en-US" altLang="ko-Kore-KR" dirty="0"/>
                        <a:t>10 %</a:t>
                      </a:r>
                      <a:r>
                        <a:rPr lang="en-US" altLang="ko-KR" dirty="0"/>
                        <a:t>)</a:t>
                      </a:r>
                      <a:endParaRPr lang="e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64417110"/>
                  </a:ext>
                </a:extLst>
              </a:tr>
              <a:tr h="710040">
                <a:tc>
                  <a:txBody>
                    <a:bodyPr/>
                    <a:lstStyle/>
                    <a:p>
                      <a:pPr algn="ctr"/>
                      <a:r>
                        <a:rPr lang="en" b="1" dirty="0"/>
                        <a:t>100BASE-T1</a:t>
                      </a:r>
                      <a:endParaRPr lang="en" dirty="0"/>
                    </a:p>
                    <a:p>
                      <a:pPr algn="ctr"/>
                      <a:r>
                        <a:rPr lang="en" b="1" dirty="0"/>
                        <a:t>(</a:t>
                      </a:r>
                      <a:r>
                        <a:rPr lang="en" b="1" dirty="0" err="1"/>
                        <a:t>이더넷</a:t>
                      </a:r>
                      <a:r>
                        <a:rPr lang="en-US" altLang="ko-KR" b="1" dirty="0"/>
                        <a:t>, ADAS</a:t>
                      </a:r>
                      <a:r>
                        <a:rPr lang="en" b="1" dirty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dirty="0" err="1"/>
                        <a:t>최대</a:t>
                      </a:r>
                      <a:r>
                        <a:rPr lang="en" dirty="0"/>
                        <a:t> </a:t>
                      </a:r>
                    </a:p>
                    <a:p>
                      <a:pPr algn="ctr"/>
                      <a:r>
                        <a:rPr lang="en" dirty="0"/>
                        <a:t>1</a:t>
                      </a:r>
                      <a:r>
                        <a:rPr lang="en-US" altLang="ko-KR" dirty="0"/>
                        <a:t>,</a:t>
                      </a:r>
                      <a:r>
                        <a:rPr lang="en" dirty="0"/>
                        <a:t>500 Byte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ko-Kore-KR" b="0" dirty="0"/>
                        <a:t>Class A ≤ 2 </a:t>
                      </a:r>
                      <a:r>
                        <a:rPr lang="en" altLang="ko-Kore-KR" b="0" dirty="0" err="1"/>
                        <a:t>ms</a:t>
                      </a:r>
                      <a:r>
                        <a:rPr lang="en" altLang="ko-Kore-KR" b="0" dirty="0"/>
                        <a:t> </a:t>
                      </a:r>
                    </a:p>
                    <a:p>
                      <a:pPr algn="ctr"/>
                      <a:r>
                        <a:rPr lang="en" altLang="ko-Kore-KR" b="0" dirty="0"/>
                        <a:t>Class CDT ≤ 100 µs</a:t>
                      </a:r>
                      <a:endParaRPr lang="ko-KR" altLang="en-US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b="0" dirty="0">
                          <a:solidFill>
                            <a:schemeClr val="tx1"/>
                          </a:solidFill>
                        </a:rPr>
                        <a:t>TLS/DTLS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ore-KR" altLang="en-US" dirty="0"/>
                        <a:t>신차 위주 적용</a:t>
                      </a:r>
                      <a:endParaRPr lang="en-US" altLang="ko-Kore-KR" dirty="0"/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보급률 추정치 ≈ </a:t>
                      </a:r>
                      <a:r>
                        <a:rPr lang="en-US" altLang="ko-KR" dirty="0"/>
                        <a:t>30%)</a:t>
                      </a:r>
                      <a:endParaRPr lang="en" b="1" dirty="0">
                        <a:solidFill>
                          <a:srgbClr val="2E75B6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767090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561497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B63509-0DB1-0D0B-68C0-31F9CBC923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FDC634-85B8-A9C3-F53D-47FE8BA0FA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800" dirty="0"/>
              <a:t>CAN-FD </a:t>
            </a:r>
            <a:r>
              <a:rPr lang="ko-KR" altLang="en-US" sz="2800" dirty="0"/>
              <a:t>프로토콜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C0F5259-8617-5348-F79F-759656C26D5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13" t="26288" r="1751" b="47604"/>
          <a:stretch/>
        </p:blipFill>
        <p:spPr bwMode="auto">
          <a:xfrm>
            <a:off x="5703993" y="103345"/>
            <a:ext cx="6446321" cy="978353"/>
          </a:xfrm>
          <a:prstGeom prst="rect">
            <a:avLst/>
          </a:prstGeom>
          <a:noFill/>
          <a:ln w="254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텍스트 개체 틀 2">
            <a:extLst>
              <a:ext uri="{FF2B5EF4-FFF2-40B4-BE49-F238E27FC236}">
                <a16:creationId xmlns:a16="http://schemas.microsoft.com/office/drawing/2014/main" id="{7AA52A67-8024-9ACC-36C1-92794EBCBBF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10405" y="1208994"/>
            <a:ext cx="11595548" cy="5057775"/>
          </a:xfrm>
        </p:spPr>
        <p:txBody>
          <a:bodyPr>
            <a:normAutofit/>
          </a:bodyPr>
          <a:lstStyle/>
          <a:p>
            <a:r>
              <a:rPr lang="en-US" altLang="ko-Kore-KR" dirty="0"/>
              <a:t>CAN: ECU</a:t>
            </a:r>
            <a:r>
              <a:rPr lang="en-US" altLang="ko-KR" dirty="0"/>
              <a:t>(</a:t>
            </a:r>
            <a:r>
              <a:rPr lang="ko-KR" altLang="en-US" dirty="0"/>
              <a:t>전자제어장치</a:t>
            </a:r>
            <a:r>
              <a:rPr lang="en-US" altLang="ko-KR" dirty="0"/>
              <a:t>) </a:t>
            </a:r>
            <a:r>
              <a:rPr lang="ko-Kore-KR" altLang="en-US" dirty="0"/>
              <a:t>간 실시간 통신 네트워크 표준</a:t>
            </a:r>
            <a:r>
              <a:rPr lang="en" altLang="ko-Kore-KR" dirty="0"/>
              <a:t>(ISO 11898) </a:t>
            </a:r>
            <a:endParaRPr lang="en-US" altLang="ko-Kore-KR" dirty="0"/>
          </a:p>
          <a:p>
            <a:r>
              <a:rPr lang="en-US" altLang="ko-Kore-KR" b="1" dirty="0">
                <a:solidFill>
                  <a:srgbClr val="FF0000"/>
                </a:solidFill>
              </a:rPr>
              <a:t>CAN-FD: </a:t>
            </a:r>
            <a:r>
              <a:rPr lang="en" altLang="ko-Kore-KR" b="1" dirty="0">
                <a:solidFill>
                  <a:srgbClr val="FF0000"/>
                </a:solidFill>
              </a:rPr>
              <a:t>Classic CAN(2.0B) </a:t>
            </a:r>
            <a:r>
              <a:rPr lang="ko-KR" altLang="en-US" b="1" dirty="0">
                <a:solidFill>
                  <a:srgbClr val="FF0000"/>
                </a:solidFill>
              </a:rPr>
              <a:t>확장 버전</a:t>
            </a:r>
            <a:endParaRPr lang="en-US" altLang="ko-KR" b="1" dirty="0">
              <a:solidFill>
                <a:srgbClr val="FF0000"/>
              </a:solidFill>
            </a:endParaRPr>
          </a:p>
          <a:p>
            <a:pPr lvl="1"/>
            <a:r>
              <a:rPr lang="ko-Kore-KR" altLang="en-US" b="1" dirty="0">
                <a:solidFill>
                  <a:srgbClr val="2E75B6"/>
                </a:solidFill>
                <a:latin typeface="+mn-ea"/>
              </a:rPr>
              <a:t>데이터 구간</a:t>
            </a:r>
            <a:r>
              <a:rPr lang="en-US" altLang="ko-KR" b="1" dirty="0">
                <a:solidFill>
                  <a:srgbClr val="2E75B6"/>
                </a:solidFill>
                <a:latin typeface="+mn-ea"/>
              </a:rPr>
              <a:t> </a:t>
            </a:r>
            <a:r>
              <a:rPr lang="ko-KR" altLang="en-US" b="1" dirty="0">
                <a:solidFill>
                  <a:srgbClr val="2E75B6"/>
                </a:solidFill>
                <a:latin typeface="+mn-ea"/>
              </a:rPr>
              <a:t>속도 향상</a:t>
            </a:r>
            <a:r>
              <a:rPr lang="en-US" altLang="ko-KR" b="1" dirty="0">
                <a:solidFill>
                  <a:srgbClr val="2E75B6"/>
                </a:solidFill>
                <a:latin typeface="+mn-ea"/>
              </a:rPr>
              <a:t>(BRS), </a:t>
            </a:r>
            <a:r>
              <a:rPr lang="ko-KR" altLang="en-US" b="1" dirty="0">
                <a:solidFill>
                  <a:srgbClr val="2E75B6"/>
                </a:solidFill>
                <a:latin typeface="+mn-ea"/>
              </a:rPr>
              <a:t>데이터 길이 확장</a:t>
            </a:r>
            <a:r>
              <a:rPr lang="en-US" altLang="ko-KR" b="1" dirty="0">
                <a:solidFill>
                  <a:srgbClr val="2E75B6"/>
                </a:solidFill>
                <a:latin typeface="+mn-ea"/>
              </a:rPr>
              <a:t>(EDL)</a:t>
            </a:r>
          </a:p>
          <a:p>
            <a:pPr marL="0" indent="0">
              <a:buNone/>
            </a:pPr>
            <a:endParaRPr lang="ko-KR" altLang="en-US" b="1" dirty="0">
              <a:solidFill>
                <a:srgbClr val="FF0000"/>
              </a:solidFill>
            </a:endParaRPr>
          </a:p>
        </p:txBody>
      </p: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DDCE91DF-EB6C-1A38-3FD4-F2200CC205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499107"/>
              </p:ext>
            </p:extLst>
          </p:nvPr>
        </p:nvGraphicFramePr>
        <p:xfrm>
          <a:off x="696412" y="2732972"/>
          <a:ext cx="11202662" cy="26498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1520">
                  <a:extLst>
                    <a:ext uri="{9D8B030D-6E8A-4147-A177-3AD203B41FA5}">
                      <a16:colId xmlns:a16="http://schemas.microsoft.com/office/drawing/2014/main" val="2242712256"/>
                    </a:ext>
                  </a:extLst>
                </a:gridCol>
                <a:gridCol w="2548472">
                  <a:extLst>
                    <a:ext uri="{9D8B030D-6E8A-4147-A177-3AD203B41FA5}">
                      <a16:colId xmlns:a16="http://schemas.microsoft.com/office/drawing/2014/main" val="3784392735"/>
                    </a:ext>
                  </a:extLst>
                </a:gridCol>
                <a:gridCol w="6222670">
                  <a:extLst>
                    <a:ext uri="{9D8B030D-6E8A-4147-A177-3AD203B41FA5}">
                      <a16:colId xmlns:a16="http://schemas.microsoft.com/office/drawing/2014/main" val="1344214556"/>
                    </a:ext>
                  </a:extLst>
                </a:gridCol>
              </a:tblGrid>
              <a:tr h="368968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600" b="1" dirty="0"/>
                        <a:t>항목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1600" b="1" dirty="0"/>
                        <a:t>CAN </a:t>
                      </a:r>
                      <a:r>
                        <a:rPr lang="en-US" altLang="ko-KR" sz="1600" b="1" dirty="0"/>
                        <a:t>2.0B</a:t>
                      </a:r>
                      <a:endParaRPr lang="en" sz="16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1600" b="1" dirty="0"/>
                        <a:t>CAN-FD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02133610"/>
                  </a:ext>
                </a:extLst>
              </a:tr>
              <a:tr h="368968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600" b="1" dirty="0"/>
                        <a:t>최대 데이터 길이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1600" b="0" dirty="0"/>
                        <a:t>8 Byte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1600" b="1" dirty="0">
                          <a:solidFill>
                            <a:srgbClr val="FF0000"/>
                          </a:solidFill>
                        </a:rPr>
                        <a:t>64 Byte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94914216"/>
                  </a:ext>
                </a:extLst>
              </a:tr>
              <a:tr h="905647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600" b="1" dirty="0" err="1"/>
                        <a:t>비트레이트</a:t>
                      </a:r>
                      <a:endParaRPr lang="ko-KR" altLang="en-US" sz="16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600" b="0" dirty="0"/>
                        <a:t>단일 속도</a:t>
                      </a:r>
                      <a:endParaRPr lang="en-US" altLang="ko-KR" sz="1600" b="0" dirty="0"/>
                    </a:p>
                    <a:p>
                      <a:pPr algn="ctr"/>
                      <a:r>
                        <a:rPr lang="en-US" altLang="ko-KR" sz="1600" b="0" dirty="0"/>
                        <a:t>(1 Mbps </a:t>
                      </a:r>
                      <a:r>
                        <a:rPr lang="ko-KR" altLang="en-US" sz="1600" b="0" dirty="0"/>
                        <a:t>이하</a:t>
                      </a:r>
                      <a:r>
                        <a:rPr lang="en-US" altLang="ko-KR" sz="1600" b="0" dirty="0"/>
                        <a:t>)</a:t>
                      </a:r>
                      <a:endParaRPr lang="ko-KR" altLang="en-US" sz="16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600" b="1" dirty="0">
                          <a:solidFill>
                            <a:srgbClr val="FF0000"/>
                          </a:solidFill>
                        </a:rPr>
                        <a:t>이중 속도</a:t>
                      </a:r>
                      <a:r>
                        <a:rPr lang="en-US" altLang="ko-KR" sz="1600" b="1" dirty="0">
                          <a:solidFill>
                            <a:srgbClr val="FF0000"/>
                          </a:solidFill>
                        </a:rPr>
                        <a:t> </a:t>
                      </a:r>
                    </a:p>
                    <a:p>
                      <a:pPr algn="ctr"/>
                      <a:r>
                        <a:rPr lang="en" altLang="ko-Kore-KR" sz="1600" b="1" dirty="0"/>
                        <a:t>Nominal </a:t>
                      </a:r>
                      <a:r>
                        <a:rPr lang="ko-Kore-KR" altLang="en-US" sz="1600" b="1" dirty="0"/>
                        <a:t>구간</a:t>
                      </a:r>
                      <a:r>
                        <a:rPr lang="en-US" altLang="ko-Kore-KR" sz="1600" b="1" dirty="0"/>
                        <a:t>(Arbitration + Control + ACK Field):</a:t>
                      </a:r>
                      <a:r>
                        <a:rPr lang="en" altLang="ko-Kore-KR" sz="1600" dirty="0"/>
                        <a:t> </a:t>
                      </a:r>
                      <a:r>
                        <a:rPr lang="en" sz="1600" b="1" dirty="0">
                          <a:solidFill>
                            <a:srgbClr val="FF0000"/>
                          </a:solidFill>
                        </a:rPr>
                        <a:t>1 Mbps </a:t>
                      </a:r>
                      <a:r>
                        <a:rPr lang="ko-KR" altLang="en-US" sz="1600" b="1" dirty="0">
                          <a:solidFill>
                            <a:srgbClr val="FF0000"/>
                          </a:solidFill>
                        </a:rPr>
                        <a:t>이하</a:t>
                      </a:r>
                      <a:endParaRPr lang="en-US" altLang="ko-KR" sz="1600" b="1" dirty="0">
                        <a:solidFill>
                          <a:srgbClr val="FF0000"/>
                        </a:solidFill>
                      </a:endParaRPr>
                    </a:p>
                    <a:p>
                      <a:pPr algn="ctr"/>
                      <a:r>
                        <a:rPr lang="en" sz="1600" b="1" dirty="0">
                          <a:solidFill>
                            <a:schemeClr val="tx1"/>
                          </a:solidFill>
                        </a:rPr>
                        <a:t>Data 구간(Data + CRC Field): </a:t>
                      </a:r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8Mbps </a:t>
                      </a:r>
                      <a:r>
                        <a:rPr lang="ko-KR" altLang="en-US" sz="1600" b="1" dirty="0">
                          <a:solidFill>
                            <a:srgbClr val="FF0000"/>
                          </a:solidFill>
                        </a:rPr>
                        <a:t>이하</a:t>
                      </a:r>
                      <a:r>
                        <a:rPr lang="en-US" altLang="ko-KR" sz="1600" b="1" dirty="0">
                          <a:solidFill>
                            <a:srgbClr val="FF0000"/>
                          </a:solidFill>
                        </a:rPr>
                        <a:t>(2,5,8)</a:t>
                      </a:r>
                      <a:endParaRPr lang="en" sz="1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43635726"/>
                  </a:ext>
                </a:extLst>
              </a:tr>
              <a:tr h="637307">
                <a:tc>
                  <a:txBody>
                    <a:bodyPr/>
                    <a:lstStyle/>
                    <a:p>
                      <a:pPr algn="ctr"/>
                      <a:r>
                        <a:rPr lang="en" sz="1600" b="1" dirty="0"/>
                        <a:t>CRC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1600" b="0" dirty="0"/>
                        <a:t>15/17</a:t>
                      </a:r>
                      <a:r>
                        <a:rPr lang="en-US" altLang="ko-KR" sz="1600" b="0" dirty="0"/>
                        <a:t>-</a:t>
                      </a:r>
                      <a:r>
                        <a:rPr lang="en" sz="1600" b="0" dirty="0"/>
                        <a:t>bit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600" b="1" dirty="0">
                          <a:solidFill>
                            <a:schemeClr val="tx1"/>
                          </a:solidFill>
                        </a:rPr>
                        <a:t>데이터 ≤ </a:t>
                      </a:r>
                      <a:r>
                        <a:rPr lang="en-US" altLang="ko-KR" sz="1600" b="1" dirty="0">
                          <a:solidFill>
                            <a:schemeClr val="tx1"/>
                          </a:solidFill>
                        </a:rPr>
                        <a:t>16 byte: </a:t>
                      </a:r>
                      <a:r>
                        <a:rPr lang="en" sz="1600" b="1" dirty="0">
                          <a:solidFill>
                            <a:srgbClr val="FF0000"/>
                          </a:solidFill>
                        </a:rPr>
                        <a:t>17-bit</a:t>
                      </a:r>
                      <a:br>
                        <a:rPr lang="en" sz="1600" b="1" dirty="0">
                          <a:solidFill>
                            <a:srgbClr val="FF0000"/>
                          </a:solidFill>
                        </a:rPr>
                      </a:br>
                      <a:r>
                        <a:rPr lang="en" sz="1600" b="1" dirty="0" err="1">
                          <a:solidFill>
                            <a:schemeClr val="tx1"/>
                          </a:solidFill>
                        </a:rPr>
                        <a:t>데이터</a:t>
                      </a:r>
                      <a:r>
                        <a:rPr lang="en" sz="16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ore-KR" sz="16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&gt;</a:t>
                      </a:r>
                      <a:r>
                        <a:rPr lang="ko-Kore-KR" alt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600" b="1" dirty="0">
                          <a:solidFill>
                            <a:schemeClr val="tx1"/>
                          </a:solidFill>
                        </a:rPr>
                        <a:t>16 byte:</a:t>
                      </a:r>
                      <a:r>
                        <a:rPr lang="en-US" altLang="ko-KR" sz="1600" b="1" dirty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en" sz="1600" b="1" dirty="0">
                          <a:solidFill>
                            <a:srgbClr val="FF0000"/>
                          </a:solidFill>
                        </a:rPr>
                        <a:t>21</a:t>
                      </a:r>
                      <a:r>
                        <a:rPr lang="en-US" altLang="ko-KR" sz="1600" b="1" dirty="0">
                          <a:solidFill>
                            <a:srgbClr val="FF0000"/>
                          </a:solidFill>
                        </a:rPr>
                        <a:t>-</a:t>
                      </a:r>
                      <a:r>
                        <a:rPr lang="en" sz="1600" b="1" dirty="0">
                          <a:solidFill>
                            <a:srgbClr val="FF0000"/>
                          </a:solidFill>
                        </a:rPr>
                        <a:t>bit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56895381"/>
                  </a:ext>
                </a:extLst>
              </a:tr>
              <a:tr h="368968">
                <a:tc>
                  <a:txBody>
                    <a:bodyPr/>
                    <a:lstStyle/>
                    <a:p>
                      <a:pPr algn="ctr"/>
                      <a:r>
                        <a:rPr lang="en" sz="1600" b="1" dirty="0"/>
                        <a:t>Bit-Stuff</a:t>
                      </a:r>
                      <a:r>
                        <a:rPr lang="en-US" altLang="ko-KR" sz="1600" b="1" dirty="0" err="1"/>
                        <a:t>ing</a:t>
                      </a:r>
                      <a:r>
                        <a:rPr lang="en" sz="1600" b="1" dirty="0"/>
                        <a:t> </a:t>
                      </a:r>
                      <a:r>
                        <a:rPr lang="ko-KR" altLang="en-US" sz="1600" b="1" dirty="0"/>
                        <a:t>방식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600" b="0" dirty="0"/>
                        <a:t>고정</a:t>
                      </a:r>
                      <a:r>
                        <a:rPr lang="en-US" altLang="ko-KR" sz="1600" b="0" dirty="0"/>
                        <a:t>(</a:t>
                      </a:r>
                      <a:r>
                        <a:rPr lang="ko-KR" altLang="en-US" sz="1600" b="0" dirty="0"/>
                        <a:t>비트</a:t>
                      </a:r>
                      <a:r>
                        <a:rPr lang="en-US" altLang="ko-KR" sz="1600" b="0" dirty="0"/>
                        <a:t>5:1)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600" b="1" dirty="0">
                          <a:solidFill>
                            <a:srgbClr val="FF0000"/>
                          </a:solidFill>
                        </a:rPr>
                        <a:t>가변</a:t>
                      </a:r>
                      <a:r>
                        <a:rPr lang="en-US" altLang="ko-KR" sz="1600" b="1" dirty="0">
                          <a:solidFill>
                            <a:srgbClr val="FF0000"/>
                          </a:solidFill>
                        </a:rPr>
                        <a:t>(</a:t>
                      </a:r>
                      <a:r>
                        <a:rPr lang="ko-KR" altLang="en-US" sz="1600" b="1" dirty="0">
                          <a:solidFill>
                            <a:srgbClr val="FF0000"/>
                          </a:solidFill>
                        </a:rPr>
                        <a:t>비트</a:t>
                      </a:r>
                      <a:r>
                        <a:rPr lang="en-US" altLang="ko-KR" sz="1600" b="1" dirty="0">
                          <a:solidFill>
                            <a:srgbClr val="FF0000"/>
                          </a:solidFill>
                        </a:rPr>
                        <a:t>0~5: 1)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82292644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46CA6BA5-76FE-EFA5-CC17-353C7A73DAF6}"/>
              </a:ext>
            </a:extLst>
          </p:cNvPr>
          <p:cNvSpPr txBox="1"/>
          <p:nvPr/>
        </p:nvSpPr>
        <p:spPr>
          <a:xfrm>
            <a:off x="1992694" y="5649006"/>
            <a:ext cx="8610099" cy="954107"/>
          </a:xfrm>
          <a:prstGeom prst="rect">
            <a:avLst/>
          </a:prstGeom>
          <a:noFill/>
          <a:ln w="38100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2000" b="1" dirty="0"/>
              <a:t>&lt;PQC </a:t>
            </a:r>
            <a:r>
              <a:rPr kumimoji="1" lang="ko-KR" altLang="en-US" sz="2000" b="1" dirty="0"/>
              <a:t>적용 시 고려 사항</a:t>
            </a:r>
            <a:r>
              <a:rPr kumimoji="1" lang="en-US" altLang="ko-KR" sz="2000" b="1" dirty="0"/>
              <a:t>&gt;</a:t>
            </a:r>
          </a:p>
          <a:p>
            <a:pPr algn="ctr"/>
            <a:r>
              <a:rPr lang="ko-KR" altLang="en-US" b="1" dirty="0"/>
              <a:t>데이터 크기 최대 </a:t>
            </a:r>
            <a:r>
              <a:rPr lang="en-US" altLang="ko-KR" b="1" dirty="0"/>
              <a:t>64 </a:t>
            </a:r>
            <a:r>
              <a:rPr lang="en" altLang="ko-Kore-KR" b="1" dirty="0"/>
              <a:t>Byte </a:t>
            </a:r>
            <a:r>
              <a:rPr lang="en-US" altLang="ko-KR" b="1" dirty="0"/>
              <a:t>-&gt;</a:t>
            </a:r>
            <a:r>
              <a:rPr lang="en" altLang="ko-Kore-KR" b="1" dirty="0"/>
              <a:t> </a:t>
            </a:r>
            <a:r>
              <a:rPr lang="en" altLang="ko-Kore-KR" b="1" dirty="0">
                <a:solidFill>
                  <a:srgbClr val="FF0000"/>
                </a:solidFill>
              </a:rPr>
              <a:t>PQC </a:t>
            </a:r>
            <a:r>
              <a:rPr lang="ko-Kore-KR" altLang="en-US" b="1" dirty="0">
                <a:solidFill>
                  <a:srgbClr val="FF0000"/>
                </a:solidFill>
              </a:rPr>
              <a:t>데이터 전송 시</a:t>
            </a:r>
            <a:r>
              <a:rPr lang="ko-KR" altLang="en-US" b="1" dirty="0">
                <a:solidFill>
                  <a:srgbClr val="FF0000"/>
                </a:solidFill>
              </a:rPr>
              <a:t> 분할 필요</a:t>
            </a:r>
            <a:r>
              <a:rPr lang="en-US" altLang="ko-KR" dirty="0"/>
              <a:t>(</a:t>
            </a:r>
            <a:r>
              <a:rPr lang="ko-KR" altLang="en-US" dirty="0"/>
              <a:t>프레임 다량 발생</a:t>
            </a:r>
            <a:r>
              <a:rPr lang="en-US" altLang="ko-KR" dirty="0"/>
              <a:t>)</a:t>
            </a:r>
          </a:p>
          <a:p>
            <a:pPr algn="ctr"/>
            <a:r>
              <a:rPr lang="ko-KR" altLang="en-US" b="1" dirty="0"/>
              <a:t>가변 </a:t>
            </a:r>
            <a:r>
              <a:rPr lang="en" altLang="ko-Kore-KR" b="1" dirty="0"/>
              <a:t>Stuff-bit</a:t>
            </a:r>
            <a:r>
              <a:rPr lang="en-US" altLang="ko-KR" b="1" dirty="0"/>
              <a:t>:</a:t>
            </a:r>
            <a:r>
              <a:rPr lang="ko-KR" altLang="en-US" b="1" dirty="0"/>
              <a:t> </a:t>
            </a:r>
            <a:r>
              <a:rPr lang="en" altLang="ko-Kore-KR" b="1" dirty="0">
                <a:solidFill>
                  <a:srgbClr val="FF0000"/>
                </a:solidFill>
              </a:rPr>
              <a:t>Worst-case </a:t>
            </a:r>
            <a:r>
              <a:rPr lang="ko-KR" altLang="en-US" b="1" dirty="0">
                <a:solidFill>
                  <a:srgbClr val="FF0000"/>
                </a:solidFill>
              </a:rPr>
              <a:t>전송 지연 계산 필요</a:t>
            </a:r>
          </a:p>
        </p:txBody>
      </p:sp>
    </p:spTree>
    <p:extLst>
      <p:ext uri="{BB962C8B-B14F-4D97-AF65-F5344CB8AC3E}">
        <p14:creationId xmlns:p14="http://schemas.microsoft.com/office/powerpoint/2010/main" val="35420052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C73867-BA1D-1476-FFDD-37FF769C1C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E85B3F-1E82-295B-820E-4BAE4CE17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800" dirty="0"/>
              <a:t>CAN-FD PQC </a:t>
            </a:r>
            <a:r>
              <a:rPr lang="ko-KR" altLang="en-US" sz="2800" dirty="0"/>
              <a:t>적용 시나리오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E45DE0A-5663-C192-4DFF-D561CA1BF8D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13" t="26288" r="1751" b="47604"/>
          <a:stretch/>
        </p:blipFill>
        <p:spPr bwMode="auto">
          <a:xfrm>
            <a:off x="5703993" y="103345"/>
            <a:ext cx="6446321" cy="978353"/>
          </a:xfrm>
          <a:prstGeom prst="rect">
            <a:avLst/>
          </a:prstGeom>
          <a:noFill/>
          <a:ln w="254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텍스트 개체 틀 2">
            <a:extLst>
              <a:ext uri="{FF2B5EF4-FFF2-40B4-BE49-F238E27FC236}">
                <a16:creationId xmlns:a16="http://schemas.microsoft.com/office/drawing/2014/main" id="{C5128166-E3CA-E88B-3E48-56E3B8CD1BB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10405" y="1208994"/>
            <a:ext cx="11595548" cy="5057775"/>
          </a:xfrm>
        </p:spPr>
        <p:txBody>
          <a:bodyPr>
            <a:normAutofit/>
          </a:bodyPr>
          <a:lstStyle/>
          <a:p>
            <a:r>
              <a:rPr lang="en-US" altLang="ko-Kore-KR" dirty="0"/>
              <a:t>CAN-FD: MTU(64Byte) </a:t>
            </a:r>
            <a:r>
              <a:rPr lang="ko-KR" altLang="en-US" dirty="0"/>
              <a:t>넘는 데이터 전송 시 </a:t>
            </a:r>
            <a:r>
              <a:rPr lang="en-US" altLang="ko-KR" dirty="0"/>
              <a:t>ISO-TP </a:t>
            </a:r>
            <a:r>
              <a:rPr lang="ko-KR" altLang="en-US" dirty="0"/>
              <a:t>분할 사용</a:t>
            </a:r>
            <a:endParaRPr lang="en-US" altLang="ko-KR" dirty="0"/>
          </a:p>
          <a:p>
            <a:pPr lvl="1"/>
            <a:r>
              <a:rPr lang="en-US" altLang="ko-KR" dirty="0"/>
              <a:t>ISO-TP(ISO 15765-2): </a:t>
            </a:r>
            <a:r>
              <a:rPr lang="ko-KR" altLang="en-US" dirty="0"/>
              <a:t>프레임 분할 전송 표준</a:t>
            </a:r>
            <a:endParaRPr lang="en-US" altLang="ko-KR" dirty="0"/>
          </a:p>
          <a:p>
            <a:pPr lvl="1"/>
            <a:r>
              <a:rPr lang="ko-KR" altLang="en-US" dirty="0" err="1"/>
              <a:t>비트레이트</a:t>
            </a:r>
            <a:r>
              <a:rPr lang="en-US" altLang="ko-KR" dirty="0"/>
              <a:t>: Nominal: 1Mbps, Data:</a:t>
            </a:r>
            <a:r>
              <a:rPr lang="ko-KR" altLang="en-US" dirty="0"/>
              <a:t> </a:t>
            </a:r>
            <a:r>
              <a:rPr lang="en-US" altLang="ko-KR" dirty="0"/>
              <a:t>5Mbps </a:t>
            </a:r>
            <a:r>
              <a:rPr lang="ko-KR" altLang="en-US" dirty="0"/>
              <a:t>가정</a:t>
            </a:r>
            <a:endParaRPr lang="en-US" altLang="ko-KR" dirty="0"/>
          </a:p>
          <a:p>
            <a:r>
              <a:rPr lang="ko-KR" altLang="en-US" b="1" dirty="0">
                <a:solidFill>
                  <a:srgbClr val="FF0000"/>
                </a:solidFill>
              </a:rPr>
              <a:t>런타임 주기 신호</a:t>
            </a:r>
            <a:r>
              <a:rPr lang="en-US" altLang="ko-KR" b="1" dirty="0">
                <a:solidFill>
                  <a:srgbClr val="FF0000"/>
                </a:solidFill>
              </a:rPr>
              <a:t>: </a:t>
            </a:r>
            <a:r>
              <a:rPr lang="ko-KR" altLang="en-US" b="1" dirty="0" err="1">
                <a:solidFill>
                  <a:srgbClr val="FF0000"/>
                </a:solidFill>
              </a:rPr>
              <a:t>대칭키</a:t>
            </a:r>
            <a:r>
              <a:rPr lang="ko-KR" altLang="en-US" b="1" dirty="0">
                <a:solidFill>
                  <a:srgbClr val="FF0000"/>
                </a:solidFill>
              </a:rPr>
              <a:t> 적용</a:t>
            </a:r>
            <a:endParaRPr lang="en-US" altLang="ko-KR" b="1" dirty="0">
              <a:solidFill>
                <a:srgbClr val="FF0000"/>
              </a:solidFill>
            </a:endParaRPr>
          </a:p>
          <a:p>
            <a:pPr lvl="1"/>
            <a:r>
              <a:rPr lang="en-US" altLang="ko-KR" dirty="0"/>
              <a:t>CAN BUS </a:t>
            </a:r>
            <a:r>
              <a:rPr lang="ko-KR" altLang="en-US" dirty="0"/>
              <a:t>내 </a:t>
            </a:r>
            <a:r>
              <a:rPr lang="ko-KR" altLang="en-US" b="1" dirty="0">
                <a:solidFill>
                  <a:srgbClr val="2E75B6"/>
                </a:solidFill>
              </a:rPr>
              <a:t>평상시 주행 데이터는 </a:t>
            </a:r>
            <a:r>
              <a:rPr lang="ko-KR" altLang="en-US" b="1" dirty="0" err="1">
                <a:solidFill>
                  <a:srgbClr val="2E75B6"/>
                </a:solidFill>
              </a:rPr>
              <a:t>대칭키</a:t>
            </a:r>
            <a:r>
              <a:rPr lang="ko-KR" altLang="en-US" b="1" dirty="0">
                <a:solidFill>
                  <a:srgbClr val="2E75B6"/>
                </a:solidFill>
              </a:rPr>
              <a:t> 기반으로 </a:t>
            </a:r>
            <a:r>
              <a:rPr lang="ko-KR" altLang="en-US" b="1" dirty="0" err="1">
                <a:solidFill>
                  <a:srgbClr val="2E75B6"/>
                </a:solidFill>
              </a:rPr>
              <a:t>보호</a:t>
            </a:r>
            <a:r>
              <a:rPr lang="ko-KR" altLang="en-US" dirty="0" err="1"/>
              <a:t>하는게</a:t>
            </a:r>
            <a:r>
              <a:rPr lang="ko-KR" altLang="en-US" dirty="0"/>
              <a:t> 일반적</a:t>
            </a:r>
            <a:endParaRPr lang="en-US" altLang="ko-KR" dirty="0"/>
          </a:p>
          <a:p>
            <a:pPr lvl="1"/>
            <a:r>
              <a:rPr lang="en-US" altLang="ko-KR" dirty="0"/>
              <a:t>AES</a:t>
            </a:r>
            <a:r>
              <a:rPr lang="ko-KR" altLang="en-US" dirty="0"/>
              <a:t>는 양자 위협</a:t>
            </a:r>
            <a:r>
              <a:rPr lang="en-US" altLang="ko-KR" dirty="0"/>
              <a:t>(Grover </a:t>
            </a:r>
            <a:r>
              <a:rPr lang="ko-KR" altLang="en-US" dirty="0"/>
              <a:t>공격 등</a:t>
            </a:r>
            <a:r>
              <a:rPr lang="en-US" altLang="ko-KR" dirty="0"/>
              <a:t>)</a:t>
            </a:r>
            <a:r>
              <a:rPr lang="ko-KR" altLang="en-US" dirty="0"/>
              <a:t>에 안전</a:t>
            </a:r>
            <a:endParaRPr lang="en-US" altLang="ko-KR" dirty="0"/>
          </a:p>
          <a:p>
            <a:r>
              <a:rPr lang="ko-KR" altLang="en-US" b="1" dirty="0">
                <a:solidFill>
                  <a:srgbClr val="FF0000"/>
                </a:solidFill>
              </a:rPr>
              <a:t>이벤트 신호</a:t>
            </a:r>
            <a:r>
              <a:rPr lang="en-US" altLang="ko-KR" b="1" dirty="0">
                <a:solidFill>
                  <a:srgbClr val="FF0000"/>
                </a:solidFill>
              </a:rPr>
              <a:t>: PQC </a:t>
            </a:r>
            <a:r>
              <a:rPr lang="ko-KR" altLang="en-US" b="1" dirty="0">
                <a:solidFill>
                  <a:srgbClr val="FF0000"/>
                </a:solidFill>
              </a:rPr>
              <a:t>적용</a:t>
            </a:r>
            <a:endParaRPr lang="en-US" altLang="ko-KR" b="1" dirty="0">
              <a:solidFill>
                <a:srgbClr val="FF0000"/>
              </a:solidFill>
            </a:endParaRPr>
          </a:p>
          <a:p>
            <a:pPr lvl="1"/>
            <a:r>
              <a:rPr lang="en-US" altLang="ko-KR" dirty="0"/>
              <a:t>KEM:</a:t>
            </a:r>
            <a:r>
              <a:rPr lang="ko-KR" altLang="en-US" dirty="0"/>
              <a:t> 시동 시 </a:t>
            </a:r>
            <a:r>
              <a:rPr lang="en-US" altLang="ko-KR" dirty="0"/>
              <a:t>PK 1</a:t>
            </a:r>
            <a:r>
              <a:rPr lang="ko-KR" altLang="en-US" dirty="0"/>
              <a:t>회 </a:t>
            </a:r>
            <a:r>
              <a:rPr lang="ko-KR" altLang="en-US" dirty="0" err="1"/>
              <a:t>브로드캐스트</a:t>
            </a:r>
            <a:r>
              <a:rPr lang="ko-KR" altLang="en-US" dirty="0"/>
              <a:t> </a:t>
            </a:r>
            <a:r>
              <a:rPr lang="en-US" altLang="ko-KR" dirty="0"/>
              <a:t>-&gt; ECU </a:t>
            </a:r>
            <a:r>
              <a:rPr lang="ko-KR" altLang="en-US" dirty="0"/>
              <a:t>별 키 합의 </a:t>
            </a:r>
            <a:r>
              <a:rPr lang="en-US" altLang="ko-KR" dirty="0"/>
              <a:t>1</a:t>
            </a:r>
            <a:r>
              <a:rPr lang="ko-KR" altLang="en-US" dirty="0"/>
              <a:t>회</a:t>
            </a:r>
            <a:endParaRPr lang="en-US" altLang="ko-KR" dirty="0"/>
          </a:p>
          <a:p>
            <a:pPr lvl="1"/>
            <a:r>
              <a:rPr lang="en-US" altLang="ko-KR" dirty="0"/>
              <a:t>DSA: </a:t>
            </a:r>
            <a:r>
              <a:rPr lang="ko-KR" altLang="en-US" dirty="0"/>
              <a:t>진단</a:t>
            </a:r>
            <a:r>
              <a:rPr lang="en-US" altLang="ko-KR" dirty="0"/>
              <a:t>/OTA </a:t>
            </a:r>
            <a:r>
              <a:rPr lang="ko-KR" altLang="en-US" dirty="0"/>
              <a:t>시 사용</a:t>
            </a:r>
            <a:r>
              <a:rPr lang="en-US" altLang="ko-KR" dirty="0"/>
              <a:t>(</a:t>
            </a:r>
            <a:r>
              <a:rPr lang="ko-KR" altLang="en-US" dirty="0"/>
              <a:t>메타데이터 무결성 검증</a:t>
            </a:r>
            <a:r>
              <a:rPr lang="en-US" altLang="ko-KR" dirty="0"/>
              <a:t>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D19EAEE-3D6A-7DD3-0C93-6D1AC51FE894}"/>
              </a:ext>
            </a:extLst>
          </p:cNvPr>
          <p:cNvSpPr txBox="1"/>
          <p:nvPr/>
        </p:nvSpPr>
        <p:spPr>
          <a:xfrm>
            <a:off x="845393" y="6003922"/>
            <a:ext cx="10501213" cy="646331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ko-KR" altLang="en-US" b="1" dirty="0"/>
              <a:t>운행 중 데이터 보호는 </a:t>
            </a:r>
            <a:r>
              <a:rPr lang="en-US" altLang="ko-KR" b="1" dirty="0"/>
              <a:t>SecOC</a:t>
            </a:r>
            <a:r>
              <a:rPr lang="ko-KR" altLang="en-US" b="1" dirty="0"/>
              <a:t>의 </a:t>
            </a:r>
            <a:r>
              <a:rPr lang="en-US" altLang="ko-KR" b="1" dirty="0"/>
              <a:t>MAC(AES) </a:t>
            </a:r>
            <a:r>
              <a:rPr lang="ko-KR" altLang="en-US" b="1" dirty="0"/>
              <a:t>중심이 표준</a:t>
            </a:r>
            <a:endParaRPr lang="en-US" altLang="ko-KR" b="1" dirty="0"/>
          </a:p>
          <a:p>
            <a:pPr algn="ctr"/>
            <a:r>
              <a:rPr lang="ko-KR" altLang="en-US" b="1" dirty="0"/>
              <a:t>키 합의</a:t>
            </a:r>
            <a:r>
              <a:rPr lang="en-US" altLang="ko-KR" b="1" dirty="0"/>
              <a:t>, </a:t>
            </a:r>
            <a:r>
              <a:rPr lang="ko-KR" altLang="en-US" b="1" dirty="0"/>
              <a:t>진단</a:t>
            </a:r>
            <a:r>
              <a:rPr lang="en-US" altLang="ko-KR" b="1" dirty="0"/>
              <a:t>, OTA </a:t>
            </a:r>
            <a:r>
              <a:rPr lang="ko-KR" altLang="en-US" b="1" dirty="0"/>
              <a:t>등 공개키 필요 경로는 </a:t>
            </a:r>
            <a:r>
              <a:rPr lang="en-US" altLang="ko-KR" b="1" dirty="0"/>
              <a:t>PQC(KEM, DSA)</a:t>
            </a:r>
            <a:r>
              <a:rPr lang="ko-KR" altLang="en-US" b="1" dirty="0"/>
              <a:t>로 전환이 필수</a:t>
            </a:r>
            <a:endParaRPr lang="en-US" altLang="ko-KR" b="1" dirty="0"/>
          </a:p>
        </p:txBody>
      </p:sp>
    </p:spTree>
    <p:extLst>
      <p:ext uri="{BB962C8B-B14F-4D97-AF65-F5344CB8AC3E}">
        <p14:creationId xmlns:p14="http://schemas.microsoft.com/office/powerpoint/2010/main" val="9197961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2E246A-545C-5827-8A47-102D249005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AAFFD3-14EA-7A9D-5C36-00B63208F6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800" dirty="0"/>
              <a:t>CAN-FD </a:t>
            </a:r>
            <a:r>
              <a:rPr lang="ko-KR" altLang="en-US" sz="2800" dirty="0"/>
              <a:t>실제 전송 시 패킷 크기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AC152699-7E91-6141-E561-EB0F93E87B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6472437"/>
              </p:ext>
            </p:extLst>
          </p:nvPr>
        </p:nvGraphicFramePr>
        <p:xfrm>
          <a:off x="242507" y="1723221"/>
          <a:ext cx="11706971" cy="31464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3823">
                  <a:extLst>
                    <a:ext uri="{9D8B030D-6E8A-4147-A177-3AD203B41FA5}">
                      <a16:colId xmlns:a16="http://schemas.microsoft.com/office/drawing/2014/main" val="2654282041"/>
                    </a:ext>
                  </a:extLst>
                </a:gridCol>
                <a:gridCol w="2888901">
                  <a:extLst>
                    <a:ext uri="{9D8B030D-6E8A-4147-A177-3AD203B41FA5}">
                      <a16:colId xmlns:a16="http://schemas.microsoft.com/office/drawing/2014/main" val="2369576202"/>
                    </a:ext>
                  </a:extLst>
                </a:gridCol>
                <a:gridCol w="6044247">
                  <a:extLst>
                    <a:ext uri="{9D8B030D-6E8A-4147-A177-3AD203B41FA5}">
                      <a16:colId xmlns:a16="http://schemas.microsoft.com/office/drawing/2014/main" val="2556176343"/>
                    </a:ext>
                  </a:extLst>
                </a:gridCol>
              </a:tblGrid>
              <a:tr h="355812">
                <a:tc>
                  <a:txBody>
                    <a:bodyPr/>
                    <a:lstStyle/>
                    <a:p>
                      <a:r>
                        <a:rPr lang="ko-KR" altLang="en-US" sz="1600" b="1" dirty="0"/>
                        <a:t>필드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sz="1600" b="1" dirty="0"/>
                        <a:t>길이 </a:t>
                      </a:r>
                      <a:r>
                        <a:rPr lang="en-US" altLang="ko-KR" sz="1600" b="1" dirty="0"/>
                        <a:t>(</a:t>
                      </a:r>
                      <a:r>
                        <a:rPr lang="en" sz="1600" b="1" dirty="0"/>
                        <a:t>bit)</a:t>
                      </a:r>
                      <a:endParaRPr lang="en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sz="1600" b="1"/>
                        <a:t>비고 </a:t>
                      </a:r>
                      <a:r>
                        <a:rPr lang="en-US" altLang="ko-KR" sz="1600" b="1"/>
                        <a:t>/ </a:t>
                      </a:r>
                      <a:r>
                        <a:rPr lang="ko-KR" altLang="en-US" sz="1600" b="1"/>
                        <a:t>설명</a:t>
                      </a:r>
                      <a:endParaRPr lang="ko-KR" altLang="en-US" sz="16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20536131"/>
                  </a:ext>
                </a:extLst>
              </a:tr>
              <a:tr h="552884">
                <a:tc>
                  <a:txBody>
                    <a:bodyPr/>
                    <a:lstStyle/>
                    <a:p>
                      <a:pPr algn="l"/>
                      <a:r>
                        <a:rPr lang="en" sz="1600" dirty="0"/>
                        <a:t>SOF+ Arbitration + Control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" sz="1600" b="1" dirty="0">
                          <a:solidFill>
                            <a:srgbClr val="FF0000"/>
                          </a:solidFill>
                        </a:rPr>
                        <a:t>2</a:t>
                      </a:r>
                      <a:r>
                        <a:rPr lang="en-US" altLang="ko-KR" sz="1600" b="1" dirty="0">
                          <a:solidFill>
                            <a:srgbClr val="FF0000"/>
                          </a:solidFill>
                        </a:rPr>
                        <a:t>3</a:t>
                      </a:r>
                      <a:r>
                        <a:rPr lang="en" altLang="ko-KR" sz="1600" b="1" dirty="0">
                          <a:solidFill>
                            <a:srgbClr val="FF0000"/>
                          </a:solidFill>
                        </a:rPr>
                        <a:t>-</a:t>
                      </a:r>
                      <a:r>
                        <a:rPr lang="en" sz="1600" b="1" dirty="0">
                          <a:solidFill>
                            <a:srgbClr val="FF0000"/>
                          </a:solidFill>
                        </a:rPr>
                        <a:t>bit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" sz="1600" dirty="0"/>
                        <a:t>ID(</a:t>
                      </a:r>
                      <a:r>
                        <a:rPr lang="ko-KR" altLang="en-US" sz="1600" dirty="0"/>
                        <a:t>우선순위 선정</a:t>
                      </a:r>
                      <a:r>
                        <a:rPr lang="en-US" altLang="ko-KR" sz="1600" dirty="0"/>
                        <a:t>), </a:t>
                      </a:r>
                      <a:r>
                        <a:rPr lang="en" sz="1600" dirty="0"/>
                        <a:t>FD </a:t>
                      </a:r>
                      <a:r>
                        <a:rPr lang="ko-KR" altLang="en-US" sz="1600" dirty="0"/>
                        <a:t>모드 플래그</a:t>
                      </a:r>
                      <a:r>
                        <a:rPr lang="en-US" altLang="ko-KR" sz="1600" dirty="0"/>
                        <a:t>, </a:t>
                      </a:r>
                      <a:r>
                        <a:rPr lang="en" sz="1600" dirty="0"/>
                        <a:t>DLC(</a:t>
                      </a:r>
                      <a:r>
                        <a:rPr lang="en" sz="1600" dirty="0" err="1"/>
                        <a:t>데이터</a:t>
                      </a:r>
                      <a:r>
                        <a:rPr lang="en" sz="1600" dirty="0"/>
                        <a:t> </a:t>
                      </a:r>
                      <a:r>
                        <a:rPr lang="ko-KR" altLang="en-US" sz="1600" dirty="0"/>
                        <a:t>길이 코드</a:t>
                      </a:r>
                      <a:r>
                        <a:rPr lang="en-US" altLang="ko-KR" sz="1600" dirty="0"/>
                        <a:t>) </a:t>
                      </a:r>
                      <a:r>
                        <a:rPr lang="ko-KR" altLang="en-US" sz="1600" dirty="0"/>
                        <a:t>등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09905562"/>
                  </a:ext>
                </a:extLst>
              </a:tr>
              <a:tr h="552884">
                <a:tc>
                  <a:txBody>
                    <a:bodyPr/>
                    <a:lstStyle/>
                    <a:p>
                      <a:pPr algn="l"/>
                      <a:r>
                        <a:rPr lang="en" sz="1600" dirty="0"/>
                        <a:t>CRC + Stuff-counter + FSB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600" b="1" dirty="0">
                          <a:solidFill>
                            <a:srgbClr val="FF0000"/>
                          </a:solidFill>
                        </a:rPr>
                        <a:t>32-bit </a:t>
                      </a:r>
                      <a:endParaRPr lang="en" sz="16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600" dirty="0"/>
                        <a:t>데이터 ≥ </a:t>
                      </a:r>
                      <a:r>
                        <a:rPr lang="en-US" altLang="ko-KR" sz="1600" dirty="0"/>
                        <a:t>20 </a:t>
                      </a:r>
                      <a:r>
                        <a:rPr lang="en" sz="1600" dirty="0"/>
                        <a:t>Byte</a:t>
                      </a:r>
                      <a:r>
                        <a:rPr lang="ko-KR" altLang="en-US" sz="1600" dirty="0"/>
                        <a:t>면 </a:t>
                      </a:r>
                      <a:r>
                        <a:rPr lang="en" sz="1600" dirty="0"/>
                        <a:t>CRC-21 </a:t>
                      </a:r>
                      <a:r>
                        <a:rPr lang="ko-KR" altLang="en-US" sz="1600" dirty="0"/>
                        <a:t>사용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95045653"/>
                  </a:ext>
                </a:extLst>
              </a:tr>
              <a:tr h="552884">
                <a:tc>
                  <a:txBody>
                    <a:bodyPr/>
                    <a:lstStyle/>
                    <a:p>
                      <a:pPr algn="l"/>
                      <a:r>
                        <a:rPr lang="en" sz="1600" dirty="0"/>
                        <a:t>ACK + EOF + I</a:t>
                      </a:r>
                      <a:r>
                        <a:rPr lang="en-US" altLang="ko-KR" sz="1600" dirty="0"/>
                        <a:t>TM</a:t>
                      </a:r>
                      <a:endParaRPr lang="en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" sz="1600" b="1" dirty="0">
                          <a:solidFill>
                            <a:srgbClr val="FF0000"/>
                          </a:solidFill>
                        </a:rPr>
                        <a:t>1</a:t>
                      </a:r>
                      <a:r>
                        <a:rPr lang="en-US" altLang="ko-KR" sz="1600" b="1" dirty="0">
                          <a:solidFill>
                            <a:srgbClr val="FF0000"/>
                          </a:solidFill>
                        </a:rPr>
                        <a:t>2</a:t>
                      </a:r>
                      <a:r>
                        <a:rPr lang="en" altLang="ko-KR" sz="1600" b="1" dirty="0">
                          <a:solidFill>
                            <a:srgbClr val="FF0000"/>
                          </a:solidFill>
                        </a:rPr>
                        <a:t>-</a:t>
                      </a:r>
                      <a:r>
                        <a:rPr lang="en" sz="1600" b="1" dirty="0">
                          <a:solidFill>
                            <a:srgbClr val="FF0000"/>
                          </a:solidFill>
                        </a:rPr>
                        <a:t>bit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" altLang="ko-Kore-KR" sz="1600" b="0" dirty="0"/>
                        <a:t>ACK</a:t>
                      </a:r>
                      <a:r>
                        <a:rPr lang="en-US" altLang="ko-KR" sz="1600" b="0" dirty="0"/>
                        <a:t>(</a:t>
                      </a:r>
                      <a:r>
                        <a:rPr lang="ko-KR" altLang="en-US" sz="1600" b="0" dirty="0"/>
                        <a:t>수신 확인</a:t>
                      </a:r>
                      <a:r>
                        <a:rPr lang="en-US" altLang="ko-KR" sz="1600" b="0" dirty="0"/>
                        <a:t>), </a:t>
                      </a:r>
                      <a:r>
                        <a:rPr lang="en" altLang="ko-Kore-KR" sz="1600" b="0" dirty="0"/>
                        <a:t>EOF(</a:t>
                      </a:r>
                      <a:r>
                        <a:rPr lang="ko-Kore-KR" altLang="en-US" sz="1600" b="0" dirty="0"/>
                        <a:t>프레임 종료 표시</a:t>
                      </a:r>
                      <a:r>
                        <a:rPr lang="en" altLang="ko-Kore-KR" sz="1600" b="0" dirty="0"/>
                        <a:t>)</a:t>
                      </a:r>
                      <a:r>
                        <a:rPr lang="en-US" altLang="ko-KR" sz="1600" b="0" dirty="0"/>
                        <a:t>,</a:t>
                      </a:r>
                      <a:r>
                        <a:rPr lang="en" altLang="ko-Kore-KR" sz="1600" b="0" dirty="0"/>
                        <a:t> I</a:t>
                      </a:r>
                      <a:r>
                        <a:rPr lang="en-US" altLang="ko-Kore-KR" sz="1600" b="0" dirty="0"/>
                        <a:t>TM(</a:t>
                      </a:r>
                      <a:r>
                        <a:rPr lang="ko-Kore-KR" altLang="en-US" sz="1600" b="0" dirty="0"/>
                        <a:t>프레임 간격 비트</a:t>
                      </a:r>
                      <a:r>
                        <a:rPr lang="en-US" altLang="ko-Kore-KR" sz="1600" b="0" dirty="0"/>
                        <a:t>)</a:t>
                      </a:r>
                      <a:endParaRPr lang="en-US" altLang="ko-KR" sz="16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66055272"/>
                  </a:ext>
                </a:extLst>
              </a:tr>
              <a:tr h="552884">
                <a:tc>
                  <a:txBody>
                    <a:bodyPr/>
                    <a:lstStyle/>
                    <a:p>
                      <a:pPr algn="l"/>
                      <a:r>
                        <a:rPr lang="en" sz="1600" dirty="0"/>
                        <a:t>Data Field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" sz="1600" b="1" dirty="0">
                          <a:solidFill>
                            <a:srgbClr val="FF0000"/>
                          </a:solidFill>
                        </a:rPr>
                        <a:t>0 ~ 512-bit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600" b="0" dirty="0"/>
                        <a:t>실제 사용자 데이터</a:t>
                      </a:r>
                      <a:r>
                        <a:rPr lang="en-US" altLang="ko-KR" sz="1600" b="0" dirty="0"/>
                        <a:t>, </a:t>
                      </a:r>
                      <a:r>
                        <a:rPr lang="en" altLang="ko-Kore-KR" sz="1600" dirty="0"/>
                        <a:t>DLC </a:t>
                      </a:r>
                      <a:r>
                        <a:rPr lang="ko-KR" altLang="en-US" sz="1600" dirty="0"/>
                        <a:t>값과 길이 매핑</a:t>
                      </a:r>
                      <a:r>
                        <a:rPr lang="en-US" altLang="ko-KR" sz="1600" dirty="0"/>
                        <a:t>(E.g. DLC 15 -&gt; 64 Byte)</a:t>
                      </a:r>
                      <a:endParaRPr lang="ko-KR" altLang="en-US" sz="16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37729743"/>
                  </a:ext>
                </a:extLst>
              </a:tr>
              <a:tr h="552884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600" dirty="0"/>
                        <a:t>가변 </a:t>
                      </a:r>
                      <a:r>
                        <a:rPr lang="en" sz="1600" dirty="0"/>
                        <a:t>Stuff-bit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" sz="1600" b="1" dirty="0">
                          <a:solidFill>
                            <a:srgbClr val="FF0000"/>
                          </a:solidFill>
                        </a:rPr>
                        <a:t>0 ~ </a:t>
                      </a:r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107</a:t>
                      </a:r>
                      <a:r>
                        <a:rPr lang="en" sz="1600" b="1" dirty="0">
                          <a:solidFill>
                            <a:srgbClr val="FF0000"/>
                          </a:solidFill>
                        </a:rPr>
                        <a:t>-bit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ko-Kore-KR" sz="1600" b="1" dirty="0"/>
                        <a:t>worst-case</a:t>
                      </a:r>
                      <a:r>
                        <a:rPr lang="en-US" altLang="ko-KR" sz="1600" b="1" dirty="0"/>
                        <a:t>: </a:t>
                      </a:r>
                      <a:r>
                        <a:rPr lang="ko-KR" altLang="en-US" sz="1600" b="1" dirty="0"/>
                        <a:t>원본 </a:t>
                      </a:r>
                      <a:r>
                        <a:rPr lang="en-US" altLang="ko-KR" sz="1600" b="1" dirty="0"/>
                        <a:t>5-</a:t>
                      </a:r>
                      <a:r>
                        <a:rPr lang="en" altLang="ko-Kore-KR" sz="1600" b="1" dirty="0"/>
                        <a:t>bit</a:t>
                      </a:r>
                      <a:r>
                        <a:rPr lang="ko-KR" altLang="en-US" sz="1600" b="1" dirty="0"/>
                        <a:t>당 </a:t>
                      </a:r>
                      <a:r>
                        <a:rPr lang="en-US" altLang="ko-KR" sz="1600" b="1" dirty="0"/>
                        <a:t>1-</a:t>
                      </a:r>
                      <a:r>
                        <a:rPr lang="en" altLang="ko-Kore-KR" sz="1600" b="1" dirty="0"/>
                        <a:t>bit(20%) -&gt;</a:t>
                      </a:r>
                      <a:r>
                        <a:rPr lang="en" altLang="ko-Kore-KR" sz="1600" dirty="0"/>
                        <a:t> </a:t>
                      </a:r>
                      <a:r>
                        <a:rPr lang="ko-Kore-KR" altLang="en-US" sz="1600" b="1" dirty="0">
                          <a:solidFill>
                            <a:srgbClr val="FF0000"/>
                          </a:solidFill>
                        </a:rPr>
                        <a:t>약 </a:t>
                      </a:r>
                      <a:r>
                        <a:rPr lang="en-US" altLang="ko-KR" sz="1600" b="1" dirty="0">
                          <a:solidFill>
                            <a:srgbClr val="FF0000"/>
                          </a:solidFill>
                        </a:rPr>
                        <a:t>107-bit</a:t>
                      </a:r>
                      <a:br>
                        <a:rPr lang="en-US" altLang="ko-KR" sz="1600" b="1" dirty="0">
                          <a:solidFill>
                            <a:srgbClr val="FF0000"/>
                          </a:solidFill>
                        </a:rPr>
                      </a:br>
                      <a:r>
                        <a:rPr lang="ko-KR" altLang="en-US" sz="1600" dirty="0"/>
                        <a:t>원본</a:t>
                      </a:r>
                      <a:r>
                        <a:rPr lang="en-US" altLang="ko-KR" sz="1600" dirty="0"/>
                        <a:t>: </a:t>
                      </a:r>
                      <a:r>
                        <a:rPr lang="en-US" altLang="ko-Kore-KR" sz="1600" dirty="0"/>
                        <a:t>CRC </a:t>
                      </a:r>
                      <a:r>
                        <a:rPr lang="ko-Kore-KR" altLang="en-US" sz="1600" dirty="0"/>
                        <a:t>직전</a:t>
                      </a:r>
                      <a:r>
                        <a:rPr lang="en-US" altLang="ko-Kore-KR" sz="1600" dirty="0"/>
                        <a:t>(</a:t>
                      </a:r>
                      <a:r>
                        <a:rPr lang="en" altLang="ko-Kore-KR" sz="1600" dirty="0"/>
                        <a:t>Arbitration + Control</a:t>
                      </a:r>
                      <a:r>
                        <a:rPr lang="en" altLang="ko-Kore-KR" sz="1600" b="0" dirty="0"/>
                        <a:t> ~ </a:t>
                      </a:r>
                      <a:r>
                        <a:rPr lang="en-US" altLang="ko-Kore-KR" sz="1600" b="0" dirty="0"/>
                        <a:t>Data </a:t>
                      </a:r>
                      <a:r>
                        <a:rPr lang="en-US" altLang="ko-KR" sz="1600" b="0" dirty="0"/>
                        <a:t>-&gt;</a:t>
                      </a:r>
                      <a:r>
                        <a:rPr lang="en-US" altLang="ko-Kore-KR" sz="1600" b="0" dirty="0"/>
                        <a:t> 535-bit)</a:t>
                      </a:r>
                      <a:endParaRPr lang="en" altLang="ko-Kore-KR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45144050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E065493A-7B44-EEC5-3B58-14582513057F}"/>
              </a:ext>
            </a:extLst>
          </p:cNvPr>
          <p:cNvSpPr txBox="1"/>
          <p:nvPr/>
        </p:nvSpPr>
        <p:spPr>
          <a:xfrm>
            <a:off x="1790944" y="5080593"/>
            <a:ext cx="8610099" cy="1569660"/>
          </a:xfrm>
          <a:prstGeom prst="rect">
            <a:avLst/>
          </a:prstGeom>
          <a:noFill/>
          <a:ln w="38100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2000" b="1" dirty="0"/>
              <a:t>&lt;</a:t>
            </a:r>
            <a:r>
              <a:rPr kumimoji="1" lang="ko-KR" altLang="en-US" sz="2000" b="1" dirty="0"/>
              <a:t>실제 전송 시 </a:t>
            </a:r>
            <a:r>
              <a:rPr kumimoji="1" lang="en-US" altLang="ko-KR" sz="2000" b="1" dirty="0"/>
              <a:t>1-</a:t>
            </a:r>
            <a:r>
              <a:rPr kumimoji="1" lang="ko-KR" altLang="en-US" sz="2000" b="1" dirty="0"/>
              <a:t>프레임 당 최대 패킷 크기</a:t>
            </a:r>
            <a:r>
              <a:rPr kumimoji="1" lang="en-US" altLang="ko-KR" sz="2000" b="1" dirty="0"/>
              <a:t>&gt;</a:t>
            </a:r>
          </a:p>
          <a:p>
            <a:pPr algn="ctr"/>
            <a:r>
              <a:rPr lang="ko-Kore-KR" altLang="en-US" sz="2000" dirty="0"/>
              <a:t>고정 오버헤드</a:t>
            </a:r>
            <a:r>
              <a:rPr lang="en-US" altLang="ko-Kore-KR" sz="2000" dirty="0"/>
              <a:t>(</a:t>
            </a:r>
            <a:r>
              <a:rPr lang="en-US" altLang="ko-KR" sz="2000" dirty="0"/>
              <a:t>67</a:t>
            </a:r>
            <a:r>
              <a:rPr lang="en-US" altLang="ko-Kore-KR" sz="2000" dirty="0"/>
              <a:t>-bits</a:t>
            </a:r>
            <a:r>
              <a:rPr lang="en-US" altLang="ko-KR" sz="2000" dirty="0"/>
              <a:t>[2])</a:t>
            </a:r>
            <a:r>
              <a:rPr lang="en-US" altLang="ko-Kore-KR" sz="2000" dirty="0"/>
              <a:t> + </a:t>
            </a:r>
            <a:r>
              <a:rPr lang="ko-Kore-KR" altLang="en-US" sz="2000" dirty="0"/>
              <a:t>데이터 필드</a:t>
            </a:r>
            <a:r>
              <a:rPr lang="en-US" altLang="ko-Kore-KR" sz="2000" dirty="0"/>
              <a:t>(512-bits</a:t>
            </a:r>
            <a:r>
              <a:rPr lang="en-US" altLang="ko-KR" sz="2000" dirty="0"/>
              <a:t>) + </a:t>
            </a:r>
            <a:r>
              <a:rPr lang="ko-KR" altLang="en-US" sz="2000" dirty="0"/>
              <a:t>최대 </a:t>
            </a:r>
            <a:r>
              <a:rPr lang="en" altLang="ko-Kore-KR" sz="2000" dirty="0"/>
              <a:t>Stuff-bit</a:t>
            </a:r>
            <a:r>
              <a:rPr lang="en-US" altLang="ko-KR" sz="2000" dirty="0"/>
              <a:t>(107-bit) </a:t>
            </a:r>
          </a:p>
          <a:p>
            <a:pPr algn="ctr"/>
            <a:r>
              <a:rPr lang="en-US" altLang="ko-KR" sz="2000" b="1" dirty="0">
                <a:solidFill>
                  <a:srgbClr val="FF0000"/>
                </a:solidFill>
              </a:rPr>
              <a:t>≈</a:t>
            </a:r>
            <a:r>
              <a:rPr lang="ko-KR" altLang="en-US" sz="2000" b="1" dirty="0">
                <a:solidFill>
                  <a:srgbClr val="FF0000"/>
                </a:solidFill>
              </a:rPr>
              <a:t> </a:t>
            </a:r>
            <a:r>
              <a:rPr lang="en-US" altLang="ko-KR" sz="2000" b="1" dirty="0">
                <a:solidFill>
                  <a:srgbClr val="FF0000"/>
                </a:solidFill>
              </a:rPr>
              <a:t>86 Byte</a:t>
            </a:r>
            <a:r>
              <a:rPr lang="en-US" altLang="ko-KR" sz="2000" b="1" dirty="0"/>
              <a:t>(</a:t>
            </a:r>
            <a:r>
              <a:rPr lang="en" altLang="ko-Kore-KR" sz="2000" b="1" dirty="0"/>
              <a:t>68</a:t>
            </a:r>
            <a:r>
              <a:rPr lang="en-US" altLang="ko-KR" sz="2000" b="1" dirty="0"/>
              <a:t>6</a:t>
            </a:r>
            <a:r>
              <a:rPr lang="en" altLang="ko-Kore-KR" sz="2000" b="1" dirty="0"/>
              <a:t>-bit)</a:t>
            </a:r>
          </a:p>
          <a:p>
            <a:pPr algn="ctr"/>
            <a:endParaRPr lang="en" altLang="ko-Kore-KR" sz="2000" b="1" dirty="0">
              <a:solidFill>
                <a:srgbClr val="FF0000"/>
              </a:solidFill>
            </a:endParaRPr>
          </a:p>
          <a:p>
            <a:pPr algn="ctr"/>
            <a:r>
              <a:rPr lang="en" altLang="ko-Kore-KR" sz="1600" dirty="0"/>
              <a:t>(</a:t>
            </a:r>
            <a:r>
              <a:rPr lang="ko-Kore-KR" altLang="en-US" sz="1600" dirty="0"/>
              <a:t>고정 오버헤드</a:t>
            </a:r>
            <a:r>
              <a:rPr lang="en-US" altLang="ko-Kore-KR" sz="1600" dirty="0"/>
              <a:t>: </a:t>
            </a:r>
            <a:r>
              <a:rPr lang="en" altLang="ko-Kore-KR" sz="1600" dirty="0"/>
              <a:t>SOF+ Arbitration + Control </a:t>
            </a:r>
            <a:r>
              <a:rPr lang="en-US" altLang="ko-KR" sz="1600" dirty="0"/>
              <a:t>+ </a:t>
            </a:r>
            <a:r>
              <a:rPr lang="en" altLang="ko-Kore-KR" sz="1600" dirty="0"/>
              <a:t>CRC + Stuff-counter </a:t>
            </a:r>
            <a:r>
              <a:rPr lang="en-US" altLang="ko-KR" sz="1600" dirty="0"/>
              <a:t>+ FSB</a:t>
            </a:r>
            <a:r>
              <a:rPr lang="en" altLang="ko-Kore-KR" sz="1600" dirty="0"/>
              <a:t> </a:t>
            </a:r>
            <a:r>
              <a:rPr lang="en-US" altLang="ko-KR" sz="1600" dirty="0"/>
              <a:t>+ </a:t>
            </a:r>
            <a:r>
              <a:rPr lang="en" altLang="ko-Kore-KR" sz="1600" dirty="0"/>
              <a:t>ACK + EOF + ITM</a:t>
            </a:r>
            <a:r>
              <a:rPr lang="en-US" altLang="ko-KR" sz="1600" dirty="0"/>
              <a:t>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E1FD02F-9179-1C0D-AB99-E80012185BCE}"/>
              </a:ext>
            </a:extLst>
          </p:cNvPr>
          <p:cNvSpPr txBox="1"/>
          <p:nvPr/>
        </p:nvSpPr>
        <p:spPr>
          <a:xfrm>
            <a:off x="1790944" y="1282741"/>
            <a:ext cx="91632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ore-KR" altLang="en-US" dirty="0"/>
              <a:t>전송하고자 하는 데이터가</a:t>
            </a:r>
            <a:r>
              <a:rPr lang="en-US" altLang="ko-Kore-KR" dirty="0"/>
              <a:t> </a:t>
            </a:r>
            <a:r>
              <a:rPr lang="en-US" altLang="ko-KR" dirty="0"/>
              <a:t>20~</a:t>
            </a:r>
            <a:r>
              <a:rPr lang="en-US" altLang="ko-Kore-KR" dirty="0"/>
              <a:t>64 Byte </a:t>
            </a:r>
            <a:r>
              <a:rPr lang="ko-Kore-KR" altLang="en-US" dirty="0"/>
              <a:t>일 경우의 시나리오</a:t>
            </a:r>
            <a:r>
              <a:rPr lang="en-US" altLang="ko-Kore-KR" dirty="0"/>
              <a:t>(1-</a:t>
            </a:r>
            <a:r>
              <a:rPr lang="ko-Kore-KR" altLang="en-US" dirty="0"/>
              <a:t>프레임 안에 끝날 경우</a:t>
            </a:r>
            <a:r>
              <a:rPr lang="en-US" altLang="ko-Kore-KR" dirty="0"/>
              <a:t>)</a:t>
            </a:r>
            <a:endParaRPr lang="ko-KR" altLang="en-US" dirty="0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7423DBF9-F22B-2A22-AD04-B8982ECC2CD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13" t="26288" r="1751" b="47604"/>
          <a:stretch/>
        </p:blipFill>
        <p:spPr bwMode="auto">
          <a:xfrm>
            <a:off x="5703993" y="103345"/>
            <a:ext cx="6446321" cy="978353"/>
          </a:xfrm>
          <a:prstGeom prst="rect">
            <a:avLst/>
          </a:prstGeom>
          <a:noFill/>
          <a:ln w="254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407707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6CD0AC-0333-288F-CFA9-C5059B265B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F82F7A-BE95-A60C-EDAC-9CD91687A3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800" dirty="0"/>
              <a:t>CAN-FD</a:t>
            </a:r>
            <a:r>
              <a:rPr lang="ko-KR" altLang="en-US" sz="2800" dirty="0"/>
              <a:t> 패킷 비교</a:t>
            </a:r>
            <a:r>
              <a:rPr lang="en-US" altLang="ko-KR" sz="2800" dirty="0"/>
              <a:t>(KEM/DSA)</a:t>
            </a:r>
            <a:endParaRPr lang="ko-KR" altLang="en-US" sz="2800" dirty="0"/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E7A50A32-0635-08AA-563C-0B90943962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6590116"/>
              </p:ext>
            </p:extLst>
          </p:nvPr>
        </p:nvGraphicFramePr>
        <p:xfrm>
          <a:off x="430176" y="1615339"/>
          <a:ext cx="11331649" cy="48530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8608">
                  <a:extLst>
                    <a:ext uri="{9D8B030D-6E8A-4147-A177-3AD203B41FA5}">
                      <a16:colId xmlns:a16="http://schemas.microsoft.com/office/drawing/2014/main" val="440441215"/>
                    </a:ext>
                  </a:extLst>
                </a:gridCol>
                <a:gridCol w="1113185">
                  <a:extLst>
                    <a:ext uri="{9D8B030D-6E8A-4147-A177-3AD203B41FA5}">
                      <a16:colId xmlns:a16="http://schemas.microsoft.com/office/drawing/2014/main" val="4069475071"/>
                    </a:ext>
                  </a:extLst>
                </a:gridCol>
                <a:gridCol w="1603169">
                  <a:extLst>
                    <a:ext uri="{9D8B030D-6E8A-4147-A177-3AD203B41FA5}">
                      <a16:colId xmlns:a16="http://schemas.microsoft.com/office/drawing/2014/main" val="298479344"/>
                    </a:ext>
                  </a:extLst>
                </a:gridCol>
                <a:gridCol w="1603169">
                  <a:extLst>
                    <a:ext uri="{9D8B030D-6E8A-4147-A177-3AD203B41FA5}">
                      <a16:colId xmlns:a16="http://schemas.microsoft.com/office/drawing/2014/main" val="3870111857"/>
                    </a:ext>
                  </a:extLst>
                </a:gridCol>
                <a:gridCol w="2927385">
                  <a:extLst>
                    <a:ext uri="{9D8B030D-6E8A-4147-A177-3AD203B41FA5}">
                      <a16:colId xmlns:a16="http://schemas.microsoft.com/office/drawing/2014/main" val="49705364"/>
                    </a:ext>
                  </a:extLst>
                </a:gridCol>
                <a:gridCol w="2196133">
                  <a:extLst>
                    <a:ext uri="{9D8B030D-6E8A-4147-A177-3AD203B41FA5}">
                      <a16:colId xmlns:a16="http://schemas.microsoft.com/office/drawing/2014/main" val="2547356483"/>
                    </a:ext>
                  </a:extLst>
                </a:gridCol>
              </a:tblGrid>
              <a:tr h="658625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600" dirty="0"/>
                        <a:t>알고리즘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600" dirty="0"/>
                        <a:t>보안 레벨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600" dirty="0"/>
                        <a:t>공개키 </a:t>
                      </a:r>
                      <a:r>
                        <a:rPr lang="en" sz="1600" dirty="0"/>
                        <a:t>PK </a:t>
                      </a:r>
                    </a:p>
                    <a:p>
                      <a:pPr algn="ctr"/>
                      <a:r>
                        <a:rPr lang="en" sz="1600" dirty="0"/>
                        <a:t>(B</a:t>
                      </a:r>
                      <a:r>
                        <a:rPr lang="en-US" altLang="ko-KR" sz="1600" dirty="0" err="1"/>
                        <a:t>yte</a:t>
                      </a:r>
                      <a:r>
                        <a:rPr lang="en" sz="1600" dirty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600" dirty="0"/>
                        <a:t>암호문</a:t>
                      </a:r>
                      <a:r>
                        <a:rPr lang="en-US" altLang="ko-KR" sz="1600" dirty="0"/>
                        <a:t>, </a:t>
                      </a:r>
                      <a:r>
                        <a:rPr lang="ko-KR" altLang="en-US" sz="1600" dirty="0"/>
                        <a:t>서명</a:t>
                      </a:r>
                      <a:r>
                        <a:rPr lang="en" sz="1600" dirty="0"/>
                        <a:t> </a:t>
                      </a:r>
                    </a:p>
                    <a:p>
                      <a:pPr algn="ctr"/>
                      <a:r>
                        <a:rPr lang="en" sz="1600" dirty="0"/>
                        <a:t>(Byte)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1600" b="1" dirty="0"/>
                        <a:t>CAN </a:t>
                      </a:r>
                      <a:r>
                        <a:rPr lang="ko-KR" altLang="en-US" sz="1600" b="1" dirty="0"/>
                        <a:t>패킷 최대 크기 </a:t>
                      </a:r>
                      <a:r>
                        <a:rPr lang="en-US" altLang="ko-KR" sz="1600" b="1" dirty="0"/>
                        <a:t>(</a:t>
                      </a:r>
                      <a:r>
                        <a:rPr lang="en" sz="1600" b="1" dirty="0"/>
                        <a:t>Byte)</a:t>
                      </a:r>
                    </a:p>
                    <a:p>
                      <a:pPr algn="ctr"/>
                      <a:r>
                        <a:rPr lang="en" sz="1600" dirty="0"/>
                        <a:t>(PK / CT, PK / Sig)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600" b="1" dirty="0"/>
                        <a:t>프레임 수</a:t>
                      </a:r>
                      <a:endParaRPr lang="en-US" altLang="ko-KR" sz="1600" b="1" dirty="0"/>
                    </a:p>
                    <a:p>
                      <a:pPr algn="ctr"/>
                      <a:r>
                        <a:rPr lang="en-US" altLang="ko-KR" sz="1600" dirty="0"/>
                        <a:t>(</a:t>
                      </a:r>
                      <a:r>
                        <a:rPr lang="en" sz="1600" dirty="0"/>
                        <a:t>PK / CT, PK / Sig)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3573542"/>
                  </a:ext>
                </a:extLst>
              </a:tr>
              <a:tr h="381309">
                <a:tc>
                  <a:txBody>
                    <a:bodyPr/>
                    <a:lstStyle/>
                    <a:p>
                      <a:pPr algn="ctr"/>
                      <a:r>
                        <a:rPr lang="en" sz="1600" b="1"/>
                        <a:t>ML-KEM512</a:t>
                      </a:r>
                      <a:endParaRPr lang="en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60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600" dirty="0"/>
                        <a:t>800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600" dirty="0"/>
                        <a:t>768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600" b="1" dirty="0">
                          <a:solidFill>
                            <a:srgbClr val="FF0000"/>
                          </a:solidFill>
                        </a:rPr>
                        <a:t>1</a:t>
                      </a:r>
                      <a:r>
                        <a:rPr lang="en-US" altLang="ko-KR" sz="1600" b="1" dirty="0">
                          <a:solidFill>
                            <a:srgbClr val="FF0000"/>
                          </a:solidFill>
                        </a:rPr>
                        <a:t>,</a:t>
                      </a:r>
                      <a:r>
                        <a:rPr lang="en-US" altLang="ko-Kore-KR" sz="1600" b="1" dirty="0">
                          <a:solidFill>
                            <a:srgbClr val="FF0000"/>
                          </a:solidFill>
                        </a:rPr>
                        <a:t>086 / 1</a:t>
                      </a:r>
                      <a:r>
                        <a:rPr lang="en-US" altLang="ko-KR" sz="1600" b="1" dirty="0">
                          <a:solidFill>
                            <a:srgbClr val="FF0000"/>
                          </a:solidFill>
                        </a:rPr>
                        <a:t>,</a:t>
                      </a:r>
                      <a:r>
                        <a:rPr lang="en-US" altLang="ko-Kore-KR" sz="1600" b="1" dirty="0">
                          <a:solidFill>
                            <a:srgbClr val="FF0000"/>
                          </a:solidFill>
                        </a:rPr>
                        <a:t>032</a:t>
                      </a:r>
                      <a:endParaRPr lang="ko-Kore-KR" altLang="en-US" sz="16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600" b="1">
                          <a:solidFill>
                            <a:srgbClr val="FF0000"/>
                          </a:solidFill>
                        </a:rPr>
                        <a:t>13 / 12</a:t>
                      </a:r>
                      <a:endParaRPr lang="ko-Kore-KR" altLang="en-US" sz="160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25366774"/>
                  </a:ext>
                </a:extLst>
              </a:tr>
              <a:tr h="381309">
                <a:tc>
                  <a:txBody>
                    <a:bodyPr/>
                    <a:lstStyle/>
                    <a:p>
                      <a:pPr algn="ctr"/>
                      <a:r>
                        <a:rPr lang="en" sz="1600" b="1" dirty="0"/>
                        <a:t>HQC-128</a:t>
                      </a:r>
                      <a:endParaRPr lang="en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60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600" dirty="0"/>
                        <a:t>2</a:t>
                      </a:r>
                      <a:r>
                        <a:rPr lang="en-US" altLang="ko-KR" sz="1600" dirty="0"/>
                        <a:t>,</a:t>
                      </a:r>
                      <a:r>
                        <a:rPr lang="en-US" altLang="ko-Kore-KR" sz="1600" dirty="0"/>
                        <a:t>249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600" dirty="0"/>
                        <a:t>4</a:t>
                      </a:r>
                      <a:r>
                        <a:rPr lang="en-US" altLang="ko-KR" sz="1600" dirty="0"/>
                        <a:t>,</a:t>
                      </a:r>
                      <a:r>
                        <a:rPr lang="en-US" altLang="ko-Kore-KR" sz="1600" dirty="0"/>
                        <a:t>433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600" b="1" dirty="0">
                          <a:solidFill>
                            <a:srgbClr val="FF0000"/>
                          </a:solidFill>
                        </a:rPr>
                        <a:t>3</a:t>
                      </a:r>
                      <a:r>
                        <a:rPr lang="en-US" altLang="ko-KR" sz="1600" b="1" dirty="0">
                          <a:solidFill>
                            <a:srgbClr val="FF0000"/>
                          </a:solidFill>
                        </a:rPr>
                        <a:t>,</a:t>
                      </a:r>
                      <a:r>
                        <a:rPr lang="en-US" altLang="ko-Kore-KR" sz="1600" b="1" dirty="0">
                          <a:solidFill>
                            <a:srgbClr val="FF0000"/>
                          </a:solidFill>
                        </a:rPr>
                        <a:t>041 / 5</a:t>
                      </a:r>
                      <a:r>
                        <a:rPr lang="en-US" altLang="ko-KR" sz="1600" b="1" dirty="0">
                          <a:solidFill>
                            <a:srgbClr val="FF0000"/>
                          </a:solidFill>
                        </a:rPr>
                        <a:t>,</a:t>
                      </a:r>
                      <a:r>
                        <a:rPr lang="en-US" altLang="ko-Kore-KR" sz="1600" b="1" dirty="0">
                          <a:solidFill>
                            <a:srgbClr val="FF0000"/>
                          </a:solidFill>
                        </a:rPr>
                        <a:t>973</a:t>
                      </a:r>
                      <a:endParaRPr lang="ko-Kore-KR" altLang="en-US" sz="16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600" b="1">
                          <a:solidFill>
                            <a:srgbClr val="FF0000"/>
                          </a:solidFill>
                        </a:rPr>
                        <a:t>36 / 70</a:t>
                      </a:r>
                      <a:endParaRPr lang="ko-Kore-KR" altLang="en-US" sz="160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45112457"/>
                  </a:ext>
                </a:extLst>
              </a:tr>
              <a:tr h="381309">
                <a:tc>
                  <a:txBody>
                    <a:bodyPr/>
                    <a:lstStyle/>
                    <a:p>
                      <a:pPr algn="ctr"/>
                      <a:r>
                        <a:rPr lang="en" sz="1600" b="1" dirty="0">
                          <a:solidFill>
                            <a:schemeClr val="accent6"/>
                          </a:solidFill>
                        </a:rPr>
                        <a:t>SMAUG-T</a:t>
                      </a:r>
                      <a:r>
                        <a:rPr lang="en-US" altLang="ko-KR" sz="1600" b="1" dirty="0">
                          <a:solidFill>
                            <a:schemeClr val="accent6"/>
                          </a:solidFill>
                        </a:rPr>
                        <a:t>1</a:t>
                      </a:r>
                      <a:endParaRPr lang="en" sz="1600" dirty="0">
                        <a:solidFill>
                          <a:schemeClr val="accent6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600" dirty="0">
                          <a:solidFill>
                            <a:schemeClr val="accent6"/>
                          </a:solidFill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600" dirty="0">
                          <a:solidFill>
                            <a:schemeClr val="accent6"/>
                          </a:solidFill>
                        </a:rPr>
                        <a:t>672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600" dirty="0">
                          <a:solidFill>
                            <a:schemeClr val="accent6"/>
                          </a:solidFill>
                        </a:rPr>
                        <a:t>672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600" b="1" dirty="0">
                          <a:solidFill>
                            <a:srgbClr val="FF0000"/>
                          </a:solidFill>
                        </a:rPr>
                        <a:t>914 / 914</a:t>
                      </a:r>
                      <a:endParaRPr lang="ko-Kore-KR" altLang="en-US" sz="16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600" b="1">
                          <a:solidFill>
                            <a:srgbClr val="FF0000"/>
                          </a:solidFill>
                        </a:rPr>
                        <a:t>11 / 11</a:t>
                      </a:r>
                      <a:endParaRPr lang="ko-Kore-KR" altLang="en-US" sz="160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16814288"/>
                  </a:ext>
                </a:extLst>
              </a:tr>
              <a:tr h="381309">
                <a:tc>
                  <a:txBody>
                    <a:bodyPr/>
                    <a:lstStyle/>
                    <a:p>
                      <a:pPr algn="ctr"/>
                      <a:r>
                        <a:rPr lang="en" sz="1600" b="1" dirty="0">
                          <a:solidFill>
                            <a:schemeClr val="accent6"/>
                          </a:solidFill>
                        </a:rPr>
                        <a:t>NTRU+KEM576</a:t>
                      </a:r>
                      <a:endParaRPr lang="en" sz="1600" dirty="0">
                        <a:solidFill>
                          <a:schemeClr val="accent6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600">
                          <a:solidFill>
                            <a:schemeClr val="accent6"/>
                          </a:solidFill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600" dirty="0">
                          <a:solidFill>
                            <a:schemeClr val="accent6"/>
                          </a:solidFill>
                        </a:rPr>
                        <a:t>864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600" dirty="0">
                          <a:solidFill>
                            <a:schemeClr val="accent6"/>
                          </a:solidFill>
                        </a:rPr>
                        <a:t>864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600" b="1" dirty="0">
                          <a:solidFill>
                            <a:srgbClr val="FF0000"/>
                          </a:solidFill>
                        </a:rPr>
                        <a:t>1</a:t>
                      </a:r>
                      <a:r>
                        <a:rPr lang="en-US" altLang="ko-KR" sz="1600" b="1" dirty="0">
                          <a:solidFill>
                            <a:srgbClr val="FF0000"/>
                          </a:solidFill>
                        </a:rPr>
                        <a:t>,</a:t>
                      </a:r>
                      <a:r>
                        <a:rPr lang="en-US" altLang="ko-Kore-KR" sz="1600" b="1" dirty="0">
                          <a:solidFill>
                            <a:srgbClr val="FF0000"/>
                          </a:solidFill>
                        </a:rPr>
                        <a:t>172 / 1</a:t>
                      </a:r>
                      <a:r>
                        <a:rPr lang="en-US" altLang="ko-KR" sz="1600" b="1" dirty="0">
                          <a:solidFill>
                            <a:srgbClr val="FF0000"/>
                          </a:solidFill>
                        </a:rPr>
                        <a:t>,</a:t>
                      </a:r>
                      <a:r>
                        <a:rPr lang="en-US" altLang="ko-Kore-KR" sz="1600" b="1" dirty="0">
                          <a:solidFill>
                            <a:srgbClr val="FF0000"/>
                          </a:solidFill>
                        </a:rPr>
                        <a:t>172</a:t>
                      </a:r>
                      <a:endParaRPr lang="ko-Kore-KR" altLang="en-US" sz="16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600" b="1">
                          <a:solidFill>
                            <a:srgbClr val="FF0000"/>
                          </a:solidFill>
                        </a:rPr>
                        <a:t>14 / 14</a:t>
                      </a:r>
                      <a:endParaRPr lang="ko-Kore-KR" altLang="en-US" sz="160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74764709"/>
                  </a:ext>
                </a:extLst>
              </a:tr>
              <a:tr h="381309">
                <a:tc>
                  <a:txBody>
                    <a:bodyPr/>
                    <a:lstStyle/>
                    <a:p>
                      <a:pPr algn="ctr"/>
                      <a:r>
                        <a:rPr lang="en" sz="1600" b="1"/>
                        <a:t>Falcon-512</a:t>
                      </a:r>
                      <a:endParaRPr lang="en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60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600" dirty="0"/>
                        <a:t>897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600" dirty="0"/>
                        <a:t>666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600" b="1" dirty="0">
                          <a:solidFill>
                            <a:srgbClr val="FF0000"/>
                          </a:solidFill>
                        </a:rPr>
                        <a:t>1</a:t>
                      </a:r>
                      <a:r>
                        <a:rPr lang="en-US" altLang="ko-KR" sz="1600" b="1" dirty="0">
                          <a:solidFill>
                            <a:srgbClr val="FF0000"/>
                          </a:solidFill>
                        </a:rPr>
                        <a:t>,</a:t>
                      </a:r>
                      <a:r>
                        <a:rPr lang="en-US" altLang="ko-Kore-KR" sz="1600" b="1" dirty="0">
                          <a:solidFill>
                            <a:srgbClr val="FF0000"/>
                          </a:solidFill>
                        </a:rPr>
                        <a:t>227 / 908</a:t>
                      </a:r>
                      <a:endParaRPr lang="ko-Kore-KR" altLang="en-US" sz="16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600" b="1">
                          <a:solidFill>
                            <a:srgbClr val="FF0000"/>
                          </a:solidFill>
                        </a:rPr>
                        <a:t>15 / 11</a:t>
                      </a:r>
                      <a:endParaRPr lang="ko-Kore-KR" altLang="en-US" sz="160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68482598"/>
                  </a:ext>
                </a:extLst>
              </a:tr>
              <a:tr h="381309">
                <a:tc>
                  <a:txBody>
                    <a:bodyPr/>
                    <a:lstStyle/>
                    <a:p>
                      <a:pPr algn="ctr"/>
                      <a:r>
                        <a:rPr lang="en" sz="1600" b="1"/>
                        <a:t>SPHINCS+128s</a:t>
                      </a:r>
                      <a:endParaRPr lang="en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60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600" dirty="0"/>
                        <a:t>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600" dirty="0"/>
                        <a:t>7</a:t>
                      </a:r>
                      <a:r>
                        <a:rPr lang="en-US" altLang="ko-KR" sz="1600" dirty="0"/>
                        <a:t>,</a:t>
                      </a:r>
                      <a:r>
                        <a:rPr lang="en-US" altLang="ko-Kore-KR" sz="1600" dirty="0"/>
                        <a:t>856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600" b="1" dirty="0">
                          <a:solidFill>
                            <a:srgbClr val="FF0000"/>
                          </a:solidFill>
                        </a:rPr>
                        <a:t>54 / 10</a:t>
                      </a:r>
                      <a:r>
                        <a:rPr lang="en-US" altLang="ko-KR" sz="1600" b="1" dirty="0">
                          <a:solidFill>
                            <a:srgbClr val="FF0000"/>
                          </a:solidFill>
                        </a:rPr>
                        <a:t>,</a:t>
                      </a:r>
                      <a:r>
                        <a:rPr lang="en-US" altLang="ko-Kore-KR" sz="1600" b="1" dirty="0">
                          <a:solidFill>
                            <a:srgbClr val="FF0000"/>
                          </a:solidFill>
                        </a:rPr>
                        <a:t>562</a:t>
                      </a:r>
                      <a:endParaRPr lang="ko-Kore-KR" altLang="en-US" sz="16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600" b="1">
                          <a:solidFill>
                            <a:srgbClr val="FF0000"/>
                          </a:solidFill>
                        </a:rPr>
                        <a:t>1 / 123</a:t>
                      </a:r>
                      <a:endParaRPr lang="ko-Kore-KR" altLang="en-US" sz="160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46433777"/>
                  </a:ext>
                </a:extLst>
              </a:tr>
              <a:tr h="381309">
                <a:tc>
                  <a:txBody>
                    <a:bodyPr/>
                    <a:lstStyle/>
                    <a:p>
                      <a:pPr algn="ctr"/>
                      <a:r>
                        <a:rPr lang="en" sz="1600" b="1"/>
                        <a:t>SPHINCS+128f</a:t>
                      </a:r>
                      <a:endParaRPr lang="en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60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600" dirty="0"/>
                        <a:t>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600" dirty="0"/>
                        <a:t>17</a:t>
                      </a:r>
                      <a:r>
                        <a:rPr lang="en-US" altLang="ko-KR" sz="1600" dirty="0"/>
                        <a:t>,</a:t>
                      </a:r>
                      <a:r>
                        <a:rPr lang="en-US" altLang="ko-Kore-KR" sz="1600" dirty="0"/>
                        <a:t>088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600" b="1" dirty="0">
                          <a:solidFill>
                            <a:srgbClr val="FF0000"/>
                          </a:solidFill>
                        </a:rPr>
                        <a:t>54 / 22</a:t>
                      </a:r>
                      <a:r>
                        <a:rPr lang="en-US" altLang="ko-KR" sz="1600" b="1" dirty="0">
                          <a:solidFill>
                            <a:srgbClr val="FF0000"/>
                          </a:solidFill>
                        </a:rPr>
                        <a:t>,</a:t>
                      </a:r>
                      <a:r>
                        <a:rPr lang="en-US" altLang="ko-Kore-KR" sz="1600" b="1" dirty="0">
                          <a:solidFill>
                            <a:srgbClr val="FF0000"/>
                          </a:solidFill>
                        </a:rPr>
                        <a:t>962</a:t>
                      </a:r>
                      <a:endParaRPr lang="ko-Kore-KR" altLang="en-US" sz="16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600" b="1">
                          <a:solidFill>
                            <a:srgbClr val="FF0000"/>
                          </a:solidFill>
                        </a:rPr>
                        <a:t>1 / 267</a:t>
                      </a:r>
                      <a:endParaRPr lang="ko-Kore-KR" altLang="en-US" sz="160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56091943"/>
                  </a:ext>
                </a:extLst>
              </a:tr>
              <a:tr h="381309">
                <a:tc>
                  <a:txBody>
                    <a:bodyPr/>
                    <a:lstStyle/>
                    <a:p>
                      <a:pPr algn="ctr"/>
                      <a:r>
                        <a:rPr lang="en" sz="1600" b="1" dirty="0">
                          <a:solidFill>
                            <a:schemeClr val="accent6"/>
                          </a:solidFill>
                        </a:rPr>
                        <a:t>AIMer128s</a:t>
                      </a:r>
                      <a:endParaRPr lang="en" sz="1600" dirty="0">
                        <a:solidFill>
                          <a:schemeClr val="accent6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600" dirty="0">
                          <a:solidFill>
                            <a:schemeClr val="accent6"/>
                          </a:solidFill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600" dirty="0">
                          <a:solidFill>
                            <a:schemeClr val="accent6"/>
                          </a:solidFill>
                        </a:rPr>
                        <a:t>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600" dirty="0">
                          <a:solidFill>
                            <a:schemeClr val="accent6"/>
                          </a:solidFill>
                        </a:rPr>
                        <a:t>4</a:t>
                      </a:r>
                      <a:r>
                        <a:rPr lang="en-US" altLang="ko-KR" sz="1600" dirty="0">
                          <a:solidFill>
                            <a:schemeClr val="accent6"/>
                          </a:solidFill>
                        </a:rPr>
                        <a:t>,</a:t>
                      </a:r>
                      <a:r>
                        <a:rPr lang="en-US" altLang="ko-Kore-KR" sz="1600" dirty="0">
                          <a:solidFill>
                            <a:schemeClr val="accent6"/>
                          </a:solidFill>
                        </a:rPr>
                        <a:t>160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600" b="1" dirty="0">
                          <a:solidFill>
                            <a:srgbClr val="FF0000"/>
                          </a:solidFill>
                        </a:rPr>
                        <a:t>54 / 5</a:t>
                      </a:r>
                      <a:r>
                        <a:rPr lang="en-US" altLang="ko-KR" sz="1600" b="1" dirty="0">
                          <a:solidFill>
                            <a:srgbClr val="FF0000"/>
                          </a:solidFill>
                        </a:rPr>
                        <a:t>,</a:t>
                      </a:r>
                      <a:r>
                        <a:rPr lang="en-US" altLang="ko-Kore-KR" sz="1600" b="1" dirty="0">
                          <a:solidFill>
                            <a:srgbClr val="FF0000"/>
                          </a:solidFill>
                        </a:rPr>
                        <a:t>590</a:t>
                      </a:r>
                      <a:endParaRPr lang="ko-Kore-KR" altLang="en-US" sz="16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600" b="1">
                          <a:solidFill>
                            <a:srgbClr val="FF0000"/>
                          </a:solidFill>
                        </a:rPr>
                        <a:t>1 / 65</a:t>
                      </a:r>
                      <a:endParaRPr lang="ko-Kore-KR" altLang="en-US" sz="160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9640091"/>
                  </a:ext>
                </a:extLst>
              </a:tr>
              <a:tr h="381309">
                <a:tc>
                  <a:txBody>
                    <a:bodyPr/>
                    <a:lstStyle/>
                    <a:p>
                      <a:pPr algn="ctr"/>
                      <a:r>
                        <a:rPr lang="en" sz="1600" b="1">
                          <a:solidFill>
                            <a:schemeClr val="accent6"/>
                          </a:solidFill>
                        </a:rPr>
                        <a:t>AIMer128f</a:t>
                      </a:r>
                      <a:endParaRPr lang="en" sz="1600">
                        <a:solidFill>
                          <a:schemeClr val="accent6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600">
                          <a:solidFill>
                            <a:schemeClr val="accent6"/>
                          </a:solidFill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600" dirty="0">
                          <a:solidFill>
                            <a:schemeClr val="accent6"/>
                          </a:solidFill>
                        </a:rPr>
                        <a:t>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600" dirty="0">
                          <a:solidFill>
                            <a:schemeClr val="accent6"/>
                          </a:solidFill>
                        </a:rPr>
                        <a:t>5</a:t>
                      </a:r>
                      <a:r>
                        <a:rPr lang="en-US" altLang="ko-KR" sz="1600" dirty="0">
                          <a:solidFill>
                            <a:schemeClr val="accent6"/>
                          </a:solidFill>
                        </a:rPr>
                        <a:t>,</a:t>
                      </a:r>
                      <a:r>
                        <a:rPr lang="en-US" altLang="ko-Kore-KR" sz="1600" dirty="0">
                          <a:solidFill>
                            <a:schemeClr val="accent6"/>
                          </a:solidFill>
                        </a:rPr>
                        <a:t>888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600" b="1" dirty="0">
                          <a:solidFill>
                            <a:srgbClr val="FF0000"/>
                          </a:solidFill>
                        </a:rPr>
                        <a:t>54 / 7</a:t>
                      </a:r>
                      <a:r>
                        <a:rPr lang="en-US" altLang="ko-KR" sz="1600" b="1" dirty="0">
                          <a:solidFill>
                            <a:srgbClr val="FF0000"/>
                          </a:solidFill>
                        </a:rPr>
                        <a:t>,</a:t>
                      </a:r>
                      <a:r>
                        <a:rPr lang="en-US" altLang="ko-Kore-KR" sz="1600" b="1" dirty="0">
                          <a:solidFill>
                            <a:srgbClr val="FF0000"/>
                          </a:solidFill>
                        </a:rPr>
                        <a:t>912</a:t>
                      </a:r>
                      <a:endParaRPr lang="ko-Kore-KR" altLang="en-US" sz="16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600" b="1">
                          <a:solidFill>
                            <a:srgbClr val="FF0000"/>
                          </a:solidFill>
                        </a:rPr>
                        <a:t>1 / 92</a:t>
                      </a:r>
                      <a:endParaRPr lang="ko-Kore-KR" altLang="en-US" sz="160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4064647"/>
                  </a:ext>
                </a:extLst>
              </a:tr>
              <a:tr h="381309">
                <a:tc>
                  <a:txBody>
                    <a:bodyPr/>
                    <a:lstStyle/>
                    <a:p>
                      <a:pPr algn="ctr"/>
                      <a:r>
                        <a:rPr lang="en" sz="1600" b="1" dirty="0"/>
                        <a:t>ML-DSA44</a:t>
                      </a:r>
                      <a:endParaRPr lang="en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60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600" dirty="0"/>
                        <a:t>1</a:t>
                      </a:r>
                      <a:r>
                        <a:rPr lang="en-US" altLang="ko-KR" sz="1600" dirty="0"/>
                        <a:t>,</a:t>
                      </a:r>
                      <a:r>
                        <a:rPr lang="en-US" altLang="ko-Kore-KR" sz="1600" dirty="0"/>
                        <a:t>312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600" dirty="0"/>
                        <a:t>2</a:t>
                      </a:r>
                      <a:r>
                        <a:rPr lang="en-US" altLang="ko-KR" sz="1600" dirty="0"/>
                        <a:t>,</a:t>
                      </a:r>
                      <a:r>
                        <a:rPr lang="en-US" altLang="ko-Kore-KR" sz="1600" dirty="0"/>
                        <a:t>420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600" b="1" dirty="0">
                          <a:solidFill>
                            <a:srgbClr val="FF0000"/>
                          </a:solidFill>
                        </a:rPr>
                        <a:t>1</a:t>
                      </a:r>
                      <a:r>
                        <a:rPr lang="en-US" altLang="ko-KR" sz="1600" b="1" dirty="0">
                          <a:solidFill>
                            <a:srgbClr val="FF0000"/>
                          </a:solidFill>
                        </a:rPr>
                        <a:t>,</a:t>
                      </a:r>
                      <a:r>
                        <a:rPr lang="en-US" altLang="ko-Kore-KR" sz="1600" b="1" dirty="0">
                          <a:solidFill>
                            <a:srgbClr val="FF0000"/>
                          </a:solidFill>
                        </a:rPr>
                        <a:t>774 / 3</a:t>
                      </a:r>
                      <a:r>
                        <a:rPr lang="en-US" altLang="ko-KR" sz="1600" b="1" dirty="0">
                          <a:solidFill>
                            <a:srgbClr val="FF0000"/>
                          </a:solidFill>
                        </a:rPr>
                        <a:t>,</a:t>
                      </a:r>
                      <a:r>
                        <a:rPr lang="en-US" altLang="ko-Kore-KR" sz="1600" b="1" dirty="0">
                          <a:solidFill>
                            <a:srgbClr val="FF0000"/>
                          </a:solidFill>
                        </a:rPr>
                        <a:t>256</a:t>
                      </a:r>
                      <a:endParaRPr lang="ko-Kore-KR" altLang="en-US" sz="16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600" b="1" dirty="0">
                          <a:solidFill>
                            <a:srgbClr val="FF0000"/>
                          </a:solidFill>
                        </a:rPr>
                        <a:t>21 / 38</a:t>
                      </a:r>
                      <a:endParaRPr lang="ko-Kore-KR" altLang="en-US" sz="16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98423691"/>
                  </a:ext>
                </a:extLst>
              </a:tr>
              <a:tr h="381309">
                <a:tc>
                  <a:txBody>
                    <a:bodyPr/>
                    <a:lstStyle/>
                    <a:p>
                      <a:pPr algn="ctr"/>
                      <a:r>
                        <a:rPr lang="en" sz="1600" b="1" dirty="0">
                          <a:solidFill>
                            <a:schemeClr val="accent6"/>
                          </a:solidFill>
                        </a:rPr>
                        <a:t>HAETAE2</a:t>
                      </a:r>
                      <a:endParaRPr lang="en" sz="1600" dirty="0">
                        <a:solidFill>
                          <a:schemeClr val="accent6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600" dirty="0">
                          <a:solidFill>
                            <a:schemeClr val="accent6"/>
                          </a:solidFill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600" dirty="0">
                          <a:solidFill>
                            <a:schemeClr val="accent6"/>
                          </a:solidFill>
                        </a:rPr>
                        <a:t>992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600" dirty="0">
                          <a:solidFill>
                            <a:schemeClr val="accent6"/>
                          </a:solidFill>
                        </a:rPr>
                        <a:t>1</a:t>
                      </a:r>
                      <a:r>
                        <a:rPr lang="en-US" altLang="ko-KR" sz="1600" dirty="0">
                          <a:solidFill>
                            <a:schemeClr val="accent6"/>
                          </a:solidFill>
                        </a:rPr>
                        <a:t>,</a:t>
                      </a:r>
                      <a:r>
                        <a:rPr lang="en-US" altLang="ko-Kore-KR" sz="1600" dirty="0">
                          <a:solidFill>
                            <a:schemeClr val="accent6"/>
                          </a:solidFill>
                        </a:rPr>
                        <a:t>474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600" b="1" dirty="0">
                          <a:solidFill>
                            <a:srgbClr val="FF0000"/>
                          </a:solidFill>
                        </a:rPr>
                        <a:t>1</a:t>
                      </a:r>
                      <a:r>
                        <a:rPr lang="en-US" altLang="ko-KR" sz="1600" b="1" dirty="0">
                          <a:solidFill>
                            <a:srgbClr val="FF0000"/>
                          </a:solidFill>
                        </a:rPr>
                        <a:t>,</a:t>
                      </a:r>
                      <a:r>
                        <a:rPr lang="en-US" altLang="ko-Kore-KR" sz="1600" b="1" dirty="0">
                          <a:solidFill>
                            <a:srgbClr val="FF0000"/>
                          </a:solidFill>
                        </a:rPr>
                        <a:t>344 / 2</a:t>
                      </a:r>
                      <a:r>
                        <a:rPr lang="en-US" altLang="ko-KR" sz="1600" b="1" dirty="0">
                          <a:solidFill>
                            <a:srgbClr val="FF0000"/>
                          </a:solidFill>
                        </a:rPr>
                        <a:t>,</a:t>
                      </a:r>
                      <a:r>
                        <a:rPr lang="en-US" altLang="ko-Kore-KR" sz="1600" b="1" dirty="0">
                          <a:solidFill>
                            <a:srgbClr val="FF0000"/>
                          </a:solidFill>
                        </a:rPr>
                        <a:t>002</a:t>
                      </a:r>
                      <a:endParaRPr lang="ko-Kore-KR" altLang="en-US" sz="16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600" b="1" dirty="0">
                          <a:solidFill>
                            <a:srgbClr val="FF0000"/>
                          </a:solidFill>
                        </a:rPr>
                        <a:t>16 / 24</a:t>
                      </a:r>
                      <a:endParaRPr lang="ko-Kore-KR" altLang="en-US" sz="16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26561565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9C9AC506-AAE1-148B-7C79-24EA64DFE2CF}"/>
              </a:ext>
            </a:extLst>
          </p:cNvPr>
          <p:cNvSpPr txBox="1"/>
          <p:nvPr/>
        </p:nvSpPr>
        <p:spPr>
          <a:xfrm>
            <a:off x="983265" y="1107958"/>
            <a:ext cx="102254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ko-Kore-KR" dirty="0"/>
              <a:t>MTU(64 Byte)</a:t>
            </a:r>
            <a:r>
              <a:rPr lang="ko-KR" altLang="en-US" dirty="0" err="1"/>
              <a:t>를</a:t>
            </a:r>
            <a:r>
              <a:rPr lang="ko-KR" altLang="en-US" dirty="0"/>
              <a:t> 넘는 데이터 </a:t>
            </a:r>
            <a:r>
              <a:rPr lang="en-US" altLang="ko-KR" dirty="0"/>
              <a:t>-&gt;</a:t>
            </a:r>
            <a:r>
              <a:rPr lang="ko-KR" altLang="en-US" dirty="0"/>
              <a:t> </a:t>
            </a:r>
            <a:r>
              <a:rPr lang="en-US" altLang="ko-KR" dirty="0"/>
              <a:t>64 </a:t>
            </a:r>
            <a:r>
              <a:rPr lang="en" altLang="ko-Kore-KR" dirty="0"/>
              <a:t>Byte</a:t>
            </a:r>
            <a:r>
              <a:rPr lang="ko-KR" altLang="en-US" dirty="0"/>
              <a:t>씩 분할하여 전송</a:t>
            </a:r>
            <a:r>
              <a:rPr lang="en-US" altLang="ko-KR" dirty="0"/>
              <a:t>, </a:t>
            </a:r>
            <a:r>
              <a:rPr lang="ko-KR" altLang="en-US" dirty="0"/>
              <a:t>프레임당 최대 오버헤드 약 </a:t>
            </a:r>
            <a:r>
              <a:rPr lang="en-US" altLang="ko-KR" dirty="0"/>
              <a:t>22 </a:t>
            </a:r>
            <a:r>
              <a:rPr lang="en" altLang="ko-Kore-KR" dirty="0"/>
              <a:t>Byte</a:t>
            </a:r>
            <a:r>
              <a:rPr lang="ko-KR" altLang="en-US" dirty="0"/>
              <a:t> 추가</a:t>
            </a:r>
            <a:endParaRPr lang="ko-Kore-KR" altLang="en-US" dirty="0"/>
          </a:p>
        </p:txBody>
      </p:sp>
    </p:spTree>
    <p:extLst>
      <p:ext uri="{BB962C8B-B14F-4D97-AF65-F5344CB8AC3E}">
        <p14:creationId xmlns:p14="http://schemas.microsoft.com/office/powerpoint/2010/main" val="5782959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4E4B72-130E-E658-175E-131F4BF33B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ko-Kore-KR" sz="2800" dirty="0"/>
              <a:t>CAN-FD </a:t>
            </a:r>
            <a:r>
              <a:rPr kumimoji="1" lang="ko-Kore-KR" altLang="en-US" sz="2800" dirty="0"/>
              <a:t>전송 지연 산출</a:t>
            </a:r>
          </a:p>
        </p:txBody>
      </p:sp>
      <p:graphicFrame>
        <p:nvGraphicFramePr>
          <p:cNvPr id="4" name="차트 3">
            <a:extLst>
              <a:ext uri="{FF2B5EF4-FFF2-40B4-BE49-F238E27FC236}">
                <a16:creationId xmlns:a16="http://schemas.microsoft.com/office/drawing/2014/main" id="{1C0FF9D1-79EA-8BE0-11CA-26A4AED7896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60123557"/>
              </p:ext>
            </p:extLst>
          </p:nvPr>
        </p:nvGraphicFramePr>
        <p:xfrm>
          <a:off x="6267534" y="1185004"/>
          <a:ext cx="5924466" cy="55457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6AF47F1A-EC5C-1ADB-85CC-8597DE292772}"/>
              </a:ext>
            </a:extLst>
          </p:cNvPr>
          <p:cNvSpPr txBox="1"/>
          <p:nvPr/>
        </p:nvSpPr>
        <p:spPr>
          <a:xfrm>
            <a:off x="171533" y="1416297"/>
            <a:ext cx="5924467" cy="4401205"/>
          </a:xfrm>
          <a:prstGeom prst="rect">
            <a:avLst/>
          </a:prstGeom>
          <a:noFill/>
          <a:ln w="38100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/>
              <a:t>&lt;1-</a:t>
            </a:r>
            <a:r>
              <a:rPr lang="ko-KR" altLang="en-US" sz="2000" b="1" dirty="0"/>
              <a:t>프레임 지연 계산</a:t>
            </a:r>
            <a:r>
              <a:rPr lang="en-US" altLang="ko-KR" sz="2000" b="1" dirty="0"/>
              <a:t>(</a:t>
            </a:r>
            <a:r>
              <a:rPr lang="en" altLang="ko-Kore-KR" sz="2000" b="1" dirty="0"/>
              <a:t>worst case)&gt;</a:t>
            </a:r>
            <a:endParaRPr lang="en" altLang="ko-Kore-KR" sz="2000" dirty="0"/>
          </a:p>
          <a:p>
            <a:r>
              <a:rPr lang="en" altLang="ko-Kore-KR" sz="2000" dirty="0"/>
              <a:t>① Nominal </a:t>
            </a:r>
            <a:r>
              <a:rPr lang="ko-KR" altLang="en-US" sz="2000" dirty="0"/>
              <a:t>구간 </a:t>
            </a:r>
            <a:r>
              <a:rPr lang="en-US" altLang="ko-KR" sz="2000" dirty="0"/>
              <a:t>@1 </a:t>
            </a:r>
            <a:r>
              <a:rPr lang="en" altLang="ko-Kore-KR" sz="2000" dirty="0"/>
              <a:t>Mbps</a:t>
            </a:r>
          </a:p>
          <a:p>
            <a:r>
              <a:rPr lang="en" altLang="ko-Kore-KR" sz="2000" dirty="0"/>
              <a:t>   · Arbitration + Control = 22-bit  </a:t>
            </a:r>
            <a:r>
              <a:rPr lang="en" altLang="ko-Kore-KR" sz="2000" b="1" dirty="0"/>
              <a:t>→ 22 µs</a:t>
            </a:r>
          </a:p>
          <a:p>
            <a:r>
              <a:rPr lang="en" altLang="ko-Kore-KR" sz="2000" dirty="0"/>
              <a:t>   · ACK + EOF + IFS     = 12-bit  </a:t>
            </a:r>
            <a:r>
              <a:rPr lang="en" altLang="ko-Kore-KR" sz="2000" b="1" dirty="0"/>
              <a:t>→ 12 µs</a:t>
            </a:r>
          </a:p>
          <a:p>
            <a:r>
              <a:rPr lang="en" altLang="ko-Kore-KR" sz="2000" dirty="0"/>
              <a:t>   · </a:t>
            </a:r>
            <a:r>
              <a:rPr lang="en-US" altLang="ko-Kore-KR" sz="2000" b="1" dirty="0"/>
              <a:t>22</a:t>
            </a:r>
            <a:r>
              <a:rPr lang="ko-Kore-KR" altLang="en-US" sz="2000" b="1" dirty="0"/>
              <a:t> </a:t>
            </a:r>
            <a:r>
              <a:rPr lang="en-US" altLang="ko-Kore-KR" sz="2000" b="1" dirty="0"/>
              <a:t>+ </a:t>
            </a:r>
            <a:r>
              <a:rPr lang="en-US" altLang="ko-KR" sz="2000" b="1" dirty="0"/>
              <a:t>12  </a:t>
            </a:r>
            <a:r>
              <a:rPr lang="en-US" altLang="ko-KR" sz="2000" b="1" dirty="0">
                <a:solidFill>
                  <a:srgbClr val="2E75B6"/>
                </a:solidFill>
              </a:rPr>
              <a:t>=</a:t>
            </a:r>
            <a:r>
              <a:rPr lang="ko-KR" altLang="en-US" sz="2000" b="1" dirty="0">
                <a:solidFill>
                  <a:srgbClr val="2E75B6"/>
                </a:solidFill>
              </a:rPr>
              <a:t> </a:t>
            </a:r>
            <a:r>
              <a:rPr lang="en-US" altLang="ko-KR" sz="2000" b="1" dirty="0">
                <a:solidFill>
                  <a:srgbClr val="2E75B6"/>
                </a:solidFill>
              </a:rPr>
              <a:t>34 µ</a:t>
            </a:r>
            <a:r>
              <a:rPr lang="en" altLang="ko-Kore-KR" sz="2000" b="1" dirty="0">
                <a:solidFill>
                  <a:srgbClr val="2E75B6"/>
                </a:solidFill>
              </a:rPr>
              <a:t>s</a:t>
            </a:r>
          </a:p>
          <a:p>
            <a:endParaRPr lang="en" altLang="ko-Kore-KR" sz="2000" dirty="0"/>
          </a:p>
          <a:p>
            <a:r>
              <a:rPr lang="en" altLang="ko-Kore-KR" sz="2000" dirty="0"/>
              <a:t>② Data </a:t>
            </a:r>
            <a:r>
              <a:rPr lang="ko-KR" altLang="en-US" sz="2000" dirty="0"/>
              <a:t>구간 </a:t>
            </a:r>
            <a:r>
              <a:rPr lang="en-US" altLang="ko-KR" sz="2000" dirty="0"/>
              <a:t>@5 </a:t>
            </a:r>
            <a:r>
              <a:rPr lang="en" altLang="ko-Kore-KR" sz="2000" dirty="0"/>
              <a:t>Mbps</a:t>
            </a:r>
            <a:endParaRPr lang="en-US" altLang="ko-KR" sz="2000" dirty="0"/>
          </a:p>
          <a:p>
            <a:r>
              <a:rPr lang="en-US" altLang="ko-KR" sz="2000" dirty="0"/>
              <a:t>   · </a:t>
            </a:r>
            <a:r>
              <a:rPr lang="ko-KR" altLang="en-US" sz="2000" dirty="0"/>
              <a:t>데이터 </a:t>
            </a:r>
            <a:r>
              <a:rPr lang="en-US" altLang="ko-KR" sz="2000" dirty="0"/>
              <a:t>64 </a:t>
            </a:r>
            <a:r>
              <a:rPr lang="en" altLang="ko-Kore-KR" sz="2000" dirty="0"/>
              <a:t>B  = 512-bit </a:t>
            </a:r>
          </a:p>
          <a:p>
            <a:r>
              <a:rPr lang="en" altLang="ko-Kore-KR" sz="2000" dirty="0"/>
              <a:t>   · CRC + Stuff-c</a:t>
            </a:r>
            <a:r>
              <a:rPr lang="en-US" altLang="ko-Kore-KR" sz="2000" dirty="0" err="1"/>
              <a:t>oun</a:t>
            </a:r>
            <a:r>
              <a:rPr lang="en" altLang="ko-Kore-KR" sz="2000" dirty="0" err="1"/>
              <a:t>ter</a:t>
            </a:r>
            <a:r>
              <a:rPr lang="en" altLang="ko-Kore-KR" sz="2000" dirty="0"/>
              <a:t> + FSB = 32-bit</a:t>
            </a:r>
          </a:p>
          <a:p>
            <a:r>
              <a:rPr lang="en" altLang="ko-Kore-KR" sz="2000" dirty="0"/>
              <a:t>   · </a:t>
            </a:r>
            <a:r>
              <a:rPr lang="ko-KR" altLang="en-US" sz="2000" dirty="0"/>
              <a:t>가변 </a:t>
            </a:r>
            <a:r>
              <a:rPr lang="en" altLang="ko-Kore-KR" sz="2000" dirty="0"/>
              <a:t>Stuff-bit</a:t>
            </a:r>
            <a:r>
              <a:rPr lang="en-US" altLang="ko-KR" sz="2000" dirty="0"/>
              <a:t>(≈ 107-</a:t>
            </a:r>
            <a:r>
              <a:rPr lang="en" altLang="ko-Kore-KR" sz="2000" dirty="0"/>
              <a:t>bit)       </a:t>
            </a:r>
          </a:p>
          <a:p>
            <a:r>
              <a:rPr lang="en" altLang="ko-Kore-KR" sz="2000" b="1" dirty="0">
                <a:solidFill>
                  <a:srgbClr val="2E75B6"/>
                </a:solidFill>
              </a:rPr>
              <a:t> </a:t>
            </a:r>
            <a:r>
              <a:rPr lang="en" altLang="ko-Kore-KR" sz="2000" b="1" dirty="0"/>
              <a:t>(512 + 32 + 107) bit ÷ </a:t>
            </a:r>
            <a:r>
              <a:rPr lang="en-US" altLang="ko-KR" sz="2000" b="1" dirty="0"/>
              <a:t>5</a:t>
            </a:r>
            <a:r>
              <a:rPr lang="en" altLang="ko-Kore-KR" sz="2000" b="1" dirty="0"/>
              <a:t> Mbps </a:t>
            </a:r>
            <a:r>
              <a:rPr lang="en-US" altLang="ko-KR" sz="2000" b="1" dirty="0">
                <a:solidFill>
                  <a:srgbClr val="2E75B6"/>
                </a:solidFill>
              </a:rPr>
              <a:t>≈</a:t>
            </a:r>
            <a:r>
              <a:rPr lang="en" altLang="ko-Kore-KR" sz="2000" b="1" dirty="0">
                <a:solidFill>
                  <a:srgbClr val="2E75B6"/>
                </a:solidFill>
              </a:rPr>
              <a:t> 1</a:t>
            </a:r>
            <a:r>
              <a:rPr lang="en-US" altLang="ko-KR" sz="2000" b="1" dirty="0">
                <a:solidFill>
                  <a:srgbClr val="2E75B6"/>
                </a:solidFill>
              </a:rPr>
              <a:t>30</a:t>
            </a:r>
            <a:r>
              <a:rPr lang="en" altLang="ko-Kore-KR" sz="2000" b="1" dirty="0">
                <a:solidFill>
                  <a:srgbClr val="2E75B6"/>
                </a:solidFill>
              </a:rPr>
              <a:t> µs</a:t>
            </a:r>
          </a:p>
          <a:p>
            <a:endParaRPr lang="en" altLang="ko-Kore-KR" sz="2000" dirty="0"/>
          </a:p>
          <a:p>
            <a:r>
              <a:rPr lang="en" altLang="ko-Kore-KR" sz="2000" b="1" dirty="0"/>
              <a:t>③ </a:t>
            </a:r>
            <a:r>
              <a:rPr lang="ko-KR" altLang="en-US" sz="2000" b="1" dirty="0"/>
              <a:t>합계</a:t>
            </a:r>
          </a:p>
          <a:p>
            <a:r>
              <a:rPr lang="ko-KR" altLang="en-US" sz="2000" b="1" dirty="0"/>
              <a:t>   </a:t>
            </a:r>
            <a:r>
              <a:rPr lang="en-US" altLang="ko-KR" sz="2000" b="1" dirty="0"/>
              <a:t>34 µ</a:t>
            </a:r>
            <a:r>
              <a:rPr lang="en" altLang="ko-Kore-KR" sz="2000" b="1" dirty="0"/>
              <a:t>s + 130 µs </a:t>
            </a:r>
            <a:r>
              <a:rPr lang="en" altLang="ko-Kore-KR" sz="2000" b="1" dirty="0">
                <a:solidFill>
                  <a:srgbClr val="FF0000"/>
                </a:solidFill>
              </a:rPr>
              <a:t>= 0.1</a:t>
            </a:r>
            <a:r>
              <a:rPr lang="en-US" altLang="ko-KR" sz="2000" b="1" dirty="0">
                <a:solidFill>
                  <a:srgbClr val="FF0000"/>
                </a:solidFill>
              </a:rPr>
              <a:t>64</a:t>
            </a:r>
            <a:r>
              <a:rPr lang="en" altLang="ko-Kore-KR" sz="2000" b="1" dirty="0">
                <a:solidFill>
                  <a:srgbClr val="FF0000"/>
                </a:solidFill>
              </a:rPr>
              <a:t> </a:t>
            </a:r>
            <a:r>
              <a:rPr lang="en" altLang="ko-Kore-KR" sz="2000" b="1" dirty="0" err="1">
                <a:solidFill>
                  <a:srgbClr val="FF0000"/>
                </a:solidFill>
              </a:rPr>
              <a:t>ms</a:t>
            </a:r>
            <a:endParaRPr lang="ko-Kore-KR" altLang="en-US" sz="2000" b="1" dirty="0">
              <a:solidFill>
                <a:srgbClr val="FF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EF232DB-B539-4347-C9DD-D56634146147}"/>
              </a:ext>
            </a:extLst>
          </p:cNvPr>
          <p:cNvSpPr txBox="1"/>
          <p:nvPr/>
        </p:nvSpPr>
        <p:spPr>
          <a:xfrm>
            <a:off x="7611553" y="6400270"/>
            <a:ext cx="3236427" cy="367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dirty="0"/>
              <a:t>알고리즘별 총 전송 지연 </a:t>
            </a:r>
            <a:r>
              <a:rPr lang="en-US" altLang="ko-KR" b="1" dirty="0"/>
              <a:t>(</a:t>
            </a:r>
            <a:r>
              <a:rPr lang="en" altLang="ko-Kore-KR" b="1" dirty="0" err="1"/>
              <a:t>ms</a:t>
            </a:r>
            <a:r>
              <a:rPr lang="en" altLang="ko-Kore-KR" b="1" dirty="0"/>
              <a:t>) </a:t>
            </a:r>
            <a:endParaRPr lang="ko-Kore-KR" altLang="en-US" b="1" dirty="0"/>
          </a:p>
        </p:txBody>
      </p:sp>
    </p:spTree>
    <p:extLst>
      <p:ext uri="{BB962C8B-B14F-4D97-AF65-F5344CB8AC3E}">
        <p14:creationId xmlns:p14="http://schemas.microsoft.com/office/powerpoint/2010/main" val="5199200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1EA83C-77D0-E382-6977-9BBFDD4C0B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E57226-B3A8-6B92-9EA0-D0CF2FC1F0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ko-Kore-KR" sz="2800" dirty="0"/>
              <a:t>CAN-FD ECU </a:t>
            </a:r>
            <a:r>
              <a:rPr kumimoji="1" lang="ko-Kore-KR" altLang="en-US" sz="2800" dirty="0"/>
              <a:t>도메인 별 실시간성 및 </a:t>
            </a:r>
            <a:r>
              <a:rPr kumimoji="1" lang="en-US" altLang="ko-Kore-KR" sz="2800" dirty="0"/>
              <a:t>P</a:t>
            </a:r>
            <a:r>
              <a:rPr kumimoji="1" lang="en-US" altLang="ko-KR" sz="2800" dirty="0"/>
              <a:t>QC </a:t>
            </a:r>
            <a:r>
              <a:rPr kumimoji="1" lang="ko-KR" altLang="en-US" sz="2800" dirty="0"/>
              <a:t>적용 가능성 평가</a:t>
            </a:r>
            <a:endParaRPr kumimoji="1" lang="ko-Kore-KR" altLang="en-US" sz="2800" dirty="0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0D42E5EF-5419-29F7-4852-7657BDA3C5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0048578"/>
              </p:ext>
            </p:extLst>
          </p:nvPr>
        </p:nvGraphicFramePr>
        <p:xfrm>
          <a:off x="917636" y="2557924"/>
          <a:ext cx="10356728" cy="32815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0894">
                  <a:extLst>
                    <a:ext uri="{9D8B030D-6E8A-4147-A177-3AD203B41FA5}">
                      <a16:colId xmlns:a16="http://schemas.microsoft.com/office/drawing/2014/main" val="1684481723"/>
                    </a:ext>
                  </a:extLst>
                </a:gridCol>
                <a:gridCol w="1512178">
                  <a:extLst>
                    <a:ext uri="{9D8B030D-6E8A-4147-A177-3AD203B41FA5}">
                      <a16:colId xmlns:a16="http://schemas.microsoft.com/office/drawing/2014/main" val="2402086904"/>
                    </a:ext>
                  </a:extLst>
                </a:gridCol>
                <a:gridCol w="1787121">
                  <a:extLst>
                    <a:ext uri="{9D8B030D-6E8A-4147-A177-3AD203B41FA5}">
                      <a16:colId xmlns:a16="http://schemas.microsoft.com/office/drawing/2014/main" val="59034802"/>
                    </a:ext>
                  </a:extLst>
                </a:gridCol>
                <a:gridCol w="4536535">
                  <a:extLst>
                    <a:ext uri="{9D8B030D-6E8A-4147-A177-3AD203B41FA5}">
                      <a16:colId xmlns:a16="http://schemas.microsoft.com/office/drawing/2014/main" val="3984856767"/>
                    </a:ext>
                  </a:extLst>
                </a:gridCol>
              </a:tblGrid>
              <a:tr h="573092">
                <a:tc>
                  <a:txBody>
                    <a:bodyPr/>
                    <a:lstStyle/>
                    <a:p>
                      <a:pPr algn="ctr"/>
                      <a:r>
                        <a:rPr lang="ko-KR" altLang="en-US" dirty="0"/>
                        <a:t>주요 </a:t>
                      </a:r>
                      <a:r>
                        <a:rPr lang="en-US" altLang="ko-KR" dirty="0"/>
                        <a:t>ECU </a:t>
                      </a:r>
                      <a:r>
                        <a:rPr lang="ko-KR" altLang="en-US" dirty="0"/>
                        <a:t>도메인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dirty="0"/>
                        <a:t>ASIL </a:t>
                      </a:r>
                      <a:r>
                        <a:rPr lang="ko-KR" altLang="en-US" dirty="0"/>
                        <a:t>등급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dirty="0"/>
                        <a:t>지연 한계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dirty="0"/>
                        <a:t>ECU </a:t>
                      </a:r>
                      <a:r>
                        <a:rPr lang="ko-KR" altLang="en-US" dirty="0"/>
                        <a:t>주요 신호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60862562"/>
                  </a:ext>
                </a:extLst>
              </a:tr>
              <a:tr h="677112">
                <a:tc>
                  <a:txBody>
                    <a:bodyPr/>
                    <a:lstStyle/>
                    <a:p>
                      <a:pPr algn="ctr"/>
                      <a:r>
                        <a:rPr lang="en" b="1" dirty="0"/>
                        <a:t>Power-train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b="1" dirty="0">
                          <a:solidFill>
                            <a:srgbClr val="FF0000"/>
                          </a:solidFill>
                        </a:rPr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b="1" dirty="0">
                          <a:solidFill>
                            <a:srgbClr val="FF0000"/>
                          </a:solidFill>
                        </a:rPr>
                        <a:t>≤ 5 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dirty="0"/>
                        <a:t>엔진 </a:t>
                      </a:r>
                      <a:r>
                        <a:rPr lang="en" dirty="0"/>
                        <a:t>ECU, </a:t>
                      </a:r>
                      <a:r>
                        <a:rPr lang="ko-KR" altLang="en-US" dirty="0"/>
                        <a:t>변속기</a:t>
                      </a:r>
                      <a:r>
                        <a:rPr lang="en" dirty="0"/>
                        <a:t>, </a:t>
                      </a:r>
                      <a:r>
                        <a:rPr lang="ko-KR" altLang="en-US" dirty="0"/>
                        <a:t>연료분사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02765451"/>
                  </a:ext>
                </a:extLst>
              </a:tr>
              <a:tr h="677112">
                <a:tc>
                  <a:txBody>
                    <a:bodyPr/>
                    <a:lstStyle/>
                    <a:p>
                      <a:pPr algn="ctr"/>
                      <a:r>
                        <a:rPr lang="en" b="1" dirty="0"/>
                        <a:t>Chassis / ADAS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b="1" dirty="0">
                          <a:solidFill>
                            <a:schemeClr val="accent4"/>
                          </a:solidFill>
                        </a:rPr>
                        <a:t>C~D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b="1" dirty="0">
                          <a:solidFill>
                            <a:schemeClr val="accent4"/>
                          </a:solidFill>
                        </a:rPr>
                        <a:t>≤ 10 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dirty="0"/>
                        <a:t>ABS</a:t>
                      </a:r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브레이크 잠김 방지</a:t>
                      </a:r>
                      <a:r>
                        <a:rPr lang="en-US" altLang="ko-KR" dirty="0"/>
                        <a:t>)</a:t>
                      </a:r>
                      <a:r>
                        <a:rPr lang="en" dirty="0"/>
                        <a:t>, </a:t>
                      </a:r>
                    </a:p>
                    <a:p>
                      <a:pPr algn="ctr"/>
                      <a:r>
                        <a:rPr lang="en" dirty="0"/>
                        <a:t>EPS</a:t>
                      </a:r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전자식 </a:t>
                      </a:r>
                      <a:r>
                        <a:rPr lang="ko-KR" altLang="en-US" dirty="0" err="1"/>
                        <a:t>조향</a:t>
                      </a:r>
                      <a:r>
                        <a:rPr lang="en-US" altLang="ko-KR" dirty="0"/>
                        <a:t>)</a:t>
                      </a:r>
                      <a:r>
                        <a:rPr lang="en" dirty="0"/>
                        <a:t>, </a:t>
                      </a:r>
                      <a:r>
                        <a:rPr lang="ko-KR" altLang="en-US" dirty="0"/>
                        <a:t>레이더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카메라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62193958"/>
                  </a:ext>
                </a:extLst>
              </a:tr>
              <a:tr h="677112">
                <a:tc>
                  <a:txBody>
                    <a:bodyPr/>
                    <a:lstStyle/>
                    <a:p>
                      <a:pPr algn="ctr"/>
                      <a:r>
                        <a:rPr lang="en" b="1" dirty="0"/>
                        <a:t>Body / Comfort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b="1" dirty="0">
                          <a:solidFill>
                            <a:srgbClr val="2E75B6"/>
                          </a:solidFill>
                        </a:rPr>
                        <a:t>A~B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b="1" dirty="0">
                          <a:solidFill>
                            <a:srgbClr val="2E75B6"/>
                          </a:solidFill>
                        </a:rPr>
                        <a:t>≤ 50 </a:t>
                      </a:r>
                      <a:r>
                        <a:rPr lang="en" b="1" dirty="0" err="1">
                          <a:solidFill>
                            <a:srgbClr val="2E75B6"/>
                          </a:solidFill>
                        </a:rPr>
                        <a:t>ms</a:t>
                      </a:r>
                      <a:endParaRPr lang="en" b="1" dirty="0">
                        <a:solidFill>
                          <a:srgbClr val="2E75B6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dirty="0"/>
                        <a:t>창문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시트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조명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공조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71817543"/>
                  </a:ext>
                </a:extLst>
              </a:tr>
              <a:tr h="67711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ko-KR" b="1" dirty="0"/>
                        <a:t>Diagnostics / OTA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b="1" dirty="0">
                          <a:solidFill>
                            <a:srgbClr val="2E75B6"/>
                          </a:solidFill>
                        </a:rPr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b="1" dirty="0">
                          <a:solidFill>
                            <a:srgbClr val="2E75B6"/>
                          </a:solidFill>
                        </a:rPr>
                        <a:t>≤ 100 </a:t>
                      </a:r>
                      <a:r>
                        <a:rPr lang="en" b="1" dirty="0" err="1">
                          <a:solidFill>
                            <a:srgbClr val="2E75B6"/>
                          </a:solidFill>
                        </a:rPr>
                        <a:t>ms</a:t>
                      </a:r>
                      <a:endParaRPr lang="en" b="1" dirty="0">
                        <a:solidFill>
                          <a:srgbClr val="2E75B6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dirty="0" err="1"/>
                        <a:t>서비스</a:t>
                      </a:r>
                      <a:r>
                        <a:rPr lang="en" dirty="0"/>
                        <a:t> </a:t>
                      </a:r>
                      <a:r>
                        <a:rPr lang="ko-KR" altLang="en-US" dirty="0"/>
                        <a:t>진단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펌웨어 업데이트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64783179"/>
                  </a:ext>
                </a:extLst>
              </a:tr>
            </a:tbl>
          </a:graphicData>
        </a:graphic>
      </p:graphicFrame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7EA72EFD-0811-1B5B-8F01-475601B1D43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11163" y="1152526"/>
            <a:ext cx="11369675" cy="1405398"/>
          </a:xfrm>
        </p:spPr>
        <p:txBody>
          <a:bodyPr>
            <a:normAutofit/>
          </a:bodyPr>
          <a:lstStyle/>
          <a:p>
            <a:r>
              <a:rPr lang="en-US" altLang="ko-Kore-KR" dirty="0"/>
              <a:t>CAN </a:t>
            </a:r>
            <a:r>
              <a:rPr lang="ko-Kore-KR" altLang="en-US" dirty="0"/>
              <a:t>네트워크 상 </a:t>
            </a:r>
            <a:r>
              <a:rPr lang="en-US" altLang="ko-KR" dirty="0"/>
              <a:t>ECU</a:t>
            </a:r>
            <a:r>
              <a:rPr lang="ko-KR" altLang="en-US" dirty="0"/>
              <a:t> 도메인은 </a:t>
            </a:r>
            <a:r>
              <a:rPr lang="en-US" altLang="ko-KR" dirty="0"/>
              <a:t>ASIL </a:t>
            </a:r>
            <a:r>
              <a:rPr lang="ko-KR" altLang="en-US" dirty="0"/>
              <a:t>등급에 따라 구분</a:t>
            </a:r>
            <a:r>
              <a:rPr lang="en-US" altLang="ko-KR" dirty="0"/>
              <a:t> </a:t>
            </a:r>
            <a:r>
              <a:rPr lang="ko-KR" altLang="en-US" dirty="0"/>
              <a:t>가능</a:t>
            </a:r>
            <a:endParaRPr lang="en-US" altLang="ko-KR" dirty="0"/>
          </a:p>
          <a:p>
            <a:pPr lvl="1"/>
            <a:r>
              <a:rPr lang="en" altLang="ko-Kore-KR" b="1" dirty="0">
                <a:solidFill>
                  <a:srgbClr val="FF0000"/>
                </a:solidFill>
              </a:rPr>
              <a:t>ASIL</a:t>
            </a:r>
            <a:r>
              <a:rPr lang="en-US" altLang="ko-KR" b="1" dirty="0">
                <a:solidFill>
                  <a:srgbClr val="FF0000"/>
                </a:solidFill>
              </a:rPr>
              <a:t>:</a:t>
            </a:r>
            <a:r>
              <a:rPr lang="en" altLang="ko-KR" b="1" dirty="0">
                <a:solidFill>
                  <a:srgbClr val="FF0000"/>
                </a:solidFill>
              </a:rPr>
              <a:t> </a:t>
            </a:r>
            <a:r>
              <a:rPr lang="en" altLang="ko-Kore-KR" dirty="0"/>
              <a:t>Automotive Safety Integrity Level</a:t>
            </a:r>
            <a:r>
              <a:rPr lang="en-US" altLang="ko-KR" dirty="0"/>
              <a:t>(</a:t>
            </a:r>
            <a:r>
              <a:rPr lang="ko-Kore-KR" altLang="en-US" dirty="0"/>
              <a:t>차량 안전 등급 체계</a:t>
            </a:r>
            <a:r>
              <a:rPr lang="en-US" altLang="ko-Kore-KR" dirty="0"/>
              <a:t>)</a:t>
            </a:r>
            <a:endParaRPr lang="en-US" altLang="ko-KR" dirty="0"/>
          </a:p>
          <a:p>
            <a:pPr lvl="1"/>
            <a:r>
              <a:rPr lang="en" altLang="ko-Kore-KR" b="1" dirty="0">
                <a:solidFill>
                  <a:srgbClr val="FF0000"/>
                </a:solidFill>
              </a:rPr>
              <a:t>A </a:t>
            </a:r>
            <a:r>
              <a:rPr lang="en-US" altLang="ko-KR" b="1" dirty="0">
                <a:solidFill>
                  <a:srgbClr val="FF0000"/>
                </a:solidFill>
              </a:rPr>
              <a:t>-&gt; </a:t>
            </a:r>
            <a:r>
              <a:rPr lang="en" altLang="ko-Kore-KR" b="1" dirty="0">
                <a:solidFill>
                  <a:srgbClr val="FF0000"/>
                </a:solidFill>
              </a:rPr>
              <a:t>B </a:t>
            </a:r>
            <a:r>
              <a:rPr lang="en-US" altLang="ko-KR" b="1" dirty="0">
                <a:solidFill>
                  <a:srgbClr val="FF0000"/>
                </a:solidFill>
              </a:rPr>
              <a:t>-&gt; </a:t>
            </a:r>
            <a:r>
              <a:rPr lang="en" altLang="ko-Kore-KR" b="1" dirty="0">
                <a:solidFill>
                  <a:srgbClr val="FF0000"/>
                </a:solidFill>
              </a:rPr>
              <a:t>C </a:t>
            </a:r>
            <a:r>
              <a:rPr lang="en-US" altLang="ko-KR" b="1" dirty="0">
                <a:solidFill>
                  <a:srgbClr val="FF0000"/>
                </a:solidFill>
              </a:rPr>
              <a:t>-&gt; </a:t>
            </a:r>
            <a:r>
              <a:rPr lang="en" altLang="ko-Kore-KR" b="1" dirty="0">
                <a:solidFill>
                  <a:srgbClr val="FF0000"/>
                </a:solidFill>
              </a:rPr>
              <a:t>D </a:t>
            </a:r>
            <a:r>
              <a:rPr lang="ko-KR" altLang="en-US" b="1" dirty="0">
                <a:solidFill>
                  <a:srgbClr val="FF0000"/>
                </a:solidFill>
              </a:rPr>
              <a:t>순으로 위험도 높음</a:t>
            </a:r>
            <a:endParaRPr lang="ko-Kore-KR" altLang="en-US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9EEC76F-72BF-FA00-8850-C2E0E3EDB15D}"/>
              </a:ext>
            </a:extLst>
          </p:cNvPr>
          <p:cNvSpPr txBox="1"/>
          <p:nvPr/>
        </p:nvSpPr>
        <p:spPr>
          <a:xfrm>
            <a:off x="917636" y="6003922"/>
            <a:ext cx="10356727" cy="646331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ko-Kore-KR" b="1" dirty="0">
                <a:solidFill>
                  <a:srgbClr val="FF0000"/>
                </a:solidFill>
              </a:rPr>
              <a:t>KEM</a:t>
            </a:r>
            <a:r>
              <a:rPr lang="en-US" altLang="ko-Kore-KR" b="1" dirty="0"/>
              <a:t>:</a:t>
            </a:r>
            <a:r>
              <a:rPr lang="ko-KR" altLang="en-US" b="1" dirty="0"/>
              <a:t> 전송 지연 </a:t>
            </a:r>
            <a:r>
              <a:rPr lang="en-US" altLang="ko-KR" b="1" dirty="0"/>
              <a:t>5ms</a:t>
            </a:r>
            <a:r>
              <a:rPr lang="ko-KR" altLang="en-US" b="1" dirty="0"/>
              <a:t> 이내이므로 </a:t>
            </a:r>
            <a:r>
              <a:rPr lang="ko-KR" altLang="en-US" b="1" dirty="0">
                <a:solidFill>
                  <a:srgbClr val="FF0000"/>
                </a:solidFill>
              </a:rPr>
              <a:t>지연 한계 내 통신 가능</a:t>
            </a:r>
            <a:r>
              <a:rPr lang="en-US" altLang="ko-KR" b="1" dirty="0"/>
              <a:t>(HQC </a:t>
            </a:r>
            <a:r>
              <a:rPr lang="ko-KR" altLang="en-US" b="1" dirty="0"/>
              <a:t>제외</a:t>
            </a:r>
            <a:r>
              <a:rPr lang="en-US" altLang="ko-KR" b="1" dirty="0"/>
              <a:t>)</a:t>
            </a:r>
          </a:p>
          <a:p>
            <a:pPr algn="ctr"/>
            <a:r>
              <a:rPr lang="en-US" altLang="ko-KR" b="1" dirty="0">
                <a:solidFill>
                  <a:srgbClr val="FF0000"/>
                </a:solidFill>
              </a:rPr>
              <a:t>DSA</a:t>
            </a:r>
            <a:r>
              <a:rPr lang="en-US" altLang="ko-KR" b="1" dirty="0"/>
              <a:t>: </a:t>
            </a:r>
            <a:r>
              <a:rPr lang="en-US" altLang="ko-KR" b="1" dirty="0" err="1"/>
              <a:t>Diagnotics</a:t>
            </a:r>
            <a:r>
              <a:rPr lang="en-US" altLang="ko-KR" b="1" dirty="0"/>
              <a:t>/OTA </a:t>
            </a:r>
            <a:r>
              <a:rPr lang="ko-KR" altLang="en-US" b="1" dirty="0"/>
              <a:t>도메인에만 적용하므로</a:t>
            </a:r>
            <a:r>
              <a:rPr lang="en-US" altLang="ko-KR" b="1" dirty="0"/>
              <a:t>, </a:t>
            </a:r>
            <a:r>
              <a:rPr lang="ko-KR" altLang="en-US" b="1" dirty="0">
                <a:solidFill>
                  <a:srgbClr val="FF0000"/>
                </a:solidFill>
              </a:rPr>
              <a:t>지연 한계 내 통신 가능</a:t>
            </a:r>
            <a:endParaRPr lang="ko-Kore-KR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54490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00B08B-2E3D-0ABF-BF4E-DA270F25EC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61EDE0-AE23-D636-AE41-E045616713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ko-Kore-KR" sz="2800" dirty="0"/>
              <a:t>CAN-FD PQC </a:t>
            </a:r>
            <a:r>
              <a:rPr kumimoji="1" lang="ko-Kore-KR" altLang="en-US" sz="2800" dirty="0"/>
              <a:t>적용 가능성</a:t>
            </a:r>
            <a:r>
              <a:rPr kumimoji="1" lang="en-US" altLang="en-US" sz="2800" dirty="0"/>
              <a:t> </a:t>
            </a:r>
            <a:r>
              <a:rPr kumimoji="1" lang="ko-KR" altLang="en-US" sz="2800" dirty="0"/>
              <a:t>평가</a:t>
            </a:r>
            <a:endParaRPr kumimoji="1" lang="ko-Kore-KR" altLang="en-US" sz="2800" dirty="0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398B4B31-9217-9414-3269-B33B5F846B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9827503"/>
              </p:ext>
            </p:extLst>
          </p:nvPr>
        </p:nvGraphicFramePr>
        <p:xfrm>
          <a:off x="0" y="1087621"/>
          <a:ext cx="12192001" cy="48894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3431">
                  <a:extLst>
                    <a:ext uri="{9D8B030D-6E8A-4147-A177-3AD203B41FA5}">
                      <a16:colId xmlns:a16="http://schemas.microsoft.com/office/drawing/2014/main" val="1684481723"/>
                    </a:ext>
                  </a:extLst>
                </a:gridCol>
                <a:gridCol w="1601090">
                  <a:extLst>
                    <a:ext uri="{9D8B030D-6E8A-4147-A177-3AD203B41FA5}">
                      <a16:colId xmlns:a16="http://schemas.microsoft.com/office/drawing/2014/main" val="433976745"/>
                    </a:ext>
                  </a:extLst>
                </a:gridCol>
                <a:gridCol w="1231843">
                  <a:extLst>
                    <a:ext uri="{9D8B030D-6E8A-4147-A177-3AD203B41FA5}">
                      <a16:colId xmlns:a16="http://schemas.microsoft.com/office/drawing/2014/main" val="2087214465"/>
                    </a:ext>
                  </a:extLst>
                </a:gridCol>
                <a:gridCol w="1848497">
                  <a:extLst>
                    <a:ext uri="{9D8B030D-6E8A-4147-A177-3AD203B41FA5}">
                      <a16:colId xmlns:a16="http://schemas.microsoft.com/office/drawing/2014/main" val="59034802"/>
                    </a:ext>
                  </a:extLst>
                </a:gridCol>
                <a:gridCol w="1848497">
                  <a:extLst>
                    <a:ext uri="{9D8B030D-6E8A-4147-A177-3AD203B41FA5}">
                      <a16:colId xmlns:a16="http://schemas.microsoft.com/office/drawing/2014/main" val="3984856767"/>
                    </a:ext>
                  </a:extLst>
                </a:gridCol>
                <a:gridCol w="1848497">
                  <a:extLst>
                    <a:ext uri="{9D8B030D-6E8A-4147-A177-3AD203B41FA5}">
                      <a16:colId xmlns:a16="http://schemas.microsoft.com/office/drawing/2014/main" val="1001068749"/>
                    </a:ext>
                  </a:extLst>
                </a:gridCol>
                <a:gridCol w="2100146">
                  <a:extLst>
                    <a:ext uri="{9D8B030D-6E8A-4147-A177-3AD203B41FA5}">
                      <a16:colId xmlns:a16="http://schemas.microsoft.com/office/drawing/2014/main" val="3691073971"/>
                    </a:ext>
                  </a:extLst>
                </a:gridCol>
              </a:tblGrid>
              <a:tr h="837675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600" dirty="0"/>
                        <a:t>알고리즘 </a:t>
                      </a:r>
                      <a:endParaRPr lang="en-US" altLang="ko-KR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1600" dirty="0"/>
                        <a:t>CT / Sig</a:t>
                      </a:r>
                      <a:r>
                        <a:rPr lang="ko-KR" altLang="en-US" sz="1600" dirty="0"/>
                        <a:t> </a:t>
                      </a:r>
                      <a:r>
                        <a:rPr lang="en-US" altLang="ko-KR" sz="1600" dirty="0"/>
                        <a:t>(</a:t>
                      </a:r>
                      <a:r>
                        <a:rPr lang="en" sz="1600" dirty="0"/>
                        <a:t>Byte)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600" dirty="0"/>
                        <a:t>전송 지연</a:t>
                      </a:r>
                      <a:endParaRPr lang="en-US" altLang="ko-KR" sz="1600" dirty="0"/>
                    </a:p>
                    <a:p>
                      <a:pPr algn="ctr"/>
                      <a:r>
                        <a:rPr lang="en-US" altLang="ko-KR" sz="1600" dirty="0"/>
                        <a:t>(</a:t>
                      </a:r>
                      <a:r>
                        <a:rPr lang="en-US" altLang="ko-KR" sz="1600" dirty="0" err="1"/>
                        <a:t>ms</a:t>
                      </a:r>
                      <a:r>
                        <a:rPr lang="en-US" altLang="ko-KR" sz="1600" dirty="0"/>
                        <a:t>)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1600" dirty="0"/>
                        <a:t>Power-train</a:t>
                      </a:r>
                    </a:p>
                    <a:p>
                      <a:pPr algn="ctr"/>
                      <a:r>
                        <a:rPr lang="en" sz="1600" dirty="0"/>
                        <a:t>(≤ 5 ms)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1600" dirty="0"/>
                        <a:t>Chassis / ADAS</a:t>
                      </a:r>
                    </a:p>
                    <a:p>
                      <a:pPr algn="ctr"/>
                      <a:r>
                        <a:rPr lang="en" sz="1600" dirty="0"/>
                        <a:t>(≤ 10 ms)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ko-KR" sz="1600" b="1" dirty="0"/>
                        <a:t>Body / Comfort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ko-KR" sz="1600" dirty="0"/>
                        <a:t>(≤ 50 ms)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ko-KR" sz="1600" b="1" dirty="0"/>
                        <a:t>Diagnostics / OTA</a:t>
                      </a:r>
                    </a:p>
                    <a:p>
                      <a:pPr algn="ctr"/>
                      <a:r>
                        <a:rPr lang="en" sz="1600" dirty="0"/>
                        <a:t>(≤ 100 ms)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60862562"/>
                  </a:ext>
                </a:extLst>
              </a:tr>
              <a:tr h="368342">
                <a:tc>
                  <a:txBody>
                    <a:bodyPr/>
                    <a:lstStyle/>
                    <a:p>
                      <a:pPr algn="ctr"/>
                      <a:r>
                        <a:rPr lang="en" sz="1600" b="1" dirty="0"/>
                        <a:t>ML-KEM512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600" dirty="0"/>
                        <a:t>768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ore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34" charset="-127"/>
                        </a:rPr>
                        <a:t>1.97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ko-Kore-KR" sz="1600" b="1" dirty="0">
                          <a:solidFill>
                            <a:srgbClr val="2E75B6"/>
                          </a:solidFill>
                        </a:rPr>
                        <a:t>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ko-Kore-KR" sz="1600" b="1" dirty="0">
                          <a:solidFill>
                            <a:srgbClr val="2E75B6"/>
                          </a:solidFill>
                        </a:rPr>
                        <a:t>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ko-Kore-KR" sz="1600" b="1" dirty="0">
                          <a:solidFill>
                            <a:srgbClr val="2E75B6"/>
                          </a:solidFill>
                        </a:rPr>
                        <a:t>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1600" b="1" dirty="0">
                          <a:solidFill>
                            <a:srgbClr val="2E75B6"/>
                          </a:solidFill>
                        </a:rPr>
                        <a:t>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62811923"/>
                  </a:ext>
                </a:extLst>
              </a:tr>
              <a:tr h="368342">
                <a:tc>
                  <a:txBody>
                    <a:bodyPr/>
                    <a:lstStyle/>
                    <a:p>
                      <a:pPr algn="ctr"/>
                      <a:r>
                        <a:rPr lang="en" sz="1600" b="1" dirty="0"/>
                        <a:t>HQC-128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600" dirty="0"/>
                        <a:t>4</a:t>
                      </a:r>
                      <a:r>
                        <a:rPr lang="en-US" altLang="ko-KR" sz="1600" dirty="0"/>
                        <a:t>,</a:t>
                      </a:r>
                      <a:r>
                        <a:rPr lang="en-US" altLang="ko-Kore-KR" sz="1600" dirty="0"/>
                        <a:t>433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ore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34" charset="-127"/>
                        </a:rPr>
                        <a:t>11.48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1600" b="1">
                          <a:solidFill>
                            <a:srgbClr val="FF0000"/>
                          </a:solidFill>
                        </a:rPr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ore-KR" altLang="en-US" sz="1600" b="1" dirty="0">
                          <a:solidFill>
                            <a:schemeClr val="accent4"/>
                          </a:solidFill>
                        </a:rPr>
                        <a:t>▲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ko-Kore-KR" sz="1600" b="1" dirty="0">
                          <a:solidFill>
                            <a:srgbClr val="2E75B6"/>
                          </a:solidFill>
                        </a:rPr>
                        <a:t>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1600" b="1" dirty="0">
                          <a:solidFill>
                            <a:srgbClr val="2E75B6"/>
                          </a:solidFill>
                        </a:rPr>
                        <a:t>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54757167"/>
                  </a:ext>
                </a:extLst>
              </a:tr>
              <a:tr h="368342">
                <a:tc>
                  <a:txBody>
                    <a:bodyPr/>
                    <a:lstStyle/>
                    <a:p>
                      <a:pPr algn="ctr"/>
                      <a:r>
                        <a:rPr lang="en" sz="1600" b="1" dirty="0">
                          <a:solidFill>
                            <a:schemeClr val="accent6"/>
                          </a:solidFill>
                        </a:rPr>
                        <a:t>SMAUG-T1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600" b="1" dirty="0">
                          <a:solidFill>
                            <a:schemeClr val="accent6"/>
                          </a:solidFill>
                        </a:rPr>
                        <a:t>672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ore-KR" sz="1600" b="1" i="0" u="none" strike="noStrike" dirty="0">
                          <a:solidFill>
                            <a:schemeClr val="accent6"/>
                          </a:solidFill>
                          <a:effectLst/>
                          <a:latin typeface="+mn-lt"/>
                          <a:ea typeface="맑은 고딕" panose="020B0503020000020004" pitchFamily="34" charset="-127"/>
                        </a:rPr>
                        <a:t>1.8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ko-Kore-KR" sz="1600" b="1" dirty="0">
                          <a:solidFill>
                            <a:srgbClr val="2E75B6"/>
                          </a:solidFill>
                        </a:rPr>
                        <a:t>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ko-Kore-KR" sz="1600" b="1" dirty="0">
                          <a:solidFill>
                            <a:srgbClr val="2E75B6"/>
                          </a:solidFill>
                        </a:rPr>
                        <a:t>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ko-Kore-KR" sz="1600" b="1" dirty="0">
                          <a:solidFill>
                            <a:srgbClr val="2E75B6"/>
                          </a:solidFill>
                        </a:rPr>
                        <a:t>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1600" b="1" dirty="0">
                          <a:solidFill>
                            <a:srgbClr val="2E75B6"/>
                          </a:solidFill>
                        </a:rPr>
                        <a:t>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22580324"/>
                  </a:ext>
                </a:extLst>
              </a:tr>
              <a:tr h="368342">
                <a:tc>
                  <a:txBody>
                    <a:bodyPr/>
                    <a:lstStyle/>
                    <a:p>
                      <a:pPr algn="ctr"/>
                      <a:r>
                        <a:rPr lang="en" sz="1600" b="1" dirty="0">
                          <a:solidFill>
                            <a:schemeClr val="accent6"/>
                          </a:solidFill>
                        </a:rPr>
                        <a:t>NTRU+KEM576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600" b="1" dirty="0">
                          <a:solidFill>
                            <a:schemeClr val="accent6"/>
                          </a:solidFill>
                        </a:rPr>
                        <a:t>864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ore-KR" sz="1600" b="1" i="0" u="none" strike="noStrike" dirty="0">
                          <a:solidFill>
                            <a:schemeClr val="accent6"/>
                          </a:solidFill>
                          <a:effectLst/>
                          <a:latin typeface="+mn-lt"/>
                          <a:ea typeface="맑은 고딕" panose="020B0503020000020004" pitchFamily="34" charset="-127"/>
                        </a:rPr>
                        <a:t>2.3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ko-Kore-KR" sz="1600" b="1" dirty="0">
                          <a:solidFill>
                            <a:srgbClr val="2E75B6"/>
                          </a:solidFill>
                        </a:rPr>
                        <a:t>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ko-Kore-KR" sz="1600" b="1" dirty="0">
                          <a:solidFill>
                            <a:srgbClr val="2E75B6"/>
                          </a:solidFill>
                        </a:rPr>
                        <a:t>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ko-Kore-KR" sz="1600" b="1" dirty="0">
                          <a:solidFill>
                            <a:srgbClr val="2E75B6"/>
                          </a:solidFill>
                        </a:rPr>
                        <a:t>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1600" b="1" dirty="0">
                          <a:solidFill>
                            <a:srgbClr val="2E75B6"/>
                          </a:solidFill>
                        </a:rPr>
                        <a:t>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36435375"/>
                  </a:ext>
                </a:extLst>
              </a:tr>
              <a:tr h="368342">
                <a:tc>
                  <a:txBody>
                    <a:bodyPr/>
                    <a:lstStyle/>
                    <a:p>
                      <a:pPr algn="ctr"/>
                      <a:r>
                        <a:rPr lang="en" sz="1600" b="1" dirty="0"/>
                        <a:t>Falcon-512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600"/>
                        <a:t>666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ore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34" charset="-127"/>
                        </a:rPr>
                        <a:t>1.8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ko-Kore-KR" sz="1600" b="1" dirty="0">
                          <a:solidFill>
                            <a:srgbClr val="2E75B6"/>
                          </a:solidFill>
                        </a:rPr>
                        <a:t>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ko-Kore-KR" sz="1600" b="1" dirty="0">
                          <a:solidFill>
                            <a:srgbClr val="2E75B6"/>
                          </a:solidFill>
                        </a:rPr>
                        <a:t>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ko-Kore-KR" sz="1600" b="1" dirty="0">
                          <a:solidFill>
                            <a:srgbClr val="2E75B6"/>
                          </a:solidFill>
                        </a:rPr>
                        <a:t>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1600" b="1" dirty="0">
                          <a:solidFill>
                            <a:srgbClr val="2E75B6"/>
                          </a:solidFill>
                        </a:rPr>
                        <a:t>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3777049"/>
                  </a:ext>
                </a:extLst>
              </a:tr>
              <a:tr h="368342">
                <a:tc>
                  <a:txBody>
                    <a:bodyPr/>
                    <a:lstStyle/>
                    <a:p>
                      <a:pPr algn="ctr"/>
                      <a:r>
                        <a:rPr lang="en" sz="1600" b="1" dirty="0"/>
                        <a:t>SPHINCS+128s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600" dirty="0"/>
                        <a:t>7</a:t>
                      </a:r>
                      <a:r>
                        <a:rPr lang="en-US" altLang="ko-KR" sz="1600" dirty="0"/>
                        <a:t>,</a:t>
                      </a:r>
                      <a:r>
                        <a:rPr lang="en-US" altLang="ko-Kore-KR" sz="1600" dirty="0"/>
                        <a:t>856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ore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34" charset="-127"/>
                        </a:rPr>
                        <a:t>20.17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1600" b="1" dirty="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1600" b="1" dirty="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1600" b="1" dirty="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ko-Kore-KR" sz="1600" b="1" dirty="0">
                          <a:solidFill>
                            <a:srgbClr val="2E75B6"/>
                          </a:solidFill>
                        </a:rPr>
                        <a:t>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52439136"/>
                  </a:ext>
                </a:extLst>
              </a:tr>
              <a:tr h="368342">
                <a:tc>
                  <a:txBody>
                    <a:bodyPr/>
                    <a:lstStyle/>
                    <a:p>
                      <a:pPr algn="ctr"/>
                      <a:r>
                        <a:rPr lang="en" sz="1600" b="1" dirty="0"/>
                        <a:t>SPHINCS+128f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600" dirty="0"/>
                        <a:t>17</a:t>
                      </a:r>
                      <a:r>
                        <a:rPr lang="en-US" altLang="ko-KR" sz="1600" dirty="0"/>
                        <a:t>,</a:t>
                      </a:r>
                      <a:r>
                        <a:rPr lang="en-US" altLang="ko-Kore-KR" sz="1600" dirty="0"/>
                        <a:t>088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ore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34" charset="-127"/>
                        </a:rPr>
                        <a:t>43.79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1600" b="1" dirty="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1600" b="1" dirty="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1600" b="1" dirty="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ko-Kore-KR" sz="1600" b="1" dirty="0">
                          <a:solidFill>
                            <a:srgbClr val="2E75B6"/>
                          </a:solidFill>
                        </a:rPr>
                        <a:t>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46690502"/>
                  </a:ext>
                </a:extLst>
              </a:tr>
              <a:tr h="368342">
                <a:tc>
                  <a:txBody>
                    <a:bodyPr/>
                    <a:lstStyle/>
                    <a:p>
                      <a:pPr algn="ctr"/>
                      <a:r>
                        <a:rPr lang="en" sz="1600" b="1" dirty="0">
                          <a:solidFill>
                            <a:schemeClr val="accent6"/>
                          </a:solidFill>
                        </a:rPr>
                        <a:t>AIMer128s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600" b="1" dirty="0">
                          <a:solidFill>
                            <a:schemeClr val="accent6"/>
                          </a:solidFill>
                        </a:rPr>
                        <a:t>4</a:t>
                      </a:r>
                      <a:r>
                        <a:rPr lang="en-US" altLang="ko-KR" sz="1600" b="1" dirty="0">
                          <a:solidFill>
                            <a:schemeClr val="accent6"/>
                          </a:solidFill>
                        </a:rPr>
                        <a:t>,</a:t>
                      </a:r>
                      <a:r>
                        <a:rPr lang="en-US" altLang="ko-Kore-KR" sz="1600" b="1" dirty="0">
                          <a:solidFill>
                            <a:schemeClr val="accent6"/>
                          </a:solidFill>
                        </a:rPr>
                        <a:t>160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ore-KR" sz="1600" b="1" i="0" u="none" strike="noStrike" dirty="0">
                          <a:solidFill>
                            <a:schemeClr val="accent6"/>
                          </a:solidFill>
                          <a:effectLst/>
                          <a:latin typeface="+mn-lt"/>
                          <a:ea typeface="맑은 고딕" panose="020B0503020000020004" pitchFamily="34" charset="-127"/>
                        </a:rPr>
                        <a:t>10.66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1600" b="1" dirty="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1600" b="1" dirty="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1600" b="1" dirty="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1600" b="1" dirty="0">
                          <a:solidFill>
                            <a:srgbClr val="2E75B6"/>
                          </a:solidFill>
                        </a:rPr>
                        <a:t>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99266582"/>
                  </a:ext>
                </a:extLst>
              </a:tr>
              <a:tr h="368342">
                <a:tc>
                  <a:txBody>
                    <a:bodyPr/>
                    <a:lstStyle/>
                    <a:p>
                      <a:pPr algn="ctr"/>
                      <a:r>
                        <a:rPr lang="en" sz="1600" b="1" dirty="0">
                          <a:solidFill>
                            <a:schemeClr val="accent6"/>
                          </a:solidFill>
                        </a:rPr>
                        <a:t>AIMer128f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600" b="1" dirty="0">
                          <a:solidFill>
                            <a:schemeClr val="accent6"/>
                          </a:solidFill>
                        </a:rPr>
                        <a:t>5</a:t>
                      </a:r>
                      <a:r>
                        <a:rPr lang="en-US" altLang="ko-KR" sz="1600" b="1" dirty="0">
                          <a:solidFill>
                            <a:schemeClr val="accent6"/>
                          </a:solidFill>
                        </a:rPr>
                        <a:t>,</a:t>
                      </a:r>
                      <a:r>
                        <a:rPr lang="en-US" altLang="ko-Kore-KR" sz="1600" b="1" dirty="0">
                          <a:solidFill>
                            <a:schemeClr val="accent6"/>
                          </a:solidFill>
                        </a:rPr>
                        <a:t>888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ore-KR" sz="1600" b="1" i="0" u="none" strike="noStrike" dirty="0">
                          <a:solidFill>
                            <a:schemeClr val="accent6"/>
                          </a:solidFill>
                          <a:effectLst/>
                          <a:latin typeface="+mn-lt"/>
                          <a:ea typeface="맑은 고딕" panose="020B0503020000020004" pitchFamily="34" charset="-127"/>
                        </a:rPr>
                        <a:t>15.09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1600" b="1" dirty="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1600" b="1" dirty="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1600" b="1" dirty="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1600" b="1" dirty="0">
                          <a:solidFill>
                            <a:srgbClr val="2E75B6"/>
                          </a:solidFill>
                        </a:rPr>
                        <a:t>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62193958"/>
                  </a:ext>
                </a:extLst>
              </a:tr>
              <a:tr h="368342">
                <a:tc>
                  <a:txBody>
                    <a:bodyPr/>
                    <a:lstStyle/>
                    <a:p>
                      <a:pPr algn="ctr"/>
                      <a:r>
                        <a:rPr lang="en" sz="1600" b="1" dirty="0"/>
                        <a:t>ML-DSA44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600" dirty="0"/>
                        <a:t>3</a:t>
                      </a:r>
                      <a:r>
                        <a:rPr lang="en-US" altLang="ko-KR" sz="1600" dirty="0"/>
                        <a:t>,</a:t>
                      </a:r>
                      <a:r>
                        <a:rPr lang="en-US" altLang="ko-Kore-KR" sz="1600" dirty="0"/>
                        <a:t>256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ore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34" charset="-127"/>
                        </a:rPr>
                        <a:t>6.23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1600" b="1" dirty="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ko-Kore-KR" sz="1600" b="1" dirty="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ko-Kore-KR" sz="1600" b="1" dirty="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1600" b="1" dirty="0">
                          <a:solidFill>
                            <a:srgbClr val="2E75B6"/>
                          </a:solidFill>
                        </a:rPr>
                        <a:t>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71817543"/>
                  </a:ext>
                </a:extLst>
              </a:tr>
              <a:tr h="368342">
                <a:tc>
                  <a:txBody>
                    <a:bodyPr/>
                    <a:lstStyle/>
                    <a:p>
                      <a:pPr algn="ctr"/>
                      <a:r>
                        <a:rPr lang="en" sz="1600" b="1" dirty="0">
                          <a:solidFill>
                            <a:schemeClr val="accent6"/>
                          </a:solidFill>
                        </a:rPr>
                        <a:t>HAETAE-2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600" b="1" dirty="0">
                          <a:solidFill>
                            <a:schemeClr val="accent6"/>
                          </a:solidFill>
                        </a:rPr>
                        <a:t>2</a:t>
                      </a:r>
                      <a:r>
                        <a:rPr lang="en-US" altLang="ko-KR" sz="1600" b="1" dirty="0">
                          <a:solidFill>
                            <a:schemeClr val="accent6"/>
                          </a:solidFill>
                        </a:rPr>
                        <a:t>,</a:t>
                      </a:r>
                      <a:r>
                        <a:rPr lang="en-US" altLang="ko-Kore-KR" sz="1600" b="1" dirty="0">
                          <a:solidFill>
                            <a:schemeClr val="accent6"/>
                          </a:solidFill>
                        </a:rPr>
                        <a:t>002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ore-KR" sz="1600" b="1" i="0" u="none" strike="noStrike" dirty="0">
                          <a:solidFill>
                            <a:schemeClr val="accent6"/>
                          </a:solidFill>
                          <a:effectLst/>
                          <a:latin typeface="+mn-lt"/>
                          <a:ea typeface="맑은 고딕" panose="020B0503020000020004" pitchFamily="34" charset="-127"/>
                        </a:rPr>
                        <a:t>3.94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1600" b="1" dirty="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1600" b="1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ore-KR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1600" b="1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ore-KR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1600" b="1" dirty="0">
                          <a:solidFill>
                            <a:srgbClr val="2E75B6"/>
                          </a:solidFill>
                        </a:rPr>
                        <a:t>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6478317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D6D0B33B-87D2-25CF-0377-68703E7F1CE4}"/>
              </a:ext>
            </a:extLst>
          </p:cNvPr>
          <p:cNvSpPr txBox="1"/>
          <p:nvPr/>
        </p:nvSpPr>
        <p:spPr>
          <a:xfrm>
            <a:off x="8735780" y="446690"/>
            <a:ext cx="30443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ore-KR" altLang="en-US" sz="1400" b="1" dirty="0">
                <a:solidFill>
                  <a:schemeClr val="accent4"/>
                </a:solidFill>
              </a:rPr>
              <a:t>▲</a:t>
            </a:r>
            <a:r>
              <a:rPr lang="en-US" altLang="ko-Kore-KR" sz="1400" b="1" dirty="0">
                <a:solidFill>
                  <a:schemeClr val="accent4"/>
                </a:solidFill>
              </a:rPr>
              <a:t>: </a:t>
            </a:r>
            <a:r>
              <a:rPr lang="ko-Kore-KR" altLang="en-US" sz="1400" dirty="0"/>
              <a:t>최적화 시 적용 가능성 있음</a:t>
            </a:r>
            <a:endParaRPr lang="en-US" altLang="ko-Kore-KR" sz="1400" dirty="0"/>
          </a:p>
          <a:p>
            <a:r>
              <a:rPr lang="en-US" altLang="ko-Kore-KR" sz="1400" dirty="0"/>
              <a:t>(</a:t>
            </a:r>
            <a:r>
              <a:rPr lang="ko-Kore-KR" altLang="en-US" sz="1400" dirty="0"/>
              <a:t>비트레이트 향상</a:t>
            </a:r>
            <a:r>
              <a:rPr lang="en-US" altLang="ko-Kore-KR" sz="1400" dirty="0"/>
              <a:t>, </a:t>
            </a:r>
            <a:r>
              <a:rPr lang="ko-Kore-KR" altLang="en-US" sz="1400" dirty="0"/>
              <a:t>프레임 재배치</a:t>
            </a:r>
            <a:r>
              <a:rPr lang="en-US" altLang="ko-Kore-KR" sz="1400" dirty="0"/>
              <a:t> </a:t>
            </a:r>
            <a:r>
              <a:rPr lang="ko-Kore-KR" altLang="en-US" sz="1400" dirty="0"/>
              <a:t>등</a:t>
            </a:r>
            <a:r>
              <a:rPr lang="en-US" altLang="ko-Kore-KR" sz="1400" dirty="0"/>
              <a:t>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CEE5A43-EE48-C8F0-B4D9-A07DDE6F403D}"/>
              </a:ext>
            </a:extLst>
          </p:cNvPr>
          <p:cNvSpPr txBox="1"/>
          <p:nvPr/>
        </p:nvSpPr>
        <p:spPr>
          <a:xfrm>
            <a:off x="845393" y="6094769"/>
            <a:ext cx="10501213" cy="646331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ko-KR" altLang="en-US" b="1" dirty="0">
                <a:solidFill>
                  <a:srgbClr val="FF0000"/>
                </a:solidFill>
              </a:rPr>
              <a:t>현행 </a:t>
            </a:r>
            <a:r>
              <a:rPr lang="en" altLang="ko-Kore-KR" b="1" dirty="0">
                <a:solidFill>
                  <a:srgbClr val="FF0000"/>
                </a:solidFill>
              </a:rPr>
              <a:t>CAN-FD </a:t>
            </a:r>
            <a:r>
              <a:rPr lang="ko-KR" altLang="en-US" b="1" dirty="0">
                <a:solidFill>
                  <a:srgbClr val="FF0000"/>
                </a:solidFill>
              </a:rPr>
              <a:t>버스에 </a:t>
            </a:r>
            <a:r>
              <a:rPr lang="en" altLang="ko-Kore-KR" b="1" dirty="0">
                <a:solidFill>
                  <a:srgbClr val="FF0000"/>
                </a:solidFill>
              </a:rPr>
              <a:t>HQC</a:t>
            </a:r>
            <a:r>
              <a:rPr lang="ko-KR" altLang="en-US" b="1" dirty="0">
                <a:solidFill>
                  <a:srgbClr val="FF0000"/>
                </a:solidFill>
              </a:rPr>
              <a:t>를 제외한 알고리즘은 모두 적용 가능할 것으로 평가됨</a:t>
            </a:r>
            <a:endParaRPr lang="en-US" altLang="ko-KR" b="1" dirty="0">
              <a:solidFill>
                <a:srgbClr val="FF0000"/>
              </a:solidFill>
            </a:endParaRPr>
          </a:p>
          <a:p>
            <a:pPr algn="ctr"/>
            <a:r>
              <a:rPr lang="ko-KR" altLang="en-US" b="1" dirty="0"/>
              <a:t>단</a:t>
            </a:r>
            <a:r>
              <a:rPr lang="en-US" altLang="ko-KR" b="1" dirty="0"/>
              <a:t> </a:t>
            </a:r>
            <a:r>
              <a:rPr lang="ko-KR" altLang="en-US" b="1" dirty="0"/>
              <a:t>최저 보안 레벨의 파라미터를 기준으로 평가하였기에</a:t>
            </a:r>
            <a:r>
              <a:rPr lang="en-US" altLang="ko-KR" b="1" dirty="0"/>
              <a:t>, </a:t>
            </a:r>
            <a:r>
              <a:rPr lang="ko-KR" altLang="en-US" b="1" dirty="0"/>
              <a:t>상위 보안 레벨 적용 시 검토 필요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7721843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814602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Kyber</a:t>
            </a:r>
            <a:r>
              <a:rPr lang="en-US" altLang="ko-KR" dirty="0"/>
              <a:t> vs SMAUG-T NTRU+ </a:t>
            </a:r>
            <a:r>
              <a:rPr lang="ko-KR" altLang="en-US" dirty="0"/>
              <a:t>키 크기 비교</a:t>
            </a: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97EDA7D7-FB34-5280-5190-A6E2533D0700}"/>
              </a:ext>
            </a:extLst>
          </p:cNvPr>
          <p:cNvGraphicFramePr>
            <a:graphicFrameLocks noGrp="1"/>
          </p:cNvGraphicFramePr>
          <p:nvPr/>
        </p:nvGraphicFramePr>
        <p:xfrm>
          <a:off x="260858" y="1464678"/>
          <a:ext cx="3962952" cy="43795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1925">
                  <a:extLst>
                    <a:ext uri="{9D8B030D-6E8A-4147-A177-3AD203B41FA5}">
                      <a16:colId xmlns:a16="http://schemas.microsoft.com/office/drawing/2014/main" val="1475580333"/>
                    </a:ext>
                  </a:extLst>
                </a:gridCol>
                <a:gridCol w="1679885">
                  <a:extLst>
                    <a:ext uri="{9D8B030D-6E8A-4147-A177-3AD203B41FA5}">
                      <a16:colId xmlns:a16="http://schemas.microsoft.com/office/drawing/2014/main" val="3307861872"/>
                    </a:ext>
                  </a:extLst>
                </a:gridCol>
                <a:gridCol w="1531142">
                  <a:extLst>
                    <a:ext uri="{9D8B030D-6E8A-4147-A177-3AD203B41FA5}">
                      <a16:colId xmlns:a16="http://schemas.microsoft.com/office/drawing/2014/main" val="1327884116"/>
                    </a:ext>
                  </a:extLst>
                </a:gridCol>
              </a:tblGrid>
              <a:tr h="36591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latin typeface="+mn-lt"/>
                        </a:rPr>
                        <a:t>Rank</a:t>
                      </a:r>
                      <a:endParaRPr lang="ko-KR" altLang="en-US" sz="1200" b="1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latin typeface="+mn-lt"/>
                        </a:rPr>
                        <a:t>Scheme</a:t>
                      </a:r>
                      <a:endParaRPr lang="ko-KR" altLang="en-US" sz="1200" b="1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latin typeface="+mn-lt"/>
                        </a:rPr>
                        <a:t>Public key</a:t>
                      </a:r>
                      <a:endParaRPr lang="ko-KR" altLang="en-US" sz="1200" b="1" dirty="0"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38246716"/>
                  </a:ext>
                </a:extLst>
              </a:tr>
              <a:tr h="267578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" sz="1200" b="1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맑은 고딕" panose="020B0503020000020004" pitchFamily="34" charset="-127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" sz="1200" b="1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맑은 고딕" panose="020B0503020000020004" pitchFamily="34" charset="-127"/>
                        </a:rPr>
                        <a:t>SMAUG-T1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200" b="1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맑은 고딕" panose="020B0503020000020004" pitchFamily="34" charset="-127"/>
                        </a:rPr>
                        <a:t>672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962885781"/>
                  </a:ext>
                </a:extLst>
              </a:tr>
              <a:tr h="267578">
                <a:tc vMerge="1">
                  <a:txBody>
                    <a:bodyPr/>
                    <a:lstStyle/>
                    <a:p>
                      <a:pPr algn="ctr" fontAlgn="ctr"/>
                      <a:endParaRPr lang="en" sz="12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  <a:ea typeface="맑은 고딕" panose="020B0503020000020004" pitchFamily="34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" sz="1200" b="1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맑은 고딕" panose="020B0503020000020004" pitchFamily="34" charset="-127"/>
                        </a:rPr>
                        <a:t>SMAUG-Timer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200" b="1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맑은 고딕" panose="020B0503020000020004" pitchFamily="34" charset="-127"/>
                        </a:rPr>
                        <a:t>672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659377679"/>
                  </a:ext>
                </a:extLst>
              </a:tr>
              <a:tr h="267578">
                <a:tc>
                  <a:txBody>
                    <a:bodyPr/>
                    <a:lstStyle/>
                    <a:p>
                      <a:pPr algn="ctr" fontAlgn="ctr"/>
                      <a:r>
                        <a:rPr lang="en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34" charset="-127"/>
                        </a:rPr>
                        <a:t>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BatangChe" panose="02030609000101010101" pitchFamily="49" charset="-127"/>
                        </a:rPr>
                        <a:t>KYBER-512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BatangChe" panose="02030609000101010101" pitchFamily="49" charset="-127"/>
                        </a:rPr>
                        <a:t>800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027863410"/>
                  </a:ext>
                </a:extLst>
              </a:tr>
              <a:tr h="267578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" sz="1200" b="1" i="0" u="none" strike="noStrike" dirty="0">
                          <a:solidFill>
                            <a:schemeClr val="accent6"/>
                          </a:solidFill>
                          <a:effectLst/>
                          <a:latin typeface="+mn-lt"/>
                          <a:ea typeface="맑은 고딕" panose="020B0503020000020004" pitchFamily="34" charset="-127"/>
                        </a:rPr>
                        <a:t>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" sz="1200" b="1" i="0" u="none" strike="noStrike" dirty="0">
                          <a:solidFill>
                            <a:schemeClr val="accent6"/>
                          </a:solidFill>
                          <a:effectLst/>
                          <a:latin typeface="+mn-lt"/>
                          <a:ea typeface="맑은 고딕" panose="020B0503020000020004" pitchFamily="34" charset="-127"/>
                        </a:rPr>
                        <a:t>NTRU+KEM576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200" b="1" i="0" u="none" strike="noStrike" dirty="0">
                          <a:solidFill>
                            <a:schemeClr val="accent6"/>
                          </a:solidFill>
                          <a:effectLst/>
                          <a:latin typeface="+mn-lt"/>
                          <a:ea typeface="맑은 고딕" panose="020B0503020000020004" pitchFamily="34" charset="-127"/>
                        </a:rPr>
                        <a:t>864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885538770"/>
                  </a:ext>
                </a:extLst>
              </a:tr>
              <a:tr h="267578">
                <a:tc vMerge="1">
                  <a:txBody>
                    <a:bodyPr/>
                    <a:lstStyle/>
                    <a:p>
                      <a:pPr algn="ctr" fontAlgn="ctr"/>
                      <a:endParaRPr lang="en" sz="12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  <a:ea typeface="맑은 고딕" panose="020B0503020000020004" pitchFamily="34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" sz="1200" b="1" i="0" u="none" strike="noStrike" dirty="0">
                          <a:solidFill>
                            <a:schemeClr val="accent6"/>
                          </a:solidFill>
                          <a:effectLst/>
                          <a:latin typeface="+mn-lt"/>
                          <a:ea typeface="맑은 고딕" panose="020B0503020000020004" pitchFamily="34" charset="-127"/>
                        </a:rPr>
                        <a:t>NTRU+PKE576 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200" b="1" i="0" u="none" strike="noStrike" dirty="0">
                          <a:solidFill>
                            <a:schemeClr val="accent6"/>
                          </a:solidFill>
                          <a:effectLst/>
                          <a:latin typeface="+mn-lt"/>
                          <a:ea typeface="맑은 고딕" panose="020B0503020000020004" pitchFamily="34" charset="-127"/>
                        </a:rPr>
                        <a:t>864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50438995"/>
                  </a:ext>
                </a:extLst>
              </a:tr>
              <a:tr h="267578">
                <a:tc>
                  <a:txBody>
                    <a:bodyPr/>
                    <a:lstStyle/>
                    <a:p>
                      <a:pPr algn="ctr" fontAlgn="ctr"/>
                      <a:r>
                        <a:rPr lang="en" sz="1200" b="1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맑은 고딕" panose="020B0503020000020004" pitchFamily="34" charset="-127"/>
                        </a:rPr>
                        <a:t>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" sz="1200" b="1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맑은 고딕" panose="020B0503020000020004" pitchFamily="34" charset="-127"/>
                        </a:rPr>
                        <a:t>SMAUG-T3 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200" b="1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맑은 고딕" panose="020B0503020000020004" pitchFamily="34" charset="-127"/>
                        </a:rPr>
                        <a:t>1,088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969899059"/>
                  </a:ext>
                </a:extLst>
              </a:tr>
              <a:tr h="267578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" sz="1200" b="1" i="0" u="none" strike="noStrike" dirty="0">
                          <a:solidFill>
                            <a:schemeClr val="accent6"/>
                          </a:solidFill>
                          <a:effectLst/>
                          <a:latin typeface="+mn-lt"/>
                          <a:ea typeface="맑은 고딕" panose="020B0503020000020004" pitchFamily="34" charset="-127"/>
                        </a:rPr>
                        <a:t>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" sz="1200" b="1" i="0" u="none" strike="noStrike" dirty="0">
                          <a:solidFill>
                            <a:schemeClr val="accent6"/>
                          </a:solidFill>
                          <a:effectLst/>
                          <a:latin typeface="+mn-lt"/>
                          <a:ea typeface="맑은 고딕" panose="020B0503020000020004" pitchFamily="34" charset="-127"/>
                        </a:rPr>
                        <a:t>NTRU+KEM768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200" b="1" i="0" u="none" strike="noStrike" dirty="0">
                          <a:solidFill>
                            <a:schemeClr val="accent6"/>
                          </a:solidFill>
                          <a:effectLst/>
                          <a:latin typeface="+mn-lt"/>
                          <a:ea typeface="맑은 고딕" panose="020B0503020000020004" pitchFamily="34" charset="-127"/>
                        </a:rPr>
                        <a:t>1,152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561069468"/>
                  </a:ext>
                </a:extLst>
              </a:tr>
              <a:tr h="267578">
                <a:tc vMerge="1">
                  <a:txBody>
                    <a:bodyPr/>
                    <a:lstStyle/>
                    <a:p>
                      <a:pPr algn="ctr" fontAlgn="ctr"/>
                      <a:endParaRPr lang="en" sz="12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  <a:ea typeface="맑은 고딕" panose="020B0503020000020004" pitchFamily="34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" sz="1200" b="1" i="0" u="none" strike="noStrike" dirty="0">
                          <a:solidFill>
                            <a:schemeClr val="accent6"/>
                          </a:solidFill>
                          <a:effectLst/>
                          <a:latin typeface="+mn-lt"/>
                          <a:ea typeface="맑은 고딕" panose="020B0503020000020004" pitchFamily="34" charset="-127"/>
                        </a:rPr>
                        <a:t>NTRU+PKE768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200" b="1" i="0" u="none" strike="noStrike" dirty="0">
                          <a:solidFill>
                            <a:schemeClr val="accent6"/>
                          </a:solidFill>
                          <a:effectLst/>
                          <a:latin typeface="+mn-lt"/>
                          <a:ea typeface="맑은 고딕" panose="020B0503020000020004" pitchFamily="34" charset="-127"/>
                        </a:rPr>
                        <a:t>1,152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514975421"/>
                  </a:ext>
                </a:extLst>
              </a:tr>
              <a:tr h="267578">
                <a:tc>
                  <a:txBody>
                    <a:bodyPr/>
                    <a:lstStyle/>
                    <a:p>
                      <a:pPr algn="ctr" fontAlgn="ctr"/>
                      <a:r>
                        <a:rPr lang="en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34" charset="-127"/>
                        </a:rPr>
                        <a:t>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BatangChe" panose="02030609000101010101" pitchFamily="49" charset="-127"/>
                        </a:rPr>
                        <a:t>KYBER-768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BatangChe" panose="02030609000101010101" pitchFamily="49" charset="-127"/>
                        </a:rPr>
                        <a:t>1,184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129723527"/>
                  </a:ext>
                </a:extLst>
              </a:tr>
              <a:tr h="267578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" sz="1200" b="1" i="0" u="none" strike="noStrike" dirty="0">
                          <a:solidFill>
                            <a:schemeClr val="accent6"/>
                          </a:solidFill>
                          <a:effectLst/>
                          <a:latin typeface="+mn-lt"/>
                          <a:ea typeface="맑은 고딕" panose="020B0503020000020004" pitchFamily="34" charset="-127"/>
                        </a:rPr>
                        <a:t>10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" sz="1200" b="1" i="0" u="none" strike="noStrike" dirty="0">
                          <a:solidFill>
                            <a:schemeClr val="accent6"/>
                          </a:solidFill>
                          <a:effectLst/>
                          <a:latin typeface="+mn-lt"/>
                          <a:ea typeface="맑은 고딕" panose="020B0503020000020004" pitchFamily="34" charset="-127"/>
                        </a:rPr>
                        <a:t>NTRU+KEM864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200" b="1" i="0" u="none" strike="noStrike" dirty="0">
                          <a:solidFill>
                            <a:schemeClr val="accent6"/>
                          </a:solidFill>
                          <a:effectLst/>
                          <a:latin typeface="+mn-lt"/>
                          <a:ea typeface="맑은 고딕" panose="020B0503020000020004" pitchFamily="34" charset="-127"/>
                        </a:rPr>
                        <a:t>1,296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396847264"/>
                  </a:ext>
                </a:extLst>
              </a:tr>
              <a:tr h="267578">
                <a:tc vMerge="1">
                  <a:txBody>
                    <a:bodyPr/>
                    <a:lstStyle/>
                    <a:p>
                      <a:pPr algn="ctr" fontAlgn="ctr"/>
                      <a:endParaRPr lang="en" sz="12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  <a:ea typeface="맑은 고딕" panose="020B0503020000020004" pitchFamily="34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" sz="1200" b="1" i="0" u="none" strike="noStrike" dirty="0">
                          <a:solidFill>
                            <a:schemeClr val="accent6"/>
                          </a:solidFill>
                          <a:effectLst/>
                          <a:latin typeface="+mn-lt"/>
                          <a:ea typeface="맑은 고딕" panose="020B0503020000020004" pitchFamily="34" charset="-127"/>
                        </a:rPr>
                        <a:t>NTRU+PKE864 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200" b="1" i="0" u="none" strike="noStrike" dirty="0">
                          <a:solidFill>
                            <a:schemeClr val="accent6"/>
                          </a:solidFill>
                          <a:effectLst/>
                          <a:latin typeface="+mn-lt"/>
                          <a:ea typeface="맑은 고딕" panose="020B0503020000020004" pitchFamily="34" charset="-127"/>
                        </a:rPr>
                        <a:t>1,296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935171977"/>
                  </a:ext>
                </a:extLst>
              </a:tr>
              <a:tr h="267578">
                <a:tc>
                  <a:txBody>
                    <a:bodyPr/>
                    <a:lstStyle/>
                    <a:p>
                      <a:pPr algn="ctr" fontAlgn="ctr"/>
                      <a:r>
                        <a:rPr lang="en" sz="1200" b="1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맑은 고딕" panose="020B0503020000020004" pitchFamily="34" charset="-127"/>
                        </a:rPr>
                        <a:t>1</a:t>
                      </a:r>
                      <a:r>
                        <a:rPr lang="en-US" altLang="ko-KR" sz="1200" b="1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맑은 고딕" panose="020B0503020000020004" pitchFamily="34" charset="-127"/>
                        </a:rPr>
                        <a:t>2</a:t>
                      </a:r>
                      <a:endParaRPr lang="en" sz="1200" b="1" i="0" u="none" strike="noStrike" dirty="0">
                        <a:solidFill>
                          <a:srgbClr val="FF0000"/>
                        </a:solidFill>
                        <a:effectLst/>
                        <a:latin typeface="+mn-lt"/>
                        <a:ea typeface="맑은 고딕" panose="020B0503020000020004" pitchFamily="34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" sz="1200" b="1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맑은 고딕" panose="020B0503020000020004" pitchFamily="34" charset="-127"/>
                        </a:rPr>
                        <a:t>SMAUG-T5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200" b="1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맑은 고딕" panose="020B0503020000020004" pitchFamily="34" charset="-127"/>
                        </a:rPr>
                        <a:t>1,440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27560697"/>
                  </a:ext>
                </a:extLst>
              </a:tr>
              <a:tr h="267578">
                <a:tc>
                  <a:txBody>
                    <a:bodyPr/>
                    <a:lstStyle/>
                    <a:p>
                      <a:pPr algn="ctr" fontAlgn="ctr"/>
                      <a:r>
                        <a:rPr lang="en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34" charset="-127"/>
                        </a:rPr>
                        <a:t>1</a:t>
                      </a:r>
                      <a:r>
                        <a:rPr lang="en-US" altLang="ko-KR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34" charset="-127"/>
                        </a:rPr>
                        <a:t>3</a:t>
                      </a:r>
                      <a:endParaRPr lang="en" sz="12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  <a:ea typeface="맑은 고딕" panose="020B0503020000020004" pitchFamily="34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BatangChe" panose="02030609000101010101" pitchFamily="49" charset="-127"/>
                        </a:rPr>
                        <a:t>KYBER-1024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BatangChe" panose="02030609000101010101" pitchFamily="49" charset="-127"/>
                        </a:rPr>
                        <a:t>1,568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649018529"/>
                  </a:ext>
                </a:extLst>
              </a:tr>
              <a:tr h="267578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" sz="1200" b="1" i="0" u="none" strike="noStrike" dirty="0">
                          <a:solidFill>
                            <a:schemeClr val="accent6"/>
                          </a:solidFill>
                          <a:effectLst/>
                          <a:latin typeface="+mn-lt"/>
                          <a:ea typeface="맑은 고딕" panose="020B0503020000020004" pitchFamily="34" charset="-127"/>
                        </a:rPr>
                        <a:t>1</a:t>
                      </a:r>
                      <a:r>
                        <a:rPr lang="en-US" altLang="ko-KR" sz="1200" b="1" i="0" u="none" strike="noStrike" dirty="0">
                          <a:solidFill>
                            <a:schemeClr val="accent6"/>
                          </a:solidFill>
                          <a:effectLst/>
                          <a:latin typeface="+mn-lt"/>
                          <a:ea typeface="맑은 고딕" panose="020B0503020000020004" pitchFamily="34" charset="-127"/>
                        </a:rPr>
                        <a:t>4</a:t>
                      </a:r>
                      <a:endParaRPr lang="en" sz="1200" b="1" i="0" u="none" strike="noStrike" dirty="0">
                        <a:solidFill>
                          <a:schemeClr val="accent6"/>
                        </a:solidFill>
                        <a:effectLst/>
                        <a:latin typeface="+mn-lt"/>
                        <a:ea typeface="맑은 고딕" panose="020B0503020000020004" pitchFamily="34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" sz="1200" b="1" i="0" u="none" strike="noStrike" dirty="0">
                          <a:solidFill>
                            <a:schemeClr val="accent6"/>
                          </a:solidFill>
                          <a:effectLst/>
                          <a:latin typeface="+mn-lt"/>
                          <a:ea typeface="맑은 고딕" panose="020B0503020000020004" pitchFamily="34" charset="-127"/>
                        </a:rPr>
                        <a:t>NTRU+KEM1152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200" b="1" i="0" u="none" strike="noStrike" dirty="0">
                          <a:solidFill>
                            <a:schemeClr val="accent6"/>
                          </a:solidFill>
                          <a:effectLst/>
                          <a:latin typeface="+mn-lt"/>
                          <a:ea typeface="맑은 고딕" panose="020B0503020000020004" pitchFamily="34" charset="-127"/>
                        </a:rPr>
                        <a:t>1,728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182687144"/>
                  </a:ext>
                </a:extLst>
              </a:tr>
              <a:tr h="267578">
                <a:tc vMerge="1">
                  <a:txBody>
                    <a:bodyPr/>
                    <a:lstStyle/>
                    <a:p>
                      <a:pPr algn="ctr" fontAlgn="ctr"/>
                      <a:endParaRPr lang="en" sz="12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  <a:ea typeface="맑은 고딕" panose="020B0503020000020004" pitchFamily="34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" sz="1200" b="1" i="0" u="none" strike="noStrike" dirty="0">
                          <a:solidFill>
                            <a:schemeClr val="accent6"/>
                          </a:solidFill>
                          <a:effectLst/>
                          <a:latin typeface="+mn-lt"/>
                          <a:ea typeface="맑은 고딕" panose="020B0503020000020004" pitchFamily="34" charset="-127"/>
                        </a:rPr>
                        <a:t>NTRU+PKE1152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200" b="1" i="0" u="none" strike="noStrike" dirty="0">
                          <a:solidFill>
                            <a:schemeClr val="accent6"/>
                          </a:solidFill>
                          <a:effectLst/>
                          <a:latin typeface="+mn-lt"/>
                          <a:ea typeface="맑은 고딕" panose="020B0503020000020004" pitchFamily="34" charset="-127"/>
                        </a:rPr>
                        <a:t>1,728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336889903"/>
                  </a:ext>
                </a:extLst>
              </a:tr>
            </a:tbl>
          </a:graphicData>
        </a:graphic>
      </p:graphicFrame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825A9812-AB49-E2E3-0205-C7FADCC50FF5}"/>
              </a:ext>
            </a:extLst>
          </p:cNvPr>
          <p:cNvGraphicFramePr>
            <a:graphicFrameLocks noGrp="1"/>
          </p:cNvGraphicFramePr>
          <p:nvPr/>
        </p:nvGraphicFramePr>
        <p:xfrm>
          <a:off x="4492401" y="1464678"/>
          <a:ext cx="3585075" cy="43795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7154">
                  <a:extLst>
                    <a:ext uri="{9D8B030D-6E8A-4147-A177-3AD203B41FA5}">
                      <a16:colId xmlns:a16="http://schemas.microsoft.com/office/drawing/2014/main" val="1475580333"/>
                    </a:ext>
                  </a:extLst>
                </a:gridCol>
                <a:gridCol w="1570141">
                  <a:extLst>
                    <a:ext uri="{9D8B030D-6E8A-4147-A177-3AD203B41FA5}">
                      <a16:colId xmlns:a16="http://schemas.microsoft.com/office/drawing/2014/main" val="3307861872"/>
                    </a:ext>
                  </a:extLst>
                </a:gridCol>
                <a:gridCol w="1337780">
                  <a:extLst>
                    <a:ext uri="{9D8B030D-6E8A-4147-A177-3AD203B41FA5}">
                      <a16:colId xmlns:a16="http://schemas.microsoft.com/office/drawing/2014/main" val="1327884116"/>
                    </a:ext>
                  </a:extLst>
                </a:gridCol>
              </a:tblGrid>
              <a:tr h="39011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latin typeface="+mn-lt"/>
                        </a:rPr>
                        <a:t>Rank</a:t>
                      </a:r>
                      <a:endParaRPr lang="ko-KR" altLang="en-US" sz="1200" b="1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latin typeface="+mn-lt"/>
                        </a:rPr>
                        <a:t>Scheme</a:t>
                      </a:r>
                      <a:endParaRPr lang="ko-KR" altLang="en-US" sz="1200" b="1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latin typeface="+mn-lt"/>
                        </a:rPr>
                        <a:t>Secret key</a:t>
                      </a:r>
                      <a:endParaRPr lang="ko-KR" altLang="en-US" sz="1200" b="1" dirty="0"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38246716"/>
                  </a:ext>
                </a:extLst>
              </a:tr>
              <a:tr h="273625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" sz="1200" b="1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맑은 고딕" panose="020B0503020000020004" pitchFamily="34" charset="-127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ko-Kore-KR" sz="1200" b="1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맑은 고딕" panose="020B0503020000020004" pitchFamily="34" charset="-127"/>
                        </a:rPr>
                        <a:t>SMAUG-T1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200" b="1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맑은 고딕" panose="020B0503020000020004" pitchFamily="34" charset="-127"/>
                        </a:rPr>
                        <a:t>832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962885781"/>
                  </a:ext>
                </a:extLst>
              </a:tr>
              <a:tr h="273625">
                <a:tc vMerge="1">
                  <a:txBody>
                    <a:bodyPr/>
                    <a:lstStyle/>
                    <a:p>
                      <a:pPr algn="ctr" fontAlgn="ctr"/>
                      <a:endParaRPr lang="en" sz="1200" b="1" i="0" u="none" strike="noStrike" dirty="0">
                        <a:solidFill>
                          <a:srgbClr val="FF0000"/>
                        </a:solidFill>
                        <a:effectLst/>
                        <a:latin typeface="+mn-lt"/>
                        <a:ea typeface="맑은 고딕" panose="020B0503020000020004" pitchFamily="34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" altLang="ko-Kore-KR" sz="1200" b="1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맑은 고딕" panose="020B0503020000020004" pitchFamily="34" charset="-127"/>
                        </a:rPr>
                        <a:t>SMAUG-Timer</a:t>
                      </a:r>
                      <a:endParaRPr lang="en" sz="1200" b="1" i="0" u="none" strike="noStrike" dirty="0">
                        <a:solidFill>
                          <a:srgbClr val="FF0000"/>
                        </a:solidFill>
                        <a:effectLst/>
                        <a:latin typeface="+mn-lt"/>
                        <a:ea typeface="맑은 고딕" panose="020B0503020000020004" pitchFamily="34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200" b="1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맑은 고딕" panose="020B0503020000020004" pitchFamily="34" charset="-127"/>
                        </a:rPr>
                        <a:t>832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659377679"/>
                  </a:ext>
                </a:extLst>
              </a:tr>
              <a:tr h="273625">
                <a:tc>
                  <a:txBody>
                    <a:bodyPr/>
                    <a:lstStyle/>
                    <a:p>
                      <a:pPr algn="ctr" fontAlgn="ctr"/>
                      <a:r>
                        <a:rPr lang="en" sz="1200" b="1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맑은 고딕" panose="020B0503020000020004" pitchFamily="34" charset="-127"/>
                        </a:rPr>
                        <a:t>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" sz="1200" b="1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맑은 고딕" panose="020B0503020000020004" pitchFamily="34" charset="-127"/>
                        </a:rPr>
                        <a:t>SMAUG-T</a:t>
                      </a:r>
                      <a:r>
                        <a:rPr lang="en-US" altLang="ko-KR" sz="1200" b="1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맑은 고딕" panose="020B0503020000020004" pitchFamily="34" charset="-127"/>
                        </a:rPr>
                        <a:t>3</a:t>
                      </a:r>
                      <a:endParaRPr lang="en" sz="1200" b="1" i="0" u="none" strike="noStrike" dirty="0">
                        <a:solidFill>
                          <a:srgbClr val="FF0000"/>
                        </a:solidFill>
                        <a:effectLst/>
                        <a:latin typeface="+mn-lt"/>
                        <a:ea typeface="맑은 고딕" panose="020B0503020000020004" pitchFamily="34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200" b="1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맑은 고딕" panose="020B0503020000020004" pitchFamily="34" charset="-127"/>
                        </a:rPr>
                        <a:t>1,312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027863410"/>
                  </a:ext>
                </a:extLst>
              </a:tr>
              <a:tr h="27362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34" charset="-127"/>
                        </a:rPr>
                        <a:t>4</a:t>
                      </a:r>
                      <a:endParaRPr lang="en" sz="12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  <a:ea typeface="맑은 고딕" panose="020B0503020000020004" pitchFamily="34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BatangChe" panose="02030609000101010101" pitchFamily="49" charset="-127"/>
                        </a:rPr>
                        <a:t>KYBER-512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BatangChe" panose="02030609000101010101" pitchFamily="49" charset="-127"/>
                        </a:rPr>
                        <a:t>1,632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885538770"/>
                  </a:ext>
                </a:extLst>
              </a:tr>
              <a:tr h="273625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1" i="0" u="none" strike="noStrike" dirty="0">
                          <a:solidFill>
                            <a:schemeClr val="accent6"/>
                          </a:solidFill>
                          <a:effectLst/>
                          <a:latin typeface="+mn-lt"/>
                          <a:ea typeface="맑은 고딕" panose="020B0503020000020004" pitchFamily="34" charset="-127"/>
                        </a:rPr>
                        <a:t>5</a:t>
                      </a:r>
                      <a:endParaRPr lang="en" sz="1200" b="1" i="0" u="none" strike="noStrike" dirty="0">
                        <a:solidFill>
                          <a:schemeClr val="accent6"/>
                        </a:solidFill>
                        <a:effectLst/>
                        <a:latin typeface="+mn-lt"/>
                        <a:ea typeface="맑은 고딕" panose="020B0503020000020004" pitchFamily="34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" sz="1200" b="1" i="0" u="none" strike="noStrike" dirty="0">
                          <a:solidFill>
                            <a:schemeClr val="accent6"/>
                          </a:solidFill>
                          <a:effectLst/>
                          <a:latin typeface="+mn-lt"/>
                          <a:ea typeface="맑은 고딕" panose="020B0503020000020004" pitchFamily="34" charset="-127"/>
                        </a:rPr>
                        <a:t>NTRU+KEM576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200" b="1" i="0" u="none" strike="noStrike" dirty="0">
                          <a:solidFill>
                            <a:schemeClr val="accent6"/>
                          </a:solidFill>
                          <a:effectLst/>
                          <a:latin typeface="+mn-lt"/>
                          <a:ea typeface="맑은 고딕" panose="020B0503020000020004" pitchFamily="34" charset="-127"/>
                        </a:rPr>
                        <a:t>1,760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561069468"/>
                  </a:ext>
                </a:extLst>
              </a:tr>
              <a:tr h="263403">
                <a:tc vMerge="1">
                  <a:txBody>
                    <a:bodyPr/>
                    <a:lstStyle/>
                    <a:p>
                      <a:pPr algn="ctr" fontAlgn="ctr"/>
                      <a:endParaRPr lang="en" sz="12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  <a:ea typeface="맑은 고딕" panose="020B0503020000020004" pitchFamily="34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" sz="1200" b="1" i="0" u="none" strike="noStrike" dirty="0">
                          <a:solidFill>
                            <a:schemeClr val="accent6"/>
                          </a:solidFill>
                          <a:effectLst/>
                          <a:latin typeface="+mn-lt"/>
                          <a:ea typeface="맑은 고딕" panose="020B0503020000020004" pitchFamily="34" charset="-127"/>
                        </a:rPr>
                        <a:t>NTRU+PKE576 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200" b="1" i="0" u="none" strike="noStrike" dirty="0">
                          <a:solidFill>
                            <a:schemeClr val="accent6"/>
                          </a:solidFill>
                          <a:effectLst/>
                          <a:latin typeface="+mn-lt"/>
                          <a:ea typeface="맑은 고딕" panose="020B0503020000020004" pitchFamily="34" charset="-127"/>
                        </a:rPr>
                        <a:t>1,760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514975421"/>
                  </a:ext>
                </a:extLst>
              </a:tr>
              <a:tr h="26340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1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맑은 고딕" panose="020B0503020000020004" pitchFamily="34" charset="-127"/>
                        </a:rPr>
                        <a:t>7</a:t>
                      </a:r>
                      <a:endParaRPr lang="en" sz="1200" b="1" i="0" u="none" strike="noStrike" dirty="0">
                        <a:solidFill>
                          <a:srgbClr val="FF0000"/>
                        </a:solidFill>
                        <a:effectLst/>
                        <a:latin typeface="+mn-lt"/>
                        <a:ea typeface="맑은 고딕" panose="020B0503020000020004" pitchFamily="34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" sz="1200" b="1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맑은 고딕" panose="020B0503020000020004" pitchFamily="34" charset="-127"/>
                        </a:rPr>
                        <a:t>SMAUG-T</a:t>
                      </a:r>
                      <a:r>
                        <a:rPr lang="en-US" altLang="ko-KR" sz="1200" b="1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맑은 고딕" panose="020B0503020000020004" pitchFamily="34" charset="-127"/>
                        </a:rPr>
                        <a:t>5</a:t>
                      </a:r>
                      <a:endParaRPr lang="en" sz="1200" b="1" i="0" u="none" strike="noStrike" dirty="0">
                        <a:solidFill>
                          <a:srgbClr val="FF0000"/>
                        </a:solidFill>
                        <a:effectLst/>
                        <a:latin typeface="+mn-lt"/>
                        <a:ea typeface="맑은 고딕" panose="020B0503020000020004" pitchFamily="34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200" b="1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맑은 고딕" panose="020B0503020000020004" pitchFamily="34" charset="-127"/>
                        </a:rPr>
                        <a:t>1,792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129723527"/>
                  </a:ext>
                </a:extLst>
              </a:tr>
              <a:tr h="263403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1" i="0" u="none" strike="noStrike" dirty="0">
                          <a:solidFill>
                            <a:schemeClr val="accent6"/>
                          </a:solidFill>
                          <a:effectLst/>
                          <a:latin typeface="+mn-lt"/>
                          <a:ea typeface="맑은 고딕" panose="020B0503020000020004" pitchFamily="34" charset="-127"/>
                        </a:rPr>
                        <a:t>8</a:t>
                      </a:r>
                      <a:endParaRPr lang="en" sz="1200" b="1" i="0" u="none" strike="noStrike" dirty="0">
                        <a:solidFill>
                          <a:schemeClr val="accent6"/>
                        </a:solidFill>
                        <a:effectLst/>
                        <a:latin typeface="+mn-lt"/>
                        <a:ea typeface="맑은 고딕" panose="020B0503020000020004" pitchFamily="34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" sz="1200" b="1" i="0" u="none" strike="noStrike" dirty="0">
                          <a:solidFill>
                            <a:schemeClr val="accent6"/>
                          </a:solidFill>
                          <a:effectLst/>
                          <a:latin typeface="+mn-lt"/>
                          <a:ea typeface="맑은 고딕" panose="020B0503020000020004" pitchFamily="34" charset="-127"/>
                        </a:rPr>
                        <a:t>NTRU+KEM768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200" b="1" i="0" u="none" strike="noStrike" dirty="0">
                          <a:solidFill>
                            <a:schemeClr val="accent6"/>
                          </a:solidFill>
                          <a:effectLst/>
                          <a:latin typeface="+mn-lt"/>
                          <a:ea typeface="맑은 고딕" panose="020B0503020000020004" pitchFamily="34" charset="-127"/>
                        </a:rPr>
                        <a:t>2,336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09234195"/>
                  </a:ext>
                </a:extLst>
              </a:tr>
              <a:tr h="263403">
                <a:tc vMerge="1">
                  <a:txBody>
                    <a:bodyPr/>
                    <a:lstStyle/>
                    <a:p>
                      <a:pPr algn="ctr" fontAlgn="ctr"/>
                      <a:endParaRPr lang="en" sz="12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  <a:ea typeface="맑은 고딕" panose="020B0503020000020004" pitchFamily="34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" sz="1200" b="1" i="0" u="none" strike="noStrike" dirty="0">
                          <a:solidFill>
                            <a:schemeClr val="accent6"/>
                          </a:solidFill>
                          <a:effectLst/>
                          <a:latin typeface="+mn-lt"/>
                          <a:ea typeface="맑은 고딕" panose="020B0503020000020004" pitchFamily="34" charset="-127"/>
                        </a:rPr>
                        <a:t>NTRU+PKE768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200" b="1" i="0" u="none" strike="noStrike" dirty="0">
                          <a:solidFill>
                            <a:schemeClr val="accent6"/>
                          </a:solidFill>
                          <a:effectLst/>
                          <a:latin typeface="+mn-lt"/>
                          <a:ea typeface="맑은 고딕" panose="020B0503020000020004" pitchFamily="34" charset="-127"/>
                        </a:rPr>
                        <a:t>2,336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19806580"/>
                  </a:ext>
                </a:extLst>
              </a:tr>
              <a:tr h="273625">
                <a:tc>
                  <a:txBody>
                    <a:bodyPr/>
                    <a:lstStyle/>
                    <a:p>
                      <a:pPr algn="ctr" fontAlgn="ctr"/>
                      <a:r>
                        <a:rPr lang="en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34" charset="-127"/>
                        </a:rPr>
                        <a:t>1</a:t>
                      </a:r>
                      <a:r>
                        <a:rPr lang="en-US" altLang="ko-KR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34" charset="-127"/>
                        </a:rPr>
                        <a:t>0</a:t>
                      </a:r>
                      <a:endParaRPr lang="en" sz="12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  <a:ea typeface="맑은 고딕" panose="020B0503020000020004" pitchFamily="34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BatangChe" panose="02030609000101010101" pitchFamily="49" charset="-127"/>
                        </a:rPr>
                        <a:t>KYBER-768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BatangChe" panose="02030609000101010101" pitchFamily="49" charset="-127"/>
                        </a:rPr>
                        <a:t>2,400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791744906"/>
                  </a:ext>
                </a:extLst>
              </a:tr>
              <a:tr h="273625">
                <a:tc>
                  <a:txBody>
                    <a:bodyPr/>
                    <a:lstStyle/>
                    <a:p>
                      <a:pPr algn="ctr" fontAlgn="ctr"/>
                      <a:r>
                        <a:rPr lang="en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34" charset="-127"/>
                        </a:rPr>
                        <a:t>1</a:t>
                      </a:r>
                      <a:r>
                        <a:rPr lang="en-US" altLang="ko-KR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34" charset="-127"/>
                        </a:rPr>
                        <a:t>1</a:t>
                      </a:r>
                      <a:endParaRPr lang="en" sz="12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  <a:ea typeface="맑은 고딕" panose="020B0503020000020004" pitchFamily="34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BatangChe" panose="02030609000101010101" pitchFamily="49" charset="-127"/>
                        </a:rPr>
                        <a:t>KYBER-1024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BatangChe" panose="02030609000101010101" pitchFamily="49" charset="-127"/>
                        </a:rPr>
                        <a:t>2,592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356950195"/>
                  </a:ext>
                </a:extLst>
              </a:tr>
              <a:tr h="263403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" sz="1200" b="1" i="0" u="none" strike="noStrike" dirty="0">
                          <a:solidFill>
                            <a:schemeClr val="accent6"/>
                          </a:solidFill>
                          <a:effectLst/>
                          <a:latin typeface="+mn-lt"/>
                          <a:ea typeface="맑은 고딕" panose="020B0503020000020004" pitchFamily="34" charset="-127"/>
                        </a:rPr>
                        <a:t>1</a:t>
                      </a:r>
                      <a:r>
                        <a:rPr lang="en-US" altLang="ko-KR" sz="1200" b="1" i="0" u="none" strike="noStrike" dirty="0">
                          <a:solidFill>
                            <a:schemeClr val="accent6"/>
                          </a:solidFill>
                          <a:effectLst/>
                          <a:latin typeface="+mn-lt"/>
                          <a:ea typeface="맑은 고딕" panose="020B0503020000020004" pitchFamily="34" charset="-127"/>
                        </a:rPr>
                        <a:t>2</a:t>
                      </a:r>
                      <a:endParaRPr lang="en" sz="1200" b="1" i="0" u="none" strike="noStrike" dirty="0">
                        <a:solidFill>
                          <a:schemeClr val="accent6"/>
                        </a:solidFill>
                        <a:effectLst/>
                        <a:latin typeface="+mn-lt"/>
                        <a:ea typeface="맑은 고딕" panose="020B0503020000020004" pitchFamily="34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" sz="1200" b="1" i="0" u="none" strike="noStrike">
                          <a:solidFill>
                            <a:schemeClr val="accent6"/>
                          </a:solidFill>
                          <a:effectLst/>
                          <a:latin typeface="+mn-lt"/>
                          <a:ea typeface="맑은 고딕" panose="020B0503020000020004" pitchFamily="34" charset="-127"/>
                        </a:rPr>
                        <a:t>NTRU+KEM864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200" b="1" i="0" u="none" strike="noStrike" dirty="0">
                          <a:solidFill>
                            <a:schemeClr val="accent6"/>
                          </a:solidFill>
                          <a:effectLst/>
                          <a:latin typeface="+mn-lt"/>
                          <a:ea typeface="맑은 고딕" panose="020B0503020000020004" pitchFamily="34" charset="-127"/>
                        </a:rPr>
                        <a:t>2,624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728215113"/>
                  </a:ext>
                </a:extLst>
              </a:tr>
              <a:tr h="263403">
                <a:tc vMerge="1">
                  <a:txBody>
                    <a:bodyPr/>
                    <a:lstStyle/>
                    <a:p>
                      <a:pPr algn="ctr" fontAlgn="ctr"/>
                      <a:endParaRPr lang="en" sz="12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  <a:ea typeface="맑은 고딕" panose="020B0503020000020004" pitchFamily="34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" sz="1200" b="1" i="0" u="none" strike="noStrike" dirty="0">
                          <a:solidFill>
                            <a:schemeClr val="accent6"/>
                          </a:solidFill>
                          <a:effectLst/>
                          <a:latin typeface="+mn-lt"/>
                          <a:ea typeface="맑은 고딕" panose="020B0503020000020004" pitchFamily="34" charset="-127"/>
                        </a:rPr>
                        <a:t>NTRU+PKE864 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200" b="1" i="0" u="none" strike="noStrike" dirty="0">
                          <a:solidFill>
                            <a:schemeClr val="accent6"/>
                          </a:solidFill>
                          <a:effectLst/>
                          <a:latin typeface="+mn-lt"/>
                          <a:ea typeface="맑은 고딕" panose="020B0503020000020004" pitchFamily="34" charset="-127"/>
                        </a:rPr>
                        <a:t>2,624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479450599"/>
                  </a:ext>
                </a:extLst>
              </a:tr>
              <a:tr h="263403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" sz="1200" b="1" i="0" u="none" strike="noStrike" dirty="0">
                          <a:solidFill>
                            <a:schemeClr val="accent6"/>
                          </a:solidFill>
                          <a:effectLst/>
                          <a:latin typeface="+mn-lt"/>
                          <a:ea typeface="맑은 고딕" panose="020B0503020000020004" pitchFamily="34" charset="-127"/>
                        </a:rPr>
                        <a:t>14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" sz="1200" b="1" i="0" u="none" strike="noStrike" dirty="0">
                          <a:solidFill>
                            <a:schemeClr val="accent6"/>
                          </a:solidFill>
                          <a:effectLst/>
                          <a:latin typeface="+mn-lt"/>
                          <a:ea typeface="맑은 고딕" panose="020B0503020000020004" pitchFamily="34" charset="-127"/>
                        </a:rPr>
                        <a:t>NTRU+KEM1152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200" b="1" i="0" u="none" strike="noStrike" dirty="0">
                          <a:solidFill>
                            <a:schemeClr val="accent6"/>
                          </a:solidFill>
                          <a:effectLst/>
                          <a:latin typeface="+mn-lt"/>
                          <a:ea typeface="맑은 고딕" panose="020B0503020000020004" pitchFamily="34" charset="-127"/>
                        </a:rPr>
                        <a:t>3,488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843591703"/>
                  </a:ext>
                </a:extLst>
              </a:tr>
              <a:tr h="230279">
                <a:tc vMerge="1">
                  <a:txBody>
                    <a:bodyPr/>
                    <a:lstStyle/>
                    <a:p>
                      <a:pPr algn="ctr" fontAlgn="ctr"/>
                      <a:endParaRPr lang="en" sz="12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  <a:ea typeface="맑은 고딕" panose="020B0503020000020004" pitchFamily="34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" sz="1200" b="1" i="0" u="none" strike="noStrike" dirty="0">
                          <a:solidFill>
                            <a:schemeClr val="accent6"/>
                          </a:solidFill>
                          <a:effectLst/>
                          <a:latin typeface="+mn-lt"/>
                          <a:ea typeface="맑은 고딕" panose="020B0503020000020004" pitchFamily="34" charset="-127"/>
                        </a:rPr>
                        <a:t>NTRU+PKE1152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200" b="1" i="0" u="none" strike="noStrike" dirty="0">
                          <a:solidFill>
                            <a:schemeClr val="accent6"/>
                          </a:solidFill>
                          <a:effectLst/>
                          <a:latin typeface="+mn-lt"/>
                          <a:ea typeface="맑은 고딕" panose="020B0503020000020004" pitchFamily="34" charset="-127"/>
                        </a:rPr>
                        <a:t>3,488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32974619"/>
                  </a:ext>
                </a:extLst>
              </a:tr>
            </a:tbl>
          </a:graphicData>
        </a:graphic>
      </p:graphicFrame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BEA7B882-76A7-9268-F323-DECB03A4C6FC}"/>
              </a:ext>
            </a:extLst>
          </p:cNvPr>
          <p:cNvGraphicFramePr>
            <a:graphicFrameLocks noGrp="1"/>
          </p:cNvGraphicFramePr>
          <p:nvPr/>
        </p:nvGraphicFramePr>
        <p:xfrm>
          <a:off x="8346067" y="1464678"/>
          <a:ext cx="3585075" cy="43795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9778">
                  <a:extLst>
                    <a:ext uri="{9D8B030D-6E8A-4147-A177-3AD203B41FA5}">
                      <a16:colId xmlns:a16="http://schemas.microsoft.com/office/drawing/2014/main" val="1475580333"/>
                    </a:ext>
                  </a:extLst>
                </a:gridCol>
                <a:gridCol w="1530154">
                  <a:extLst>
                    <a:ext uri="{9D8B030D-6E8A-4147-A177-3AD203B41FA5}">
                      <a16:colId xmlns:a16="http://schemas.microsoft.com/office/drawing/2014/main" val="3307861872"/>
                    </a:ext>
                  </a:extLst>
                </a:gridCol>
                <a:gridCol w="1385143">
                  <a:extLst>
                    <a:ext uri="{9D8B030D-6E8A-4147-A177-3AD203B41FA5}">
                      <a16:colId xmlns:a16="http://schemas.microsoft.com/office/drawing/2014/main" val="1327884116"/>
                    </a:ext>
                  </a:extLst>
                </a:gridCol>
              </a:tblGrid>
              <a:tr h="38719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latin typeface="+mn-lt"/>
                        </a:rPr>
                        <a:t>Rank</a:t>
                      </a:r>
                      <a:endParaRPr lang="ko-KR" altLang="en-US" sz="1200" b="1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latin typeface="+mn-lt"/>
                        </a:rPr>
                        <a:t>Scheme</a:t>
                      </a:r>
                      <a:endParaRPr lang="ko-KR" altLang="en-US" sz="1200" b="1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latin typeface="+mn-lt"/>
                        </a:rPr>
                        <a:t>Ciphertext</a:t>
                      </a:r>
                      <a:endParaRPr lang="ko-KR" altLang="en-US" sz="1200" b="1" dirty="0"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38246716"/>
                  </a:ext>
                </a:extLst>
              </a:tr>
              <a:tr h="271571">
                <a:tc>
                  <a:txBody>
                    <a:bodyPr/>
                    <a:lstStyle/>
                    <a:p>
                      <a:pPr algn="ctr" fontAlgn="ctr"/>
                      <a:r>
                        <a:rPr lang="en" sz="1200" b="1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맑은 고딕" panose="020B0503020000020004" pitchFamily="34" charset="-127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" sz="1200" b="1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맑은 고딕" panose="020B0503020000020004" pitchFamily="34" charset="-127"/>
                        </a:rPr>
                        <a:t>SMAUG-Timer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200" b="1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맑은 고딕" panose="020B0503020000020004" pitchFamily="34" charset="-127"/>
                        </a:rPr>
                        <a:t>608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396847264"/>
                  </a:ext>
                </a:extLst>
              </a:tr>
              <a:tr h="271571">
                <a:tc>
                  <a:txBody>
                    <a:bodyPr/>
                    <a:lstStyle/>
                    <a:p>
                      <a:pPr algn="ctr" fontAlgn="ctr"/>
                      <a:r>
                        <a:rPr lang="en" sz="1200" b="1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맑은 고딕" panose="020B0503020000020004" pitchFamily="34" charset="-127"/>
                        </a:rPr>
                        <a:t>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" sz="1200" b="1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맑은 고딕" panose="020B0503020000020004" pitchFamily="34" charset="-127"/>
                        </a:rPr>
                        <a:t>SMAUG-T1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200" b="1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맑은 고딕" panose="020B0503020000020004" pitchFamily="34" charset="-127"/>
                        </a:rPr>
                        <a:t>672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935171977"/>
                  </a:ext>
                </a:extLst>
              </a:tr>
              <a:tr h="271571">
                <a:tc>
                  <a:txBody>
                    <a:bodyPr/>
                    <a:lstStyle/>
                    <a:p>
                      <a:pPr algn="ctr" fontAlgn="ctr"/>
                      <a:r>
                        <a:rPr lang="en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34" charset="-127"/>
                        </a:rPr>
                        <a:t>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BatangChe" panose="02030609000101010101" pitchFamily="49" charset="-127"/>
                        </a:rPr>
                        <a:t>KYBER-512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BatangChe" panose="02030609000101010101" pitchFamily="49" charset="-127"/>
                        </a:rPr>
                        <a:t>768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09234195"/>
                  </a:ext>
                </a:extLst>
              </a:tr>
              <a:tr h="261426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" sz="1200" b="1" i="0" u="none" strike="noStrike" dirty="0">
                          <a:solidFill>
                            <a:schemeClr val="accent6"/>
                          </a:solidFill>
                          <a:effectLst/>
                          <a:latin typeface="+mn-lt"/>
                          <a:ea typeface="맑은 고딕" panose="020B0503020000020004" pitchFamily="34" charset="-127"/>
                        </a:rPr>
                        <a:t>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" sz="1200" b="1" i="0" u="none" strike="noStrike" dirty="0">
                          <a:solidFill>
                            <a:schemeClr val="accent6"/>
                          </a:solidFill>
                          <a:effectLst/>
                          <a:latin typeface="+mn-lt"/>
                          <a:ea typeface="맑은 고딕" panose="020B0503020000020004" pitchFamily="34" charset="-127"/>
                        </a:rPr>
                        <a:t>NTRU+KEM576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200" b="1" i="0" u="none" strike="noStrike" dirty="0">
                          <a:solidFill>
                            <a:schemeClr val="accent6"/>
                          </a:solidFill>
                          <a:effectLst/>
                          <a:latin typeface="+mn-lt"/>
                          <a:ea typeface="맑은 고딕" panose="020B0503020000020004" pitchFamily="34" charset="-127"/>
                        </a:rPr>
                        <a:t>864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791744906"/>
                  </a:ext>
                </a:extLst>
              </a:tr>
              <a:tr h="261426">
                <a:tc vMerge="1">
                  <a:txBody>
                    <a:bodyPr/>
                    <a:lstStyle/>
                    <a:p>
                      <a:pPr algn="ctr" fontAlgn="ctr"/>
                      <a:endParaRPr lang="en" sz="12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  <a:ea typeface="맑은 고딕" panose="020B0503020000020004" pitchFamily="34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" sz="1200" b="1" i="0" u="none" strike="noStrike" dirty="0">
                          <a:solidFill>
                            <a:schemeClr val="accent6"/>
                          </a:solidFill>
                          <a:effectLst/>
                          <a:latin typeface="+mn-lt"/>
                          <a:ea typeface="맑은 고딕" panose="020B0503020000020004" pitchFamily="34" charset="-127"/>
                        </a:rPr>
                        <a:t>NTRU+PKE576 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200" b="1" i="0" u="none" strike="noStrike" dirty="0">
                          <a:solidFill>
                            <a:schemeClr val="accent6"/>
                          </a:solidFill>
                          <a:effectLst/>
                          <a:latin typeface="+mn-lt"/>
                          <a:ea typeface="맑은 고딕" panose="020B0503020000020004" pitchFamily="34" charset="-127"/>
                        </a:rPr>
                        <a:t>864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27560697"/>
                  </a:ext>
                </a:extLst>
              </a:tr>
              <a:tr h="271571">
                <a:tc>
                  <a:txBody>
                    <a:bodyPr/>
                    <a:lstStyle/>
                    <a:p>
                      <a:pPr algn="ctr" fontAlgn="ctr"/>
                      <a:r>
                        <a:rPr lang="en" sz="1200" b="1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맑은 고딕" panose="020B0503020000020004" pitchFamily="34" charset="-127"/>
                        </a:rPr>
                        <a:t>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" sz="1200" b="1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맑은 고딕" panose="020B0503020000020004" pitchFamily="34" charset="-127"/>
                        </a:rPr>
                        <a:t>SMAUG-T3 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200" b="1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맑은 고딕" panose="020B0503020000020004" pitchFamily="34" charset="-127"/>
                        </a:rPr>
                        <a:t>992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356950195"/>
                  </a:ext>
                </a:extLst>
              </a:tr>
              <a:tr h="271571">
                <a:tc>
                  <a:txBody>
                    <a:bodyPr/>
                    <a:lstStyle/>
                    <a:p>
                      <a:pPr algn="ctr" fontAlgn="ctr"/>
                      <a:r>
                        <a:rPr lang="en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34" charset="-127"/>
                        </a:rPr>
                        <a:t>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BatangChe" panose="02030609000101010101" pitchFamily="49" charset="-127"/>
                        </a:rPr>
                        <a:t>KYBER-768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BatangChe" panose="02030609000101010101" pitchFamily="49" charset="-127"/>
                        </a:rPr>
                        <a:t>1,088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728215113"/>
                  </a:ext>
                </a:extLst>
              </a:tr>
              <a:tr h="261426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" sz="1200" b="1" i="0" u="none" strike="noStrike" dirty="0">
                          <a:solidFill>
                            <a:schemeClr val="accent6"/>
                          </a:solidFill>
                          <a:effectLst/>
                          <a:latin typeface="+mn-lt"/>
                          <a:ea typeface="맑은 고딕" panose="020B0503020000020004" pitchFamily="34" charset="-127"/>
                        </a:rPr>
                        <a:t>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" sz="1200" b="1" i="0" u="none" strike="noStrike" dirty="0">
                          <a:solidFill>
                            <a:schemeClr val="accent6"/>
                          </a:solidFill>
                          <a:effectLst/>
                          <a:latin typeface="+mn-lt"/>
                          <a:ea typeface="맑은 고딕" panose="020B0503020000020004" pitchFamily="34" charset="-127"/>
                        </a:rPr>
                        <a:t>NTRU+KEM768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200" b="1" i="0" u="none" strike="noStrike" dirty="0">
                          <a:solidFill>
                            <a:schemeClr val="accent6"/>
                          </a:solidFill>
                          <a:effectLst/>
                          <a:latin typeface="+mn-lt"/>
                          <a:ea typeface="맑은 고딕" panose="020B0503020000020004" pitchFamily="34" charset="-127"/>
                        </a:rPr>
                        <a:t>1,152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479450599"/>
                  </a:ext>
                </a:extLst>
              </a:tr>
              <a:tr h="261426">
                <a:tc vMerge="1">
                  <a:txBody>
                    <a:bodyPr/>
                    <a:lstStyle/>
                    <a:p>
                      <a:pPr algn="ctr" fontAlgn="ctr"/>
                      <a:endParaRPr lang="en" sz="12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  <a:ea typeface="맑은 고딕" panose="020B0503020000020004" pitchFamily="34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" sz="1200" b="1" i="0" u="none" strike="noStrike" dirty="0">
                          <a:solidFill>
                            <a:schemeClr val="accent6"/>
                          </a:solidFill>
                          <a:effectLst/>
                          <a:latin typeface="+mn-lt"/>
                          <a:ea typeface="맑은 고딕" panose="020B0503020000020004" pitchFamily="34" charset="-127"/>
                        </a:rPr>
                        <a:t>NTRU+PKE768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200" b="1" i="0" u="none" strike="noStrike" dirty="0">
                          <a:solidFill>
                            <a:schemeClr val="accent6"/>
                          </a:solidFill>
                          <a:effectLst/>
                          <a:latin typeface="+mn-lt"/>
                          <a:ea typeface="맑은 고딕" panose="020B0503020000020004" pitchFamily="34" charset="-127"/>
                        </a:rPr>
                        <a:t>1,152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423722474"/>
                  </a:ext>
                </a:extLst>
              </a:tr>
              <a:tr h="261426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" sz="1200" b="1" i="0" u="none" strike="noStrike" dirty="0">
                          <a:solidFill>
                            <a:schemeClr val="accent6"/>
                          </a:solidFill>
                          <a:effectLst/>
                          <a:latin typeface="+mn-lt"/>
                          <a:ea typeface="맑은 고딕" panose="020B0503020000020004" pitchFamily="34" charset="-127"/>
                        </a:rPr>
                        <a:t>10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" sz="1200" b="1" i="0" u="none" strike="noStrike" dirty="0">
                          <a:solidFill>
                            <a:schemeClr val="accent6"/>
                          </a:solidFill>
                          <a:effectLst/>
                          <a:latin typeface="+mn-lt"/>
                          <a:ea typeface="맑은 고딕" panose="020B0503020000020004" pitchFamily="34" charset="-127"/>
                        </a:rPr>
                        <a:t>NTRU+KEM864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200" b="1" i="0" u="none" strike="noStrike" dirty="0">
                          <a:solidFill>
                            <a:schemeClr val="accent6"/>
                          </a:solidFill>
                          <a:effectLst/>
                          <a:latin typeface="+mn-lt"/>
                          <a:ea typeface="맑은 고딕" panose="020B0503020000020004" pitchFamily="34" charset="-127"/>
                        </a:rPr>
                        <a:t>1,296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843591703"/>
                  </a:ext>
                </a:extLst>
              </a:tr>
              <a:tr h="261426">
                <a:tc vMerge="1">
                  <a:txBody>
                    <a:bodyPr/>
                    <a:lstStyle/>
                    <a:p>
                      <a:pPr algn="ctr" fontAlgn="ctr"/>
                      <a:endParaRPr lang="en" sz="12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  <a:ea typeface="맑은 고딕" panose="020B0503020000020004" pitchFamily="34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" sz="1200" b="1" i="0" u="none" strike="noStrike" dirty="0">
                          <a:solidFill>
                            <a:schemeClr val="accent6"/>
                          </a:solidFill>
                          <a:effectLst/>
                          <a:latin typeface="+mn-lt"/>
                          <a:ea typeface="맑은 고딕" panose="020B0503020000020004" pitchFamily="34" charset="-127"/>
                        </a:rPr>
                        <a:t>NTRU+PKE864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200" b="1" i="0" u="none" strike="noStrike" dirty="0">
                          <a:solidFill>
                            <a:schemeClr val="accent6"/>
                          </a:solidFill>
                          <a:effectLst/>
                          <a:latin typeface="+mn-lt"/>
                          <a:ea typeface="맑은 고딕" panose="020B0503020000020004" pitchFamily="34" charset="-127"/>
                        </a:rPr>
                        <a:t>1,296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748463643"/>
                  </a:ext>
                </a:extLst>
              </a:tr>
              <a:tr h="271571">
                <a:tc>
                  <a:txBody>
                    <a:bodyPr/>
                    <a:lstStyle/>
                    <a:p>
                      <a:pPr algn="ctr" fontAlgn="ctr"/>
                      <a:r>
                        <a:rPr lang="en" sz="1200" b="1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맑은 고딕" panose="020B0503020000020004" pitchFamily="34" charset="-127"/>
                        </a:rPr>
                        <a:t>12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" sz="1200" b="1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맑은 고딕" panose="020B0503020000020004" pitchFamily="34" charset="-127"/>
                        </a:rPr>
                        <a:t>SMAUG-T5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200" b="1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맑은 고딕" panose="020B0503020000020004" pitchFamily="34" charset="-127"/>
                        </a:rPr>
                        <a:t>1,376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32974619"/>
                  </a:ext>
                </a:extLst>
              </a:tr>
              <a:tr h="271571">
                <a:tc>
                  <a:txBody>
                    <a:bodyPr/>
                    <a:lstStyle/>
                    <a:p>
                      <a:pPr algn="ctr" fontAlgn="ctr"/>
                      <a:r>
                        <a:rPr lang="en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34" charset="-127"/>
                        </a:rPr>
                        <a:t>13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BatangChe" panose="02030609000101010101" pitchFamily="49" charset="-127"/>
                        </a:rPr>
                        <a:t>KYBER-1024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BatangChe" panose="02030609000101010101" pitchFamily="49" charset="-127"/>
                        </a:rPr>
                        <a:t>1,568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381416687"/>
                  </a:ext>
                </a:extLst>
              </a:tr>
              <a:tr h="261426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" sz="1200" b="1" i="0" u="none" strike="noStrike" dirty="0">
                          <a:solidFill>
                            <a:schemeClr val="accent6"/>
                          </a:solidFill>
                          <a:effectLst/>
                          <a:latin typeface="+mn-lt"/>
                          <a:ea typeface="맑은 고딕" panose="020B0503020000020004" pitchFamily="34" charset="-127"/>
                        </a:rPr>
                        <a:t>14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" sz="1200" b="1" i="0" u="none" strike="noStrike" dirty="0">
                          <a:solidFill>
                            <a:schemeClr val="accent6"/>
                          </a:solidFill>
                          <a:effectLst/>
                          <a:latin typeface="+mn-lt"/>
                          <a:ea typeface="맑은 고딕" panose="020B0503020000020004" pitchFamily="34" charset="-127"/>
                        </a:rPr>
                        <a:t>NTRU+KEM1152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200" b="1" i="0" u="none" strike="noStrike" dirty="0">
                          <a:solidFill>
                            <a:schemeClr val="accent6"/>
                          </a:solidFill>
                          <a:effectLst/>
                          <a:latin typeface="+mn-lt"/>
                          <a:ea typeface="맑은 고딕" panose="020B0503020000020004" pitchFamily="34" charset="-127"/>
                        </a:rPr>
                        <a:t>1,728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659482856"/>
                  </a:ext>
                </a:extLst>
              </a:tr>
              <a:tr h="261426">
                <a:tc vMerge="1">
                  <a:txBody>
                    <a:bodyPr/>
                    <a:lstStyle/>
                    <a:p>
                      <a:pPr algn="ctr" fontAlgn="ctr"/>
                      <a:endParaRPr lang="en" sz="12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  <a:ea typeface="맑은 고딕" panose="020B0503020000020004" pitchFamily="34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" sz="1200" b="1" i="0" u="none" strike="noStrike">
                          <a:solidFill>
                            <a:schemeClr val="accent6"/>
                          </a:solidFill>
                          <a:effectLst/>
                          <a:latin typeface="+mn-lt"/>
                          <a:ea typeface="맑은 고딕" panose="020B0503020000020004" pitchFamily="34" charset="-127"/>
                        </a:rPr>
                        <a:t>NTRU+PKE1152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200" b="1" i="0" u="none" strike="noStrike" dirty="0">
                          <a:solidFill>
                            <a:schemeClr val="accent6"/>
                          </a:solidFill>
                          <a:effectLst/>
                          <a:latin typeface="+mn-lt"/>
                          <a:ea typeface="맑은 고딕" panose="020B0503020000020004" pitchFamily="34" charset="-127"/>
                        </a:rPr>
                        <a:t>1,728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674885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401045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A7CA14-0816-60B4-0268-34907A8D26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Dililthium FALCON vs HAETAE </a:t>
            </a:r>
            <a:r>
              <a:rPr lang="ko-KR" altLang="en-US" dirty="0"/>
              <a:t>키 크기 비교</a:t>
            </a:r>
            <a:endParaRPr kumimoji="1" lang="ko-KR" altLang="en-US" dirty="0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37A19625-C043-D7A5-59AE-BF003B2B5641}"/>
              </a:ext>
            </a:extLst>
          </p:cNvPr>
          <p:cNvGraphicFramePr>
            <a:graphicFrameLocks noGrp="1"/>
          </p:cNvGraphicFramePr>
          <p:nvPr/>
        </p:nvGraphicFramePr>
        <p:xfrm>
          <a:off x="115959" y="1735931"/>
          <a:ext cx="3856382" cy="38504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6041">
                  <a:extLst>
                    <a:ext uri="{9D8B030D-6E8A-4147-A177-3AD203B41FA5}">
                      <a16:colId xmlns:a16="http://schemas.microsoft.com/office/drawing/2014/main" val="1475580333"/>
                    </a:ext>
                  </a:extLst>
                </a:gridCol>
                <a:gridCol w="2101974">
                  <a:extLst>
                    <a:ext uri="{9D8B030D-6E8A-4147-A177-3AD203B41FA5}">
                      <a16:colId xmlns:a16="http://schemas.microsoft.com/office/drawing/2014/main" val="3307861872"/>
                    </a:ext>
                  </a:extLst>
                </a:gridCol>
                <a:gridCol w="1108367">
                  <a:extLst>
                    <a:ext uri="{9D8B030D-6E8A-4147-A177-3AD203B41FA5}">
                      <a16:colId xmlns:a16="http://schemas.microsoft.com/office/drawing/2014/main" val="1327884116"/>
                    </a:ext>
                  </a:extLst>
                </a:gridCol>
              </a:tblGrid>
              <a:tr h="37367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+mn-lt"/>
                        </a:rPr>
                        <a:t>Rank</a:t>
                      </a:r>
                      <a:endParaRPr lang="ko-KR" altLang="en-US" sz="140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+mn-lt"/>
                        </a:rPr>
                        <a:t>Scheme</a:t>
                      </a:r>
                      <a:endParaRPr lang="ko-KR" altLang="en-US" sz="140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+mn-lt"/>
                        </a:rPr>
                        <a:t>Public key</a:t>
                      </a:r>
                      <a:endParaRPr lang="ko-KR" altLang="en-US" sz="1400" dirty="0"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38246716"/>
                  </a:ext>
                </a:extLst>
              </a:tr>
              <a:tr h="434601">
                <a:tc>
                  <a:txBody>
                    <a:bodyPr/>
                    <a:lstStyle/>
                    <a:p>
                      <a:pPr algn="ctr" fontAlgn="ctr"/>
                      <a:r>
                        <a:rPr lang="en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FALCON-512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897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962885781"/>
                  </a:ext>
                </a:extLst>
              </a:tr>
              <a:tr h="434601">
                <a:tc>
                  <a:txBody>
                    <a:bodyPr/>
                    <a:lstStyle/>
                    <a:p>
                      <a:pPr algn="ctr" fontAlgn="ctr"/>
                      <a:r>
                        <a:rPr lang="en" sz="1200" b="1" i="0" u="none" strike="noStrike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sz="1200" b="1" i="0" u="none" strike="noStrike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HAETAE2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1" i="0" u="none" strike="noStrike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992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659377679"/>
                  </a:ext>
                </a:extLst>
              </a:tr>
              <a:tr h="434601">
                <a:tc>
                  <a:txBody>
                    <a:bodyPr/>
                    <a:lstStyle/>
                    <a:p>
                      <a:pPr algn="ctr" fontAlgn="ctr"/>
                      <a:r>
                        <a:rPr lang="en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sz="12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Dilithium</a:t>
                      </a:r>
                      <a:r>
                        <a:rPr lang="en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-II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1,312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027863410"/>
                  </a:ext>
                </a:extLst>
              </a:tr>
              <a:tr h="434601">
                <a:tc>
                  <a:txBody>
                    <a:bodyPr/>
                    <a:lstStyle/>
                    <a:p>
                      <a:pPr algn="ctr" fontAlgn="ctr"/>
                      <a:r>
                        <a:rPr lang="en" sz="1200" b="1" i="0" u="none" strike="noStrike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sz="1200" b="1" i="0" u="none" strike="noStrike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HAETAE3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1" i="0" u="none" strike="noStrike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1472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885538770"/>
                  </a:ext>
                </a:extLst>
              </a:tr>
              <a:tr h="434601">
                <a:tc>
                  <a:txBody>
                    <a:bodyPr/>
                    <a:lstStyle/>
                    <a:p>
                      <a:pPr algn="ctr" fontAlgn="ctr"/>
                      <a:r>
                        <a:rPr lang="en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FALCON-1024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1,793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969899059"/>
                  </a:ext>
                </a:extLst>
              </a:tr>
              <a:tr h="434601">
                <a:tc>
                  <a:txBody>
                    <a:bodyPr/>
                    <a:lstStyle/>
                    <a:p>
                      <a:pPr algn="ctr" fontAlgn="ctr"/>
                      <a:r>
                        <a:rPr lang="en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sz="12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Dilithium</a:t>
                      </a:r>
                      <a:r>
                        <a:rPr lang="en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-III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1,952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561069468"/>
                  </a:ext>
                </a:extLst>
              </a:tr>
              <a:tr h="434601">
                <a:tc>
                  <a:txBody>
                    <a:bodyPr/>
                    <a:lstStyle/>
                    <a:p>
                      <a:pPr algn="ctr" fontAlgn="ctr"/>
                      <a:r>
                        <a:rPr lang="en" sz="1200" b="1" i="0" u="none" strike="noStrike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sz="1200" b="1" i="0" u="none" strike="noStrike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HAETAE5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1" i="0" u="none" strike="noStrike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2080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514975421"/>
                  </a:ext>
                </a:extLst>
              </a:tr>
              <a:tr h="434601">
                <a:tc>
                  <a:txBody>
                    <a:bodyPr/>
                    <a:lstStyle/>
                    <a:p>
                      <a:pPr algn="ctr" fontAlgn="ctr"/>
                      <a:r>
                        <a:rPr lang="en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sz="12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Dilithium</a:t>
                      </a:r>
                      <a:r>
                        <a:rPr lang="en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-V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2,592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382780836"/>
                  </a:ext>
                </a:extLst>
              </a:tr>
            </a:tbl>
          </a:graphicData>
        </a:graphic>
      </p:graphicFrame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A49C7C51-15C7-9D7C-5958-47CC2864562D}"/>
              </a:ext>
            </a:extLst>
          </p:cNvPr>
          <p:cNvGraphicFramePr>
            <a:graphicFrameLocks noGrp="1"/>
          </p:cNvGraphicFramePr>
          <p:nvPr/>
        </p:nvGraphicFramePr>
        <p:xfrm>
          <a:off x="4167809" y="1750219"/>
          <a:ext cx="3856382" cy="38361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6041">
                  <a:extLst>
                    <a:ext uri="{9D8B030D-6E8A-4147-A177-3AD203B41FA5}">
                      <a16:colId xmlns:a16="http://schemas.microsoft.com/office/drawing/2014/main" val="1475580333"/>
                    </a:ext>
                  </a:extLst>
                </a:gridCol>
                <a:gridCol w="2101974">
                  <a:extLst>
                    <a:ext uri="{9D8B030D-6E8A-4147-A177-3AD203B41FA5}">
                      <a16:colId xmlns:a16="http://schemas.microsoft.com/office/drawing/2014/main" val="3307861872"/>
                    </a:ext>
                  </a:extLst>
                </a:gridCol>
                <a:gridCol w="1108367">
                  <a:extLst>
                    <a:ext uri="{9D8B030D-6E8A-4147-A177-3AD203B41FA5}">
                      <a16:colId xmlns:a16="http://schemas.microsoft.com/office/drawing/2014/main" val="1327884116"/>
                    </a:ext>
                  </a:extLst>
                </a:gridCol>
              </a:tblGrid>
              <a:tr h="35938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+mn-lt"/>
                        </a:rPr>
                        <a:t>Rank</a:t>
                      </a:r>
                      <a:endParaRPr lang="ko-KR" altLang="en-US" sz="140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+mn-lt"/>
                        </a:rPr>
                        <a:t>Scheme</a:t>
                      </a:r>
                      <a:endParaRPr lang="ko-KR" altLang="en-US" sz="140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+mn-lt"/>
                        </a:rPr>
                        <a:t>Secret key</a:t>
                      </a:r>
                      <a:endParaRPr lang="ko-KR" altLang="en-US" sz="1400" dirty="0"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38246716"/>
                  </a:ext>
                </a:extLst>
              </a:tr>
              <a:tr h="434601">
                <a:tc>
                  <a:txBody>
                    <a:bodyPr/>
                    <a:lstStyle/>
                    <a:p>
                      <a:pPr algn="ctr" fontAlgn="ctr"/>
                      <a:r>
                        <a:rPr lang="en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34" charset="-127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34" charset="-127"/>
                        </a:rPr>
                        <a:t>FALCON-512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34" charset="-127"/>
                        </a:rPr>
                        <a:t>1,281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962885781"/>
                  </a:ext>
                </a:extLst>
              </a:tr>
              <a:tr h="434601">
                <a:tc>
                  <a:txBody>
                    <a:bodyPr/>
                    <a:lstStyle/>
                    <a:p>
                      <a:pPr algn="ctr" fontAlgn="ctr"/>
                      <a:r>
                        <a:rPr lang="en" sz="1200" b="1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맑은 고딕" panose="020B0503020000020004" pitchFamily="34" charset="-127"/>
                        </a:rPr>
                        <a:t>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sz="1200" b="1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맑은 고딕" panose="020B0503020000020004" pitchFamily="34" charset="-127"/>
                        </a:rPr>
                        <a:t>HAETAE2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1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맑은 고딕" panose="020B0503020000020004" pitchFamily="34" charset="-127"/>
                        </a:rPr>
                        <a:t>1,408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659377679"/>
                  </a:ext>
                </a:extLst>
              </a:tr>
              <a:tr h="434601">
                <a:tc>
                  <a:txBody>
                    <a:bodyPr/>
                    <a:lstStyle/>
                    <a:p>
                      <a:pPr algn="ctr" fontAlgn="ctr"/>
                      <a:r>
                        <a:rPr lang="en" sz="1200" b="1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맑은 고딕" panose="020B0503020000020004" pitchFamily="34" charset="-127"/>
                        </a:rPr>
                        <a:t>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sz="1200" b="1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맑은 고딕" panose="020B0503020000020004" pitchFamily="34" charset="-127"/>
                        </a:rPr>
                        <a:t>HAETAE3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1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맑은 고딕" panose="020B0503020000020004" pitchFamily="34" charset="-127"/>
                        </a:rPr>
                        <a:t>2,112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027863410"/>
                  </a:ext>
                </a:extLst>
              </a:tr>
              <a:tr h="434601">
                <a:tc>
                  <a:txBody>
                    <a:bodyPr/>
                    <a:lstStyle/>
                    <a:p>
                      <a:pPr algn="ctr" fontAlgn="ctr"/>
                      <a:r>
                        <a:rPr lang="en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34" charset="-127"/>
                        </a:rPr>
                        <a:t>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34" charset="-127"/>
                        </a:rPr>
                        <a:t>FALCON-1024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34" charset="-127"/>
                        </a:rPr>
                        <a:t>2,305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885538770"/>
                  </a:ext>
                </a:extLst>
              </a:tr>
              <a:tr h="434601">
                <a:tc>
                  <a:txBody>
                    <a:bodyPr/>
                    <a:lstStyle/>
                    <a:p>
                      <a:pPr algn="ctr" fontAlgn="ctr"/>
                      <a:r>
                        <a:rPr lang="en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34" charset="-127"/>
                        </a:rPr>
                        <a:t>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sz="12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34" charset="-127"/>
                        </a:rPr>
                        <a:t>Dilithium</a:t>
                      </a:r>
                      <a:r>
                        <a:rPr lang="en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34" charset="-127"/>
                        </a:rPr>
                        <a:t>-II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34" charset="-127"/>
                        </a:rPr>
                        <a:t>2,528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50438995"/>
                  </a:ext>
                </a:extLst>
              </a:tr>
              <a:tr h="434601">
                <a:tc>
                  <a:txBody>
                    <a:bodyPr/>
                    <a:lstStyle/>
                    <a:p>
                      <a:pPr algn="ctr" fontAlgn="ctr"/>
                      <a:r>
                        <a:rPr lang="en" sz="1200" b="1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맑은 고딕" panose="020B0503020000020004" pitchFamily="34" charset="-127"/>
                        </a:rPr>
                        <a:t>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sz="1200" b="1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맑은 고딕" panose="020B0503020000020004" pitchFamily="34" charset="-127"/>
                        </a:rPr>
                        <a:t>HAETAE5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1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맑은 고딕" panose="020B0503020000020004" pitchFamily="34" charset="-127"/>
                        </a:rPr>
                        <a:t>2,752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561069468"/>
                  </a:ext>
                </a:extLst>
              </a:tr>
              <a:tr h="434601">
                <a:tc>
                  <a:txBody>
                    <a:bodyPr/>
                    <a:lstStyle/>
                    <a:p>
                      <a:pPr algn="ctr" fontAlgn="ctr"/>
                      <a:r>
                        <a:rPr lang="en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34" charset="-127"/>
                        </a:rPr>
                        <a:t>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sz="12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34" charset="-127"/>
                        </a:rPr>
                        <a:t>Dilithium</a:t>
                      </a:r>
                      <a:r>
                        <a:rPr lang="en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34" charset="-127"/>
                        </a:rPr>
                        <a:t>-III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34" charset="-127"/>
                        </a:rPr>
                        <a:t>4,000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37038752"/>
                  </a:ext>
                </a:extLst>
              </a:tr>
              <a:tr h="434601">
                <a:tc>
                  <a:txBody>
                    <a:bodyPr/>
                    <a:lstStyle/>
                    <a:p>
                      <a:pPr algn="ctr" fontAlgn="ctr"/>
                      <a:r>
                        <a:rPr lang="en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34" charset="-127"/>
                        </a:rPr>
                        <a:t>10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sz="12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34" charset="-127"/>
                        </a:rPr>
                        <a:t>Dilithium</a:t>
                      </a:r>
                      <a:r>
                        <a:rPr lang="en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34" charset="-127"/>
                        </a:rPr>
                        <a:t>-V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34" charset="-127"/>
                        </a:rPr>
                        <a:t>4,864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382780836"/>
                  </a:ext>
                </a:extLst>
              </a:tr>
            </a:tbl>
          </a:graphicData>
        </a:graphic>
      </p:graphicFrame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5ECF0181-D57C-4FAF-F652-8D5219E5C5B1}"/>
              </a:ext>
            </a:extLst>
          </p:cNvPr>
          <p:cNvGraphicFramePr>
            <a:graphicFrameLocks noGrp="1"/>
          </p:cNvGraphicFramePr>
          <p:nvPr/>
        </p:nvGraphicFramePr>
        <p:xfrm>
          <a:off x="8219659" y="1750219"/>
          <a:ext cx="3856382" cy="38361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6041">
                  <a:extLst>
                    <a:ext uri="{9D8B030D-6E8A-4147-A177-3AD203B41FA5}">
                      <a16:colId xmlns:a16="http://schemas.microsoft.com/office/drawing/2014/main" val="1475580333"/>
                    </a:ext>
                  </a:extLst>
                </a:gridCol>
                <a:gridCol w="2101974">
                  <a:extLst>
                    <a:ext uri="{9D8B030D-6E8A-4147-A177-3AD203B41FA5}">
                      <a16:colId xmlns:a16="http://schemas.microsoft.com/office/drawing/2014/main" val="3307861872"/>
                    </a:ext>
                  </a:extLst>
                </a:gridCol>
                <a:gridCol w="1108367">
                  <a:extLst>
                    <a:ext uri="{9D8B030D-6E8A-4147-A177-3AD203B41FA5}">
                      <a16:colId xmlns:a16="http://schemas.microsoft.com/office/drawing/2014/main" val="1327884116"/>
                    </a:ext>
                  </a:extLst>
                </a:gridCol>
              </a:tblGrid>
              <a:tr h="35938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+mn-lt"/>
                        </a:rPr>
                        <a:t>Rank</a:t>
                      </a:r>
                      <a:endParaRPr lang="ko-KR" altLang="en-US" sz="140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+mn-lt"/>
                        </a:rPr>
                        <a:t>Scheme</a:t>
                      </a:r>
                      <a:endParaRPr lang="ko-KR" altLang="en-US" sz="140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+mn-lt"/>
                        </a:rPr>
                        <a:t>Signature</a:t>
                      </a:r>
                      <a:endParaRPr lang="ko-KR" altLang="en-US" sz="1400" dirty="0"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38246716"/>
                  </a:ext>
                </a:extLst>
              </a:tr>
              <a:tr h="434601">
                <a:tc>
                  <a:txBody>
                    <a:bodyPr/>
                    <a:lstStyle/>
                    <a:p>
                      <a:pPr algn="ctr" fontAlgn="ctr"/>
                      <a:r>
                        <a:rPr lang="en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34" charset="-127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34" charset="-127"/>
                        </a:rPr>
                        <a:t>FALCON-512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34" charset="-127"/>
                        </a:rPr>
                        <a:t>666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962885781"/>
                  </a:ext>
                </a:extLst>
              </a:tr>
              <a:tr h="434601">
                <a:tc>
                  <a:txBody>
                    <a:bodyPr/>
                    <a:lstStyle/>
                    <a:p>
                      <a:pPr algn="ctr" fontAlgn="ctr"/>
                      <a:r>
                        <a:rPr lang="en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34" charset="-127"/>
                        </a:rPr>
                        <a:t>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34" charset="-127"/>
                        </a:rPr>
                        <a:t>FALCON-1024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34" charset="-127"/>
                        </a:rPr>
                        <a:t>1,280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659377679"/>
                  </a:ext>
                </a:extLst>
              </a:tr>
              <a:tr h="434601">
                <a:tc>
                  <a:txBody>
                    <a:bodyPr/>
                    <a:lstStyle/>
                    <a:p>
                      <a:pPr algn="ctr" fontAlgn="ctr"/>
                      <a:r>
                        <a:rPr lang="en" sz="1200" b="1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맑은 고딕" panose="020B0503020000020004" pitchFamily="34" charset="-127"/>
                        </a:rPr>
                        <a:t>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sz="1200" b="1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맑은 고딕" panose="020B0503020000020004" pitchFamily="34" charset="-127"/>
                        </a:rPr>
                        <a:t>HAETAE2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1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맑은 고딕" panose="020B0503020000020004" pitchFamily="34" charset="-127"/>
                        </a:rPr>
                        <a:t>1,474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027863410"/>
                  </a:ext>
                </a:extLst>
              </a:tr>
              <a:tr h="434601">
                <a:tc>
                  <a:txBody>
                    <a:bodyPr/>
                    <a:lstStyle/>
                    <a:p>
                      <a:pPr algn="ctr" fontAlgn="ctr"/>
                      <a:r>
                        <a:rPr lang="en" sz="1200" b="1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맑은 고딕" panose="020B0503020000020004" pitchFamily="34" charset="-127"/>
                        </a:rPr>
                        <a:t>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sz="1200" b="1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맑은 고딕" panose="020B0503020000020004" pitchFamily="34" charset="-127"/>
                        </a:rPr>
                        <a:t>HAETAE3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1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맑은 고딕" panose="020B0503020000020004" pitchFamily="34" charset="-127"/>
                        </a:rPr>
                        <a:t>2,349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885538770"/>
                  </a:ext>
                </a:extLst>
              </a:tr>
              <a:tr h="434601">
                <a:tc>
                  <a:txBody>
                    <a:bodyPr/>
                    <a:lstStyle/>
                    <a:p>
                      <a:pPr algn="ctr" fontAlgn="ctr"/>
                      <a:r>
                        <a:rPr lang="en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34" charset="-127"/>
                        </a:rPr>
                        <a:t>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sz="12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34" charset="-127"/>
                        </a:rPr>
                        <a:t>Dilithium</a:t>
                      </a:r>
                      <a:r>
                        <a:rPr lang="en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34" charset="-127"/>
                        </a:rPr>
                        <a:t>-II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34" charset="-127"/>
                        </a:rPr>
                        <a:t>2,420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50438995"/>
                  </a:ext>
                </a:extLst>
              </a:tr>
              <a:tr h="434601">
                <a:tc>
                  <a:txBody>
                    <a:bodyPr/>
                    <a:lstStyle/>
                    <a:p>
                      <a:pPr algn="ctr" fontAlgn="ctr"/>
                      <a:r>
                        <a:rPr lang="en" sz="1200" b="1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맑은 고딕" panose="020B0503020000020004" pitchFamily="34" charset="-127"/>
                        </a:rPr>
                        <a:t>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sz="1200" b="1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맑은 고딕" panose="020B0503020000020004" pitchFamily="34" charset="-127"/>
                        </a:rPr>
                        <a:t>HAETAE5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1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맑은 고딕" panose="020B0503020000020004" pitchFamily="34" charset="-127"/>
                        </a:rPr>
                        <a:t>2,948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561069468"/>
                  </a:ext>
                </a:extLst>
              </a:tr>
              <a:tr h="434601">
                <a:tc>
                  <a:txBody>
                    <a:bodyPr/>
                    <a:lstStyle/>
                    <a:p>
                      <a:pPr algn="ctr" fontAlgn="ctr"/>
                      <a:r>
                        <a:rPr lang="en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34" charset="-127"/>
                        </a:rPr>
                        <a:t>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sz="12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34" charset="-127"/>
                        </a:rPr>
                        <a:t>Dilithium-III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34" charset="-127"/>
                        </a:rPr>
                        <a:t>3,293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514975421"/>
                  </a:ext>
                </a:extLst>
              </a:tr>
              <a:tr h="434601">
                <a:tc>
                  <a:txBody>
                    <a:bodyPr/>
                    <a:lstStyle/>
                    <a:p>
                      <a:pPr algn="ctr" fontAlgn="ctr"/>
                      <a:r>
                        <a:rPr lang="en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34" charset="-127"/>
                        </a:rPr>
                        <a:t>10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sz="12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34" charset="-127"/>
                        </a:rPr>
                        <a:t>Dilithium</a:t>
                      </a:r>
                      <a:r>
                        <a:rPr lang="en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34" charset="-127"/>
                        </a:rPr>
                        <a:t>-V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34" charset="-127"/>
                        </a:rPr>
                        <a:t>4,595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3827808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564966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A7CA14-0816-60B4-0268-34907A8D26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SPHINCS vs </a:t>
            </a:r>
            <a:r>
              <a:rPr lang="en-US" altLang="ko-KR" dirty="0" err="1"/>
              <a:t>AIMer</a:t>
            </a:r>
            <a:r>
              <a:rPr lang="ko-KR" altLang="en-US" dirty="0"/>
              <a:t> 키 크기 비교</a:t>
            </a:r>
            <a:endParaRPr kumimoji="1" lang="ko-KR" altLang="en-US" dirty="0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E83F8D3F-9DEE-CBEB-087F-E35E7CB4BB44}"/>
              </a:ext>
            </a:extLst>
          </p:cNvPr>
          <p:cNvGraphicFramePr>
            <a:graphicFrameLocks noGrp="1"/>
          </p:cNvGraphicFramePr>
          <p:nvPr/>
        </p:nvGraphicFramePr>
        <p:xfrm>
          <a:off x="115959" y="1794510"/>
          <a:ext cx="3856382" cy="34051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6041">
                  <a:extLst>
                    <a:ext uri="{9D8B030D-6E8A-4147-A177-3AD203B41FA5}">
                      <a16:colId xmlns:a16="http://schemas.microsoft.com/office/drawing/2014/main" val="1475580333"/>
                    </a:ext>
                  </a:extLst>
                </a:gridCol>
                <a:gridCol w="2101974">
                  <a:extLst>
                    <a:ext uri="{9D8B030D-6E8A-4147-A177-3AD203B41FA5}">
                      <a16:colId xmlns:a16="http://schemas.microsoft.com/office/drawing/2014/main" val="3307861872"/>
                    </a:ext>
                  </a:extLst>
                </a:gridCol>
                <a:gridCol w="1108367">
                  <a:extLst>
                    <a:ext uri="{9D8B030D-6E8A-4147-A177-3AD203B41FA5}">
                      <a16:colId xmlns:a16="http://schemas.microsoft.com/office/drawing/2014/main" val="1327884116"/>
                    </a:ext>
                  </a:extLst>
                </a:gridCol>
              </a:tblGrid>
              <a:tr h="39313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+mn-lt"/>
                        </a:rPr>
                        <a:t>Rank</a:t>
                      </a:r>
                      <a:endParaRPr lang="ko-KR" altLang="en-US" sz="140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+mn-lt"/>
                        </a:rPr>
                        <a:t>Scheme</a:t>
                      </a:r>
                      <a:endParaRPr lang="ko-KR" altLang="en-US" sz="140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+mn-lt"/>
                        </a:rPr>
                        <a:t>Public key</a:t>
                      </a:r>
                      <a:endParaRPr lang="ko-KR" altLang="en-US" sz="1400" dirty="0"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38246716"/>
                  </a:ext>
                </a:extLst>
              </a:tr>
              <a:tr h="334664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34" charset="-127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" sz="1200" b="1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맑은 고딕" panose="020B0503020000020004" pitchFamily="34" charset="-127"/>
                        </a:rPr>
                        <a:t>AIMer128f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200" b="1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맑은 고딕" panose="020B0503020000020004" pitchFamily="34" charset="-127"/>
                        </a:rPr>
                        <a:t>32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962885781"/>
                  </a:ext>
                </a:extLst>
              </a:tr>
              <a:tr h="334664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" sz="1200" b="1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맑은 고딕" panose="020B0503020000020004" pitchFamily="34" charset="-127"/>
                        </a:rPr>
                        <a:t>AIMer128s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200" b="1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맑은 고딕" panose="020B0503020000020004" pitchFamily="34" charset="-127"/>
                        </a:rPr>
                        <a:t>32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659377679"/>
                  </a:ext>
                </a:extLst>
              </a:tr>
              <a:tr h="334664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BatangChe" panose="02030609000101010101" pitchFamily="49" charset="-127"/>
                        </a:rPr>
                        <a:t>SPHINCS+128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BatangChe" panose="02030609000101010101" pitchFamily="49" charset="-127"/>
                        </a:rPr>
                        <a:t>32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027863410"/>
                  </a:ext>
                </a:extLst>
              </a:tr>
              <a:tr h="334664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34" charset="-127"/>
                        </a:rPr>
                        <a:t>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" sz="1200" b="1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맑은 고딕" panose="020B0503020000020004" pitchFamily="34" charset="-127"/>
                        </a:rPr>
                        <a:t>AIMer192f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200" b="1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맑은 고딕" panose="020B0503020000020004" pitchFamily="34" charset="-127"/>
                        </a:rPr>
                        <a:t>48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885538770"/>
                  </a:ext>
                </a:extLst>
              </a:tr>
              <a:tr h="334664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" sz="1200" b="1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맑은 고딕" panose="020B0503020000020004" pitchFamily="34" charset="-127"/>
                        </a:rPr>
                        <a:t>AIMer192s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200" b="1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맑은 고딕" panose="020B0503020000020004" pitchFamily="34" charset="-127"/>
                        </a:rPr>
                        <a:t>48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50438995"/>
                  </a:ext>
                </a:extLst>
              </a:tr>
              <a:tr h="334664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sz="12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BatangChe" panose="02030609000101010101" pitchFamily="49" charset="-127"/>
                        </a:rPr>
                        <a:t>SPHINCS+192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BatangChe" panose="02030609000101010101" pitchFamily="49" charset="-127"/>
                        </a:rPr>
                        <a:t>48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969899059"/>
                  </a:ext>
                </a:extLst>
              </a:tr>
              <a:tr h="334664">
                <a:tc>
                  <a:txBody>
                    <a:bodyPr/>
                    <a:lstStyle/>
                    <a:p>
                      <a:pPr algn="ctr" fontAlgn="ctr"/>
                      <a:r>
                        <a:rPr lang="en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34" charset="-127"/>
                        </a:rPr>
                        <a:t>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BatangChe" panose="02030609000101010101" pitchFamily="49" charset="-127"/>
                        </a:rPr>
                        <a:t>SPHINCS+256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BatangChe" panose="02030609000101010101" pitchFamily="49" charset="-127"/>
                        </a:rPr>
                        <a:t>49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561069468"/>
                  </a:ext>
                </a:extLst>
              </a:tr>
              <a:tr h="334664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" sz="1200" b="1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맑은 고딕" panose="020B0503020000020004" pitchFamily="34" charset="-127"/>
                        </a:rPr>
                        <a:t>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" sz="1200" b="1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맑은 고딕" panose="020B0503020000020004" pitchFamily="34" charset="-127"/>
                        </a:rPr>
                        <a:t>AIMer256f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200" b="1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맑은 고딕" panose="020B0503020000020004" pitchFamily="34" charset="-127"/>
                        </a:rPr>
                        <a:t>64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514975421"/>
                  </a:ext>
                </a:extLst>
              </a:tr>
              <a:tr h="334664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" sz="1200" b="1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맑은 고딕" panose="020B0503020000020004" pitchFamily="34" charset="-127"/>
                        </a:rPr>
                        <a:t>AIMer256s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200" b="1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맑은 고딕" panose="020B0503020000020004" pitchFamily="34" charset="-127"/>
                        </a:rPr>
                        <a:t>64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129723527"/>
                  </a:ext>
                </a:extLst>
              </a:tr>
            </a:tbl>
          </a:graphicData>
        </a:graphic>
      </p:graphicFrame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B96A6ECB-DE14-1EE6-48BA-965E4722CA5D}"/>
              </a:ext>
            </a:extLst>
          </p:cNvPr>
          <p:cNvGraphicFramePr>
            <a:graphicFrameLocks noGrp="1"/>
          </p:cNvGraphicFramePr>
          <p:nvPr/>
        </p:nvGraphicFramePr>
        <p:xfrm>
          <a:off x="4167809" y="1805940"/>
          <a:ext cx="3856382" cy="33936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2790">
                  <a:extLst>
                    <a:ext uri="{9D8B030D-6E8A-4147-A177-3AD203B41FA5}">
                      <a16:colId xmlns:a16="http://schemas.microsoft.com/office/drawing/2014/main" val="1475580333"/>
                    </a:ext>
                  </a:extLst>
                </a:gridCol>
                <a:gridCol w="2115225">
                  <a:extLst>
                    <a:ext uri="{9D8B030D-6E8A-4147-A177-3AD203B41FA5}">
                      <a16:colId xmlns:a16="http://schemas.microsoft.com/office/drawing/2014/main" val="3307861872"/>
                    </a:ext>
                  </a:extLst>
                </a:gridCol>
                <a:gridCol w="1108367">
                  <a:extLst>
                    <a:ext uri="{9D8B030D-6E8A-4147-A177-3AD203B41FA5}">
                      <a16:colId xmlns:a16="http://schemas.microsoft.com/office/drawing/2014/main" val="1327884116"/>
                    </a:ext>
                  </a:extLst>
                </a:gridCol>
              </a:tblGrid>
              <a:tr h="38170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+mn-lt"/>
                        </a:rPr>
                        <a:t>Rank</a:t>
                      </a:r>
                      <a:endParaRPr lang="ko-KR" altLang="en-US" sz="140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+mn-lt"/>
                        </a:rPr>
                        <a:t>Scheme</a:t>
                      </a:r>
                      <a:endParaRPr lang="ko-KR" altLang="en-US" sz="140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+mn-lt"/>
                        </a:rPr>
                        <a:t>Secret key</a:t>
                      </a:r>
                      <a:endParaRPr lang="ko-KR" altLang="en-US" sz="1400" dirty="0"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38246716"/>
                  </a:ext>
                </a:extLst>
              </a:tr>
              <a:tr h="334664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" sz="1200" b="1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맑은 고딕" panose="020B0503020000020004" pitchFamily="34" charset="-127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" sz="1200" b="1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맑은 고딕" panose="020B0503020000020004" pitchFamily="34" charset="-127"/>
                        </a:rPr>
                        <a:t>AIMer128f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200" b="1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맑은 고딕" panose="020B0503020000020004" pitchFamily="34" charset="-127"/>
                        </a:rPr>
                        <a:t>48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962885781"/>
                  </a:ext>
                </a:extLst>
              </a:tr>
              <a:tr h="334664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" sz="1200" b="1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맑은 고딕" panose="020B0503020000020004" pitchFamily="34" charset="-127"/>
                        </a:rPr>
                        <a:t>AIMer128s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200" b="1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맑은 고딕" panose="020B0503020000020004" pitchFamily="34" charset="-127"/>
                        </a:rPr>
                        <a:t>48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659377679"/>
                  </a:ext>
                </a:extLst>
              </a:tr>
              <a:tr h="334664">
                <a:tc>
                  <a:txBody>
                    <a:bodyPr/>
                    <a:lstStyle/>
                    <a:p>
                      <a:pPr algn="ctr" fontAlgn="ctr"/>
                      <a:r>
                        <a:rPr lang="en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34" charset="-127"/>
                        </a:rPr>
                        <a:t>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34" charset="-127"/>
                        </a:rPr>
                        <a:t>SPHINCS+128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34" charset="-127"/>
                        </a:rPr>
                        <a:t>64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027863410"/>
                  </a:ext>
                </a:extLst>
              </a:tr>
              <a:tr h="334664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" sz="1200" b="1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맑은 고딕" panose="020B0503020000020004" pitchFamily="34" charset="-127"/>
                        </a:rPr>
                        <a:t>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" sz="1200" b="1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맑은 고딕" panose="020B0503020000020004" pitchFamily="34" charset="-127"/>
                        </a:rPr>
                        <a:t>AIMer192f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200" b="1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맑은 고딕" panose="020B0503020000020004" pitchFamily="34" charset="-127"/>
                        </a:rPr>
                        <a:t>72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885538770"/>
                  </a:ext>
                </a:extLst>
              </a:tr>
              <a:tr h="334664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" sz="1200" b="1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맑은 고딕" panose="020B0503020000020004" pitchFamily="34" charset="-127"/>
                        </a:rPr>
                        <a:t>AIMer192s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200" b="1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맑은 고딕" panose="020B0503020000020004" pitchFamily="34" charset="-127"/>
                        </a:rPr>
                        <a:t>72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50438995"/>
                  </a:ext>
                </a:extLst>
              </a:tr>
              <a:tr h="334664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" sz="1200" b="1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맑은 고딕" panose="020B0503020000020004" pitchFamily="34" charset="-127"/>
                        </a:rPr>
                        <a:t>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" sz="1200" b="1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맑은 고딕" panose="020B0503020000020004" pitchFamily="34" charset="-127"/>
                        </a:rPr>
                        <a:t>AIMer256f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200" b="1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맑은 고딕" panose="020B0503020000020004" pitchFamily="34" charset="-127"/>
                        </a:rPr>
                        <a:t>96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969899059"/>
                  </a:ext>
                </a:extLst>
              </a:tr>
              <a:tr h="334664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" sz="1200" b="1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맑은 고딕" panose="020B0503020000020004" pitchFamily="34" charset="-127"/>
                        </a:rPr>
                        <a:t>AIMer256s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200" b="1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맑은 고딕" panose="020B0503020000020004" pitchFamily="34" charset="-127"/>
                        </a:rPr>
                        <a:t>96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561069468"/>
                  </a:ext>
                </a:extLst>
              </a:tr>
              <a:tr h="334664">
                <a:tc>
                  <a:txBody>
                    <a:bodyPr/>
                    <a:lstStyle/>
                    <a:p>
                      <a:pPr algn="ctr" fontAlgn="ctr"/>
                      <a:r>
                        <a:rPr lang="en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34" charset="-127"/>
                        </a:rPr>
                        <a:t>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34" charset="-127"/>
                        </a:rPr>
                        <a:t>SPHINCS+192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34" charset="-127"/>
                        </a:rPr>
                        <a:t>96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514975421"/>
                  </a:ext>
                </a:extLst>
              </a:tr>
              <a:tr h="334664">
                <a:tc>
                  <a:txBody>
                    <a:bodyPr/>
                    <a:lstStyle/>
                    <a:p>
                      <a:pPr algn="ctr" fontAlgn="ctr"/>
                      <a:r>
                        <a:rPr lang="en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34" charset="-127"/>
                        </a:rPr>
                        <a:t>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34" charset="-127"/>
                        </a:rPr>
                        <a:t>SPHINCS+256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34" charset="-127"/>
                        </a:rPr>
                        <a:t>128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129723527"/>
                  </a:ext>
                </a:extLst>
              </a:tr>
            </a:tbl>
          </a:graphicData>
        </a:graphic>
      </p:graphicFrame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C9E993EC-DAB8-7505-70E6-3A033ADEBECB}"/>
              </a:ext>
            </a:extLst>
          </p:cNvPr>
          <p:cNvGraphicFramePr>
            <a:graphicFrameLocks noGrp="1"/>
          </p:cNvGraphicFramePr>
          <p:nvPr/>
        </p:nvGraphicFramePr>
        <p:xfrm>
          <a:off x="8219659" y="1428750"/>
          <a:ext cx="3856382" cy="43205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9236">
                  <a:extLst>
                    <a:ext uri="{9D8B030D-6E8A-4147-A177-3AD203B41FA5}">
                      <a16:colId xmlns:a16="http://schemas.microsoft.com/office/drawing/2014/main" val="1475580333"/>
                    </a:ext>
                  </a:extLst>
                </a:gridCol>
                <a:gridCol w="2078779">
                  <a:extLst>
                    <a:ext uri="{9D8B030D-6E8A-4147-A177-3AD203B41FA5}">
                      <a16:colId xmlns:a16="http://schemas.microsoft.com/office/drawing/2014/main" val="3307861872"/>
                    </a:ext>
                  </a:extLst>
                </a:gridCol>
                <a:gridCol w="1108367">
                  <a:extLst>
                    <a:ext uri="{9D8B030D-6E8A-4147-A177-3AD203B41FA5}">
                      <a16:colId xmlns:a16="http://schemas.microsoft.com/office/drawing/2014/main" val="1327884116"/>
                    </a:ext>
                  </a:extLst>
                </a:gridCol>
              </a:tblGrid>
              <a:tr h="36787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+mn-lt"/>
                        </a:rPr>
                        <a:t>Rank</a:t>
                      </a:r>
                      <a:endParaRPr lang="ko-KR" altLang="en-US" sz="140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+mn-lt"/>
                        </a:rPr>
                        <a:t>Scheme</a:t>
                      </a:r>
                      <a:endParaRPr lang="ko-KR" altLang="en-US" sz="140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+mn-lt"/>
                        </a:rPr>
                        <a:t>Signature</a:t>
                      </a:r>
                      <a:endParaRPr lang="ko-KR" altLang="en-US" sz="1400" dirty="0"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38246716"/>
                  </a:ext>
                </a:extLst>
              </a:tr>
              <a:tr h="32938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1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맑은 고딕" panose="020B0503020000020004" pitchFamily="34" charset="-127"/>
                        </a:rPr>
                        <a:t>1</a:t>
                      </a:r>
                      <a:endParaRPr lang="en" sz="1200" b="1" i="0" u="none" strike="noStrike" dirty="0">
                        <a:solidFill>
                          <a:srgbClr val="FF0000"/>
                        </a:solidFill>
                        <a:effectLst/>
                        <a:latin typeface="+mn-lt"/>
                        <a:ea typeface="맑은 고딕" panose="020B0503020000020004" pitchFamily="34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" sz="1200" b="1" i="0" u="none" strike="noStrike" dirty="0">
                          <a:solidFill>
                            <a:srgbClr val="FF0000"/>
                          </a:solidFill>
                          <a:effectLst/>
                          <a:latin typeface="Helvetica" pitchFamily="2" charset="0"/>
                          <a:ea typeface="맑은 고딕" panose="020B0503020000020004" pitchFamily="34" charset="-127"/>
                        </a:rPr>
                        <a:t>AIMer128s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200" b="1" i="0" u="none" strike="noStrike" dirty="0">
                          <a:solidFill>
                            <a:srgbClr val="FF0000"/>
                          </a:solidFill>
                          <a:effectLst/>
                          <a:latin typeface="Helvetica" pitchFamily="2" charset="0"/>
                          <a:ea typeface="맑은 고딕" panose="020B0503020000020004" pitchFamily="34" charset="-127"/>
                        </a:rPr>
                        <a:t>4,160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19806580"/>
                  </a:ext>
                </a:extLst>
              </a:tr>
              <a:tr h="32938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1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맑은 고딕" panose="020B0503020000020004" pitchFamily="34" charset="-127"/>
                        </a:rPr>
                        <a:t>2</a:t>
                      </a:r>
                      <a:endParaRPr lang="en" sz="1200" b="1" i="0" u="none" strike="noStrike" dirty="0">
                        <a:solidFill>
                          <a:srgbClr val="FF0000"/>
                        </a:solidFill>
                        <a:effectLst/>
                        <a:latin typeface="+mn-lt"/>
                        <a:ea typeface="맑은 고딕" panose="020B0503020000020004" pitchFamily="34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" sz="1200" b="1" i="0" u="none" strike="noStrike" dirty="0">
                          <a:solidFill>
                            <a:srgbClr val="FF0000"/>
                          </a:solidFill>
                          <a:effectLst/>
                          <a:latin typeface="Helvetica" pitchFamily="2" charset="0"/>
                          <a:ea typeface="맑은 고딕" panose="020B0503020000020004" pitchFamily="34" charset="-127"/>
                        </a:rPr>
                        <a:t>AIMer128f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200" b="1" i="0" u="none" strike="noStrike" dirty="0">
                          <a:solidFill>
                            <a:srgbClr val="FF0000"/>
                          </a:solidFill>
                          <a:effectLst/>
                          <a:latin typeface="Helvetica" pitchFamily="2" charset="0"/>
                          <a:ea typeface="맑은 고딕" panose="020B0503020000020004" pitchFamily="34" charset="-127"/>
                        </a:rPr>
                        <a:t>5,888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27560697"/>
                  </a:ext>
                </a:extLst>
              </a:tr>
              <a:tr h="32938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34" charset="-127"/>
                        </a:rPr>
                        <a:t>3</a:t>
                      </a:r>
                      <a:endParaRPr lang="en" sz="12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  <a:ea typeface="맑은 고딕" panose="020B0503020000020004" pitchFamily="34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맑은 고딕" panose="020B0503020000020004" pitchFamily="34" charset="-127"/>
                        </a:rPr>
                        <a:t>SPHINCS+128s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맑은 고딕" panose="020B0503020000020004" pitchFamily="34" charset="-127"/>
                        </a:rPr>
                        <a:t>7,856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728215113"/>
                  </a:ext>
                </a:extLst>
              </a:tr>
              <a:tr h="32938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1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맑은 고딕" panose="020B0503020000020004" pitchFamily="34" charset="-127"/>
                        </a:rPr>
                        <a:t>4</a:t>
                      </a:r>
                      <a:endParaRPr lang="en" sz="1200" b="1" i="0" u="none" strike="noStrike" dirty="0">
                        <a:solidFill>
                          <a:srgbClr val="FF0000"/>
                        </a:solidFill>
                        <a:effectLst/>
                        <a:latin typeface="+mn-lt"/>
                        <a:ea typeface="맑은 고딕" panose="020B0503020000020004" pitchFamily="34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" sz="1200" b="1" i="0" u="none" strike="noStrike" dirty="0">
                          <a:solidFill>
                            <a:srgbClr val="FF0000"/>
                          </a:solidFill>
                          <a:effectLst/>
                          <a:latin typeface="Helvetica" pitchFamily="2" charset="0"/>
                          <a:ea typeface="맑은 고딕" panose="020B0503020000020004" pitchFamily="34" charset="-127"/>
                        </a:rPr>
                        <a:t>AIMer192s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200" b="1" i="0" u="none" strike="noStrike" dirty="0">
                          <a:solidFill>
                            <a:srgbClr val="FF0000"/>
                          </a:solidFill>
                          <a:effectLst/>
                          <a:latin typeface="Helvetica" pitchFamily="2" charset="0"/>
                          <a:ea typeface="맑은 고딕" panose="020B0503020000020004" pitchFamily="34" charset="-127"/>
                        </a:rPr>
                        <a:t>9,120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479450599"/>
                  </a:ext>
                </a:extLst>
              </a:tr>
              <a:tr h="32938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1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맑은 고딕" panose="020B0503020000020004" pitchFamily="34" charset="-127"/>
                        </a:rPr>
                        <a:t>5</a:t>
                      </a:r>
                      <a:endParaRPr lang="en" sz="1200" b="1" i="0" u="none" strike="noStrike" dirty="0">
                        <a:solidFill>
                          <a:srgbClr val="FF0000"/>
                        </a:solidFill>
                        <a:effectLst/>
                        <a:latin typeface="+mn-lt"/>
                        <a:ea typeface="맑은 고딕" panose="020B0503020000020004" pitchFamily="34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" sz="1200" b="1" i="0" u="none" strike="noStrike" dirty="0">
                          <a:solidFill>
                            <a:srgbClr val="FF0000"/>
                          </a:solidFill>
                          <a:effectLst/>
                          <a:latin typeface="Helvetica" pitchFamily="2" charset="0"/>
                          <a:ea typeface="맑은 고딕" panose="020B0503020000020004" pitchFamily="34" charset="-127"/>
                        </a:rPr>
                        <a:t>AIMer192f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200" b="1" i="0" u="none" strike="noStrike" dirty="0">
                          <a:solidFill>
                            <a:srgbClr val="FF0000"/>
                          </a:solidFill>
                          <a:effectLst/>
                          <a:latin typeface="Helvetica" pitchFamily="2" charset="0"/>
                          <a:ea typeface="맑은 고딕" panose="020B0503020000020004" pitchFamily="34" charset="-127"/>
                        </a:rPr>
                        <a:t>13,056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423722474"/>
                  </a:ext>
                </a:extLst>
              </a:tr>
              <a:tr h="32938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34" charset="-127"/>
                        </a:rPr>
                        <a:t>6</a:t>
                      </a:r>
                      <a:endParaRPr lang="en" sz="12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  <a:ea typeface="맑은 고딕" panose="020B0503020000020004" pitchFamily="34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맑은 고딕" panose="020B0503020000020004" pitchFamily="34" charset="-127"/>
                        </a:rPr>
                        <a:t>SPHINCS+192s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맑은 고딕" panose="020B0503020000020004" pitchFamily="34" charset="-127"/>
                        </a:rPr>
                        <a:t>16,224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923798836"/>
                  </a:ext>
                </a:extLst>
              </a:tr>
              <a:tr h="32938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1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맑은 고딕" panose="020B0503020000020004" pitchFamily="34" charset="-127"/>
                        </a:rPr>
                        <a:t>7</a:t>
                      </a:r>
                      <a:endParaRPr lang="en" sz="1200" b="1" i="0" u="none" strike="noStrike" dirty="0">
                        <a:solidFill>
                          <a:srgbClr val="FF0000"/>
                        </a:solidFill>
                        <a:effectLst/>
                        <a:latin typeface="+mn-lt"/>
                        <a:ea typeface="맑은 고딕" panose="020B0503020000020004" pitchFamily="34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" sz="1200" b="1" i="0" u="none" strike="noStrike" dirty="0">
                          <a:solidFill>
                            <a:srgbClr val="FF0000"/>
                          </a:solidFill>
                          <a:effectLst/>
                          <a:latin typeface="Helvetica" pitchFamily="2" charset="0"/>
                          <a:ea typeface="맑은 고딕" panose="020B0503020000020004" pitchFamily="34" charset="-127"/>
                        </a:rPr>
                        <a:t>AIMer256s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200" b="1" i="0" u="none" strike="noStrike" dirty="0">
                          <a:solidFill>
                            <a:srgbClr val="FF0000"/>
                          </a:solidFill>
                          <a:effectLst/>
                          <a:latin typeface="Helvetica" pitchFamily="2" charset="0"/>
                          <a:ea typeface="맑은 고딕" panose="020B0503020000020004" pitchFamily="34" charset="-127"/>
                        </a:rPr>
                        <a:t>17,056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878535354"/>
                  </a:ext>
                </a:extLst>
              </a:tr>
              <a:tr h="32938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34" charset="-127"/>
                        </a:rPr>
                        <a:t>8</a:t>
                      </a:r>
                      <a:endParaRPr lang="en" sz="12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  <a:ea typeface="맑은 고딕" panose="020B0503020000020004" pitchFamily="34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맑은 고딕" panose="020B0503020000020004" pitchFamily="34" charset="-127"/>
                        </a:rPr>
                        <a:t>SPHINCS+128f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맑은 고딕" panose="020B0503020000020004" pitchFamily="34" charset="-127"/>
                        </a:rPr>
                        <a:t>17,088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61675784"/>
                  </a:ext>
                </a:extLst>
              </a:tr>
              <a:tr h="32938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1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맑은 고딕" panose="020B0503020000020004" pitchFamily="34" charset="-127"/>
                        </a:rPr>
                        <a:t>9</a:t>
                      </a:r>
                      <a:endParaRPr lang="en" sz="1200" b="1" i="0" u="none" strike="noStrike" dirty="0">
                        <a:solidFill>
                          <a:srgbClr val="FF0000"/>
                        </a:solidFill>
                        <a:effectLst/>
                        <a:latin typeface="+mn-lt"/>
                        <a:ea typeface="맑은 고딕" panose="020B0503020000020004" pitchFamily="34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" sz="1200" b="1" i="0" u="none" strike="noStrike" dirty="0">
                          <a:solidFill>
                            <a:srgbClr val="FF0000"/>
                          </a:solidFill>
                          <a:effectLst/>
                          <a:latin typeface="Helvetica" pitchFamily="2" charset="0"/>
                          <a:ea typeface="맑은 고딕" panose="020B0503020000020004" pitchFamily="34" charset="-127"/>
                        </a:rPr>
                        <a:t>AIMer256f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200" b="1" i="0" u="none" strike="noStrike" dirty="0">
                          <a:solidFill>
                            <a:srgbClr val="FF0000"/>
                          </a:solidFill>
                          <a:effectLst/>
                          <a:latin typeface="Helvetica" pitchFamily="2" charset="0"/>
                          <a:ea typeface="맑은 고딕" panose="020B0503020000020004" pitchFamily="34" charset="-127"/>
                        </a:rPr>
                        <a:t>25,120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23109576"/>
                  </a:ext>
                </a:extLst>
              </a:tr>
              <a:tr h="32938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34" charset="-127"/>
                        </a:rPr>
                        <a:t>10</a:t>
                      </a:r>
                      <a:endParaRPr lang="en" sz="12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  <a:ea typeface="맑은 고딕" panose="020B0503020000020004" pitchFamily="34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맑은 고딕" panose="020B0503020000020004" pitchFamily="34" charset="-127"/>
                        </a:rPr>
                        <a:t>SPHINCS+256s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맑은 고딕" panose="020B0503020000020004" pitchFamily="34" charset="-127"/>
                        </a:rPr>
                        <a:t>29,792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676900111"/>
                  </a:ext>
                </a:extLst>
              </a:tr>
              <a:tr h="32938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34" charset="-127"/>
                        </a:rPr>
                        <a:t>11</a:t>
                      </a:r>
                      <a:endParaRPr lang="en" sz="12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  <a:ea typeface="맑은 고딕" panose="020B0503020000020004" pitchFamily="34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맑은 고딕" panose="020B0503020000020004" pitchFamily="34" charset="-127"/>
                        </a:rPr>
                        <a:t>SPHINCS+192f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맑은 고딕" panose="020B0503020000020004" pitchFamily="34" charset="-127"/>
                        </a:rPr>
                        <a:t>35,664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169341034"/>
                  </a:ext>
                </a:extLst>
              </a:tr>
              <a:tr h="32938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34" charset="-127"/>
                        </a:rPr>
                        <a:t>12</a:t>
                      </a:r>
                      <a:endParaRPr lang="en" sz="12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  <a:ea typeface="맑은 고딕" panose="020B0503020000020004" pitchFamily="34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맑은 고딕" panose="020B0503020000020004" pitchFamily="34" charset="-127"/>
                        </a:rPr>
                        <a:t>SPHINCS+256f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맑은 고딕" panose="020B0503020000020004" pitchFamily="34" charset="-127"/>
                        </a:rPr>
                        <a:t>49,856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932821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7669951"/>
      </p:ext>
    </p:extLst>
  </p:cSld>
  <p:clrMapOvr>
    <a:masterClrMapping/>
  </p:clrMapOvr>
</p:sld>
</file>

<file path=ppt/theme/theme1.xml><?xml version="1.0" encoding="utf-8"?>
<a:theme xmlns:a="http://schemas.openxmlformats.org/drawingml/2006/main" name="CryptoCraft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2">
      <a:majorFont>
        <a:latin typeface="Arial"/>
        <a:ea typeface="맑은 고딕"/>
        <a:cs typeface=""/>
      </a:majorFont>
      <a:minorFont>
        <a:latin typeface="Arial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[CLEAN]_CryptoCraft Lab PPT 양식" id="{E712E38C-1C04-504C-B5D5-8F368DAED54C}" vid="{1DC7DBC3-F67B-F842-ADBC-4328E0BB0FA1}"/>
    </a:ext>
  </a:extLst>
</a:theme>
</file>

<file path=ppt/theme/theme2.xml><?xml version="1.0" encoding="utf-8"?>
<a:theme xmlns:a="http://schemas.openxmlformats.org/drawingml/2006/main" name="제목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2">
      <a:majorFont>
        <a:latin typeface="Arial"/>
        <a:ea typeface="맑은 고딕"/>
        <a:cs typeface=""/>
      </a:majorFont>
      <a:minorFont>
        <a:latin typeface="Arial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[CLEAN]_CryptoCraft Lab PPT 양식" id="{E712E38C-1C04-504C-B5D5-8F368DAED54C}" vid="{E15818DC-538F-214A-8100-A2D2BA8DAB29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CryptoCraft 테마</Template>
  <TotalTime>12580</TotalTime>
  <Words>1678</Words>
  <Application>Microsoft Office PowerPoint</Application>
  <PresentationFormat>와이드스크린</PresentationFormat>
  <Paragraphs>634</Paragraphs>
  <Slides>13</Slides>
  <Notes>9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13</vt:i4>
      </vt:variant>
    </vt:vector>
  </HeadingPairs>
  <TitlesOfParts>
    <vt:vector size="18" baseType="lpstr">
      <vt:lpstr>맑은 고딕</vt:lpstr>
      <vt:lpstr>Arial</vt:lpstr>
      <vt:lpstr>Helvetica</vt:lpstr>
      <vt:lpstr>CryptoCraft 테마</vt:lpstr>
      <vt:lpstr>제목 테마</vt:lpstr>
      <vt:lpstr>차량 내부 통신 프로토콜의 KpqC 알고리즘 적용 가능성 평가</vt:lpstr>
      <vt:lpstr>주요 자동차 내부 통신 프로토콜</vt:lpstr>
      <vt:lpstr>CAN-FD 프로토콜</vt:lpstr>
      <vt:lpstr>CAN-FD PQC 적용 시나리오</vt:lpstr>
      <vt:lpstr>CAN-FD 실제 전송 시 패킷 크기</vt:lpstr>
      <vt:lpstr>CAN-FD 패킷 비교(KEM/DSA)</vt:lpstr>
      <vt:lpstr>CAN-FD 전송 지연 산출</vt:lpstr>
      <vt:lpstr>CAN-FD ECU 도메인 별 실시간성 및 PQC 적용 가능성 평가</vt:lpstr>
      <vt:lpstr>CAN-FD PQC 적용 가능성 평가</vt:lpstr>
      <vt:lpstr>PowerPoint 프레젠테이션</vt:lpstr>
      <vt:lpstr>Kyber vs SMAUG-T NTRU+ 키 크기 비교</vt:lpstr>
      <vt:lpstr>Dililthium FALCON vs HAETAE 키 크기 비교</vt:lpstr>
      <vt:lpstr>SPHINCS vs AIMer 키 크기 비교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AIMer AVX2 최적 구현 기법 분석</dc:title>
  <dc:creator>심민주</dc:creator>
  <cp:lastModifiedBy>이민우</cp:lastModifiedBy>
  <cp:revision>64</cp:revision>
  <dcterms:created xsi:type="dcterms:W3CDTF">2025-06-17T05:20:17Z</dcterms:created>
  <dcterms:modified xsi:type="dcterms:W3CDTF">2025-11-06T18:05:36Z</dcterms:modified>
</cp:coreProperties>
</file>