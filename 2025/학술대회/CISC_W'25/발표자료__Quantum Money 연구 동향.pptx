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8483600" cy="12001500"/>
  <p:notesSz cx="6858000" cy="9144000"/>
  <p:embeddedFontLst>
    <p:embeddedFont>
      <p:font typeface="NanumGothic" panose="020D0604000000000000" pitchFamily="34" charset="-127"/>
      <p:regular r:id="rId4"/>
      <p:bold r:id="rId5"/>
    </p:embeddedFont>
    <p:embeddedFont>
      <p:font typeface="맑은 고딕" panose="020B0503020000020004" pitchFamily="34" charset="-127"/>
      <p:regular r:id="rId6"/>
      <p:bold r:id="rId7"/>
    </p:embeddedFont>
    <p:embeddedFont>
      <p:font typeface="맑은 고딕" panose="020B0503020000020004" pitchFamily="34" charset="-127"/>
      <p:regular r:id="rId6"/>
      <p:bold r:id="rId7"/>
    </p:embeddedFont>
    <p:embeddedFont>
      <p:font typeface="Cambria Math" panose="02040503050406030204" pitchFamily="18" charset="0"/>
      <p:regular r:id="rId8"/>
    </p:embeddedFont>
    <p:embeddedFont>
      <p:font typeface="Roboto Condensed Bold" panose="02000000000000000000" pitchFamily="2" charset="0"/>
      <p:bold r:id="rId9"/>
    </p:embeddedFont>
    <p:embeddedFont>
      <p:font typeface="Roboto Condensed Light" panose="02000000000000000000" pitchFamily="2" charset="0"/>
      <p:regular r:id="rId10"/>
    </p:embeddedFont>
    <p:embeddedFont>
      <p:font typeface="Roboto Condensed Regular" panose="02000000000000000000" pitchFamily="2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06" autoAdjust="0"/>
    <p:restoredTop sz="94639" autoAdjust="0"/>
  </p:normalViewPr>
  <p:slideViewPr>
    <p:cSldViewPr>
      <p:cViewPr varScale="1">
        <p:scale>
          <a:sx n="119" d="100"/>
          <a:sy n="119" d="100"/>
        </p:scale>
        <p:origin x="6440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CA8598-BAEB-8543-BFEF-CA12A9C07E81}" type="datetimeFigureOut">
              <a:rPr kumimoji="1" lang="ko-KR" altLang="en-US" smtClean="0"/>
              <a:t>2025. 11. 25.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AAB0EA-C778-AB4D-8E80-A6B1C60556E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56473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AB0EA-C778-AB4D-8E80-A6B1C60556ED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42949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483600" cy="1228054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64000"/>
          </a:blip>
          <a:stretch>
            <a:fillRect/>
          </a:stretch>
        </p:blipFill>
        <p:spPr>
          <a:xfrm>
            <a:off x="0" y="84876"/>
            <a:ext cx="8483600" cy="1115274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994" y="3568700"/>
            <a:ext cx="114300" cy="114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494" y="3619500"/>
            <a:ext cx="3429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994" y="3803652"/>
            <a:ext cx="114300" cy="114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094" y="3867152"/>
            <a:ext cx="342900" cy="12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alphaModFix amt="35000"/>
          </a:blip>
          <a:stretch>
            <a:fillRect/>
          </a:stretch>
        </p:blipFill>
        <p:spPr>
          <a:xfrm rot="-10800000">
            <a:off x="406400" y="4255318"/>
            <a:ext cx="7683500" cy="12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alphaModFix amt="35000"/>
          </a:blip>
          <a:stretch>
            <a:fillRect/>
          </a:stretch>
        </p:blipFill>
        <p:spPr>
          <a:xfrm rot="-10800000">
            <a:off x="406400" y="2768600"/>
            <a:ext cx="7683500" cy="127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994" y="3200400"/>
            <a:ext cx="114300" cy="1143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094" y="3263900"/>
            <a:ext cx="342900" cy="127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217836" y="3550700"/>
            <a:ext cx="694991" cy="360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469900" y="431800"/>
            <a:ext cx="5753100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1300"/>
              </a:lnSpc>
            </a:pPr>
            <a:r>
              <a:rPr lang="en-US" sz="2800" b="1" u="none" strike="noStrike" dirty="0">
                <a:solidFill>
                  <a:srgbClr val="FEFEFE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Quantu</a:t>
            </a:r>
            <a:r>
              <a:rPr lang="en-US" sz="2800" b="1" dirty="0">
                <a:solidFill>
                  <a:srgbClr val="FEFEFE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m</a:t>
            </a:r>
            <a:r>
              <a:rPr lang="en-US" sz="2400" b="1" dirty="0">
                <a:solidFill>
                  <a:srgbClr val="FEFEFE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 money </a:t>
            </a:r>
            <a:r>
              <a:rPr lang="ko-KR" altLang="en-US" sz="2400" b="1" dirty="0">
                <a:solidFill>
                  <a:srgbClr val="FEFEFE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연구동향</a:t>
            </a:r>
            <a:endParaRPr lang="en-US" altLang="ko-KR" sz="2400" b="1" dirty="0">
              <a:solidFill>
                <a:srgbClr val="FEFEFE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lvl="0">
              <a:lnSpc>
                <a:spcPct val="91300"/>
              </a:lnSpc>
            </a:pPr>
            <a:r>
              <a:rPr lang="en-US" altLang="ko-KR" sz="2400" b="1" dirty="0">
                <a:solidFill>
                  <a:srgbClr val="FEFEFE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solidFill>
                  <a:srgbClr val="FEFEFE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Research Trends in Quantum Money</a:t>
            </a:r>
            <a:r>
              <a:rPr lang="en-US" altLang="ko-KR" sz="2400" b="1" dirty="0">
                <a:solidFill>
                  <a:srgbClr val="FEFEFE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Times New Roman" panose="02020603050405020304" pitchFamily="18" charset="0"/>
              </a:rPr>
              <a:t>)</a:t>
            </a:r>
            <a:endParaRPr lang="en-US" sz="2400" b="1" u="none" strike="noStrike" dirty="0">
              <a:solidFill>
                <a:srgbClr val="FEFEFE"/>
              </a:solidFill>
              <a:latin typeface="Malgun Gothic" panose="020B0503020000020004" pitchFamily="34" charset="-127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469900" y="1339850"/>
            <a:ext cx="1752600" cy="241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  <a:latin typeface="Roboto Condensed Bold"/>
              </a:rPr>
              <a:t>ABSTRACT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69900" y="1639442"/>
            <a:ext cx="7569200" cy="92709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just">
              <a:lnSpc>
                <a:spcPct val="107899"/>
              </a:lnSpc>
            </a:pPr>
            <a:r>
              <a:rPr lang="ko-KR" altLang="en-US" sz="11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본 논문에서는 양자역학의 비복제성</a:t>
            </a:r>
            <a:r>
              <a:rPr lang="en-US" altLang="ko-KR" sz="11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non-cloning)</a:t>
            </a:r>
            <a:r>
              <a:rPr lang="ko-KR" altLang="en-US" sz="11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을 기반으로 한 양자화폐</a:t>
            </a:r>
            <a:r>
              <a:rPr lang="en-US" altLang="ko-KR" sz="11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Quantum money)</a:t>
            </a:r>
            <a:r>
              <a:rPr lang="ko-KR" altLang="en-US" sz="11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의 발전 흐름을 고찰하였다</a:t>
            </a:r>
            <a:r>
              <a:rPr lang="en-US" altLang="ko-KR" sz="11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ko-KR" altLang="en-US" sz="11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기존 전자화폐가 계산적 가정</a:t>
            </a:r>
            <a:r>
              <a:rPr lang="en-US" altLang="ko-KR" sz="11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ex. </a:t>
            </a:r>
            <a:r>
              <a:rPr lang="ko-KR" altLang="en-US" sz="11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일방향성</a:t>
            </a:r>
            <a:r>
              <a:rPr lang="en-US" altLang="ko-KR" sz="11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11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서명 안전성</a:t>
            </a:r>
            <a:r>
              <a:rPr lang="en-US" altLang="ko-KR" sz="11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r>
              <a:rPr lang="ko-KR" altLang="en-US" sz="1100" dirty="0" err="1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에</a:t>
            </a:r>
            <a:r>
              <a:rPr lang="ko-KR" altLang="en-US" sz="11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의존하는 반면</a:t>
            </a:r>
            <a:r>
              <a:rPr lang="en-US" altLang="ko-KR" sz="11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11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양자화폐는 물리적 원리에 의해 복제가 불가능한 정보를 이용하여 위조를 방지한다</a:t>
            </a:r>
            <a:r>
              <a:rPr lang="en-US" altLang="ko-KR" sz="11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en-US" sz="11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Wiesner</a:t>
            </a:r>
            <a:r>
              <a:rPr lang="ko-KR" altLang="en-US" sz="11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의 개인검증형</a:t>
            </a:r>
            <a:r>
              <a:rPr lang="en-US" altLang="ko-KR" sz="11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Private-key) </a:t>
            </a:r>
            <a:r>
              <a:rPr lang="ko-KR" altLang="en-US" sz="11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모델을 시작으로 공개 검증형</a:t>
            </a:r>
            <a:r>
              <a:rPr lang="en-US" altLang="ko-KR" sz="11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en-US" sz="11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Public-key) </a:t>
            </a:r>
            <a:r>
              <a:rPr lang="ko-KR" altLang="en-US" sz="11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형태의 여러 </a:t>
            </a:r>
            <a:r>
              <a:rPr lang="ko-KR" altLang="en-US" sz="1100" dirty="0" err="1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스킴이</a:t>
            </a:r>
            <a:r>
              <a:rPr lang="ko-KR" altLang="en-US" sz="11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제안되었으며 발행자 없는 </a:t>
            </a:r>
            <a:r>
              <a:rPr lang="en-US" sz="11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Quantum Lightning </a:t>
            </a:r>
            <a:r>
              <a:rPr lang="ko-KR" altLang="en-US" sz="11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까지 주요 연구발전 동향들을 살펴보았다</a:t>
            </a:r>
            <a:r>
              <a:rPr lang="en-US" altLang="ko-KR" sz="11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 </a:t>
            </a:r>
            <a:r>
              <a:rPr lang="ko-KR" altLang="en-US" sz="11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해당 연구들은 물리적 비복제성을 계산 복잡도 기반의 보안성으로 확장하며</a:t>
            </a:r>
            <a:r>
              <a:rPr lang="en-US" altLang="ko-KR" sz="11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sz="11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향후 실용적 화폐 구현과 응용 가능성을 보여준다</a:t>
            </a:r>
            <a:r>
              <a:rPr lang="en-US" altLang="ko-KR" sz="1100" dirty="0">
                <a:solidFill>
                  <a:srgbClr val="00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  <a:endParaRPr lang="en-US" sz="1100" u="none" strike="noStrike" dirty="0">
              <a:solidFill>
                <a:srgbClr val="000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469900" y="4420009"/>
            <a:ext cx="2705100" cy="241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99600"/>
              </a:lnSpc>
            </a:pPr>
            <a:r>
              <a:rPr lang="en-US" sz="1400" dirty="0">
                <a:solidFill>
                  <a:srgbClr val="000000"/>
                </a:solidFill>
                <a:latin typeface="Roboto Condensed Bold"/>
              </a:rPr>
              <a:t>Private-key quantum money (1970) </a:t>
            </a:r>
            <a:endParaRPr lang="en-US" sz="1400" b="0" i="0" u="none" strike="noStrike" dirty="0">
              <a:solidFill>
                <a:srgbClr val="000000"/>
              </a:solidFill>
              <a:latin typeface="Roboto Condensed 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7"/>
              <p:cNvSpPr txBox="1"/>
              <p:nvPr/>
            </p:nvSpPr>
            <p:spPr>
              <a:xfrm>
                <a:off x="469900" y="4661309"/>
                <a:ext cx="3619500" cy="1416878"/>
              </a:xfrm>
              <a:prstGeom prst="rect">
                <a:avLst/>
              </a:prstGeom>
            </p:spPr>
            <p:txBody>
              <a:bodyPr lIns="0" tIns="0" rIns="0" bIns="0" rtlCol="0" anchor="t"/>
              <a:lstStyle/>
              <a:p>
                <a:pPr algn="just"/>
                <a:r>
                  <a:rPr lang="ko-KR" altLang="en-US" sz="900" b="1" dirty="0">
                    <a:solidFill>
                      <a:schemeClr val="accent1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cs typeface="Roboto" panose="02000000000000000000" pitchFamily="2" charset="0"/>
                  </a:rPr>
                  <a:t>가장 초기의 </a:t>
                </a:r>
                <a:r>
                  <a:rPr lang="en" altLang="ko-KR" sz="900" b="1" dirty="0">
                    <a:solidFill>
                      <a:schemeClr val="accent1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cs typeface="Roboto" panose="02000000000000000000" pitchFamily="2" charset="0"/>
                  </a:rPr>
                  <a:t>Quantum money</a:t>
                </a:r>
                <a:r>
                  <a:rPr lang="ko-KR" altLang="en-US" sz="900" b="1" dirty="0">
                    <a:solidFill>
                      <a:schemeClr val="accent1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cs typeface="Roboto" panose="02000000000000000000" pitchFamily="2" charset="0"/>
                  </a:rPr>
                  <a:t>는 </a:t>
                </a:r>
                <a:r>
                  <a:rPr lang="en" altLang="ko-KR" sz="900" b="1" dirty="0">
                    <a:solidFill>
                      <a:schemeClr val="accent1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cs typeface="Roboto" panose="02000000000000000000" pitchFamily="2" charset="0"/>
                  </a:rPr>
                  <a:t>Wiesner[3]</a:t>
                </a:r>
                <a:r>
                  <a:rPr lang="ko-KR" altLang="en-US" sz="900" b="1" dirty="0">
                    <a:solidFill>
                      <a:schemeClr val="accent1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cs typeface="Roboto" panose="02000000000000000000" pitchFamily="2" charset="0"/>
                  </a:rPr>
                  <a:t>가 제안하였다</a:t>
                </a:r>
                <a:r>
                  <a:rPr lang="en-US" altLang="ko-KR" sz="900" b="1" dirty="0">
                    <a:solidFill>
                      <a:schemeClr val="accent1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cs typeface="Roboto" panose="02000000000000000000" pitchFamily="2" charset="0"/>
                  </a:rPr>
                  <a:t>.</a:t>
                </a:r>
                <a:r>
                  <a:rPr lang="en-US" altLang="ko-KR" sz="900" b="1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Roboto" panose="02000000000000000000" pitchFamily="2" charset="0"/>
                  </a:rPr>
                  <a:t> </a:t>
                </a:r>
                <a:r>
                  <a:rPr lang="ko-KR" altLang="en-US" sz="900" b="1" dirty="0">
                    <a:solidFill>
                      <a:schemeClr val="accent6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cs typeface="Roboto" panose="02000000000000000000" pitchFamily="2" charset="0"/>
                  </a:rPr>
                  <a:t>양자역학의 불확정성 원리와 비복제성</a:t>
                </a:r>
                <a:r>
                  <a:rPr lang="en-US" altLang="ko-KR" sz="900" b="1" dirty="0">
                    <a:solidFill>
                      <a:schemeClr val="accent6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cs typeface="Roboto" panose="02000000000000000000" pitchFamily="2" charset="0"/>
                  </a:rPr>
                  <a:t>(</a:t>
                </a:r>
                <a:r>
                  <a:rPr lang="en" altLang="ko-KR" sz="900" b="1" dirty="0">
                    <a:solidFill>
                      <a:schemeClr val="accent6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cs typeface="Roboto" panose="02000000000000000000" pitchFamily="2" charset="0"/>
                  </a:rPr>
                  <a:t>no-cloning theorem)</a:t>
                </a:r>
                <a:r>
                  <a:rPr lang="ko-KR" altLang="en-US" sz="900" b="1" dirty="0">
                    <a:solidFill>
                      <a:schemeClr val="accent6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cs typeface="Roboto" panose="02000000000000000000" pitchFamily="2" charset="0"/>
                  </a:rPr>
                  <a:t>을 이용하여</a:t>
                </a:r>
                <a:r>
                  <a:rPr lang="en-US" altLang="ko-KR" sz="900" b="1" dirty="0">
                    <a:solidFill>
                      <a:schemeClr val="accent6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cs typeface="Roboto" panose="02000000000000000000" pitchFamily="2" charset="0"/>
                  </a:rPr>
                  <a:t>, </a:t>
                </a:r>
                <a:r>
                  <a:rPr lang="ko-KR" altLang="en-US" sz="900" b="1" dirty="0">
                    <a:solidFill>
                      <a:schemeClr val="accent6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cs typeface="Roboto" panose="02000000000000000000" pitchFamily="2" charset="0"/>
                  </a:rPr>
                  <a:t>발행자만 검증 할 수 있는 </a:t>
                </a:r>
                <a:r>
                  <a:rPr lang="en" altLang="ko-KR" sz="900" b="1" dirty="0">
                    <a:solidFill>
                      <a:schemeClr val="accent6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cs typeface="Roboto" panose="02000000000000000000" pitchFamily="2" charset="0"/>
                  </a:rPr>
                  <a:t>private-key </a:t>
                </a:r>
                <a:r>
                  <a:rPr lang="ko-KR" altLang="en-US" sz="900" b="1" dirty="0">
                    <a:solidFill>
                      <a:schemeClr val="accent6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cs typeface="Roboto" panose="02000000000000000000" pitchFamily="2" charset="0"/>
                  </a:rPr>
                  <a:t>모델을 설계하였다</a:t>
                </a:r>
                <a:r>
                  <a:rPr lang="en-US" altLang="ko-KR" sz="900" b="1" dirty="0">
                    <a:solidFill>
                      <a:schemeClr val="accent6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  <a:cs typeface="Roboto" panose="02000000000000000000" pitchFamily="2" charset="0"/>
                  </a:rPr>
                  <a:t>. 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Roboto" panose="02000000000000000000" pitchFamily="2" charset="0"/>
                  </a:rPr>
                  <a:t>각 화폐는 일련번호 와 </a:t>
                </a:r>
                <a:r>
                  <a:rPr lang="en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Roboto" panose="02000000000000000000" pitchFamily="2" charset="0"/>
                  </a:rPr>
                  <a:t>n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Roboto" panose="02000000000000000000" pitchFamily="2" charset="0"/>
                  </a:rPr>
                  <a:t>개의 </a:t>
                </a:r>
                <a:r>
                  <a:rPr lang="ko-KR" altLang="en-US" sz="900" dirty="0" err="1">
                    <a:latin typeface="Malgun Gothic" panose="020B0503020000020004" pitchFamily="34" charset="-127"/>
                    <a:ea typeface="Malgun Gothic" panose="020B0503020000020004" pitchFamily="34" charset="-127"/>
                    <a:cs typeface="Roboto" panose="02000000000000000000" pitchFamily="2" charset="0"/>
                  </a:rPr>
                  <a:t>큐비트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Roboto" panose="02000000000000000000" pitchFamily="2" charset="0"/>
                  </a:rPr>
                  <a:t> 상태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ko-KR" altLang="en-US" sz="900" i="1" smtClean="0">
                            <a:latin typeface="Cambria Math" panose="02040503050406030204" pitchFamily="18" charset="0"/>
                            <a:cs typeface="Roboto" panose="02000000000000000000" pitchFamily="2" charset="0"/>
                          </a:rPr>
                        </m:ctrlPr>
                      </m:dPr>
                      <m:e>
                        <m:r>
                          <a:rPr lang="en-US" altLang="ko-KR" sz="900" b="0" i="0" smtClean="0">
                            <a:latin typeface="Cambria Math" panose="02040503050406030204" pitchFamily="18" charset="0"/>
                            <a:cs typeface="Roboto" panose="02000000000000000000" pitchFamily="2" charset="0"/>
                          </a:rPr>
                          <m:t>|0</m:t>
                        </m:r>
                      </m:e>
                    </m:d>
                  </m:oMath>
                </a14:m>
                <a:r>
                  <a:rPr lang="en-US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Roboto" panose="02000000000000000000" pitchFamily="2" charset="0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ko-KR" altLang="en-US" sz="900" i="1">
                            <a:latin typeface="Cambria Math" panose="02040503050406030204" pitchFamily="18" charset="0"/>
                            <a:cs typeface="Roboto" panose="02000000000000000000" pitchFamily="2" charset="0"/>
                          </a:rPr>
                        </m:ctrlPr>
                      </m:dPr>
                      <m:e>
                        <m:r>
                          <a:rPr lang="en-US" altLang="ko-KR" sz="900" b="0" i="0" smtClean="0">
                            <a:latin typeface="Cambria Math" panose="02040503050406030204" pitchFamily="18" charset="0"/>
                            <a:cs typeface="Roboto" panose="02000000000000000000" pitchFamily="2" charset="0"/>
                          </a:rPr>
                          <m:t>|1</m:t>
                        </m:r>
                      </m:e>
                    </m:d>
                  </m:oMath>
                </a14:m>
                <a:r>
                  <a:rPr lang="en-US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Roboto" panose="02000000000000000000" pitchFamily="2" charset="0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ko-KR" altLang="en-US" sz="900" i="1">
                            <a:latin typeface="Cambria Math" panose="02040503050406030204" pitchFamily="18" charset="0"/>
                            <a:cs typeface="Roboto" panose="02000000000000000000" pitchFamily="2" charset="0"/>
                          </a:rPr>
                        </m:ctrlPr>
                      </m:dPr>
                      <m:e>
                        <m:r>
                          <a:rPr lang="en-US" altLang="ko-KR" sz="900" b="0" i="0" smtClean="0">
                            <a:latin typeface="Cambria Math" panose="02040503050406030204" pitchFamily="18" charset="0"/>
                            <a:cs typeface="Roboto" panose="02000000000000000000" pitchFamily="2" charset="0"/>
                          </a:rPr>
                          <m:t>|+</m:t>
                        </m:r>
                      </m:e>
                    </m:d>
                  </m:oMath>
                </a14:m>
                <a:r>
                  <a:rPr lang="en-US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Roboto" panose="02000000000000000000" pitchFamily="2" charset="0"/>
                  </a:rPr>
                  <a:t>,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ko-KR" altLang="en-US" sz="900" i="1">
                            <a:latin typeface="Cambria Math" panose="02040503050406030204" pitchFamily="18" charset="0"/>
                            <a:cs typeface="Roboto" panose="02000000000000000000" pitchFamily="2" charset="0"/>
                          </a:rPr>
                        </m:ctrlPr>
                      </m:dPr>
                      <m:e>
                        <m:r>
                          <a:rPr lang="en-US" altLang="ko-KR" sz="900" b="0" i="0" smtClean="0">
                            <a:latin typeface="Cambria Math" panose="02040503050406030204" pitchFamily="18" charset="0"/>
                            <a:cs typeface="Roboto" panose="02000000000000000000" pitchFamily="2" charset="0"/>
                          </a:rPr>
                          <m:t> |−</m:t>
                        </m:r>
                      </m:e>
                    </m:d>
                  </m:oMath>
                </a14:m>
                <a:r>
                  <a:rPr lang="en-US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Roboto" panose="02000000000000000000" pitchFamily="2" charset="0"/>
                  </a:rPr>
                  <a:t> 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Roboto" panose="02000000000000000000" pitchFamily="2" charset="0"/>
                  </a:rPr>
                  <a:t>중 임의로 설정된 양자상태로 구성된다</a:t>
                </a:r>
                <a:r>
                  <a:rPr lang="en-US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Roboto" panose="02000000000000000000" pitchFamily="2" charset="0"/>
                  </a:rPr>
                  <a:t>. 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Roboto" panose="02000000000000000000" pitchFamily="2" charset="0"/>
                  </a:rPr>
                  <a:t>발행자</a:t>
                </a:r>
                <a:r>
                  <a:rPr lang="en-US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Roboto" panose="02000000000000000000" pitchFamily="2" charset="0"/>
                  </a:rPr>
                  <a:t>(</a:t>
                </a:r>
                <a:r>
                  <a:rPr lang="ko-KR" altLang="en-US" sz="900" dirty="0" err="1">
                    <a:latin typeface="Malgun Gothic" panose="020B0503020000020004" pitchFamily="34" charset="-127"/>
                    <a:ea typeface="Malgun Gothic" panose="020B0503020000020004" pitchFamily="34" charset="-127"/>
                    <a:cs typeface="Roboto" panose="02000000000000000000" pitchFamily="2" charset="0"/>
                  </a:rPr>
                  <a:t>검증자</a:t>
                </a:r>
                <a:r>
                  <a:rPr lang="en-US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Roboto" panose="02000000000000000000" pitchFamily="2" charset="0"/>
                  </a:rPr>
                  <a:t>)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Roboto" panose="02000000000000000000" pitchFamily="2" charset="0"/>
                  </a:rPr>
                  <a:t>는 해당 기저정보를 데이터베이스에 보관하고</a:t>
                </a:r>
                <a:r>
                  <a:rPr lang="en-US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Roboto" panose="02000000000000000000" pitchFamily="2" charset="0"/>
                  </a:rPr>
                  <a:t>, 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Roboto" panose="02000000000000000000" pitchFamily="2" charset="0"/>
                  </a:rPr>
                  <a:t>검증 시 저장된 올바른 기저로 측정하여 결과가 일치한 경우에만 유효하다</a:t>
                </a:r>
                <a:r>
                  <a:rPr lang="en-US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Roboto" panose="02000000000000000000" pitchFamily="2" charset="0"/>
                  </a:rPr>
                  <a:t>. 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Roboto" panose="02000000000000000000" pitchFamily="2" charset="0"/>
                  </a:rPr>
                  <a:t>해당 모델은 측정</a:t>
                </a:r>
                <a:r>
                  <a:rPr lang="en-US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Roboto" panose="02000000000000000000" pitchFamily="2" charset="0"/>
                  </a:rPr>
                  <a:t>(</a:t>
                </a:r>
                <a:r>
                  <a:rPr lang="en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Roboto" panose="02000000000000000000" pitchFamily="2" charset="0"/>
                  </a:rPr>
                  <a:t>Measurement) 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Roboto" panose="02000000000000000000" pitchFamily="2" charset="0"/>
                  </a:rPr>
                  <a:t>시 양자 상태가 파괴되므로 복제가 불가능하며 위조 확률은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900" i="1" smtClean="0">
                            <a:latin typeface="Cambria Math" panose="02040503050406030204" pitchFamily="18" charset="0"/>
                            <a:cs typeface="Roboto" panose="02000000000000000000" pitchFamily="2" charset="0"/>
                          </a:rPr>
                        </m:ctrlPr>
                      </m:sSupPr>
                      <m:e>
                        <m:r>
                          <a:rPr lang="en-US" altLang="ko-KR" sz="900" b="0" i="0" smtClean="0">
                            <a:latin typeface="Cambria Math" panose="02040503050406030204" pitchFamily="18" charset="0"/>
                            <a:cs typeface="Roboto" panose="02000000000000000000" pitchFamily="2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ko-KR" sz="900" i="1" smtClean="0">
                                <a:latin typeface="Cambria Math" panose="02040503050406030204" pitchFamily="18" charset="0"/>
                                <a:cs typeface="Roboto" panose="02000000000000000000" pitchFamily="2" charset="0"/>
                              </a:rPr>
                            </m:ctrlPr>
                          </m:fPr>
                          <m:num>
                            <m:r>
                              <a:rPr lang="en-US" altLang="ko-KR" sz="900" b="0" i="0" smtClean="0">
                                <a:latin typeface="Cambria Math" panose="02040503050406030204" pitchFamily="18" charset="0"/>
                                <a:cs typeface="Roboto" panose="02000000000000000000" pitchFamily="2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ko-KR" sz="900" b="0" i="0" smtClean="0">
                                <a:latin typeface="Cambria Math" panose="02040503050406030204" pitchFamily="18" charset="0"/>
                                <a:cs typeface="Roboto" panose="02000000000000000000" pitchFamily="2" charset="0"/>
                              </a:rPr>
                              <m:t>4</m:t>
                            </m:r>
                          </m:den>
                        </m:f>
                        <m:r>
                          <a:rPr lang="en-US" altLang="ko-KR" sz="900" b="0" i="0" smtClean="0">
                            <a:latin typeface="Cambria Math" panose="02040503050406030204" pitchFamily="18" charset="0"/>
                            <a:cs typeface="Roboto" panose="02000000000000000000" pitchFamily="2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ko-KR" sz="900" b="0" i="0" smtClean="0">
                            <a:latin typeface="Cambria Math" panose="02040503050406030204" pitchFamily="18" charset="0"/>
                            <a:cs typeface="Roboto" panose="02000000000000000000" pitchFamily="2" charset="0"/>
                          </a:rPr>
                          <m:t>n</m:t>
                        </m:r>
                      </m:sup>
                    </m:sSup>
                  </m:oMath>
                </a14:m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Roboto" panose="02000000000000000000" pitchFamily="2" charset="0"/>
                  </a:rPr>
                  <a:t>이다</a:t>
                </a:r>
                <a:r>
                  <a:rPr lang="en-US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Roboto" panose="02000000000000000000" pitchFamily="2" charset="0"/>
                  </a:rPr>
                  <a:t>. 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Roboto" panose="02000000000000000000" pitchFamily="2" charset="0"/>
                  </a:rPr>
                  <a:t>하지만 모든 양자 상태정보를 저장해야 한다는 단점이 있다</a:t>
                </a:r>
                <a:r>
                  <a:rPr lang="en-US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  <a:cs typeface="Roboto" panose="02000000000000000000" pitchFamily="2" charset="0"/>
                  </a:rPr>
                  <a:t>. </a:t>
                </a:r>
              </a:p>
            </p:txBody>
          </p:sp>
        </mc:Choice>
        <mc:Fallback xmlns="">
          <p:sp>
            <p:nvSpPr>
              <p:cNvPr id="47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900" y="4661309"/>
                <a:ext cx="3619500" cy="1416878"/>
              </a:xfrm>
              <a:prstGeom prst="rect">
                <a:avLst/>
              </a:prstGeom>
              <a:blipFill>
                <a:blip r:embed="rId9"/>
                <a:stretch>
                  <a:fillRect l="-1742" t="-3571" r="-17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8"/>
          <p:cNvSpPr txBox="1"/>
          <p:nvPr/>
        </p:nvSpPr>
        <p:spPr>
          <a:xfrm>
            <a:off x="469897" y="6059844"/>
            <a:ext cx="3695700" cy="162747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07899"/>
              </a:lnSpc>
            </a:pPr>
            <a:r>
              <a:rPr lang="en-US" altLang="ko-KR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Condensed Regular"/>
              </a:rPr>
              <a:t>[3] S. Wiesner. Conjugate coding. SIGACT News, 15(1):78–88, 1983.</a:t>
            </a:r>
            <a:r>
              <a:rPr lang="ko-KR" altLang="en-US" sz="7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latin typeface="Roboto Condensed Regular"/>
              </a:rPr>
              <a:t> </a:t>
            </a:r>
            <a:endParaRPr lang="en-US" sz="700" b="0" i="0" u="none" strike="noStrike" dirty="0">
              <a:solidFill>
                <a:schemeClr val="tx1">
                  <a:lumMod val="50000"/>
                  <a:lumOff val="50000"/>
                </a:schemeClr>
              </a:solidFill>
              <a:latin typeface="Roboto Condensed Regular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4394200" y="4420009"/>
            <a:ext cx="2971800" cy="241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99600"/>
              </a:lnSpc>
            </a:pPr>
            <a:r>
              <a:rPr lang="en-US" sz="1400" dirty="0">
                <a:solidFill>
                  <a:srgbClr val="000000"/>
                </a:solidFill>
                <a:latin typeface="Roboto Condensed Bold"/>
              </a:rPr>
              <a:t>Public-key quantum money (2012~)</a:t>
            </a:r>
            <a:endParaRPr lang="en-US" sz="1400" b="0" i="0" u="none" strike="noStrike" dirty="0">
              <a:solidFill>
                <a:srgbClr val="000000"/>
              </a:solidFill>
              <a:latin typeface="Roboto Condensed 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50"/>
              <p:cNvSpPr txBox="1"/>
              <p:nvPr/>
            </p:nvSpPr>
            <p:spPr>
              <a:xfrm>
                <a:off x="4394200" y="4661308"/>
                <a:ext cx="3619500" cy="5074050"/>
              </a:xfrm>
              <a:prstGeom prst="rect">
                <a:avLst/>
              </a:prstGeom>
            </p:spPr>
            <p:txBody>
              <a:bodyPr lIns="0" tIns="0" rIns="0" bIns="0" rtlCol="0" anchor="t"/>
              <a:lstStyle/>
              <a:p>
                <a:pPr algn="just"/>
                <a:r>
                  <a:rPr lang="en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Wiesner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의 개인검증형 모델은 발행기관만 검증할 수 있다는 구조적 한계를 지녔다</a:t>
                </a:r>
                <a:r>
                  <a:rPr lang="en-US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[3]. 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이후 연구들은 </a:t>
                </a:r>
                <a:r>
                  <a:rPr lang="ko-KR" altLang="en-US" sz="900" b="1" dirty="0">
                    <a:solidFill>
                      <a:schemeClr val="accent6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누구나 진위를 확인할 수 있는 공개검증형</a:t>
                </a:r>
                <a:r>
                  <a:rPr lang="en-US" altLang="ko-KR" sz="900" b="1" dirty="0">
                    <a:solidFill>
                      <a:schemeClr val="accent6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(</a:t>
                </a:r>
                <a:r>
                  <a:rPr lang="en" altLang="ko-KR" sz="900" b="1" dirty="0">
                    <a:solidFill>
                      <a:schemeClr val="accent6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public-key) </a:t>
                </a:r>
                <a:r>
                  <a:rPr lang="ko-KR" altLang="en-US" sz="900" b="1" dirty="0">
                    <a:solidFill>
                      <a:schemeClr val="accent6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양자화폐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를 목표로 발전하였다</a:t>
                </a:r>
                <a:r>
                  <a:rPr lang="en-US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. </a:t>
                </a:r>
              </a:p>
              <a:p>
                <a:pPr algn="just"/>
                <a:endParaRPr lang="en-US" altLang="ko-KR" sz="300" dirty="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  <a:p>
                <a:pPr algn="just"/>
                <a:r>
                  <a:rPr lang="en" altLang="ko-KR" sz="900" b="1" dirty="0">
                    <a:solidFill>
                      <a:schemeClr val="accent1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Aaronson et. al[4]</a:t>
                </a:r>
                <a:r>
                  <a:rPr lang="ko-KR" altLang="en-US" sz="900" b="1" dirty="0">
                    <a:solidFill>
                      <a:schemeClr val="accent1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는 최초로 숨겨진 부분공간</a:t>
                </a:r>
                <a:r>
                  <a:rPr lang="en-US" altLang="ko-KR" sz="900" b="1" dirty="0">
                    <a:solidFill>
                      <a:schemeClr val="accent1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(</a:t>
                </a:r>
                <a:r>
                  <a:rPr lang="en" altLang="ko-KR" sz="900" b="1" dirty="0">
                    <a:solidFill>
                      <a:schemeClr val="accent1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Hidden Subspace) </a:t>
                </a:r>
                <a:r>
                  <a:rPr lang="ko-KR" altLang="en-US" sz="900" b="1" dirty="0">
                    <a:solidFill>
                      <a:schemeClr val="accent1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구조를 통한 공개검증형 모델을 제안하였다</a:t>
                </a:r>
                <a:r>
                  <a:rPr lang="en-US" altLang="ko-KR" sz="900" b="1" dirty="0">
                    <a:solidFill>
                      <a:schemeClr val="accent1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.</a:t>
                </a:r>
                <a:r>
                  <a:rPr lang="en-US" altLang="ko-KR" sz="900" dirty="0">
                    <a:solidFill>
                      <a:schemeClr val="accent1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 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발행자는 벡터공간 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9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9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en-US" altLang="ko-KR" sz="90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ko-KR" sz="900" smtClean="0"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bSup>
                  </m:oMath>
                </a14:m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 내 임의의 부분공간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90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ko-KR" altLang="en-US" sz="900" dirty="0" err="1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를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 선택하고</a:t>
                </a:r>
                <a:r>
                  <a:rPr lang="en-US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, 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그 위의 </a:t>
                </a:r>
                <a:r>
                  <a:rPr lang="ko-KR" altLang="en-US" sz="900" dirty="0" err="1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균등중첩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 상태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ko-KR" altLang="en-US" sz="9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900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US" altLang="ko-KR" sz="9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ψ</m:t>
                        </m:r>
                      </m:e>
                    </m:d>
                    <m:r>
                      <a:rPr lang="en-US" altLang="ko-KR" sz="90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9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90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9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ko-KR" sz="9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900" smtClean="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e>
                            </m:d>
                          </m:e>
                        </m:rad>
                      </m:den>
                    </m:f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ko-KR" sz="9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9"/>
                          </m:rPr>
                          <a:rPr lang="en-US" altLang="ko-KR" sz="90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altLang="ko-KR" sz="9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US" altLang="ko-KR" sz="9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</m:sub>
                      <m:sup/>
                      <m:e>
                        <m:d>
                          <m:dPr>
                            <m:begChr m:val=""/>
                            <m:endChr m:val="⟩"/>
                            <m:ctrlPr>
                              <a:rPr lang="en-US" altLang="ko-KR" sz="9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900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US" altLang="ko-KR" sz="90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</m:d>
                      </m:e>
                    </m:nary>
                  </m:oMath>
                </a14:m>
                <a:r>
                  <a:rPr lang="ko-KR" altLang="en-US" sz="900" dirty="0" err="1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를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 화폐로 발행한다</a:t>
                </a:r>
                <a:r>
                  <a:rPr lang="en-US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. 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검증자는 공개 오라클을 이용해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90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9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90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en-US" altLang="ko-KR" sz="9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⊥</m:t>
                        </m:r>
                      </m:sup>
                    </m:sSup>
                  </m:oMath>
                </a14:m>
                <a:r>
                  <a:rPr lang="ko-KR" altLang="en-US" sz="900" dirty="0" err="1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에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 대한 검사를 통해 판별한다</a:t>
                </a:r>
                <a:r>
                  <a:rPr lang="en-US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. 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이 방식은 비복제성 및 계산 복잡도 가정을 결합하여 발행자와 검증자의 권한을 완전히 분리한 최초의 공개검증형 </a:t>
                </a:r>
                <a:r>
                  <a:rPr lang="en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Quantum money </a:t>
                </a:r>
                <a:r>
                  <a:rPr lang="ko-KR" altLang="en-US" sz="900" dirty="0" err="1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스킴으로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 평가된다</a:t>
                </a:r>
                <a:r>
                  <a:rPr lang="en-US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.</a:t>
                </a:r>
              </a:p>
              <a:p>
                <a:pPr algn="just"/>
                <a:endParaRPr lang="en-US" altLang="ko-KR" sz="300" dirty="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  <a:p>
                <a:pPr algn="just"/>
                <a:r>
                  <a:rPr lang="en" altLang="ko-KR" sz="900" b="1" dirty="0">
                    <a:solidFill>
                      <a:schemeClr val="accent1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Farhi et. al</a:t>
                </a:r>
                <a:r>
                  <a:rPr lang="ko-KR" altLang="en-US" sz="900" b="1" dirty="0">
                    <a:solidFill>
                      <a:schemeClr val="accent1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은 매듭이론</a:t>
                </a:r>
                <a:r>
                  <a:rPr lang="en-US" altLang="ko-KR" sz="900" b="1" dirty="0">
                    <a:solidFill>
                      <a:schemeClr val="accent1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(</a:t>
                </a:r>
                <a:r>
                  <a:rPr lang="en" altLang="ko-KR" sz="900" b="1" dirty="0">
                    <a:solidFill>
                      <a:schemeClr val="accent1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Knot theory)</a:t>
                </a:r>
                <a:r>
                  <a:rPr lang="ko-KR" altLang="en-US" sz="900" b="1" dirty="0">
                    <a:solidFill>
                      <a:schemeClr val="accent1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을 이용한 대안적 접근을 제시하였다</a:t>
                </a:r>
                <a:r>
                  <a:rPr lang="en-US" altLang="ko-KR" sz="900" b="1" dirty="0">
                    <a:solidFill>
                      <a:schemeClr val="accent1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[5].</a:t>
                </a:r>
                <a:r>
                  <a:rPr lang="en-US" altLang="ko-KR" sz="900" dirty="0">
                    <a:solidFill>
                      <a:schemeClr val="accent1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 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해당 </a:t>
                </a:r>
                <a:r>
                  <a:rPr lang="ko-KR" altLang="en-US" sz="900" dirty="0" err="1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스킴에서는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 서로 다른 매듭</a:t>
                </a:r>
                <a:r>
                  <a:rPr lang="en-US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(</a:t>
                </a:r>
                <a:r>
                  <a:rPr lang="en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link diagram)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들의 양자 중첩 상태를 발행하며</a:t>
                </a:r>
                <a:r>
                  <a:rPr lang="en-US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, 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모든 다이어그램이 동일한 </a:t>
                </a:r>
                <a:r>
                  <a:rPr lang="en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Alexander 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다항식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90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altLang="ko-KR" sz="90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sz="900" smtClean="0"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altLang="ko-KR" sz="90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을 가질 때 유효한 화폐로 간주된다</a:t>
                </a:r>
                <a:r>
                  <a:rPr lang="en-US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. 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다항식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90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altLang="ko-KR" sz="90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sz="900" smtClean="0"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altLang="ko-KR" sz="90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은 검증 시 공개키 역할을 수행하여 누구나 진위를 확인할 수 있지만</a:t>
                </a:r>
                <a:r>
                  <a:rPr lang="en-US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, 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수학적 복잡성으로 인해 보안 증명이 완전하지 않다는 문제가 있다</a:t>
                </a:r>
                <a:r>
                  <a:rPr lang="en-US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.</a:t>
                </a:r>
              </a:p>
              <a:p>
                <a:pPr algn="just"/>
                <a:endParaRPr lang="en-US" altLang="ko-KR" sz="300" dirty="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  <a:p>
                <a:pPr algn="just"/>
                <a:r>
                  <a:rPr lang="en" altLang="ko-KR" sz="900" b="1" dirty="0">
                    <a:solidFill>
                      <a:schemeClr val="accent1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Montgomery[7]</a:t>
                </a:r>
                <a:r>
                  <a:rPr lang="ko-KR" altLang="en-US" sz="900" b="1" dirty="0">
                    <a:solidFill>
                      <a:schemeClr val="accent1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는 </a:t>
                </a:r>
                <a:r>
                  <a:rPr lang="en-US" altLang="ko-KR" sz="900" b="1" dirty="0">
                    <a:solidFill>
                      <a:schemeClr val="accent1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[4]</a:t>
                </a:r>
                <a:r>
                  <a:rPr lang="ko-KR" altLang="en-US" sz="900" b="1" dirty="0">
                    <a:solidFill>
                      <a:schemeClr val="accent1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에서 제안한 </a:t>
                </a:r>
                <a:r>
                  <a:rPr lang="en" altLang="ko-KR" sz="900" b="1" dirty="0">
                    <a:solidFill>
                      <a:schemeClr val="accent1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Hidden Subspace </a:t>
                </a:r>
                <a:r>
                  <a:rPr lang="ko-KR" altLang="en-US" sz="900" b="1" dirty="0">
                    <a:solidFill>
                      <a:schemeClr val="accent1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모델을 타원곡선의 클래스군 작용</a:t>
                </a:r>
                <a:r>
                  <a:rPr lang="en-US" altLang="ko-KR" sz="900" b="1" dirty="0">
                    <a:solidFill>
                      <a:schemeClr val="accent1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(</a:t>
                </a:r>
                <a:r>
                  <a:rPr lang="en" altLang="ko-KR" sz="900" b="1" dirty="0">
                    <a:solidFill>
                      <a:schemeClr val="accent1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Class Group Action) </a:t>
                </a:r>
                <a:r>
                  <a:rPr lang="ko-KR" altLang="en-US" sz="900" b="1" dirty="0">
                    <a:solidFill>
                      <a:schemeClr val="accent1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구조로 확장하였다</a:t>
                </a:r>
                <a:r>
                  <a:rPr lang="en-US" altLang="ko-KR" sz="900" b="1" dirty="0">
                    <a:solidFill>
                      <a:schemeClr val="accent1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.</a:t>
                </a:r>
                <a:r>
                  <a:rPr lang="en-US" altLang="ko-KR" sz="900" dirty="0">
                    <a:solidFill>
                      <a:schemeClr val="accent1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 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이는 타원곡선들 간의 </a:t>
                </a:r>
                <a:r>
                  <a:rPr lang="ko-KR" altLang="en-US" sz="900" dirty="0" err="1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아이소제니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 관계를 은닉 매개로 사용하여</a:t>
                </a:r>
                <a:r>
                  <a:rPr lang="en-US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, 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각 클래스군 궤도</a:t>
                </a:r>
                <a:r>
                  <a:rPr lang="en-US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(</a:t>
                </a:r>
                <a:r>
                  <a:rPr lang="en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class group orbit) 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내 곡선들의 </a:t>
                </a:r>
                <a:r>
                  <a:rPr lang="ko-KR" altLang="en-US" sz="900" dirty="0" err="1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균등중첩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 상태를 생성한다</a:t>
                </a:r>
                <a:r>
                  <a:rPr lang="en-US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. 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발행자는 임의의 타원곡선 </a:t>
                </a:r>
                <a:r>
                  <a:rPr lang="ko-KR" altLang="en-US" sz="900" dirty="0" err="1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를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 선택하고</a:t>
                </a:r>
                <a:r>
                  <a:rPr lang="en-US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, 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클래스군 의 작용을 이용해 해당 궤도 </a:t>
                </a:r>
                <a14:m>
                  <m:oMath xmlns:m="http://schemas.openxmlformats.org/officeDocument/2006/math">
                    <m:r>
                      <a:rPr lang="en-US" altLang="ko-KR" sz="900" smtClean="0"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US" altLang="ko-KR" sz="900" smtClean="0">
                        <a:latin typeface="Cambria Math" panose="02040503050406030204" pitchFamily="18" charset="0"/>
                      </a:rPr>
                      <m:t>gE</m:t>
                    </m:r>
                    <m:r>
                      <a:rPr lang="en-US" altLang="ko-KR" sz="900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ko-KR" sz="900" smtClean="0">
                        <a:latin typeface="Cambria Math" panose="02040503050406030204" pitchFamily="18" charset="0"/>
                      </a:rPr>
                      <m:t>g</m:t>
                    </m:r>
                    <m:r>
                      <a:rPr lang="en-US" altLang="ko-KR" sz="9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altLang="ko-KR" sz="9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G</m:t>
                    </m:r>
                    <m:r>
                      <a:rPr lang="en-US" altLang="ko-KR" sz="90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상의 중첩 상태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ko-KR" altLang="en-US" sz="9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900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sz="9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90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ψ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90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altLang="ko-KR" sz="9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900" dirty="0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US" altLang="ko-KR" sz="900" dirty="0" smtClean="0"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a:rPr lang="en-US" altLang="ko-KR" sz="90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m:rPr>
                            <m:sty m:val="p"/>
                          </m:rPr>
                          <a:rPr lang="en-US" altLang="ko-KR" sz="90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</m:d>
                  </m:oMath>
                </a14:m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를 발행한다</a:t>
                </a:r>
                <a:r>
                  <a:rPr lang="en-US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. 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검증자는 공개 오라클을 통해 주어진 상태가 동일한 클래스군 궤도에 속하는지를 판별한다</a:t>
                </a:r>
                <a:r>
                  <a:rPr lang="en-US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. 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보안성을 주어진 두 곡선 사이의 클래스군 작용을 역으로 계산하는 </a:t>
                </a:r>
                <a:r>
                  <a:rPr lang="en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isogeny inversion 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문제의 난이도에 기반한다</a:t>
                </a:r>
                <a:r>
                  <a:rPr lang="en-US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. 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이 연구는 기존 </a:t>
                </a:r>
                <a:r>
                  <a:rPr lang="en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Hidden Subspace </a:t>
                </a:r>
                <a:r>
                  <a:rPr lang="ko-KR" altLang="en-US" sz="900" dirty="0" err="1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스킴을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 타원곡선 클래스군 기반의 명시적 공개검증형 양자화폐로 확장한 최신 구현으로 평가된다</a:t>
                </a:r>
                <a:r>
                  <a:rPr lang="en-US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. </a:t>
                </a:r>
              </a:p>
              <a:p>
                <a:pPr algn="just"/>
                <a:endParaRPr lang="en-US" altLang="ko-KR" sz="300" dirty="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  <a:p>
                <a:pPr algn="just"/>
                <a:r>
                  <a:rPr lang="ko-KR" altLang="en-US" sz="900" b="1" dirty="0">
                    <a:solidFill>
                      <a:schemeClr val="accent1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최근 </a:t>
                </a:r>
                <a:r>
                  <a:rPr lang="en" altLang="ko-KR" sz="900" b="1" dirty="0">
                    <a:solidFill>
                      <a:schemeClr val="accent1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Yuen et. al. [8]</a:t>
                </a:r>
                <a:r>
                  <a:rPr lang="ko-KR" altLang="en-US" sz="900" b="1" dirty="0">
                    <a:solidFill>
                      <a:schemeClr val="accent1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은 </a:t>
                </a:r>
                <a:r>
                  <a:rPr lang="en" altLang="ko-KR" sz="900" b="1" dirty="0">
                    <a:solidFill>
                      <a:schemeClr val="accent1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noise-tolerant </a:t>
                </a:r>
                <a:r>
                  <a:rPr lang="ko-KR" altLang="en-US" sz="900" b="1" dirty="0">
                    <a:solidFill>
                      <a:schemeClr val="accent1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공개검증형 </a:t>
                </a:r>
                <a:r>
                  <a:rPr lang="ko-KR" altLang="en-US" sz="900" b="1" dirty="0" err="1">
                    <a:solidFill>
                      <a:schemeClr val="accent1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스킴을</a:t>
                </a:r>
                <a:r>
                  <a:rPr lang="ko-KR" altLang="en-US" sz="900" b="1" dirty="0">
                    <a:solidFill>
                      <a:schemeClr val="accent1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 제안하였다</a:t>
                </a:r>
                <a:r>
                  <a:rPr lang="en-US" altLang="ko-KR" sz="900" b="1" dirty="0">
                    <a:solidFill>
                      <a:schemeClr val="accent1"/>
                    </a:solidFill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.</a:t>
                </a:r>
                <a:r>
                  <a:rPr lang="en-US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 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이 연구는 </a:t>
                </a:r>
                <a:r>
                  <a:rPr lang="en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Hidden Subspace 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구조에 </a:t>
                </a:r>
                <a:r>
                  <a:rPr lang="ko-KR" altLang="en-US" sz="900" dirty="0" err="1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양자오류정정</a:t>
                </a:r>
                <a:r>
                  <a:rPr lang="en-US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(</a:t>
                </a:r>
                <a:r>
                  <a:rPr lang="en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Quantum Error Correction)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을 결합하여</a:t>
                </a:r>
                <a:r>
                  <a:rPr lang="en-US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, 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잡음 환경에서도 검증 가능한 양자화폐를 구현하였다</a:t>
                </a:r>
                <a:r>
                  <a:rPr lang="en-US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. 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이 </a:t>
                </a:r>
                <a:r>
                  <a:rPr lang="ko-KR" altLang="en-US" sz="900" dirty="0" err="1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스킴은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 복제 불가능성을 유지하면서도</a:t>
                </a:r>
                <a:r>
                  <a:rPr lang="en-US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, 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실제 하드웨어의 </a:t>
                </a:r>
                <a:r>
                  <a:rPr lang="ko-KR" altLang="en-US" sz="900" dirty="0" err="1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결맞음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 한계</a:t>
                </a:r>
                <a:r>
                  <a:rPr lang="en-US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(</a:t>
                </a:r>
                <a:r>
                  <a:rPr lang="en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decoherence)</a:t>
                </a:r>
                <a:r>
                  <a:rPr lang="ko-KR" altLang="en-US" sz="900" dirty="0" err="1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에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 견디는 특성을 갖는다</a:t>
                </a:r>
                <a:r>
                  <a:rPr lang="en-US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. 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공개검증형 </a:t>
                </a:r>
                <a:r>
                  <a:rPr lang="en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Quantum money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는 </a:t>
                </a:r>
                <a:r>
                  <a:rPr lang="en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Hidden Subspace 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기반 이론적 정립</a:t>
                </a:r>
                <a:r>
                  <a:rPr lang="en-US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, </a:t>
                </a:r>
                <a:r>
                  <a:rPr lang="en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Knot 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및 </a:t>
                </a:r>
                <a:r>
                  <a:rPr lang="en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Isogeny 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기반의 수학적 다양화</a:t>
                </a:r>
                <a:r>
                  <a:rPr lang="en-US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, </a:t>
                </a:r>
                <a:r>
                  <a:rPr lang="en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Noise-tolerant </a:t>
                </a:r>
                <a:r>
                  <a:rPr lang="ko-KR" altLang="en-US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모델을 통한 실용화로 발전했다</a:t>
                </a:r>
                <a:r>
                  <a:rPr lang="en-US" altLang="ko-KR" sz="900" dirty="0">
                    <a:latin typeface="Malgun Gothic" panose="020B0503020000020004" pitchFamily="34" charset="-127"/>
                    <a:ea typeface="Malgun Gothic" panose="020B0503020000020004" pitchFamily="34" charset="-127"/>
                  </a:rPr>
                  <a:t>.</a:t>
                </a:r>
              </a:p>
            </p:txBody>
          </p:sp>
        </mc:Choice>
        <mc:Fallback xmlns="">
          <p:sp>
            <p:nvSpPr>
              <p:cNvPr id="50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200" y="4661308"/>
                <a:ext cx="3619500" cy="5074050"/>
              </a:xfrm>
              <a:prstGeom prst="rect">
                <a:avLst/>
              </a:prstGeom>
              <a:blipFill>
                <a:blip r:embed="rId10"/>
                <a:stretch>
                  <a:fillRect l="-2098" t="-1000" r="-2448" b="-12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1"/>
          <p:cNvSpPr txBox="1"/>
          <p:nvPr/>
        </p:nvSpPr>
        <p:spPr>
          <a:xfrm>
            <a:off x="4394198" y="9798459"/>
            <a:ext cx="3695700" cy="1053691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07899"/>
              </a:lnSpc>
            </a:pPr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Condensed Regular"/>
              </a:rPr>
              <a:t>[4] Aaronson, Scott, and Paul Christiano. "Quantum money from hidden subspaces." Proceedings of the forty-fourth annual ACM symposium on Theory of computing. 2012. </a:t>
            </a:r>
          </a:p>
          <a:p>
            <a:pPr lvl="0">
              <a:lnSpc>
                <a:spcPct val="107899"/>
              </a:lnSpc>
            </a:pPr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Condensed Regular"/>
              </a:rPr>
              <a:t>[5] Farhi, Edward, et al. "Quantum money from knots." Proceedings of the 3rd Innovations in Theoretical Computer Science Conference. 2012. </a:t>
            </a:r>
          </a:p>
          <a:p>
            <a:pPr lvl="0">
              <a:lnSpc>
                <a:spcPct val="107899"/>
              </a:lnSpc>
            </a:pPr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Condensed Regular"/>
              </a:rPr>
              <a:t>[7] Montgomery, Hart, and Shahed Sharif. "Quantum Money from Class Group Actions on Elliptic Curves." International Conference on the Theory and Application of Cryptology and Information Security. Singapore: Springer Nature Singapore, 2024. </a:t>
            </a:r>
          </a:p>
          <a:p>
            <a:pPr lvl="0">
              <a:lnSpc>
                <a:spcPct val="107899"/>
              </a:lnSpc>
            </a:pPr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Condensed Regular"/>
              </a:rPr>
              <a:t>[8] Yuen, Peter. "Noise-tolerant public-key quantum money from a classical oracle." Quantum 9 (2025): 1691.</a:t>
            </a:r>
            <a:endParaRPr lang="en-US" sz="700" b="0" i="0" u="none" strike="noStrike" dirty="0">
              <a:solidFill>
                <a:schemeClr val="tx1">
                  <a:lumMod val="50000"/>
                  <a:lumOff val="50000"/>
                </a:schemeClr>
              </a:solidFill>
              <a:latin typeface="Roboto Condensed Regular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469899" y="10725150"/>
            <a:ext cx="3516923" cy="241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  <a:latin typeface="Roboto Condensed Bold"/>
              </a:rPr>
              <a:t>CONCLUSION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469899" y="11042650"/>
            <a:ext cx="7619999" cy="67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07899"/>
              </a:lnSpc>
            </a:pPr>
            <a:r>
              <a:rPr lang="ko-KR" altLang="en-US" sz="1000" dirty="0">
                <a:solidFill>
                  <a:srgbClr val="000000"/>
                </a:solidFill>
                <a:latin typeface="Roboto Condensed Light"/>
              </a:rPr>
              <a:t>본 논문에서는 양자화폐</a:t>
            </a:r>
            <a:r>
              <a:rPr lang="en-US" altLang="ko-KR" sz="1000" dirty="0">
                <a:solidFill>
                  <a:srgbClr val="000000"/>
                </a:solidFill>
                <a:latin typeface="Roboto Condensed Light"/>
              </a:rPr>
              <a:t>(</a:t>
            </a:r>
            <a:r>
              <a:rPr lang="en-US" sz="1000" dirty="0">
                <a:solidFill>
                  <a:srgbClr val="000000"/>
                </a:solidFill>
                <a:latin typeface="Roboto Condensed Light"/>
              </a:rPr>
              <a:t>Quantum money)</a:t>
            </a:r>
            <a:r>
              <a:rPr lang="ko-KR" altLang="en-US" sz="1000" dirty="0">
                <a:solidFill>
                  <a:srgbClr val="000000"/>
                </a:solidFill>
                <a:latin typeface="Roboto Condensed Light"/>
              </a:rPr>
              <a:t>의 주요 연구 흐름을 고찰하였다</a:t>
            </a:r>
            <a:r>
              <a:rPr lang="en-US" altLang="ko-KR" sz="1000" dirty="0">
                <a:solidFill>
                  <a:srgbClr val="000000"/>
                </a:solidFill>
                <a:latin typeface="Roboto Condensed Light"/>
              </a:rPr>
              <a:t>. </a:t>
            </a:r>
            <a:r>
              <a:rPr lang="en-US" sz="1000" dirty="0">
                <a:solidFill>
                  <a:srgbClr val="000000"/>
                </a:solidFill>
                <a:latin typeface="Roboto Condensed Light"/>
              </a:rPr>
              <a:t>Wiesner</a:t>
            </a:r>
            <a:r>
              <a:rPr lang="ko-KR" altLang="en-US" sz="1000" dirty="0">
                <a:solidFill>
                  <a:srgbClr val="000000"/>
                </a:solidFill>
                <a:latin typeface="Roboto Condensed Light"/>
              </a:rPr>
              <a:t>의 개인검증형 모델을 시작으로</a:t>
            </a:r>
            <a:r>
              <a:rPr lang="en-US" altLang="ko-KR" sz="1000" dirty="0">
                <a:solidFill>
                  <a:srgbClr val="000000"/>
                </a:solidFill>
                <a:latin typeface="Roboto Condensed Light"/>
              </a:rPr>
              <a:t>, </a:t>
            </a:r>
            <a:r>
              <a:rPr lang="en-US" sz="1000" dirty="0">
                <a:solidFill>
                  <a:srgbClr val="000000"/>
                </a:solidFill>
                <a:latin typeface="Roboto Condensed Light"/>
              </a:rPr>
              <a:t>Aaronson et. al.</a:t>
            </a:r>
            <a:r>
              <a:rPr lang="ko-KR" altLang="en-US" sz="1000" dirty="0">
                <a:solidFill>
                  <a:srgbClr val="000000"/>
                </a:solidFill>
                <a:latin typeface="Roboto Condensed Light"/>
              </a:rPr>
              <a:t>의 공개 검증형 </a:t>
            </a:r>
            <a:r>
              <a:rPr lang="ko-KR" altLang="en-US" sz="1000" dirty="0" err="1">
                <a:solidFill>
                  <a:srgbClr val="000000"/>
                </a:solidFill>
                <a:latin typeface="Roboto Condensed Light"/>
              </a:rPr>
              <a:t>스킴</a:t>
            </a:r>
            <a:r>
              <a:rPr lang="en-US" altLang="ko-KR" sz="1000" dirty="0">
                <a:solidFill>
                  <a:srgbClr val="000000"/>
                </a:solidFill>
                <a:latin typeface="Roboto Condensed Light"/>
              </a:rPr>
              <a:t>, </a:t>
            </a:r>
            <a:r>
              <a:rPr lang="en-US" sz="1000" dirty="0">
                <a:solidFill>
                  <a:srgbClr val="000000"/>
                </a:solidFill>
                <a:latin typeface="Roboto Condensed Light"/>
              </a:rPr>
              <a:t>Farhi et. al. </a:t>
            </a:r>
            <a:r>
              <a:rPr lang="ko-KR" altLang="en-US" sz="1000" dirty="0">
                <a:solidFill>
                  <a:srgbClr val="000000"/>
                </a:solidFill>
                <a:latin typeface="Roboto Condensed Light"/>
              </a:rPr>
              <a:t>의 매듭이론</a:t>
            </a:r>
            <a:r>
              <a:rPr lang="en-US" altLang="ko-KR" sz="1000" dirty="0">
                <a:solidFill>
                  <a:srgbClr val="000000"/>
                </a:solidFill>
                <a:latin typeface="Roboto Condensed Light"/>
              </a:rPr>
              <a:t>(</a:t>
            </a:r>
            <a:r>
              <a:rPr lang="en-US" sz="1000" dirty="0">
                <a:solidFill>
                  <a:srgbClr val="000000"/>
                </a:solidFill>
                <a:latin typeface="Roboto Condensed Light"/>
              </a:rPr>
              <a:t>Knot theory) </a:t>
            </a:r>
            <a:r>
              <a:rPr lang="ko-KR" altLang="en-US" sz="1000" dirty="0">
                <a:solidFill>
                  <a:srgbClr val="000000"/>
                </a:solidFill>
                <a:latin typeface="Roboto Condensed Light"/>
              </a:rPr>
              <a:t>기반 구조</a:t>
            </a:r>
            <a:r>
              <a:rPr lang="en-US" altLang="ko-KR" sz="1000" dirty="0">
                <a:solidFill>
                  <a:srgbClr val="000000"/>
                </a:solidFill>
                <a:latin typeface="Roboto Condensed Light"/>
              </a:rPr>
              <a:t>,  </a:t>
            </a:r>
            <a:r>
              <a:rPr lang="en-US" sz="1000" dirty="0" err="1">
                <a:solidFill>
                  <a:srgbClr val="000000"/>
                </a:solidFill>
                <a:latin typeface="Roboto Condensed Light"/>
              </a:rPr>
              <a:t>Montmery</a:t>
            </a:r>
            <a:r>
              <a:rPr lang="en-US" sz="1000" dirty="0">
                <a:solidFill>
                  <a:srgbClr val="000000"/>
                </a:solidFill>
                <a:latin typeface="Roboto Condensed Light"/>
              </a:rPr>
              <a:t> et. al</a:t>
            </a:r>
            <a:r>
              <a:rPr lang="ko-KR" altLang="en-US" sz="1000" dirty="0">
                <a:solidFill>
                  <a:srgbClr val="000000"/>
                </a:solidFill>
                <a:latin typeface="Roboto Condensed Light"/>
              </a:rPr>
              <a:t>의 클래스 군 작용</a:t>
            </a:r>
            <a:r>
              <a:rPr lang="en-US" altLang="ko-KR" sz="1000" dirty="0">
                <a:solidFill>
                  <a:srgbClr val="000000"/>
                </a:solidFill>
                <a:latin typeface="Roboto Condensed Light"/>
              </a:rPr>
              <a:t>(</a:t>
            </a:r>
            <a:r>
              <a:rPr lang="en-US" sz="1000" dirty="0">
                <a:solidFill>
                  <a:srgbClr val="000000"/>
                </a:solidFill>
                <a:latin typeface="Roboto Condensed Light"/>
              </a:rPr>
              <a:t>Class Group Action) </a:t>
            </a:r>
            <a:r>
              <a:rPr lang="ko-KR" altLang="en-US" sz="1000" dirty="0">
                <a:solidFill>
                  <a:srgbClr val="000000"/>
                </a:solidFill>
                <a:latin typeface="Roboto Condensed Light"/>
              </a:rPr>
              <a:t>구조</a:t>
            </a:r>
            <a:r>
              <a:rPr lang="en-US" altLang="ko-KR" sz="1000" dirty="0">
                <a:solidFill>
                  <a:srgbClr val="000000"/>
                </a:solidFill>
                <a:latin typeface="Roboto Condensed Light"/>
              </a:rPr>
              <a:t>, </a:t>
            </a:r>
            <a:r>
              <a:rPr lang="en-US" sz="1000" dirty="0">
                <a:solidFill>
                  <a:srgbClr val="000000"/>
                </a:solidFill>
                <a:latin typeface="Roboto Condensed Light"/>
              </a:rPr>
              <a:t>Yuen et. al.</a:t>
            </a:r>
            <a:r>
              <a:rPr lang="ko-KR" altLang="en-US" sz="1000" dirty="0">
                <a:solidFill>
                  <a:srgbClr val="000000"/>
                </a:solidFill>
                <a:latin typeface="Roboto Condensed Light"/>
              </a:rPr>
              <a:t>의 </a:t>
            </a:r>
            <a:r>
              <a:rPr lang="en-US" sz="1000" dirty="0">
                <a:solidFill>
                  <a:srgbClr val="000000"/>
                </a:solidFill>
                <a:latin typeface="Roboto Condensed Light"/>
              </a:rPr>
              <a:t>noise-tolerant </a:t>
            </a:r>
            <a:r>
              <a:rPr lang="ko-KR" altLang="en-US" sz="1000" dirty="0">
                <a:solidFill>
                  <a:srgbClr val="000000"/>
                </a:solidFill>
                <a:latin typeface="Roboto Condensed Light"/>
              </a:rPr>
              <a:t>공개검증형 </a:t>
            </a:r>
            <a:r>
              <a:rPr lang="ko-KR" altLang="en-US" sz="1000" dirty="0" err="1">
                <a:solidFill>
                  <a:srgbClr val="000000"/>
                </a:solidFill>
                <a:latin typeface="Roboto Condensed Light"/>
              </a:rPr>
              <a:t>스킴</a:t>
            </a:r>
            <a:r>
              <a:rPr lang="en-US" altLang="ko-KR" sz="1000" dirty="0">
                <a:solidFill>
                  <a:srgbClr val="000000"/>
                </a:solidFill>
                <a:latin typeface="Roboto Condensed Light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Roboto Condensed Light"/>
              </a:rPr>
              <a:t>그리고 </a:t>
            </a:r>
            <a:r>
              <a:rPr lang="en-US" sz="1000" dirty="0" err="1">
                <a:solidFill>
                  <a:srgbClr val="000000"/>
                </a:solidFill>
                <a:latin typeface="Roboto Condensed Light"/>
              </a:rPr>
              <a:t>Zhandry</a:t>
            </a:r>
            <a:r>
              <a:rPr lang="ko-KR" altLang="en-US" sz="1000" dirty="0">
                <a:solidFill>
                  <a:srgbClr val="000000"/>
                </a:solidFill>
                <a:latin typeface="Roboto Condensed Light"/>
              </a:rPr>
              <a:t>의 </a:t>
            </a:r>
            <a:r>
              <a:rPr lang="en-US" sz="1000" dirty="0">
                <a:solidFill>
                  <a:srgbClr val="000000"/>
                </a:solidFill>
                <a:latin typeface="Roboto Condensed Light"/>
              </a:rPr>
              <a:t>Quantum Lightning</a:t>
            </a:r>
            <a:r>
              <a:rPr lang="ko-KR" altLang="en-US" sz="1000" dirty="0" err="1">
                <a:solidFill>
                  <a:srgbClr val="000000"/>
                </a:solidFill>
                <a:latin typeface="Roboto Condensed Light"/>
              </a:rPr>
              <a:t>으로</a:t>
            </a:r>
            <a:r>
              <a:rPr lang="ko-KR" altLang="en-US" sz="1000" dirty="0">
                <a:solidFill>
                  <a:srgbClr val="000000"/>
                </a:solidFill>
                <a:latin typeface="Roboto Condensed Light"/>
              </a:rPr>
              <a:t> 확장되는 발전 과정을 살펴보았다</a:t>
            </a:r>
            <a:r>
              <a:rPr lang="en-US" altLang="ko-KR" sz="1000" dirty="0">
                <a:solidFill>
                  <a:srgbClr val="000000"/>
                </a:solidFill>
                <a:latin typeface="Roboto Condensed Light"/>
              </a:rPr>
              <a:t>. </a:t>
            </a:r>
            <a:r>
              <a:rPr lang="ko-KR" altLang="en-US" sz="1000" dirty="0">
                <a:solidFill>
                  <a:srgbClr val="000000"/>
                </a:solidFill>
                <a:latin typeface="Roboto Condensed Light"/>
              </a:rPr>
              <a:t>해당 연구들은 모두 비복제성을 계산 복잡도 기반으로 확장하며</a:t>
            </a:r>
            <a:r>
              <a:rPr lang="en-US" altLang="ko-KR" sz="1000" dirty="0">
                <a:solidFill>
                  <a:srgbClr val="000000"/>
                </a:solidFill>
                <a:latin typeface="Roboto Condensed Light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Roboto Condensed Light"/>
              </a:rPr>
              <a:t>향후 실용적 양자화폐 구현에 가까워지는 기반을 제공하였다</a:t>
            </a:r>
            <a:r>
              <a:rPr lang="en-US" altLang="ko-KR" sz="1000" dirty="0">
                <a:solidFill>
                  <a:srgbClr val="000000"/>
                </a:solidFill>
                <a:latin typeface="Roboto Condensed Light"/>
              </a:rPr>
              <a:t>.</a:t>
            </a:r>
            <a:endParaRPr lang="en-US" sz="1000" b="0" i="0" u="none" strike="noStrike" dirty="0">
              <a:solidFill>
                <a:srgbClr val="000000"/>
              </a:solidFill>
              <a:latin typeface="Roboto Condensed Light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1173394" y="3155950"/>
            <a:ext cx="7018106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07899"/>
              </a:lnSpc>
            </a:pPr>
            <a:r>
              <a:rPr lang="en-US" sz="1000" b="1" dirty="0">
                <a:solidFill>
                  <a:srgbClr val="3A87BF"/>
                </a:solidFill>
                <a:latin typeface="Roboto Condensed Regular"/>
              </a:rPr>
              <a:t>Private-key quantum money</a:t>
            </a:r>
            <a:r>
              <a:rPr lang="ko-KR" altLang="en-US" sz="1000" b="1" dirty="0">
                <a:solidFill>
                  <a:srgbClr val="3A87BF"/>
                </a:solidFill>
                <a:latin typeface="Roboto Condensed Regular"/>
              </a:rPr>
              <a:t> </a:t>
            </a:r>
            <a:r>
              <a:rPr lang="en-US" altLang="ko-KR" sz="1000" b="1" dirty="0">
                <a:solidFill>
                  <a:srgbClr val="3A87BF"/>
                </a:solidFill>
                <a:latin typeface="Roboto Condensed Regular"/>
              </a:rPr>
              <a:t>(1970)</a:t>
            </a:r>
            <a:r>
              <a:rPr lang="ko-KR" altLang="en-US" sz="1000" b="1" dirty="0">
                <a:solidFill>
                  <a:srgbClr val="3A87BF"/>
                </a:solidFill>
                <a:latin typeface="Roboto Condensed Regular"/>
              </a:rPr>
              <a:t> </a:t>
            </a:r>
            <a:r>
              <a:rPr lang="en-US" altLang="ko-KR" sz="1000" b="1" dirty="0">
                <a:solidFill>
                  <a:srgbClr val="3A87BF"/>
                </a:solidFill>
                <a:latin typeface="Roboto Condensed Regular"/>
              </a:rPr>
              <a:t>:</a:t>
            </a:r>
            <a:r>
              <a:rPr lang="ko-KR" altLang="en-US" sz="1000" dirty="0">
                <a:solidFill>
                  <a:srgbClr val="3A87BF"/>
                </a:solidFill>
                <a:latin typeface="Roboto Condensed Regular"/>
              </a:rPr>
              <a:t>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 Regular"/>
              </a:rPr>
              <a:t>가장 초기의 </a:t>
            </a:r>
            <a:r>
              <a:rPr lang="en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 Regular"/>
              </a:rPr>
              <a:t>Quantum money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 Regular"/>
              </a:rPr>
              <a:t> 형태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 Regular"/>
              </a:rPr>
              <a:t>,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 Regular"/>
              </a:rPr>
              <a:t> 양자역학의 불확정성 원리와 비복제성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 Regular"/>
              </a:rPr>
              <a:t>(</a:t>
            </a:r>
            <a:r>
              <a:rPr lang="en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 Regular"/>
              </a:rPr>
              <a:t>no-cloning theorem)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 Regular"/>
              </a:rPr>
              <a:t>을 이용하여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 Regular"/>
              </a:rPr>
              <a:t>,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 Regular"/>
              </a:rPr>
              <a:t>발행자만 검증 할 수 있는 </a:t>
            </a:r>
            <a:r>
              <a:rPr lang="en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 Regular"/>
              </a:rPr>
              <a:t>private-key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 Regular"/>
              </a:rPr>
              <a:t> 양자화폐</a:t>
            </a:r>
            <a:endParaRPr lang="en-US" sz="1000" b="0" i="0" u="none" strike="noStrike" dirty="0">
              <a:solidFill>
                <a:schemeClr val="tx1">
                  <a:lumMod val="75000"/>
                  <a:lumOff val="25000"/>
                </a:schemeClr>
              </a:solidFill>
              <a:latin typeface="Roboto Condensed Regular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1173394" y="3543300"/>
            <a:ext cx="6865706" cy="15875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07899"/>
              </a:lnSpc>
            </a:pPr>
            <a:r>
              <a:rPr lang="en-US" sz="1000" b="1" dirty="0">
                <a:solidFill>
                  <a:srgbClr val="3A87BF"/>
                </a:solidFill>
                <a:latin typeface="Roboto Condensed Regular"/>
              </a:rPr>
              <a:t>Public-key quantum money</a:t>
            </a:r>
            <a:r>
              <a:rPr lang="ko-KR" altLang="en-US" sz="1000" b="1" dirty="0">
                <a:solidFill>
                  <a:srgbClr val="3A87BF"/>
                </a:solidFill>
                <a:latin typeface="Roboto Condensed Regular"/>
              </a:rPr>
              <a:t> </a:t>
            </a:r>
            <a:r>
              <a:rPr lang="en-US" altLang="ko-KR" sz="1000" b="1" dirty="0">
                <a:solidFill>
                  <a:srgbClr val="3A87BF"/>
                </a:solidFill>
                <a:latin typeface="Roboto Condensed Regular"/>
              </a:rPr>
              <a:t>(2012~)</a:t>
            </a:r>
            <a:r>
              <a:rPr lang="ko-KR" altLang="en-US" sz="1000" b="1" dirty="0">
                <a:solidFill>
                  <a:srgbClr val="3A87BF"/>
                </a:solidFill>
                <a:latin typeface="Roboto Condensed Regular"/>
              </a:rPr>
              <a:t> </a:t>
            </a:r>
            <a:r>
              <a:rPr lang="en-US" altLang="ko-KR" sz="1000" b="1" dirty="0">
                <a:solidFill>
                  <a:srgbClr val="3A87BF"/>
                </a:solidFill>
                <a:latin typeface="Roboto Condensed Regular"/>
              </a:rPr>
              <a:t>:</a:t>
            </a:r>
            <a:r>
              <a:rPr lang="ko-KR" altLang="en-US" sz="1000" b="1" dirty="0">
                <a:solidFill>
                  <a:srgbClr val="3A87BF"/>
                </a:solidFill>
                <a:latin typeface="Roboto Condensed Regular"/>
              </a:rPr>
              <a:t>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 Regular"/>
              </a:rPr>
              <a:t>누구나 진위를 확인할 수 있는 공개 검증형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 Regular"/>
              </a:rPr>
              <a:t>(</a:t>
            </a:r>
            <a:r>
              <a:rPr lang="en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 Regular"/>
              </a:rPr>
              <a:t>public-key)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 Regular"/>
              </a:rPr>
              <a:t>양자화폐 </a:t>
            </a:r>
            <a:endParaRPr lang="en-US" sz="1000" b="0" i="0" u="none" strike="noStrike" dirty="0">
              <a:solidFill>
                <a:schemeClr val="tx1">
                  <a:lumMod val="75000"/>
                  <a:lumOff val="25000"/>
                </a:schemeClr>
              </a:solidFill>
              <a:latin typeface="Roboto Condensed Regular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1173394" y="3797302"/>
            <a:ext cx="6865706" cy="355598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07899"/>
              </a:lnSpc>
            </a:pPr>
            <a:r>
              <a:rPr lang="en-US" sz="1000" b="1" dirty="0">
                <a:solidFill>
                  <a:srgbClr val="3A87BF"/>
                </a:solidFill>
                <a:latin typeface="Roboto Condensed Regular"/>
              </a:rPr>
              <a:t>Quantum Lightning(QL)</a:t>
            </a:r>
            <a:r>
              <a:rPr lang="ko-KR" altLang="en-US" sz="1000" b="1" dirty="0">
                <a:solidFill>
                  <a:srgbClr val="3A87BF"/>
                </a:solidFill>
                <a:latin typeface="Roboto Condensed Regular"/>
              </a:rPr>
              <a:t> </a:t>
            </a:r>
            <a:r>
              <a:rPr lang="en-US" altLang="ko-KR" sz="1000" b="1" dirty="0">
                <a:solidFill>
                  <a:srgbClr val="3A87BF"/>
                </a:solidFill>
                <a:latin typeface="Roboto Condensed Regular"/>
              </a:rPr>
              <a:t>:</a:t>
            </a:r>
            <a:r>
              <a:rPr lang="ko-KR" altLang="en-US" sz="1000" b="1" dirty="0">
                <a:solidFill>
                  <a:srgbClr val="3A87BF"/>
                </a:solidFill>
                <a:latin typeface="Roboto Condensed Regular"/>
              </a:rPr>
              <a:t>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 Regular"/>
              </a:rPr>
              <a:t>발행자 없이도 누구나 직접 생성할 수 있는 양자상태를 정의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 Regular"/>
              </a:rPr>
              <a:t>.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 Regular"/>
              </a:rPr>
              <a:t>즉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 Regular"/>
              </a:rPr>
              <a:t>,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 Regular"/>
              </a:rPr>
              <a:t>중앙기관이 존재하지 않아도 고유한 화폐 상태를 만들 수 있으면서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 Regular"/>
              </a:rPr>
              <a:t>,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 Condensed Regular"/>
              </a:rPr>
              <a:t>동일한 상태를 두 번 이상 생성하는 것이 계산적으로 불가능</a:t>
            </a:r>
            <a:endParaRPr lang="en-US" sz="1000" b="0" i="0" u="none" strike="noStrike" dirty="0">
              <a:solidFill>
                <a:schemeClr val="tx1">
                  <a:lumMod val="75000"/>
                  <a:lumOff val="25000"/>
                </a:schemeClr>
              </a:solidFill>
              <a:latin typeface="Roboto Condensed Regular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487594" y="2908300"/>
            <a:ext cx="2611206" cy="241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400" dirty="0">
                <a:solidFill>
                  <a:srgbClr val="000000"/>
                </a:solidFill>
                <a:latin typeface="Roboto Condensed Bold"/>
              </a:rPr>
              <a:t>Research Trend in Quantum Money</a:t>
            </a:r>
            <a:endParaRPr lang="en-US" sz="1400" b="0" i="0" u="none" strike="noStrike" dirty="0">
              <a:solidFill>
                <a:srgbClr val="000000"/>
              </a:solidFill>
              <a:latin typeface="Roboto Condensed Bold"/>
            </a:endParaRPr>
          </a:p>
        </p:txBody>
      </p:sp>
      <p:sp>
        <p:nvSpPr>
          <p:cNvPr id="77" name="TextBox 77"/>
          <p:cNvSpPr txBox="1"/>
          <p:nvPr/>
        </p:nvSpPr>
        <p:spPr>
          <a:xfrm>
            <a:off x="5968998" y="766197"/>
            <a:ext cx="2120900" cy="241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ko-KR" altLang="en-US" sz="1400" b="0" i="0" u="none" strike="noStrike" dirty="0">
                <a:solidFill>
                  <a:srgbClr val="E6F4FF"/>
                </a:solidFill>
                <a:latin typeface="Roboto Condensed Bold"/>
              </a:rPr>
              <a:t>송경주</a:t>
            </a:r>
            <a:r>
              <a:rPr lang="en-US" altLang="ko-KR" sz="1400" b="0" i="0" u="none" strike="noStrike" dirty="0">
                <a:solidFill>
                  <a:srgbClr val="E6F4FF"/>
                </a:solidFill>
                <a:latin typeface="Roboto Condensed Bold"/>
              </a:rPr>
              <a:t>,</a:t>
            </a:r>
            <a:r>
              <a:rPr lang="ko-KR" altLang="en-US" sz="1400" b="0" i="0" u="none" strike="noStrike" dirty="0">
                <a:solidFill>
                  <a:srgbClr val="E6F4FF"/>
                </a:solidFill>
                <a:latin typeface="Roboto Condensed Bold"/>
              </a:rPr>
              <a:t> </a:t>
            </a:r>
            <a:r>
              <a:rPr lang="ko-KR" altLang="en-US" sz="1400" b="0" i="0" u="none" strike="noStrike" dirty="0" err="1">
                <a:solidFill>
                  <a:srgbClr val="E6F4FF"/>
                </a:solidFill>
                <a:latin typeface="Roboto Condensed Bold"/>
              </a:rPr>
              <a:t>서화정</a:t>
            </a:r>
            <a:endParaRPr lang="en-US" sz="1400" b="0" i="0" u="none" strike="noStrike" dirty="0">
              <a:solidFill>
                <a:srgbClr val="E6F4FF"/>
              </a:solidFill>
              <a:latin typeface="Roboto Condensed Bold"/>
            </a:endParaRPr>
          </a:p>
        </p:txBody>
      </p:sp>
      <p:sp>
        <p:nvSpPr>
          <p:cNvPr id="78" name="TextBox 78"/>
          <p:cNvSpPr txBox="1"/>
          <p:nvPr/>
        </p:nvSpPr>
        <p:spPr>
          <a:xfrm>
            <a:off x="6108698" y="982097"/>
            <a:ext cx="1981200" cy="215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99600"/>
              </a:lnSpc>
            </a:pPr>
            <a:r>
              <a:rPr lang="en-US" sz="1200" dirty="0">
                <a:solidFill>
                  <a:srgbClr val="E6F4FF"/>
                </a:solidFill>
                <a:latin typeface="Roboto Condensed Bold"/>
              </a:rPr>
              <a:t>thdrudwn98@gmail.com</a:t>
            </a:r>
            <a:endParaRPr lang="en-US" sz="1200" b="0" i="0" u="none" strike="noStrike" dirty="0">
              <a:solidFill>
                <a:srgbClr val="E6F4FF"/>
              </a:solidFill>
              <a:latin typeface="Roboto Condensed Bold"/>
            </a:endParaRPr>
          </a:p>
        </p:txBody>
      </p:sp>
      <p:sp>
        <p:nvSpPr>
          <p:cNvPr id="80" name="TextBox 46">
            <a:extLst>
              <a:ext uri="{FF2B5EF4-FFF2-40B4-BE49-F238E27FC236}">
                <a16:creationId xmlns:a16="http://schemas.microsoft.com/office/drawing/2014/main" id="{4FEE238B-3FB7-E1E3-2216-1E096BE4F9F9}"/>
              </a:ext>
            </a:extLst>
          </p:cNvPr>
          <p:cNvSpPr txBox="1"/>
          <p:nvPr/>
        </p:nvSpPr>
        <p:spPr>
          <a:xfrm>
            <a:off x="469898" y="6474668"/>
            <a:ext cx="2324101" cy="241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99600"/>
              </a:lnSpc>
            </a:pPr>
            <a:r>
              <a:rPr lang="en-US" sz="1400" dirty="0">
                <a:solidFill>
                  <a:srgbClr val="000000"/>
                </a:solidFill>
                <a:latin typeface="Roboto Condensed Bold"/>
              </a:rPr>
              <a:t>Quantum Lightning(QL) (2021)</a:t>
            </a:r>
            <a:endParaRPr lang="en-US" sz="1400" b="0" i="0" u="none" strike="noStrike" dirty="0">
              <a:solidFill>
                <a:srgbClr val="000000"/>
              </a:solidFill>
              <a:latin typeface="Roboto Condensed Bold"/>
            </a:endParaRPr>
          </a:p>
        </p:txBody>
      </p:sp>
      <p:sp>
        <p:nvSpPr>
          <p:cNvPr id="81" name="TextBox 47">
            <a:extLst>
              <a:ext uri="{FF2B5EF4-FFF2-40B4-BE49-F238E27FC236}">
                <a16:creationId xmlns:a16="http://schemas.microsoft.com/office/drawing/2014/main" id="{C8F86D92-17B0-79F4-9C9D-644FBE2918CD}"/>
              </a:ext>
            </a:extLst>
          </p:cNvPr>
          <p:cNvSpPr txBox="1"/>
          <p:nvPr/>
        </p:nvSpPr>
        <p:spPr>
          <a:xfrm>
            <a:off x="476249" y="6709117"/>
            <a:ext cx="3613150" cy="307264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just">
              <a:lnSpc>
                <a:spcPct val="107899"/>
              </a:lnSpc>
            </a:pPr>
            <a:r>
              <a:rPr lang="en-US" sz="900" b="1" dirty="0" err="1">
                <a:solidFill>
                  <a:schemeClr val="accent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Zhandry</a:t>
            </a:r>
            <a:r>
              <a:rPr lang="ko-KR" altLang="en-US" sz="900" b="1" dirty="0">
                <a:solidFill>
                  <a:schemeClr val="accent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는 공개검증형 양자화폐의 확장한 개념인 </a:t>
            </a:r>
            <a:r>
              <a:rPr lang="en-US" sz="900" b="1" dirty="0">
                <a:solidFill>
                  <a:schemeClr val="accent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Quantum Lightning(QL)</a:t>
            </a:r>
            <a:r>
              <a:rPr lang="ko-KR" altLang="en-US" sz="900" b="1" dirty="0">
                <a:solidFill>
                  <a:schemeClr val="accent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을 제안하였다</a:t>
            </a:r>
            <a:r>
              <a:rPr lang="en-US" altLang="ko-KR" sz="900" b="1" dirty="0">
                <a:solidFill>
                  <a:schemeClr val="accent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[6].</a:t>
            </a:r>
            <a:r>
              <a:rPr lang="en-US" altLang="ko-KR" sz="900" b="1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ko-KR" altLang="en-US" sz="900" b="1" dirty="0">
                <a:solidFill>
                  <a:schemeClr val="accent6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기존 </a:t>
            </a:r>
            <a:r>
              <a:rPr lang="ko-KR" altLang="en-US" sz="900" b="1" dirty="0" err="1">
                <a:solidFill>
                  <a:schemeClr val="accent6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스킴이</a:t>
            </a:r>
            <a:r>
              <a:rPr lang="ko-KR" altLang="en-US" sz="900" b="1" dirty="0">
                <a:solidFill>
                  <a:schemeClr val="accent6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발행자</a:t>
            </a:r>
            <a:r>
              <a:rPr lang="en-US" altLang="ko-KR" sz="900" b="1" dirty="0">
                <a:solidFill>
                  <a:schemeClr val="accent6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(</a:t>
            </a:r>
            <a:r>
              <a:rPr lang="en-US" sz="900" b="1" dirty="0">
                <a:solidFill>
                  <a:schemeClr val="accent6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Mint)</a:t>
            </a:r>
            <a:r>
              <a:rPr lang="ko-KR" altLang="en-US" sz="900" b="1" dirty="0" err="1">
                <a:solidFill>
                  <a:schemeClr val="accent6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에</a:t>
            </a:r>
            <a:r>
              <a:rPr lang="ko-KR" altLang="en-US" sz="900" b="1" dirty="0">
                <a:solidFill>
                  <a:schemeClr val="accent6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의존하는 반면</a:t>
            </a:r>
            <a:r>
              <a:rPr lang="en-US" altLang="ko-KR" sz="900" b="1" dirty="0">
                <a:solidFill>
                  <a:schemeClr val="accent6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, </a:t>
            </a:r>
            <a:r>
              <a:rPr lang="en-US" sz="900" b="1" dirty="0">
                <a:solidFill>
                  <a:schemeClr val="accent6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QL</a:t>
            </a:r>
            <a:r>
              <a:rPr lang="ko-KR" altLang="en-US" sz="900" b="1" dirty="0">
                <a:solidFill>
                  <a:schemeClr val="accent6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은 발행자 없이도 누구나 직접 생성할 수 있는 양자상태를 정의한다</a:t>
            </a:r>
            <a:r>
              <a:rPr lang="en-US" altLang="ko-KR" sz="900" b="1" dirty="0">
                <a:solidFill>
                  <a:schemeClr val="accent6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. </a:t>
            </a:r>
            <a:r>
              <a:rPr lang="ko-KR" altLang="en-US" sz="900" b="1" dirty="0">
                <a:solidFill>
                  <a:schemeClr val="accent6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즉</a:t>
            </a:r>
            <a:r>
              <a:rPr lang="en-US" altLang="ko-KR" sz="900" b="1" dirty="0">
                <a:solidFill>
                  <a:schemeClr val="accent6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, </a:t>
            </a:r>
            <a:r>
              <a:rPr lang="ko-KR" altLang="en-US" sz="900" b="1" dirty="0">
                <a:solidFill>
                  <a:schemeClr val="accent6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중앙기관이 존재하지 않아도 고유한 “화폐 </a:t>
            </a:r>
            <a:r>
              <a:rPr lang="ko-KR" altLang="en-US" sz="900" b="1" dirty="0" err="1">
                <a:solidFill>
                  <a:schemeClr val="accent6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상태”를</a:t>
            </a:r>
            <a:r>
              <a:rPr lang="ko-KR" altLang="en-US" sz="900" b="1" dirty="0">
                <a:solidFill>
                  <a:schemeClr val="accent6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만들 수 있으면서</a:t>
            </a:r>
            <a:r>
              <a:rPr lang="en-US" altLang="ko-KR" sz="900" b="1" dirty="0">
                <a:solidFill>
                  <a:schemeClr val="accent6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, </a:t>
            </a:r>
            <a:r>
              <a:rPr lang="ko-KR" altLang="en-US" sz="900" b="1" dirty="0">
                <a:solidFill>
                  <a:schemeClr val="accent6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동일한 상태를 두 번 이상 생성하는 것이 계산적으로 불가능</a:t>
            </a:r>
            <a:r>
              <a:rPr lang="en-US" altLang="ko-KR" sz="900" b="1" dirty="0">
                <a:solidFill>
                  <a:schemeClr val="accent6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(</a:t>
            </a:r>
            <a:r>
              <a:rPr lang="en-US" sz="900" b="1" dirty="0">
                <a:solidFill>
                  <a:schemeClr val="accent6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computationally </a:t>
            </a:r>
            <a:r>
              <a:rPr lang="en-US" sz="900" b="1" dirty="0" err="1">
                <a:solidFill>
                  <a:schemeClr val="accent6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uncloneable</a:t>
            </a:r>
            <a:r>
              <a:rPr lang="en-US" sz="900" b="1" dirty="0">
                <a:solidFill>
                  <a:schemeClr val="accent6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) </a:t>
            </a:r>
            <a:r>
              <a:rPr lang="ko-KR" altLang="en-US" sz="900" b="1" dirty="0">
                <a:solidFill>
                  <a:schemeClr val="accent6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하다는 점이 특징이다</a:t>
            </a:r>
            <a:r>
              <a:rPr lang="en-US" altLang="ko-KR" sz="900" b="1" dirty="0">
                <a:solidFill>
                  <a:schemeClr val="accent6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. </a:t>
            </a:r>
          </a:p>
          <a:p>
            <a:pPr lvl="0" algn="just">
              <a:lnSpc>
                <a:spcPct val="107899"/>
              </a:lnSpc>
            </a:pPr>
            <a:r>
              <a:rPr lang="en-US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QL</a:t>
            </a:r>
            <a:r>
              <a:rPr lang="ko-KR" altLang="en-US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의 보안 정의는 “두 번 번개가 내리지 않는다</a:t>
            </a:r>
            <a:r>
              <a:rPr lang="en-US" altLang="ko-KR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(</a:t>
            </a:r>
            <a:r>
              <a:rPr lang="en-US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never strikes the same state twice)”</a:t>
            </a:r>
            <a:r>
              <a:rPr lang="ko-KR" altLang="en-US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는 표현으로 요약된다</a:t>
            </a:r>
            <a:r>
              <a:rPr lang="en-US" altLang="ko-KR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. </a:t>
            </a:r>
            <a:r>
              <a:rPr lang="ko-KR" altLang="en-US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어떠한 양자 알고리즘도 동일한 일련번호</a:t>
            </a:r>
            <a:r>
              <a:rPr lang="en-US" altLang="ko-KR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(</a:t>
            </a:r>
            <a:r>
              <a:rPr lang="en-US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serial number)</a:t>
            </a:r>
            <a:r>
              <a:rPr lang="ko-KR" altLang="en-US" sz="900" dirty="0" err="1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를</a:t>
            </a:r>
            <a:r>
              <a:rPr lang="ko-KR" altLang="en-US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가지는 두 개의 유효 상태를 생성할 수 없으며</a:t>
            </a:r>
            <a:r>
              <a:rPr lang="en-US" altLang="ko-KR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, </a:t>
            </a:r>
            <a:r>
              <a:rPr lang="ko-KR" altLang="en-US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이는 단순한 비복제성</a:t>
            </a:r>
            <a:r>
              <a:rPr lang="en-US" altLang="ko-KR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(</a:t>
            </a:r>
            <a:r>
              <a:rPr lang="en-US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no-cloning)</a:t>
            </a:r>
            <a:r>
              <a:rPr lang="ko-KR" altLang="en-US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을 넘어서는 </a:t>
            </a:r>
            <a:r>
              <a:rPr lang="ko-KR" altLang="en-US" sz="900" dirty="0" err="1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충돌불가능성</a:t>
            </a:r>
            <a:r>
              <a:rPr lang="en-US" altLang="ko-KR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(</a:t>
            </a:r>
            <a:r>
              <a:rPr lang="en-US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collision resistance)</a:t>
            </a:r>
            <a:r>
              <a:rPr lang="ko-KR" altLang="en-US" sz="900" dirty="0" err="1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에</a:t>
            </a:r>
            <a:r>
              <a:rPr lang="ko-KR" altLang="en-US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해당한다</a:t>
            </a:r>
            <a:r>
              <a:rPr lang="en-US" altLang="ko-KR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. </a:t>
            </a:r>
            <a:r>
              <a:rPr lang="en-US" sz="900" dirty="0" err="1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Zhandry</a:t>
            </a:r>
            <a:r>
              <a:rPr lang="ko-KR" altLang="en-US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는 이러한 보안을 </a:t>
            </a:r>
            <a:r>
              <a:rPr lang="ko-KR" altLang="en-US" sz="900" dirty="0" err="1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비붕괴</a:t>
            </a:r>
            <a:r>
              <a:rPr lang="en-US" altLang="ko-KR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해시</a:t>
            </a:r>
            <a:r>
              <a:rPr lang="en-US" altLang="ko-KR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(</a:t>
            </a:r>
            <a:r>
              <a:rPr lang="en-US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non-collapsing hash function) </a:t>
            </a:r>
            <a:r>
              <a:rPr lang="ko-KR" altLang="en-US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와 다중충돌저항</a:t>
            </a:r>
            <a:r>
              <a:rPr lang="en-US" altLang="ko-KR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(</a:t>
            </a:r>
            <a:r>
              <a:rPr lang="en-US" sz="900" dirty="0" err="1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multicollision</a:t>
            </a:r>
            <a:r>
              <a:rPr lang="en-US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-resistance) </a:t>
            </a:r>
            <a:r>
              <a:rPr lang="ko-KR" altLang="en-US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가정을 통해 증명 가능한 형태로 제시하였다</a:t>
            </a:r>
            <a:r>
              <a:rPr lang="en-US" altLang="ko-KR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. </a:t>
            </a:r>
            <a:r>
              <a:rPr lang="ko-KR" altLang="en-US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또한 </a:t>
            </a:r>
            <a:r>
              <a:rPr lang="en-US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QL</a:t>
            </a:r>
            <a:r>
              <a:rPr lang="ko-KR" altLang="en-US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은 발행자 서명 없이도 고전적으로 검증 가능한 </a:t>
            </a:r>
            <a:r>
              <a:rPr lang="en-US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bolt-to-certificate </a:t>
            </a:r>
            <a:r>
              <a:rPr lang="ko-KR" altLang="en-US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변환을 지원한다</a:t>
            </a:r>
            <a:r>
              <a:rPr lang="en-US" altLang="ko-KR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. </a:t>
            </a:r>
            <a:r>
              <a:rPr lang="ko-KR" altLang="en-US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즉</a:t>
            </a:r>
            <a:r>
              <a:rPr lang="en-US" altLang="ko-KR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, </a:t>
            </a:r>
            <a:r>
              <a:rPr lang="ko-KR" altLang="en-US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양자상태</a:t>
            </a:r>
            <a:r>
              <a:rPr lang="en-US" altLang="ko-KR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(</a:t>
            </a:r>
            <a:r>
              <a:rPr lang="en-US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bolt)</a:t>
            </a:r>
            <a:r>
              <a:rPr lang="ko-KR" altLang="en-US" sz="900" dirty="0" err="1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를</a:t>
            </a:r>
            <a:r>
              <a:rPr lang="ko-KR" altLang="en-US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측정하면 해당 상태에 고유한 고전적 인증서가 도출되며</a:t>
            </a:r>
            <a:r>
              <a:rPr lang="en-US" altLang="ko-KR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, </a:t>
            </a:r>
            <a:r>
              <a:rPr lang="ko-KR" altLang="en-US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이 인증서는 이후 양자정보 없이도 진위 확인에 사용될 수 있다</a:t>
            </a:r>
            <a:r>
              <a:rPr lang="en-US" altLang="ko-KR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. </a:t>
            </a:r>
            <a:r>
              <a:rPr lang="ko-KR" altLang="en-US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이 특성은 </a:t>
            </a:r>
            <a:r>
              <a:rPr lang="en-US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QL</a:t>
            </a:r>
            <a:r>
              <a:rPr lang="ko-KR" altLang="en-US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을 전통적인 </a:t>
            </a:r>
            <a:r>
              <a:rPr lang="en-US" altLang="ko-KR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“</a:t>
            </a:r>
            <a:r>
              <a:rPr lang="en-US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Quantum money”</a:t>
            </a:r>
            <a:r>
              <a:rPr lang="ko-KR" altLang="en-US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에서 더 나아가</a:t>
            </a:r>
            <a:r>
              <a:rPr lang="en-US" altLang="ko-KR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, </a:t>
            </a:r>
            <a:r>
              <a:rPr lang="ko-KR" altLang="en-US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복제 불가능한 디지털 자산 또는 양자 기반 무결성 증명 시스템으로 확장할 수 있는 가능성을 제시한다</a:t>
            </a:r>
            <a:r>
              <a:rPr lang="en-US" altLang="ko-KR" sz="900" dirty="0">
                <a:solidFill>
                  <a:srgbClr val="00000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.</a:t>
            </a:r>
            <a:endParaRPr lang="en-US" sz="900" u="none" strike="noStrike" dirty="0">
              <a:solidFill>
                <a:srgbClr val="000000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82" name="TextBox 48">
            <a:extLst>
              <a:ext uri="{FF2B5EF4-FFF2-40B4-BE49-F238E27FC236}">
                <a16:creationId xmlns:a16="http://schemas.microsoft.com/office/drawing/2014/main" id="{E47F14A4-B59C-D67B-6DE3-D78122B8ADB1}"/>
              </a:ext>
            </a:extLst>
          </p:cNvPr>
          <p:cNvSpPr txBox="1"/>
          <p:nvPr/>
        </p:nvSpPr>
        <p:spPr>
          <a:xfrm>
            <a:off x="469897" y="9861550"/>
            <a:ext cx="3619501" cy="27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07899"/>
              </a:lnSpc>
            </a:pPr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Condensed Regular"/>
              </a:rPr>
              <a:t>[6] </a:t>
            </a:r>
            <a:r>
              <a:rPr lang="en-US" sz="7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Roboto Condensed Regular"/>
              </a:rPr>
              <a:t>Zhandry</a:t>
            </a:r>
            <a:r>
              <a:rPr lang="en-US" sz="700" dirty="0">
                <a:solidFill>
                  <a:schemeClr val="tx1">
                    <a:lumMod val="50000"/>
                    <a:lumOff val="50000"/>
                  </a:schemeClr>
                </a:solidFill>
                <a:latin typeface="Roboto Condensed Regular"/>
              </a:rPr>
              <a:t>, Mark. "Quantum lightning never strikes the same state twice. or: quantum money from cryptographic assumptions." Journal of Cryptology 34.1 (2021): 6.</a:t>
            </a:r>
            <a:endParaRPr lang="en-US" sz="700" b="0" i="0" u="none" strike="noStrike" dirty="0">
              <a:solidFill>
                <a:schemeClr val="tx1">
                  <a:lumMod val="50000"/>
                  <a:lumOff val="50000"/>
                </a:schemeClr>
              </a:solidFill>
              <a:latin typeface="Roboto Condensed Regular"/>
            </a:endParaRPr>
          </a:p>
        </p:txBody>
      </p:sp>
      <p:pic>
        <p:nvPicPr>
          <p:cNvPr id="84" name="그림 83">
            <a:extLst>
              <a:ext uri="{FF2B5EF4-FFF2-40B4-BE49-F238E27FC236}">
                <a16:creationId xmlns:a16="http://schemas.microsoft.com/office/drawing/2014/main" id="{26AD7659-D0FA-530A-9759-B309733C29E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7150" y="11727606"/>
            <a:ext cx="1143000" cy="217773"/>
          </a:xfrm>
          <a:prstGeom prst="rect">
            <a:avLst/>
          </a:prstGeom>
        </p:spPr>
      </p:pic>
      <p:pic>
        <p:nvPicPr>
          <p:cNvPr id="85" name="그림 84">
            <a:extLst>
              <a:ext uri="{FF2B5EF4-FFF2-40B4-BE49-F238E27FC236}">
                <a16:creationId xmlns:a16="http://schemas.microsoft.com/office/drawing/2014/main" id="{A20CEA66-F472-40FD-0EC1-23AAC3C0446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80620" y="11657638"/>
            <a:ext cx="716959" cy="29602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1196</Words>
  <Application>Microsoft Macintosh PowerPoint</Application>
  <PresentationFormat>사용자 지정</PresentationFormat>
  <Paragraphs>34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1" baseType="lpstr">
      <vt:lpstr>Roboto Condensed Bold</vt:lpstr>
      <vt:lpstr>Roboto Condensed Light</vt:lpstr>
      <vt:lpstr>Cambria Math</vt:lpstr>
      <vt:lpstr>Calibri</vt:lpstr>
      <vt:lpstr>NanumGothic</vt:lpstr>
      <vt:lpstr>Arial</vt:lpstr>
      <vt:lpstr>맑은 고딕</vt:lpstr>
      <vt:lpstr>Roboto Condensed Regular</vt:lpstr>
      <vt:lpstr>맑은 고딕</vt:lpstr>
      <vt:lpstr>Office Theme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송경주</cp:lastModifiedBy>
  <cp:revision>12</cp:revision>
  <dcterms:created xsi:type="dcterms:W3CDTF">2006-08-16T00:00:00Z</dcterms:created>
  <dcterms:modified xsi:type="dcterms:W3CDTF">2025-11-25T07:10:30Z</dcterms:modified>
</cp:coreProperties>
</file>