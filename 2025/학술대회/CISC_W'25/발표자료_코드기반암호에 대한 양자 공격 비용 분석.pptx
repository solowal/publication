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7" r:id="rId2"/>
    <p:sldId id="849" r:id="rId3"/>
    <p:sldId id="850" r:id="rId4"/>
    <p:sldId id="851" r:id="rId5"/>
    <p:sldId id="596" r:id="rId6"/>
    <p:sldId id="855" r:id="rId7"/>
    <p:sldId id="864" r:id="rId8"/>
    <p:sldId id="865" r:id="rId9"/>
    <p:sldId id="866" r:id="rId10"/>
    <p:sldId id="867" r:id="rId11"/>
    <p:sldId id="868" r:id="rId12"/>
    <p:sldId id="649" r:id="rId13"/>
    <p:sldId id="650" r:id="rId14"/>
    <p:sldId id="859" r:id="rId15"/>
    <p:sldId id="639" r:id="rId16"/>
    <p:sldId id="647" r:id="rId17"/>
    <p:sldId id="441" r:id="rId18"/>
    <p:sldId id="715" r:id="rId19"/>
    <p:sldId id="648" r:id="rId20"/>
    <p:sldId id="860" r:id="rId21"/>
    <p:sldId id="657" r:id="rId22"/>
    <p:sldId id="872" r:id="rId23"/>
    <p:sldId id="874" r:id="rId24"/>
    <p:sldId id="873" r:id="rId25"/>
    <p:sldId id="861" r:id="rId26"/>
    <p:sldId id="862" r:id="rId27"/>
    <p:sldId id="898" r:id="rId28"/>
    <p:sldId id="895" r:id="rId29"/>
    <p:sldId id="896" r:id="rId30"/>
    <p:sldId id="897" r:id="rId31"/>
    <p:sldId id="877" r:id="rId32"/>
    <p:sldId id="876" r:id="rId3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38"/>
    <p:restoredTop sz="96327"/>
  </p:normalViewPr>
  <p:slideViewPr>
    <p:cSldViewPr snapToGrid="0">
      <p:cViewPr varScale="1">
        <p:scale>
          <a:sx n="127" d="100"/>
          <a:sy n="127" d="100"/>
        </p:scale>
        <p:origin x="76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C6A019-C8CB-044C-8E50-2172BAD36A0A}" type="datetimeFigureOut">
              <a:rPr kumimoji="1" lang="ko-KR" altLang="en-US" smtClean="0"/>
              <a:t>2025. 11. 26.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E26027-29C7-0645-87BD-87738D40BA5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05406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259FBD-8740-FA74-6040-CC2CB948A0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AAD8B-754B-6642-86E0-11211C030387}" type="slidenum">
              <a:rPr kumimoji="1" lang="ko-Kore-KR" altLang="en-US" smtClean="0"/>
              <a:t>1</a:t>
            </a:fld>
            <a:endParaRPr kumimoji="1" lang="ko-Kore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26027-29C7-0645-87BD-87738D40BA55}" type="slidenum">
              <a:rPr kumimoji="1" lang="ko-KR" altLang="en-US" smtClean="0"/>
              <a:t>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48439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27368a7673_0_4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g127368a7673_0_4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7CFC0F-BC20-3575-BE4E-EC567092D0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AAD8B-754B-6642-86E0-11211C030387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141950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D8007-6F03-1F51-B9C6-A155203FC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DC6EFFD-36D6-CA7C-D37E-760192061C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C5191E0-8EC8-CE77-51A0-7B482DE561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9BBAE2-7BE4-4BE1-BD40-D48B6D81BE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26027-29C7-0645-87BD-87738D40BA55}" type="slidenum">
              <a:rPr kumimoji="1" lang="ko-KR" altLang="en-US" smtClean="0"/>
              <a:t>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020538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63658-812D-7C0D-3BF7-1BF193533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2E2E2B9-2256-8CA2-71C1-810AEE30EB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E4C68C4-7FBB-A5B6-3E57-C5D45C193C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AE75C6-C638-C95B-825F-FD04C861CF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26027-29C7-0645-87BD-87738D40BA55}" type="slidenum">
              <a:rPr kumimoji="1" lang="ko-KR" altLang="en-US" smtClean="0"/>
              <a:t>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336854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6B5AA-53B8-4AB6-63A2-9DC7DF554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130C74-997F-D3A5-D3FF-B31CE0037E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0AF930-CC08-DB98-5E16-4A5568A199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89041D-73C9-950A-62AB-C959D1A6FE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26027-29C7-0645-87BD-87738D40BA55}" type="slidenum">
              <a:rPr kumimoji="1" lang="ko-KR" altLang="en-US" smtClean="0"/>
              <a:t>8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715605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7575C-AEFC-281B-761B-25D7F6EC1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2BC6541-B01C-93A7-8133-2120FB0938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9F5E689-3E1C-BB7B-42BA-A86FFE7FD3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D5CBBE-AEE0-E286-1891-1F7F196705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26027-29C7-0645-87BD-87738D40BA55}" type="slidenum">
              <a:rPr kumimoji="1" lang="ko-KR" altLang="en-US" smtClean="0"/>
              <a:t>9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444111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FBED5-BA79-3B3B-B540-1043B34E7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1F19E35-7B4B-37E8-68B6-1E4D457667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324848B-35AE-A7A1-9814-EADF36FF0D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4A1C0F-4F28-066D-3CE1-965845289E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26027-29C7-0645-87BD-87738D40BA55}" type="slidenum">
              <a:rPr kumimoji="1" lang="ko-KR" altLang="en-US" smtClean="0"/>
              <a:t>10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335099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6">
          <a:extLst>
            <a:ext uri="{FF2B5EF4-FFF2-40B4-BE49-F238E27FC236}">
              <a16:creationId xmlns:a16="http://schemas.microsoft.com/office/drawing/2014/main" id="{187EACEA-FE5D-BFEA-0580-15484FEDC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80:notes">
            <a:extLst>
              <a:ext uri="{FF2B5EF4-FFF2-40B4-BE49-F238E27FC236}">
                <a16:creationId xmlns:a16="http://schemas.microsoft.com/office/drawing/2014/main" id="{5165F1B3-9D13-19C6-1645-01EF2D25DA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8" name="Google Shape;828;p80:notes">
            <a:extLst>
              <a:ext uri="{FF2B5EF4-FFF2-40B4-BE49-F238E27FC236}">
                <a16:creationId xmlns:a16="http://schemas.microsoft.com/office/drawing/2014/main" id="{AC4C2BE3-E424-7A41-C11C-37D63486DD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8C87E8-569A-EF81-1EE3-AC27FC0550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AAD8B-754B-6642-86E0-11211C030387}" type="slidenum">
              <a:rPr kumimoji="1" lang="ko-Kore-KR" altLang="en-US" smtClean="0"/>
              <a:t>11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9751709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27368a7673_0_4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g127368a7673_0_4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283D2CD-448C-FD20-3F1F-5F5D352147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AAD8B-754B-6642-86E0-11211C030387}" type="slidenum">
              <a:rPr kumimoji="1" lang="ko-Kore-KR" altLang="en-US" smtClean="0"/>
              <a:t>12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24022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27368a7673_0_4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g127368a7673_0_4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ACD7A3-2A25-C176-194F-4466E76F71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AAD8B-754B-6642-86E0-11211C030387}" type="slidenum">
              <a:rPr kumimoji="1" lang="ko-Kore-KR" altLang="en-US" smtClean="0"/>
              <a:t>13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6883301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E1096-4C83-F0EE-BEC3-3088420D5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A1A7F9E-BA45-4109-E07A-D3FF736E8A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1EF490B-F319-A98E-9A1A-B2A71B548D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F89AB4-F906-FA4C-1537-C5528BB103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26027-29C7-0645-87BD-87738D40BA55}" type="slidenum">
              <a:rPr kumimoji="1" lang="ko-KR" altLang="en-US" smtClean="0"/>
              <a:t>14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099404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27368a7673_0_4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g127368a7673_0_4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D309DD-EADB-1EF9-AA8F-65D7BBC996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AAD8B-754B-6642-86E0-11211C030387}" type="slidenum">
              <a:rPr kumimoji="1" lang="ko-Kore-KR" altLang="en-US" smtClean="0"/>
              <a:t>15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5302707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08B08-80A3-444C-F9B2-F1EF60024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7F7B797-1F48-FB45-9730-F2F3916C52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B49B553-4DB6-A2E7-EF26-C8D175B3E2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D95B0E-D5A0-42E7-ABB7-BB653F348A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AAD8B-754B-6642-86E0-11211C030387}" type="slidenum">
              <a:rPr kumimoji="1" lang="ko-Kore-KR" altLang="en-US" smtClean="0"/>
              <a:t>17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2662797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>
          <a:extLst>
            <a:ext uri="{FF2B5EF4-FFF2-40B4-BE49-F238E27FC236}">
              <a16:creationId xmlns:a16="http://schemas.microsoft.com/office/drawing/2014/main" id="{6223E80A-316B-733A-F0DD-78BBA74E6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27368a7673_0_409:notes">
            <a:extLst>
              <a:ext uri="{FF2B5EF4-FFF2-40B4-BE49-F238E27FC236}">
                <a16:creationId xmlns:a16="http://schemas.microsoft.com/office/drawing/2014/main" id="{2F1836CB-0329-FFAB-D1F1-E2E984B3A4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g127368a7673_0_409:notes">
            <a:extLst>
              <a:ext uri="{FF2B5EF4-FFF2-40B4-BE49-F238E27FC236}">
                <a16:creationId xmlns:a16="http://schemas.microsoft.com/office/drawing/2014/main" id="{78F2A44C-E29D-C1BE-8286-580157615A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F41543-067F-3461-0320-3A904090D7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AAD8B-754B-6642-86E0-11211C030387}" type="slidenum">
              <a:rPr kumimoji="1" lang="ko-Kore-KR" altLang="en-US" smtClean="0"/>
              <a:t>18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9494412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8C0C1-C090-B222-722B-A771143E3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1DCA25-26C2-6B9B-B19A-9175ADDDD4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B87D95A-CEA0-2065-91E4-E9E7DF5431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475C30-CC0D-CE62-9C61-FF336BDB0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26027-29C7-0645-87BD-87738D40BA55}" type="slidenum">
              <a:rPr kumimoji="1" lang="ko-KR" altLang="en-US" smtClean="0"/>
              <a:t>20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172908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>
          <a:extLst>
            <a:ext uri="{FF2B5EF4-FFF2-40B4-BE49-F238E27FC236}">
              <a16:creationId xmlns:a16="http://schemas.microsoft.com/office/drawing/2014/main" id="{8C28ADCA-BDEB-50A0-691F-3B76E3051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127368a7673_0_409:notes">
            <a:extLst>
              <a:ext uri="{FF2B5EF4-FFF2-40B4-BE49-F238E27FC236}">
                <a16:creationId xmlns:a16="http://schemas.microsoft.com/office/drawing/2014/main" id="{ED6495BC-16A0-4D3D-88AF-9A94169001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g127368a7673_0_409:notes">
            <a:extLst>
              <a:ext uri="{FF2B5EF4-FFF2-40B4-BE49-F238E27FC236}">
                <a16:creationId xmlns:a16="http://schemas.microsoft.com/office/drawing/2014/main" id="{725EE1CF-92FC-95D1-329A-D4736B9451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E829AD-6638-4D97-8526-01CC6D98FE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AAD8B-754B-6642-86E0-11211C030387}" type="slidenum">
              <a:rPr kumimoji="1" lang="ko-Kore-KR" altLang="en-US" smtClean="0"/>
              <a:t>21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925916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2176C-0FC6-9C21-94EF-8331255BC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E09D566-7ACF-A2C4-99C7-619D5FA0DC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439607-7EC3-6A82-FE26-0D44BDE785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438DFB-5B6C-1AAE-47B6-963185BFAE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26027-29C7-0645-87BD-87738D40BA55}" type="slidenum">
              <a:rPr kumimoji="1" lang="ko-KR" altLang="en-US" smtClean="0"/>
              <a:t>22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452356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6">
          <a:extLst>
            <a:ext uri="{FF2B5EF4-FFF2-40B4-BE49-F238E27FC236}">
              <a16:creationId xmlns:a16="http://schemas.microsoft.com/office/drawing/2014/main" id="{81279813-BB70-7EB4-8288-3B5B53631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80:notes">
            <a:extLst>
              <a:ext uri="{FF2B5EF4-FFF2-40B4-BE49-F238E27FC236}">
                <a16:creationId xmlns:a16="http://schemas.microsoft.com/office/drawing/2014/main" id="{D9B0E8C4-1C53-55D0-C94C-388DE6F2D5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8" name="Google Shape;828;p80:notes">
            <a:extLst>
              <a:ext uri="{FF2B5EF4-FFF2-40B4-BE49-F238E27FC236}">
                <a16:creationId xmlns:a16="http://schemas.microsoft.com/office/drawing/2014/main" id="{1D1EA7EC-FB34-8E53-9D11-84BC3642D5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BC9E49-E4D4-5E2B-6613-3D7D40E8C6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AAD8B-754B-6642-86E0-11211C030387}" type="slidenum">
              <a:rPr kumimoji="1" lang="ko-Kore-KR" altLang="en-US" smtClean="0"/>
              <a:t>24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404931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456A5-C277-4F43-B035-F83F3AD3D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A305465-5F30-F294-2E98-8B4908801D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FB8AB85-5F3C-84CA-74D4-0988F3AB43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181BD9-8CD7-AB1F-4D43-C2748FE020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26027-29C7-0645-87BD-87738D40BA55}" type="slidenum">
              <a:rPr kumimoji="1" lang="ko-KR" altLang="en-US" smtClean="0"/>
              <a:t>25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238852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ACA26-B678-17E4-D3A9-ECE42C731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7386684-C245-2FDB-3573-E498E3CBF2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6EE3243-8AA7-501C-9801-6F56450F97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748A78-8102-BBE2-8B32-27DFFB2C01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26027-29C7-0645-87BD-87738D40BA55}" type="slidenum">
              <a:rPr kumimoji="1" lang="ko-KR" altLang="en-US" smtClean="0"/>
              <a:t>26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643024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6">
          <a:extLst>
            <a:ext uri="{FF2B5EF4-FFF2-40B4-BE49-F238E27FC236}">
              <a16:creationId xmlns:a16="http://schemas.microsoft.com/office/drawing/2014/main" id="{F508C9BA-6857-B07B-A920-8AA7E5EDB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80:notes">
            <a:extLst>
              <a:ext uri="{FF2B5EF4-FFF2-40B4-BE49-F238E27FC236}">
                <a16:creationId xmlns:a16="http://schemas.microsoft.com/office/drawing/2014/main" id="{DDCEC71F-8329-649E-4D57-2F3E1BA8EA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8" name="Google Shape;828;p80:notes">
            <a:extLst>
              <a:ext uri="{FF2B5EF4-FFF2-40B4-BE49-F238E27FC236}">
                <a16:creationId xmlns:a16="http://schemas.microsoft.com/office/drawing/2014/main" id="{20BC95C7-1EBA-0C6F-3019-AF071221CB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038A35-4745-0913-889B-116BFEF62D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AAD8B-754B-6642-86E0-11211C030387}" type="slidenum">
              <a:rPr kumimoji="1" lang="ko-Kore-KR" altLang="en-US" smtClean="0"/>
              <a:t>27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112411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882EF-9A1B-C76C-0150-896C4CB19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68DE53-26CD-886A-63EA-2636D16346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6D6BE92-4F84-7B6A-0629-A17E1F54DD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96E0DE-41B1-67A9-4E52-0AB9655F26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E26027-29C7-0645-87BD-87738D40BA55}" type="slidenum">
              <a:rPr kumimoji="1" lang="ko-KR" altLang="en-US" smtClean="0"/>
              <a:t>31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88394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6">
          <a:extLst>
            <a:ext uri="{FF2B5EF4-FFF2-40B4-BE49-F238E27FC236}">
              <a16:creationId xmlns:a16="http://schemas.microsoft.com/office/drawing/2014/main" id="{40E2D6C1-7F30-5934-78A4-A33CE1E06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80:notes">
            <a:extLst>
              <a:ext uri="{FF2B5EF4-FFF2-40B4-BE49-F238E27FC236}">
                <a16:creationId xmlns:a16="http://schemas.microsoft.com/office/drawing/2014/main" id="{D0D8EAA4-839F-A7B6-DE2A-B6EDACFAA9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8" name="Google Shape;828;p80:notes">
            <a:extLst>
              <a:ext uri="{FF2B5EF4-FFF2-40B4-BE49-F238E27FC236}">
                <a16:creationId xmlns:a16="http://schemas.microsoft.com/office/drawing/2014/main" id="{CE6EDD75-E685-26F9-E58E-C93426828F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F1C94C-E412-1935-C4E4-515EBEDEC5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AAD8B-754B-6642-86E0-11211C030387}" type="slidenum">
              <a:rPr kumimoji="1" lang="ko-Kore-KR" altLang="en-US" smtClean="0"/>
              <a:t>32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8873889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B4F22E-7FE1-6F6B-3925-20A5605175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480A3AD-9C1A-7AF2-FB82-ACFB917DF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84130B-FF69-01E0-41D0-22A740D52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B9C8-5071-FD42-8E0A-71378E7EB551}" type="datetimeFigureOut">
              <a:rPr kumimoji="1" lang="ko-KR" altLang="en-US" smtClean="0"/>
              <a:t>2025. 11. 26.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E26E1F-C52A-3D77-1745-9558081D5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CA0BAF-EA5B-6002-60F0-909E216F8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17842-03F3-9947-8042-E3FD9E72367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68309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75F796-7037-B161-3530-2DB1CEC8B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8AC60C-C147-2247-EDED-6A3D121DC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AD3A44C-70B9-57BC-5198-BF819D722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B9C8-5071-FD42-8E0A-71378E7EB551}" type="datetimeFigureOut">
              <a:rPr kumimoji="1" lang="ko-KR" altLang="en-US" smtClean="0"/>
              <a:t>2025. 11. 26.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57BE66C-ADB1-AA9A-4C0C-B61F31C1D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BA49D66-B53B-5488-BAB1-CD819A859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17842-03F3-9947-8042-E3FD9E72367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19509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993D85-634E-3AC7-1687-EC8056CE9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FEA4EBF-45EB-6AF0-20C4-8D7DBDE47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9606EB-7E17-A8B5-03B4-C2C3363D9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B9C8-5071-FD42-8E0A-71378E7EB551}" type="datetimeFigureOut">
              <a:rPr kumimoji="1" lang="ko-KR" altLang="en-US" smtClean="0"/>
              <a:t>2025. 11. 26.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F4CD3A-94E5-EBD3-8C82-AB9B7C556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55D83F-325C-294D-BF31-5FD51E283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17842-03F3-9947-8042-E3FD9E72367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98395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60F31A-3812-FE80-B1FC-05DFC5769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EDDC4B-FF56-7304-A493-DDFFBE062A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C7BB2A5-3DBB-6C19-F25D-65BED24E9E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16C0CA-666D-6909-19D2-198FCCCF3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B9C8-5071-FD42-8E0A-71378E7EB551}" type="datetimeFigureOut">
              <a:rPr kumimoji="1" lang="ko-KR" altLang="en-US" smtClean="0"/>
              <a:t>2025. 11. 26.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AF57675-F846-D975-6A44-8EC6DEF9F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D7CE98-C184-89C3-F075-B9AA9D331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17842-03F3-9947-8042-E3FD9E72367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04275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31B78B-72E4-5482-B2E9-2B30C75AD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C21113-86D0-2EC3-6F84-1AEBC983E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7EF7864-75FC-F305-128B-90D3AE3F74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81470ED-C036-8ADB-CFE1-2B6ABDFE58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CE67AC4-F10E-326C-4686-D85B86DF7B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6159063-7F81-2664-DD83-F94A41EF4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B9C8-5071-FD42-8E0A-71378E7EB551}" type="datetimeFigureOut">
              <a:rPr kumimoji="1" lang="ko-KR" altLang="en-US" smtClean="0"/>
              <a:t>2025. 11. 26.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69E7068-0D1C-6463-103A-3076F5457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2D2917C-CE16-6414-B7B1-2778ECD19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17842-03F3-9947-8042-E3FD9E72367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3925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1D08A5-D16E-B383-CCF4-C3C6E0C93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FB82D4F-8210-57AA-B713-8CD5C9AD9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B9C8-5071-FD42-8E0A-71378E7EB551}" type="datetimeFigureOut">
              <a:rPr kumimoji="1" lang="ko-KR" altLang="en-US" smtClean="0"/>
              <a:t>2025. 11. 26.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A767DB9-253A-1192-E50D-D71FAD816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FB7F7BC-B46C-0FB9-3D41-44260F4EB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17842-03F3-9947-8042-E3FD9E72367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46111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5828351-7EF7-3614-53B1-02F8349D9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B9C8-5071-FD42-8E0A-71378E7EB551}" type="datetimeFigureOut">
              <a:rPr kumimoji="1" lang="ko-KR" altLang="en-US" smtClean="0"/>
              <a:t>2025. 11. 26.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BABF9B2-7EFE-E513-01E3-90DDAA747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6AE732-0B36-3890-275B-FA8D9B09F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17842-03F3-9947-8042-E3FD9E72367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2453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B68695-920A-3D10-7DE7-046E3F3CA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C0EA2B-648D-4427-4B1A-AD0FADF31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6A417D3-588D-2659-01F9-D34951C3E8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100B9E7-F450-7882-0622-B75E0B753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B9C8-5071-FD42-8E0A-71378E7EB551}" type="datetimeFigureOut">
              <a:rPr kumimoji="1" lang="ko-KR" altLang="en-US" smtClean="0"/>
              <a:t>2025. 11. 26.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103F1E-C721-847A-708E-0902B84FF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9B72F1-36ED-473C-3287-6E4C5CB37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17842-03F3-9947-8042-E3FD9E72367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22065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40622B-43B5-48D7-620D-1B8BDE4C5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5DB2E2D-E0DA-9A34-BED4-D0DDEB62CA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C9A7D69-6D0F-8D92-DDFE-26D77B1C98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5C821B-3E64-369D-5AB9-1CD473CFD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B9C8-5071-FD42-8E0A-71378E7EB551}" type="datetimeFigureOut">
              <a:rPr kumimoji="1" lang="ko-KR" altLang="en-US" smtClean="0"/>
              <a:t>2025. 11. 26.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90F5F82-CBA9-1483-68A2-61C95DB0A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8D50AF8-A8DB-04CA-9932-9727EB5E8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17842-03F3-9947-8042-E3FD9E72367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09835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DA2633-9774-14EF-5D44-8DE42ABEB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507F9F9-D452-078B-85EB-5E26B11127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2C70F8-8545-CBF1-ECB2-96F3306D8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B9C8-5071-FD42-8E0A-71378E7EB551}" type="datetimeFigureOut">
              <a:rPr kumimoji="1" lang="ko-KR" altLang="en-US" smtClean="0"/>
              <a:t>2025. 11. 26.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6BC687-6632-98C8-66DA-48DD49215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29CCEC-E491-75E7-90E6-4F3A4C15C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17842-03F3-9947-8042-E3FD9E72367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8526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DE83E84-D9FD-BF08-E72F-FB565FB559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086D06-E909-795D-9758-26BF6C434C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1D0C03-616F-42ED-EAC6-0EBAA500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AB9C8-5071-FD42-8E0A-71378E7EB551}" type="datetimeFigureOut">
              <a:rPr kumimoji="1" lang="ko-KR" altLang="en-US" smtClean="0"/>
              <a:t>2025. 11. 26.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0D5486-29E6-DBDE-079B-8892C38D5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048185-F921-BB9E-6FCE-383232E57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17842-03F3-9947-8042-E3FD9E72367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328800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">
  <p:cSld name="제목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0" y="1223120"/>
            <a:ext cx="12192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-2" y="3794871"/>
            <a:ext cx="12192001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 l="40230" t="65597" b="9375"/>
          <a:stretch/>
        </p:blipFill>
        <p:spPr>
          <a:xfrm>
            <a:off x="0" y="6646331"/>
            <a:ext cx="1809148" cy="160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3">
            <a:alphaModFix/>
          </a:blip>
          <a:srcRect t="62459" b="12513"/>
          <a:stretch/>
        </p:blipFill>
        <p:spPr>
          <a:xfrm>
            <a:off x="10880202" y="6675969"/>
            <a:ext cx="1311798" cy="1608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151566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>
  <p:cSld name="1_제목 및 내용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411920" y="207747"/>
            <a:ext cx="11368160" cy="762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/>
          <p:nvPr/>
        </p:nvSpPr>
        <p:spPr>
          <a:xfrm>
            <a:off x="411920" y="207747"/>
            <a:ext cx="11368160" cy="762163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1"/>
          </p:nvPr>
        </p:nvSpPr>
        <p:spPr>
          <a:xfrm>
            <a:off x="411163" y="1152525"/>
            <a:ext cx="11369675" cy="560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A671B26A-2EA1-4BBF-A3FF-D6288133AA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852B28-D290-2A4B-A90A-47EAEF72A8E4}" type="slidenum">
              <a:rPr kumimoji="1" lang="ko-Kore-KR" altLang="en-US" smtClean="0"/>
              <a:t>‹#›</a:t>
            </a:fld>
            <a:endParaRPr kumimoji="1" lang="ko-Kore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E4D8740-5D4B-B7B4-0E2B-5FEBF4C2F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7EC9D20-303E-E270-3CDA-CD61CE902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8223872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11920" y="207747"/>
            <a:ext cx="11368160" cy="7621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0" name="모서리가 둥근 직사각형 19"/>
          <p:cNvSpPr/>
          <p:nvPr userDrawn="1"/>
        </p:nvSpPr>
        <p:spPr>
          <a:xfrm>
            <a:off x="411920" y="207747"/>
            <a:ext cx="11368160" cy="762163"/>
          </a:xfrm>
          <a:prstGeom prst="roundRect">
            <a:avLst/>
          </a:prstGeom>
          <a:noFill/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0"/>
          </p:nvPr>
        </p:nvSpPr>
        <p:spPr>
          <a:xfrm>
            <a:off x="411163" y="1152525"/>
            <a:ext cx="11369675" cy="505777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5">
            <a:extLst>
              <a:ext uri="{FF2B5EF4-FFF2-40B4-BE49-F238E27FC236}">
                <a16:creationId xmlns:a16="http://schemas.microsoft.com/office/drawing/2014/main" id="{49EF0D51-C8D9-B097-CBF4-D0A1C6D43FB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A935F152-E3EB-585D-F6A5-928F652F7C7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3AACA24-50E2-2E84-03A7-6F117C5B6A8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00AB9D3-EAF0-7A44-B522-0A500B1E98A1}" type="slidenum">
              <a:rPr kumimoji="1" lang="ko-Kore-KR" altLang="en-US" smtClean="0"/>
              <a:t>‹#›</a:t>
            </a:fld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8613300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및 내용">
  <p:cSld name="2_제목 및 내용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>
            <a:spLocks noGrp="1"/>
          </p:cNvSpPr>
          <p:nvPr>
            <p:ph type="title"/>
          </p:nvPr>
        </p:nvSpPr>
        <p:spPr>
          <a:xfrm>
            <a:off x="411920" y="207747"/>
            <a:ext cx="11368160" cy="762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11920" y="207747"/>
            <a:ext cx="11368160" cy="762163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2E75B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"/>
          <p:cNvSpPr txBox="1">
            <a:spLocks noGrp="1"/>
          </p:cNvSpPr>
          <p:nvPr>
            <p:ph type="body" idx="1"/>
          </p:nvPr>
        </p:nvSpPr>
        <p:spPr>
          <a:xfrm>
            <a:off x="411163" y="1152525"/>
            <a:ext cx="11369675" cy="5057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EBE68EB-B94C-2CA0-0048-751A8B924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E3362F-5050-7057-38EC-5AFCC3C36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843C30-E512-869F-BA98-3E88D3636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AB9D3-EAF0-7A44-B522-0A500B1E98A1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51576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99880BB-F218-6B69-E454-05AEFD43B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D2A0E6-B194-7E13-BD23-8BBFFE503D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B8E726-0AD0-8236-2173-959AD4B494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1AB9C8-5071-FD42-8E0A-71378E7EB551}" type="datetimeFigureOut">
              <a:rPr kumimoji="1" lang="ko-KR" altLang="en-US" smtClean="0"/>
              <a:t>2025. 11. 26.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9BF4DC-7E4D-18FD-C7E7-BEA3DB4471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26CA55D-83D3-D0BA-9613-2E1A533964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F17842-03F3-9947-8042-E3FD9E72367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60237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0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8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7.pn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8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9.png"/><Relationship Id="rId5" Type="http://schemas.openxmlformats.org/officeDocument/2006/relationships/image" Target="../media/image50.png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5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>
            <a:spLocks noGrp="1"/>
          </p:cNvSpPr>
          <p:nvPr>
            <p:ph type="ctrTitle"/>
          </p:nvPr>
        </p:nvSpPr>
        <p:spPr>
          <a:xfrm>
            <a:off x="0" y="1762463"/>
            <a:ext cx="12192000" cy="2339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kumimoji="1" lang="ko-KR" altLang="en-US" sz="3800" dirty="0">
                <a:solidFill>
                  <a:schemeClr val="tx2">
                    <a:lumMod val="75000"/>
                    <a:lumOff val="25000"/>
                  </a:schemeClr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코드기반암호에 대한 양자 공격 비용 분석</a:t>
            </a:r>
            <a:endParaRPr sz="3800" dirty="0">
              <a:solidFill>
                <a:schemeClr val="tx2">
                  <a:lumMod val="75000"/>
                  <a:lumOff val="25000"/>
                </a:schemeClr>
              </a:solidFill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sp>
        <p:nvSpPr>
          <p:cNvPr id="129" name="Google Shape;129;p22"/>
          <p:cNvSpPr txBox="1">
            <a:spLocks noGrp="1"/>
          </p:cNvSpPr>
          <p:nvPr>
            <p:ph type="subTitle" idx="1"/>
          </p:nvPr>
        </p:nvSpPr>
        <p:spPr>
          <a:xfrm>
            <a:off x="-2" y="3543804"/>
            <a:ext cx="12192001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ko-KR" altLang="en-US" sz="25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장경배</a:t>
            </a:r>
            <a:r>
              <a:rPr lang="en-US" altLang="ko-KR" sz="25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,</a:t>
            </a:r>
            <a:r>
              <a:rPr lang="ko-KR" altLang="en-US" sz="25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lang="ko-KR" altLang="en-US" sz="25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서화정</a:t>
            </a:r>
            <a:endParaRPr lang="en-US" altLang="ko-KR" sz="25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marL="0" lvl="0" indent="0">
              <a:spcBef>
                <a:spcPts val="0"/>
              </a:spcBef>
            </a:pPr>
            <a:endParaRPr lang="en-US" altLang="ko-KR" sz="25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marL="0" lvl="0" indent="0">
              <a:spcBef>
                <a:spcPts val="0"/>
              </a:spcBef>
            </a:pPr>
            <a:r>
              <a:rPr lang="ko-KR" altLang="en-US" sz="25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한성대학교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845D2B-E789-48F2-D27B-9AFE3181D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NIST PQC </a:t>
            </a:r>
            <a:r>
              <a:rPr kumimoji="1" lang="ko-KR" altLang="en-US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공모전 </a:t>
            </a:r>
            <a:r>
              <a:rPr kumimoji="1" lang="en-US" altLang="ko-KR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Round 4</a:t>
            </a:r>
            <a:endParaRPr kumimoji="1" lang="ko-KR" altLang="en-US" sz="3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E7CF155-AE9F-0A75-4795-97DE9507EB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17239"/>
            <a:ext cx="12192000" cy="3967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492E18-C33A-A68F-8BA8-1EBD89FEE6CF}"/>
              </a:ext>
            </a:extLst>
          </p:cNvPr>
          <p:cNvSpPr txBox="1"/>
          <p:nvPr/>
        </p:nvSpPr>
        <p:spPr>
          <a:xfrm>
            <a:off x="189735" y="1332299"/>
            <a:ext cx="11139588" cy="11849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Round 4: </a:t>
            </a:r>
            <a:r>
              <a:rPr kumimoji="1" lang="en-US" altLang="ko-KR" sz="2200" strike="sngStrike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SIKE</a:t>
            </a:r>
            <a:r>
              <a:rPr kumimoji="1" lang="ko-KR" altLang="en-US" sz="22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를</a:t>
            </a:r>
            <a:r>
              <a:rPr kumimoji="1"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제외한 코드기반암호 </a:t>
            </a:r>
            <a:r>
              <a:rPr kumimoji="1"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3</a:t>
            </a: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종 후보</a:t>
            </a:r>
            <a:r>
              <a:rPr kumimoji="1"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Classic McEliece, BIKE,</a:t>
            </a: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kumimoji="1"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HQC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kumimoji="1" lang="en-US" altLang="ko-KR" sz="500" b="1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en-US" altLang="ko-KR" sz="2200" b="1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2025</a:t>
            </a:r>
            <a:r>
              <a:rPr kumimoji="1" lang="ko-KR" altLang="en-US" sz="2200" b="1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년 </a:t>
            </a:r>
            <a:r>
              <a:rPr kumimoji="1" lang="en-US" altLang="ko-KR" sz="2200" b="1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3</a:t>
            </a:r>
            <a:r>
              <a:rPr kumimoji="1" lang="ko-KR" altLang="en-US" sz="2200" b="1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월</a:t>
            </a:r>
            <a:r>
              <a:rPr kumimoji="1" lang="en-US" altLang="ko-KR" sz="2200" b="1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:</a:t>
            </a:r>
            <a:r>
              <a:rPr kumimoji="1" lang="ko-KR" altLang="en-US" sz="2200" b="1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kumimoji="1" lang="en-US" altLang="ko-KR" sz="2200" b="1" dirty="0"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HQC</a:t>
            </a:r>
            <a:r>
              <a:rPr kumimoji="1" lang="ko-KR" altLang="en-US" sz="2200" b="1" dirty="0"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가 최종 알고리즘</a:t>
            </a: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으로 선정</a:t>
            </a:r>
            <a:endParaRPr kumimoji="1" lang="en-US" altLang="ko-KR" sz="2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Kyber</a:t>
            </a:r>
            <a:r>
              <a:rPr kumimoji="1" lang="ko-KR" altLang="en-US" sz="22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를</a:t>
            </a: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대체하는 것이 아닌 보완적 솔루션으로 활용 예정</a:t>
            </a:r>
            <a:endParaRPr kumimoji="1" lang="en-US" altLang="ko-KR" sz="2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483BCDB9-9D45-8735-776B-68251ABEA264}"/>
              </a:ext>
            </a:extLst>
          </p:cNvPr>
          <p:cNvSpPr/>
          <p:nvPr/>
        </p:nvSpPr>
        <p:spPr>
          <a:xfrm>
            <a:off x="10184524" y="4503188"/>
            <a:ext cx="1513490" cy="1063648"/>
          </a:xfrm>
          <a:prstGeom prst="roundRect">
            <a:avLst/>
          </a:prstGeom>
          <a:noFill/>
          <a:ln w="57150">
            <a:solidFill>
              <a:srgbClr val="C0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" name="슬라이드 번호 개체 틀 10">
            <a:extLst>
              <a:ext uri="{FF2B5EF4-FFF2-40B4-BE49-F238E27FC236}">
                <a16:creationId xmlns:a16="http://schemas.microsoft.com/office/drawing/2014/main" id="{02A31627-E31F-710B-E309-459B19DD0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8852B28-D290-2A4B-A90A-47EAEF72A8E4}" type="slidenum">
              <a:rPr kumimoji="1" lang="ko-Kore-KR" altLang="en-US" smtClean="0"/>
              <a:t>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69088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CE3FA-967F-DAC1-C26D-4108F11A6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BC3D51-4FC3-0D53-2B91-E954348A8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HQC</a:t>
            </a:r>
            <a:r>
              <a:rPr kumimoji="1" lang="ko-KR" altLang="en-US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가 선정된 이유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1ABE86-7A07-96D6-5FE2-42573AB4B9C3}"/>
              </a:ext>
            </a:extLst>
          </p:cNvPr>
          <p:cNvSpPr txBox="1"/>
          <p:nvPr/>
        </p:nvSpPr>
        <p:spPr>
          <a:xfrm>
            <a:off x="-115065" y="1272502"/>
            <a:ext cx="12086963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IND-CCA2</a:t>
            </a: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보안을 달성하기 위해선 </a:t>
            </a:r>
            <a:r>
              <a:rPr kumimoji="1" lang="ko-KR" altLang="en-US" sz="2200" b="1" dirty="0"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충분히 낮은 복호화 실패율 </a:t>
            </a:r>
            <a:r>
              <a:rPr kumimoji="1" lang="en-US" altLang="ko-KR" sz="2200" b="1" dirty="0"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(DFR)</a:t>
            </a: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을 </a:t>
            </a:r>
            <a:r>
              <a:rPr kumimoji="1" lang="ko-KR" altLang="en-US" sz="22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보장해야함</a:t>
            </a:r>
            <a:endParaRPr kumimoji="1" lang="en-US" altLang="ko-KR" sz="2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kumimoji="1"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HQC</a:t>
            </a: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가 이 측면에서 </a:t>
            </a:r>
            <a:r>
              <a:rPr kumimoji="1"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BIKE</a:t>
            </a: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보다 더 우수하며</a:t>
            </a:r>
            <a:r>
              <a:rPr kumimoji="1"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,</a:t>
            </a: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kumimoji="1"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BIKE</a:t>
            </a: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의 </a:t>
            </a:r>
            <a:r>
              <a:rPr kumimoji="1"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DFR </a:t>
            </a: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분석은 여전히 미해결 문제</a:t>
            </a:r>
            <a:endParaRPr kumimoji="1" lang="en-US" altLang="ko-KR" sz="2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kumimoji="1" lang="en-US" altLang="ko-KR" sz="2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kumimoji="1"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Classic McEliece</a:t>
            </a: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는</a:t>
            </a:r>
            <a:r>
              <a:rPr kumimoji="1"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키 크기로 인한 </a:t>
            </a:r>
            <a:r>
              <a:rPr kumimoji="1" lang="ko-KR" altLang="en-US" sz="2200" b="1" dirty="0"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실제 배포의 실용성 문제</a:t>
            </a: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가 존재</a:t>
            </a:r>
            <a:endParaRPr kumimoji="1" lang="en-US" altLang="ko-KR" sz="2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하지만 </a:t>
            </a:r>
            <a:r>
              <a:rPr kumimoji="1"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ISO</a:t>
            </a: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표준화 검토 중</a:t>
            </a:r>
            <a:endParaRPr kumimoji="1" lang="en-US" altLang="ko-KR" sz="2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이중 표준화의 호환성 문제가 존재</a:t>
            </a:r>
            <a:r>
              <a:rPr kumimoji="1"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,</a:t>
            </a: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따라서 </a:t>
            </a:r>
            <a:r>
              <a:rPr kumimoji="1"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ISO</a:t>
            </a: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표준화가 된다면 </a:t>
            </a:r>
            <a:r>
              <a:rPr kumimoji="1"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NIST</a:t>
            </a: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는</a:t>
            </a:r>
            <a:r>
              <a:rPr kumimoji="1"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채택을 고려 중</a:t>
            </a:r>
          </a:p>
        </p:txBody>
      </p:sp>
      <p:sp>
        <p:nvSpPr>
          <p:cNvPr id="3" name="슬라이드 번호 개체 틀 10">
            <a:extLst>
              <a:ext uri="{FF2B5EF4-FFF2-40B4-BE49-F238E27FC236}">
                <a16:creationId xmlns:a16="http://schemas.microsoft.com/office/drawing/2014/main" id="{6BAEA8F4-5860-4FAC-8277-0227012048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8852B28-D290-2A4B-A90A-47EAEF72A8E4}" type="slidenum">
              <a:rPr kumimoji="1" lang="ko-Kore-KR" altLang="en-US" smtClean="0"/>
              <a:t>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58432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E1E6D2-93D2-40FF-185A-F15319CCA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ko-KR" altLang="en-US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코드기반암호 안전성</a:t>
            </a:r>
            <a:r>
              <a:rPr kumimoji="1" lang="en-US" altLang="ko-KR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:</a:t>
            </a:r>
            <a:r>
              <a:rPr kumimoji="1" lang="ko-KR" altLang="en-US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신드롬 디코딩 문제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92EDECB7-06C9-EDE7-DA37-DBD5145692C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07138" y="1205935"/>
                <a:ext cx="12084862" cy="5603875"/>
              </a:xfrm>
            </p:spPr>
            <p:txBody>
              <a:bodyPr/>
              <a:lstStyle/>
              <a:p>
                <a:r>
                  <a:rPr lang="ko-KR" altLang="en-US" sz="2200" b="1" dirty="0">
                    <a:latin typeface="Gmarket Sans TTF Bold" panose="02000000000000000000" pitchFamily="2" charset="-128"/>
                    <a:ea typeface="Gmarket Sans TTF Bold" panose="02000000000000000000" pitchFamily="2" charset="-128"/>
                  </a:rPr>
                  <a:t>안전성 가정</a:t>
                </a:r>
                <a:r>
                  <a:rPr lang="en-US" altLang="ko-KR" sz="2200" b="1" dirty="0">
                    <a:latin typeface="Gmarket Sans TTF Bold" panose="02000000000000000000" pitchFamily="2" charset="-128"/>
                    <a:ea typeface="Gmarket Sans TTF Bold" panose="02000000000000000000" pitchFamily="2" charset="-128"/>
                  </a:rPr>
                  <a:t>:</a:t>
                </a:r>
                <a:r>
                  <a:rPr lang="ko-KR" altLang="en-US" sz="2200" b="1" dirty="0">
                    <a:latin typeface="Gmarket Sans TTF Bold" panose="02000000000000000000" pitchFamily="2" charset="-128"/>
                    <a:ea typeface="Gmarket Sans TTF Bold" panose="02000000000000000000" pitchFamily="2" charset="-128"/>
                  </a:rPr>
                  <a:t>  </a:t>
                </a:r>
                <a:r>
                  <a:rPr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패리티 체크 행렬과 신드롬 벡터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ko-Kore-KR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ko-Kore-KR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kumimoji="1" lang="en-US" altLang="ko-Kore-KR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kumimoji="1" lang="en-US" altLang="ko-Kore-KR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kumimoji="1" lang="ko-KR" altLang="en-US" sz="2200" dirty="0">
                    <a:solidFill>
                      <a:schemeClr val="tx1"/>
                    </a:solidFill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가 주어졌을 때</a:t>
                </a:r>
                <a:r>
                  <a:rPr kumimoji="1"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?</a:t>
                </a:r>
                <a:endParaRPr kumimoji="1" lang="en-US" altLang="ko-KR" sz="2200" dirty="0">
                  <a:solidFill>
                    <a:schemeClr val="tx1"/>
                  </a:solidFill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ko-Kore-KR" sz="21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𝐻</m:t>
                    </m:r>
                    <m:sSup>
                      <m:sSupPr>
                        <m:ctrlPr>
                          <a:rPr kumimoji="1" lang="en-US" altLang="ko-Kore-KR" sz="21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ore-KR" sz="21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kumimoji="1" lang="en-US" altLang="ko-Kore-KR" sz="2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kumimoji="1" lang="en-US" altLang="ko-KR" sz="21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ko-KR" sz="2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2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kumimoji="1" lang="en-US" altLang="ko-KR" sz="21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kumimoji="1" lang="ko-Kore-KR" altLang="en-US" sz="2100" dirty="0"/>
                  <a:t> </a:t>
                </a:r>
                <a:r>
                  <a:rPr kumimoji="1" lang="ko-Kore-KR" altLang="en-US" sz="21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라는 신드롬 계산 식</a:t>
                </a:r>
                <a:r>
                  <a:rPr kumimoji="1" lang="ko-KR" altLang="en-US" sz="21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에서</a:t>
                </a:r>
                <a:r>
                  <a:rPr kumimoji="1" lang="en-US" altLang="ko-Kore-KR" sz="21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</a:t>
                </a:r>
                <a:r>
                  <a:rPr kumimoji="1" lang="ko-KR" altLang="en-US" sz="2100" dirty="0">
                    <a:solidFill>
                      <a:schemeClr val="tx1"/>
                    </a:solidFill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특정 </a:t>
                </a:r>
                <a:r>
                  <a:rPr kumimoji="1" lang="ko-KR" altLang="en-US" sz="2100" dirty="0" err="1">
                    <a:solidFill>
                      <a:schemeClr val="tx1"/>
                    </a:solidFill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해밍</a:t>
                </a:r>
                <a:r>
                  <a:rPr kumimoji="1" lang="ko-KR" altLang="en-US" sz="2100" dirty="0">
                    <a:solidFill>
                      <a:schemeClr val="tx1"/>
                    </a:solidFill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무게를 만족하는</a:t>
                </a:r>
                <a:r>
                  <a:rPr kumimoji="1" lang="en-US" altLang="ko-KR" sz="2100" dirty="0">
                    <a:solidFill>
                      <a:schemeClr val="tx1"/>
                    </a:solidFill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</a:t>
                </a:r>
                <a:r>
                  <a:rPr kumimoji="1" lang="ko-KR" altLang="en-US" sz="2100" dirty="0">
                    <a:solidFill>
                      <a:schemeClr val="tx1"/>
                    </a:solidFill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벡터</a:t>
                </a:r>
                <a:r>
                  <a:rPr kumimoji="1" lang="ko-KR" altLang="en-US" sz="21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ko-KR" sz="21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kumimoji="1" lang="ko-KR" altLang="en-US" sz="2100" dirty="0" err="1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를</a:t>
                </a:r>
                <a:r>
                  <a:rPr kumimoji="1" lang="ko-KR" altLang="en-US" sz="21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찾아내기</a:t>
                </a:r>
                <a:r>
                  <a:rPr kumimoji="1" lang="en-US" altLang="ko-KR" sz="21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</a:t>
                </a:r>
                <a:r>
                  <a:rPr kumimoji="1" lang="ko-KR" altLang="en-US" sz="21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매우 어려움</a:t>
                </a:r>
                <a:endParaRPr kumimoji="1" lang="ko-Kore-KR" altLang="en-US" sz="21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endParaRPr lang="ko-KR" altLang="en-US" sz="22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endParaRPr kumimoji="1" lang="ko-KR" altLang="en-US" dirty="0"/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92EDECB7-06C9-EDE7-DA37-DBD5145692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07138" y="1205935"/>
                <a:ext cx="12084862" cy="5603875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68A442C-0EBC-B0CA-56C2-9D36C0645FA7}"/>
                  </a:ext>
                </a:extLst>
              </p:cNvPr>
              <p:cNvSpPr txBox="1"/>
              <p:nvPr/>
            </p:nvSpPr>
            <p:spPr>
              <a:xfrm>
                <a:off x="5255603" y="3750131"/>
                <a:ext cx="446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itchFamily="2" charset="2"/>
                        </a:rPr>
                        <m:t>×</m:t>
                      </m:r>
                    </m:oMath>
                  </m:oMathPara>
                </a14:m>
                <a:endParaRPr lang="ko-Kore-KR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68A442C-0EBC-B0CA-56C2-9D36C0645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603" y="3750131"/>
                <a:ext cx="44605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양쪽 대괄호 6">
            <a:extLst>
              <a:ext uri="{FF2B5EF4-FFF2-40B4-BE49-F238E27FC236}">
                <a16:creationId xmlns:a16="http://schemas.microsoft.com/office/drawing/2014/main" id="{A85A1C8F-47E3-5BB0-E0E9-35A1CF5A70FD}"/>
              </a:ext>
            </a:extLst>
          </p:cNvPr>
          <p:cNvSpPr/>
          <p:nvPr/>
        </p:nvSpPr>
        <p:spPr>
          <a:xfrm>
            <a:off x="5808976" y="2682880"/>
            <a:ext cx="446050" cy="2310742"/>
          </a:xfrm>
          <a:prstGeom prst="bracketPair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DA09B6B-5896-8121-AA49-A57983DC7E19}"/>
                  </a:ext>
                </a:extLst>
              </p:cNvPr>
              <p:cNvSpPr txBox="1"/>
              <p:nvPr/>
            </p:nvSpPr>
            <p:spPr>
              <a:xfrm>
                <a:off x="2752406" y="3565746"/>
                <a:ext cx="6556916" cy="6309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35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ko-Kore-KR" altLang="en-US" sz="35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DA09B6B-5896-8121-AA49-A57983DC7E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2406" y="3565746"/>
                <a:ext cx="6556916" cy="63094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CF70063-02EF-C4CB-6A2B-D11F9D019B7C}"/>
                  </a:ext>
                </a:extLst>
              </p:cNvPr>
              <p:cNvSpPr txBox="1"/>
              <p:nvPr/>
            </p:nvSpPr>
            <p:spPr>
              <a:xfrm>
                <a:off x="6255026" y="3665163"/>
                <a:ext cx="495649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ore-KR" sz="25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ko-Kore-KR" altLang="en-US" sz="250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CF70063-02EF-C4CB-6A2B-D11F9D019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5026" y="3665163"/>
                <a:ext cx="495649" cy="4770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양쪽 대괄호 9">
            <a:extLst>
              <a:ext uri="{FF2B5EF4-FFF2-40B4-BE49-F238E27FC236}">
                <a16:creationId xmlns:a16="http://schemas.microsoft.com/office/drawing/2014/main" id="{0FF705D5-78FD-C86C-DCD9-70F7795C794B}"/>
              </a:ext>
            </a:extLst>
          </p:cNvPr>
          <p:cNvSpPr/>
          <p:nvPr/>
        </p:nvSpPr>
        <p:spPr>
          <a:xfrm>
            <a:off x="6890350" y="3747813"/>
            <a:ext cx="1800521" cy="311699"/>
          </a:xfrm>
          <a:prstGeom prst="bracketPair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54D1BCBC-E324-CF32-A2AD-EDCE5AD0068D}"/>
              </a:ext>
            </a:extLst>
          </p:cNvPr>
          <p:cNvSpPr/>
          <p:nvPr/>
        </p:nvSpPr>
        <p:spPr>
          <a:xfrm>
            <a:off x="2752406" y="2986873"/>
            <a:ext cx="2328531" cy="1783666"/>
          </a:xfrm>
          <a:prstGeom prst="roundRect">
            <a:avLst/>
          </a:prstGeom>
          <a:noFill/>
          <a:ln w="317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26D7C0-4737-9F8A-6E41-8047906A304D}"/>
              </a:ext>
            </a:extLst>
          </p:cNvPr>
          <p:cNvSpPr txBox="1"/>
          <p:nvPr/>
        </p:nvSpPr>
        <p:spPr>
          <a:xfrm>
            <a:off x="3022362" y="4911215"/>
            <a:ext cx="3458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패리티 체크 행렬</a:t>
            </a:r>
            <a:endParaRPr kumimoji="1" lang="ko-Kore-KR" altLang="en-US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B6C4F5-BF08-D660-E6DA-3651703308D5}"/>
              </a:ext>
            </a:extLst>
          </p:cNvPr>
          <p:cNvSpPr txBox="1"/>
          <p:nvPr/>
        </p:nvSpPr>
        <p:spPr>
          <a:xfrm>
            <a:off x="7561946" y="459246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ore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F679B6C-CB7B-8A60-DD9D-42113A094751}"/>
                  </a:ext>
                </a:extLst>
              </p:cNvPr>
              <p:cNvSpPr txBox="1"/>
              <p:nvPr/>
            </p:nvSpPr>
            <p:spPr>
              <a:xfrm>
                <a:off x="3575712" y="3588191"/>
                <a:ext cx="681918" cy="63094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R" sz="3500" i="1" dirty="0" smtClean="0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kumimoji="1" lang="ko-KR" altLang="en-US" sz="35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F679B6C-CB7B-8A60-DD9D-42113A0947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5712" y="3588191"/>
                <a:ext cx="681918" cy="63094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BD6986-DE51-1000-1DFF-951070AEF27D}"/>
                  </a:ext>
                </a:extLst>
              </p:cNvPr>
              <p:cNvSpPr txBox="1"/>
              <p:nvPr/>
            </p:nvSpPr>
            <p:spPr>
              <a:xfrm>
                <a:off x="6907975" y="3518223"/>
                <a:ext cx="1748396" cy="6309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en-US" sz="3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ko-Kore-KR" altLang="en-US" sz="35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1BD6986-DE51-1000-1DFF-951070AEF2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7975" y="3518223"/>
                <a:ext cx="1748396" cy="63094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9C54D933-5907-D987-6A61-65246BA22CDD}"/>
              </a:ext>
            </a:extLst>
          </p:cNvPr>
          <p:cNvSpPr txBox="1"/>
          <p:nvPr/>
        </p:nvSpPr>
        <p:spPr>
          <a:xfrm>
            <a:off x="7343592" y="422313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신드롬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1CCC51-9284-F9A8-0760-6105B0D7D277}"/>
              </a:ext>
            </a:extLst>
          </p:cNvPr>
          <p:cNvSpPr txBox="1"/>
          <p:nvPr/>
        </p:nvSpPr>
        <p:spPr>
          <a:xfrm>
            <a:off x="5572244" y="5203163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비밀 값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7D65BB-4033-193E-F5FC-D3C55D2F75E2}"/>
              </a:ext>
            </a:extLst>
          </p:cNvPr>
          <p:cNvSpPr txBox="1"/>
          <p:nvPr/>
        </p:nvSpPr>
        <p:spPr>
          <a:xfrm>
            <a:off x="5034554" y="5529569"/>
            <a:ext cx="2094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dirty="0"/>
              <a:t>(Weight check </a:t>
            </a:r>
            <a:r>
              <a:rPr kumimoji="1" lang="en-US" altLang="ko-Kore-KR" dirty="0">
                <a:sym typeface="Wingdings" pitchFamily="2" charset="2"/>
              </a:rPr>
              <a:t>=?</a:t>
            </a:r>
            <a:r>
              <a:rPr kumimoji="1" lang="en-US" altLang="ko-Kore-KR" dirty="0"/>
              <a:t>)</a:t>
            </a:r>
            <a:endParaRPr kumimoji="1" lang="ko-Kore-KR" altLang="en-US" dirty="0"/>
          </a:p>
        </p:txBody>
      </p:sp>
      <p:sp>
        <p:nvSpPr>
          <p:cNvPr id="4" name="슬라이드 번호 개체 틀 10">
            <a:extLst>
              <a:ext uri="{FF2B5EF4-FFF2-40B4-BE49-F238E27FC236}">
                <a16:creationId xmlns:a16="http://schemas.microsoft.com/office/drawing/2014/main" id="{73B54378-4609-CDE8-E87B-82F157B740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8852B28-D290-2A4B-A90A-47EAEF72A8E4}" type="slidenum">
              <a:rPr kumimoji="1" lang="ko-Kore-KR" altLang="en-US" smtClean="0"/>
              <a:t>4</a:t>
            </a:fld>
            <a:endParaRPr kumimoji="1" lang="ko-Kore-KR" altLang="en-US" dirty="0"/>
          </a:p>
        </p:txBody>
      </p:sp>
    </p:spTree>
    <p:extLst>
      <p:ext uri="{BB962C8B-B14F-4D97-AF65-F5344CB8AC3E}">
        <p14:creationId xmlns:p14="http://schemas.microsoft.com/office/powerpoint/2010/main" val="2427937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양쪽 중괄호 3">
            <a:extLst>
              <a:ext uri="{FF2B5EF4-FFF2-40B4-BE49-F238E27FC236}">
                <a16:creationId xmlns:a16="http://schemas.microsoft.com/office/drawing/2014/main" id="{A72426D3-48AF-8FC3-11EA-8228A476E3D2}"/>
              </a:ext>
            </a:extLst>
          </p:cNvPr>
          <p:cNvSpPr/>
          <p:nvPr/>
        </p:nvSpPr>
        <p:spPr>
          <a:xfrm rot="5400000">
            <a:off x="4879296" y="2293034"/>
            <a:ext cx="941710" cy="7152506"/>
          </a:xfrm>
          <a:prstGeom prst="bracePair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2A5D7A8-50A8-9C61-2C3A-6214F452641F}"/>
              </a:ext>
            </a:extLst>
          </p:cNvPr>
          <p:cNvSpPr/>
          <p:nvPr/>
        </p:nvSpPr>
        <p:spPr>
          <a:xfrm>
            <a:off x="1594149" y="5175372"/>
            <a:ext cx="7543627" cy="4575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b="1" dirty="0"/>
          </a:p>
        </p:txBody>
      </p:sp>
      <p:sp>
        <p:nvSpPr>
          <p:cNvPr id="213" name="Google Shape;213;p31"/>
          <p:cNvSpPr txBox="1">
            <a:spLocks noGrp="1"/>
          </p:cNvSpPr>
          <p:nvPr>
            <p:ph type="title"/>
          </p:nvPr>
        </p:nvSpPr>
        <p:spPr>
          <a:xfrm>
            <a:off x="411920" y="207747"/>
            <a:ext cx="11368200" cy="7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ko-KR" altLang="en-US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분석 알고리즘</a:t>
            </a:r>
            <a:r>
              <a:rPr lang="en-US" altLang="ko-KR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:</a:t>
            </a:r>
            <a:r>
              <a:rPr lang="ko-KR" altLang="en-US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lang="en-US" altLang="ko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Information Set Decoding (ISD)</a:t>
            </a:r>
            <a:endParaRPr sz="3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Google Shape;214;p31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81489" y="1190012"/>
                <a:ext cx="11369700" cy="12042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228600" indent="-266700">
                  <a:spcBef>
                    <a:spcPts val="0"/>
                  </a:spcBef>
                  <a:buSzPts val="2400"/>
                </a:pPr>
                <a:r>
                  <a:rPr lang="ko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ISD </a:t>
                </a:r>
                <a:r>
                  <a:rPr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알고리즘</a:t>
                </a:r>
                <a:r>
                  <a:rPr lang="ko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은 코드기반암호에 대한 </a:t>
                </a:r>
                <a:r>
                  <a:rPr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가장 강력한 공격 기법</a:t>
                </a:r>
                <a:endParaRPr lang="en-US" altLang="ko" sz="2200" dirty="0">
                  <a:solidFill>
                    <a:srgbClr val="2E75B5"/>
                  </a:solidFill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marL="685800" lvl="1" indent="-266700">
                  <a:spcBef>
                    <a:spcPts val="0"/>
                  </a:spcBef>
                  <a:buSzPts val="2400"/>
                </a:pPr>
                <a:endParaRPr lang="en-US" altLang="ko-KR" sz="5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marL="685800" lvl="1" indent="-266700">
                  <a:spcBef>
                    <a:spcPts val="0"/>
                  </a:spcBef>
                  <a:buSzPts val="2400"/>
                </a:pPr>
                <a:r>
                  <a:rPr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공개키 내</a:t>
                </a:r>
                <a:r>
                  <a:rPr lang="ko-Kore-KR" altLang="en-US" sz="220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</a:t>
                </a:r>
                <a:r>
                  <a:rPr lang="ko-KR" altLang="en-US" sz="220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행렬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ore-KR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ore-KR" sz="2200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ko-Kore-KR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ko-Kore-KR" sz="22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ko-Kore-KR" sz="22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ko-KR" altLang="en-US" sz="2200" dirty="0"/>
                  <a:t> </a:t>
                </a:r>
                <a:r>
                  <a:rPr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(Information set,</a:t>
                </a:r>
                <a:r>
                  <a:rPr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       </a:t>
                </a:r>
                <a:r>
                  <a:rPr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)</a:t>
                </a:r>
                <a:r>
                  <a:rPr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을 선택해가며 </a:t>
                </a:r>
                <a:r>
                  <a:rPr lang="ko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전수 조사</a:t>
                </a:r>
                <a:endParaRPr lang="en-US" altLang="ko" sz="22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</p:txBody>
          </p:sp>
        </mc:Choice>
        <mc:Fallback xmlns="">
          <p:sp>
            <p:nvSpPr>
              <p:cNvPr id="214" name="Google Shape;214;p31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81489" y="1190012"/>
                <a:ext cx="11369700" cy="1204293"/>
              </a:xfrm>
              <a:prstGeom prst="rect">
                <a:avLst/>
              </a:prstGeom>
              <a:blipFill>
                <a:blip r:embed="rId3"/>
                <a:stretch>
                  <a:fillRect l="-781" t="-93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8" name="Google Shape;218;p31"/>
          <p:cNvSpPr/>
          <p:nvPr/>
        </p:nvSpPr>
        <p:spPr>
          <a:xfrm>
            <a:off x="6097966" y="1540571"/>
            <a:ext cx="437291" cy="355694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chemeClr val="accent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D14EC88-DF2E-9059-AE0D-079F2DCA4660}"/>
                  </a:ext>
                </a:extLst>
              </p:cNvPr>
              <p:cNvSpPr txBox="1"/>
              <p:nvPr/>
            </p:nvSpPr>
            <p:spPr>
              <a:xfrm>
                <a:off x="0" y="1964049"/>
                <a:ext cx="12975770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219200" lvl="2" indent="-342900">
                  <a:buSzPts val="2400"/>
                  <a:buFont typeface="Arial" panose="020B0604020202020204" pitchFamily="34" charset="0"/>
                  <a:buChar char="•"/>
                </a:pPr>
                <a:r>
                  <a:rPr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Information set</a:t>
                </a:r>
                <a:r>
                  <a:rPr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의 </a:t>
                </a:r>
                <a:r>
                  <a:rPr lang="ko-KR" altLang="en-US" sz="2200" dirty="0" err="1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역행렬</a:t>
                </a:r>
                <a:r>
                  <a:rPr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200" b="0" i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×</m:t>
                    </m:r>
                  </m:oMath>
                </a14:m>
                <a:r>
                  <a:rPr lang="en-US" altLang="ko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</a:t>
                </a:r>
                <a:r>
                  <a:rPr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신드롬</a:t>
                </a:r>
                <a:r>
                  <a:rPr lang="en-US" altLang="ko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</a:t>
                </a:r>
                <a:r>
                  <a:rPr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(</a:t>
                </a:r>
                <a:r>
                  <a:rPr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암호문</a:t>
                </a:r>
                <a:r>
                  <a:rPr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,</a:t>
                </a:r>
                <a:r>
                  <a:rPr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" sz="22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" sz="22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의 결과 벡터가</a:t>
                </a:r>
                <a:r>
                  <a:rPr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</a:t>
                </a:r>
                <a:r>
                  <a:rPr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조건 </a:t>
                </a:r>
                <a:r>
                  <a:rPr lang="ko-KR" altLang="en-US" sz="2200" dirty="0" err="1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해밍</a:t>
                </a:r>
                <a:r>
                  <a:rPr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무게를 </a:t>
                </a:r>
                <a:endParaRPr lang="en-US" altLang="ko-KR" sz="22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marL="876300" lvl="2">
                  <a:buSzPts val="2400"/>
                </a:pPr>
                <a:r>
                  <a:rPr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   만족할 경우</a:t>
                </a:r>
                <a:r>
                  <a:rPr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, </a:t>
                </a:r>
                <a:r>
                  <a:rPr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비밀 값 복구 </a:t>
                </a:r>
                <a14:m>
                  <m:oMath xmlns:m="http://schemas.openxmlformats.org/officeDocument/2006/math">
                    <m:r>
                      <a:rPr lang="en-US" altLang="ko-KR" sz="22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22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ko-KR" sz="220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에 성공</a:t>
                </a:r>
                <a:endParaRPr lang="en-US" altLang="ko" sz="22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D14EC88-DF2E-9059-AE0D-079F2DCA46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964049"/>
                <a:ext cx="12975770" cy="769441"/>
              </a:xfrm>
              <a:prstGeom prst="rect">
                <a:avLst/>
              </a:prstGeom>
              <a:blipFill>
                <a:blip r:embed="rId4"/>
                <a:stretch>
                  <a:fillRect t="-9677" b="-145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BB42BAA-138A-4FA3-A93B-86DFA23DC2D6}"/>
                  </a:ext>
                </a:extLst>
              </p:cNvPr>
              <p:cNvSpPr txBox="1"/>
              <p:nvPr/>
            </p:nvSpPr>
            <p:spPr>
              <a:xfrm>
                <a:off x="8012706" y="3995178"/>
                <a:ext cx="446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itchFamily="2" charset="2"/>
                        </a:rPr>
                        <m:t>×</m:t>
                      </m:r>
                    </m:oMath>
                  </m:oMathPara>
                </a14:m>
                <a:endParaRPr lang="ko-Kore-KR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BB42BAA-138A-4FA3-A93B-86DFA23DC2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2706" y="3995178"/>
                <a:ext cx="44605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양쪽 대괄호 13">
            <a:extLst>
              <a:ext uri="{FF2B5EF4-FFF2-40B4-BE49-F238E27FC236}">
                <a16:creationId xmlns:a16="http://schemas.microsoft.com/office/drawing/2014/main" id="{80DE46D8-7F48-D0F0-75DE-485AE4A832EE}"/>
              </a:ext>
            </a:extLst>
          </p:cNvPr>
          <p:cNvSpPr/>
          <p:nvPr/>
        </p:nvSpPr>
        <p:spPr>
          <a:xfrm>
            <a:off x="8566079" y="2650857"/>
            <a:ext cx="446050" cy="3154028"/>
          </a:xfrm>
          <a:prstGeom prst="bracketPair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E6C7643-0AB4-757B-F609-414FDAE6EB7C}"/>
                  </a:ext>
                </a:extLst>
              </p:cNvPr>
              <p:cNvSpPr txBox="1"/>
              <p:nvPr/>
            </p:nvSpPr>
            <p:spPr>
              <a:xfrm>
                <a:off x="5509195" y="3977872"/>
                <a:ext cx="6556916" cy="477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ko-Kore-KR" altLang="en-US" sz="25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E6C7643-0AB4-757B-F609-414FDAE6E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9195" y="3977872"/>
                <a:ext cx="6556916" cy="4770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그룹 21">
            <a:extLst>
              <a:ext uri="{FF2B5EF4-FFF2-40B4-BE49-F238E27FC236}">
                <a16:creationId xmlns:a16="http://schemas.microsoft.com/office/drawing/2014/main" id="{08AD7646-E9D7-0159-D03E-2C0E1552F7B6}"/>
              </a:ext>
            </a:extLst>
          </p:cNvPr>
          <p:cNvGrpSpPr/>
          <p:nvPr/>
        </p:nvGrpSpPr>
        <p:grpSpPr>
          <a:xfrm>
            <a:off x="437320" y="3070907"/>
            <a:ext cx="4468839" cy="2539416"/>
            <a:chOff x="411920" y="2973567"/>
            <a:chExt cx="6433599" cy="3655889"/>
          </a:xfrm>
        </p:grpSpPr>
        <p:pic>
          <p:nvPicPr>
            <p:cNvPr id="216" name="Google Shape;216;p3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11920" y="2973567"/>
              <a:ext cx="6433599" cy="3083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456532CE-F823-CBAA-2679-30DFDA24DB89}"/>
                </a:ext>
              </a:extLst>
            </p:cNvPr>
            <p:cNvSpPr txBox="1"/>
            <p:nvPr/>
          </p:nvSpPr>
          <p:spPr>
            <a:xfrm>
              <a:off x="2982646" y="6097744"/>
              <a:ext cx="3588618" cy="5317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ore-KR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rPr>
                <a:t>Information set</a:t>
              </a:r>
              <a:endParaRPr kumimoji="1" lang="ko-Kore-KR" altLang="en-US">
                <a:latin typeface="Gmarket Sans TTF Medium" panose="02000000000000000000" pitchFamily="2" charset="-128"/>
                <a:ea typeface="Gmarket Sans TTF Medium" panose="02000000000000000000" pitchFamily="2" charset="-128"/>
              </a:endParaRPr>
            </a:p>
          </p:txBody>
        </p:sp>
        <p:sp>
          <p:nvSpPr>
            <p:cNvPr id="18" name="모서리가 둥근 직사각형 17">
              <a:extLst>
                <a:ext uri="{FF2B5EF4-FFF2-40B4-BE49-F238E27FC236}">
                  <a16:creationId xmlns:a16="http://schemas.microsoft.com/office/drawing/2014/main" id="{D90BBB5C-3AF3-DB4A-9D18-D1F02DFD1872}"/>
                </a:ext>
              </a:extLst>
            </p:cNvPr>
            <p:cNvSpPr/>
            <p:nvPr/>
          </p:nvSpPr>
          <p:spPr>
            <a:xfrm>
              <a:off x="3155795" y="3342276"/>
              <a:ext cx="2743997" cy="2567870"/>
            </a:xfrm>
            <a:prstGeom prst="roundRect">
              <a:avLst/>
            </a:prstGeom>
            <a:noFill/>
            <a:ln w="317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A7C3A82-1403-8B25-6625-5F5802A162B5}"/>
                  </a:ext>
                </a:extLst>
              </p:cNvPr>
              <p:cNvSpPr txBox="1"/>
              <p:nvPr/>
            </p:nvSpPr>
            <p:spPr>
              <a:xfrm>
                <a:off x="9012129" y="3910210"/>
                <a:ext cx="495649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ore-KR" sz="25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ko-Kore-KR" altLang="en-US" sz="250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A7C3A82-1403-8B25-6625-5F5802A16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2129" y="3910210"/>
                <a:ext cx="495649" cy="4770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양쪽 대괄호 20">
            <a:extLst>
              <a:ext uri="{FF2B5EF4-FFF2-40B4-BE49-F238E27FC236}">
                <a16:creationId xmlns:a16="http://schemas.microsoft.com/office/drawing/2014/main" id="{ED32A6F5-54D8-1C5C-376B-E62BD46136FD}"/>
              </a:ext>
            </a:extLst>
          </p:cNvPr>
          <p:cNvSpPr/>
          <p:nvPr/>
        </p:nvSpPr>
        <p:spPr>
          <a:xfrm>
            <a:off x="9657392" y="4002799"/>
            <a:ext cx="2335724" cy="311699"/>
          </a:xfrm>
          <a:prstGeom prst="bracketPair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575B91CC-CB7D-161A-FC99-0BF6CFA85F40}"/>
              </a:ext>
            </a:extLst>
          </p:cNvPr>
          <p:cNvSpPr/>
          <p:nvPr/>
        </p:nvSpPr>
        <p:spPr>
          <a:xfrm>
            <a:off x="5932034" y="3262064"/>
            <a:ext cx="1906006" cy="1783666"/>
          </a:xfrm>
          <a:prstGeom prst="roundRect">
            <a:avLst/>
          </a:prstGeom>
          <a:noFill/>
          <a:ln w="3175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15F8AF-0653-3454-381E-4ACEC25C3B58}"/>
              </a:ext>
            </a:extLst>
          </p:cNvPr>
          <p:cNvSpPr txBox="1"/>
          <p:nvPr/>
        </p:nvSpPr>
        <p:spPr>
          <a:xfrm>
            <a:off x="5585092" y="5217320"/>
            <a:ext cx="3458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Information set</a:t>
            </a:r>
            <a:r>
              <a:rPr kumimoji="1" lang="ko-KR" altLang="en-US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kumimoji="1" lang="ko-KR" altLang="en-US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역행렬</a:t>
            </a:r>
            <a:endParaRPr kumimoji="1" lang="ko-Kore-KR" altLang="en-US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1207E07-F413-CB8E-A432-330F4A98C714}"/>
                  </a:ext>
                </a:extLst>
              </p:cNvPr>
              <p:cNvSpPr txBox="1"/>
              <p:nvPr/>
            </p:nvSpPr>
            <p:spPr>
              <a:xfrm>
                <a:off x="7659838" y="3000047"/>
                <a:ext cx="5677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ore-KR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kumimoji="1" lang="ko-Kore-KR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1207E07-F413-CB8E-A432-330F4A98C7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9838" y="3000047"/>
                <a:ext cx="56778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2D92EEE3-8C97-49FC-240A-212F8B16A78B}"/>
              </a:ext>
            </a:extLst>
          </p:cNvPr>
          <p:cNvSpPr txBox="1"/>
          <p:nvPr/>
        </p:nvSpPr>
        <p:spPr>
          <a:xfrm>
            <a:off x="4515765" y="6353228"/>
            <a:ext cx="1710789" cy="43088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kumimoji="1" lang="en-US" altLang="ko-Kore-KR" sz="2200" dirty="0"/>
              <a:t>Brute-force </a:t>
            </a:r>
            <a:endParaRPr kumimoji="1" lang="ko-Kore-KR" altLang="en-US" sz="2200"/>
          </a:p>
        </p:txBody>
      </p:sp>
      <p:sp>
        <p:nvSpPr>
          <p:cNvPr id="40" name="위쪽 화살표[U] 39">
            <a:extLst>
              <a:ext uri="{FF2B5EF4-FFF2-40B4-BE49-F238E27FC236}">
                <a16:creationId xmlns:a16="http://schemas.microsoft.com/office/drawing/2014/main" id="{9934A621-BAD4-D383-6376-4F0D6AA26E11}"/>
              </a:ext>
            </a:extLst>
          </p:cNvPr>
          <p:cNvSpPr/>
          <p:nvPr/>
        </p:nvSpPr>
        <p:spPr>
          <a:xfrm rot="5400000">
            <a:off x="5237738" y="4039443"/>
            <a:ext cx="228014" cy="396634"/>
          </a:xfrm>
          <a:prstGeom prst="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174BF8-AFE4-7000-F8CF-8E2CDFD8A6D0}"/>
              </a:ext>
            </a:extLst>
          </p:cNvPr>
          <p:cNvSpPr txBox="1"/>
          <p:nvPr/>
        </p:nvSpPr>
        <p:spPr>
          <a:xfrm>
            <a:off x="10319049" y="48375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ore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F7C97A-25FB-28ED-EE1F-05F94B4E085D}"/>
              </a:ext>
            </a:extLst>
          </p:cNvPr>
          <p:cNvSpPr txBox="1"/>
          <p:nvPr/>
        </p:nvSpPr>
        <p:spPr>
          <a:xfrm>
            <a:off x="9719882" y="3986109"/>
            <a:ext cx="2612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Weight check</a:t>
            </a:r>
            <a:r>
              <a:rPr kumimoji="1" lang="ko-KR" altLang="en-US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kumimoji="1" lang="en-US" altLang="ko-KR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=?</a:t>
            </a:r>
            <a:endParaRPr kumimoji="1" lang="ko-Kore-KR" altLang="en-US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95E5C961-D60A-D4AD-E3CA-23B5AE3DAD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852B28-D290-2A4B-A90A-47EAEF72A8E4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724302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5D7CD-93F2-90D5-8C05-53FB31F48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F4B956-E9CA-10D5-3C56-AB76ABC29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Quantum Information Set Decoding (QISD)</a:t>
            </a:r>
            <a:endParaRPr kumimoji="1" lang="ko-KR" altLang="en-US" sz="3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982537-BD2B-EDE1-D883-CE73F8ACD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4514" y="1121028"/>
            <a:ext cx="11369675" cy="1097239"/>
          </a:xfrm>
        </p:spPr>
        <p:txBody>
          <a:bodyPr>
            <a:noAutofit/>
          </a:bodyPr>
          <a:lstStyle/>
          <a:p>
            <a:r>
              <a:rPr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ISD </a:t>
            </a:r>
            <a:r>
              <a:rPr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알고리즘의 양자 구현</a:t>
            </a:r>
            <a:endParaRPr lang="en-US" altLang="ko-KR" sz="2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lvl="1"/>
            <a:r>
              <a:rPr lang="en-US" altLang="ko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Grover </a:t>
            </a:r>
            <a:r>
              <a:rPr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알고리즘 </a:t>
            </a:r>
            <a:r>
              <a:rPr lang="en-US" altLang="ko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+</a:t>
            </a:r>
            <a:r>
              <a:rPr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기본 </a:t>
            </a:r>
            <a:r>
              <a:rPr lang="en-US" altLang="ko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ISD </a:t>
            </a:r>
            <a:r>
              <a:rPr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알고리즘</a:t>
            </a:r>
            <a:r>
              <a:rPr lang="en-US" altLang="ko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(Prange)</a:t>
            </a:r>
            <a:endParaRPr lang="en-US" altLang="ko-KR" sz="2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endParaRPr lang="en-US" altLang="ko-KR" sz="2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r>
              <a:rPr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다양한 개선된 </a:t>
            </a:r>
            <a:r>
              <a:rPr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ISD </a:t>
            </a:r>
            <a:r>
              <a:rPr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알고리즘들이 존재</a:t>
            </a:r>
            <a:endParaRPr lang="en-US" altLang="ko-KR" sz="2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lvl="1"/>
            <a:r>
              <a:rPr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기본 </a:t>
            </a:r>
            <a:r>
              <a:rPr lang="en-US" altLang="ko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ISD</a:t>
            </a:r>
            <a:r>
              <a:rPr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에서 검색 범위 및 </a:t>
            </a:r>
            <a:r>
              <a:rPr lang="ko-KR" altLang="en-US" sz="20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해밍</a:t>
            </a:r>
            <a:r>
              <a:rPr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무게 조건을 변형하는 방식</a:t>
            </a:r>
            <a:endParaRPr lang="en-US" altLang="ko-KR" sz="20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lvl="1"/>
            <a:endParaRPr lang="en-US" altLang="ko-KR" sz="2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r>
              <a:rPr lang="ko-KR" altLang="en-US" sz="2200" b="1" dirty="0"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최신 </a:t>
            </a:r>
            <a:r>
              <a:rPr lang="en-US" altLang="ko-KR" sz="2200" b="1" dirty="0"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ISD</a:t>
            </a:r>
            <a:r>
              <a:rPr lang="ko-KR" altLang="en-US" sz="2200" b="1" dirty="0"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의 양자화</a:t>
            </a:r>
            <a:r>
              <a:rPr lang="en-US" altLang="ko-KR" sz="2200" b="1" dirty="0"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?</a:t>
            </a:r>
          </a:p>
          <a:p>
            <a:pPr lvl="1"/>
            <a:r>
              <a:rPr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변형 버전들은 더 섬세한 조건 및 연산을 요구함</a:t>
            </a:r>
            <a:endParaRPr lang="en-US" altLang="ko-KR" sz="20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lvl="2"/>
            <a:r>
              <a:rPr lang="ko-KR" altLang="en-US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즉</a:t>
            </a:r>
            <a:r>
              <a:rPr lang="en-US" altLang="ko-KR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, </a:t>
            </a:r>
            <a:r>
              <a:rPr lang="ko-KR" altLang="en-US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검사의 반복 수를 줄일 순 있지만</a:t>
            </a:r>
            <a:r>
              <a:rPr lang="en-US" altLang="ko-KR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, </a:t>
            </a:r>
            <a:r>
              <a:rPr lang="ko-KR" altLang="en-US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검사 한 번에 대한 </a:t>
            </a:r>
            <a:r>
              <a:rPr lang="ko-KR" altLang="en-US" b="1" dirty="0"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양자 구현 비용이 높아짐</a:t>
            </a:r>
            <a:endParaRPr lang="en-US" altLang="ko-KR" b="1" dirty="0">
              <a:latin typeface="Gmarket Sans TTF Bold" panose="02000000000000000000" pitchFamily="2" charset="-128"/>
              <a:ea typeface="Gmarket Sans TTF Bold" panose="02000000000000000000" pitchFamily="2" charset="-128"/>
            </a:endParaRPr>
          </a:p>
          <a:p>
            <a:endParaRPr lang="en-US" altLang="ko-KR" sz="26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lvl="1"/>
            <a:endParaRPr kumimoji="1" lang="ko-KR" altLang="en-US" sz="2200" dirty="0"/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D18591FF-7D86-B392-03F7-2F30B135C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3151" y="4751955"/>
            <a:ext cx="7772400" cy="111328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21397AD3-92D8-6F69-5381-9CF5C603A7E6}"/>
              </a:ext>
            </a:extLst>
          </p:cNvPr>
          <p:cNvSpPr txBox="1"/>
          <p:nvPr/>
        </p:nvSpPr>
        <p:spPr>
          <a:xfrm>
            <a:off x="840105" y="5972231"/>
            <a:ext cx="106570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4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&lt; Bernstein, Daniel J. "Grover vs. McEliece”, International Workshop on Post-Quantum Cryptography, 2010. &gt;</a:t>
            </a:r>
            <a:endParaRPr kumimoji="1" lang="ko-KR" altLang="en-US" sz="14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B627917-8331-0AF7-6A70-27AAC8BE49E2}"/>
              </a:ext>
            </a:extLst>
          </p:cNvPr>
          <p:cNvSpPr txBox="1"/>
          <p:nvPr/>
        </p:nvSpPr>
        <p:spPr>
          <a:xfrm>
            <a:off x="6894574" y="1459582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*</a:t>
            </a:r>
            <a:endParaRPr kumimoji="1" lang="ko-KR" alt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E66EBA4-F3B7-25FC-59DA-5BA7D57D64EE}"/>
              </a:ext>
            </a:extLst>
          </p:cNvPr>
          <p:cNvSpPr txBox="1"/>
          <p:nvPr/>
        </p:nvSpPr>
        <p:spPr>
          <a:xfrm>
            <a:off x="0" y="6511753"/>
            <a:ext cx="80234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ko-KR" sz="1200" dirty="0"/>
              <a:t>[*] Eugene Prange. 1962. The use of information sets in decoding cyclic codes. IRE Trans. Inf. Theory 8, 5 (1962)</a:t>
            </a:r>
            <a:endParaRPr kumimoji="1" lang="ko-KR" altLang="en-US" sz="1200" dirty="0"/>
          </a:p>
        </p:txBody>
      </p:sp>
      <p:cxnSp>
        <p:nvCxnSpPr>
          <p:cNvPr id="49" name="직선 연결선[R] 48">
            <a:extLst>
              <a:ext uri="{FF2B5EF4-FFF2-40B4-BE49-F238E27FC236}">
                <a16:creationId xmlns:a16="http://schemas.microsoft.com/office/drawing/2014/main" id="{07CF5AEB-70C1-580B-A876-D14DE3A412C1}"/>
              </a:ext>
            </a:extLst>
          </p:cNvPr>
          <p:cNvCxnSpPr/>
          <p:nvPr/>
        </p:nvCxnSpPr>
        <p:spPr>
          <a:xfrm>
            <a:off x="5096933" y="5283195"/>
            <a:ext cx="3395134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[R] 49">
            <a:extLst>
              <a:ext uri="{FF2B5EF4-FFF2-40B4-BE49-F238E27FC236}">
                <a16:creationId xmlns:a16="http://schemas.microsoft.com/office/drawing/2014/main" id="{6F8CB87E-F83F-11E4-76EF-5CAF1F447A76}"/>
              </a:ext>
            </a:extLst>
          </p:cNvPr>
          <p:cNvCxnSpPr>
            <a:cxnSpLocks/>
          </p:cNvCxnSpPr>
          <p:nvPr/>
        </p:nvCxnSpPr>
        <p:spPr>
          <a:xfrm>
            <a:off x="5571067" y="5554128"/>
            <a:ext cx="4174066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[R] 51">
            <a:extLst>
              <a:ext uri="{FF2B5EF4-FFF2-40B4-BE49-F238E27FC236}">
                <a16:creationId xmlns:a16="http://schemas.microsoft.com/office/drawing/2014/main" id="{11D84B80-6E80-0530-7896-778EF7498DE4}"/>
              </a:ext>
            </a:extLst>
          </p:cNvPr>
          <p:cNvCxnSpPr>
            <a:cxnSpLocks/>
          </p:cNvCxnSpPr>
          <p:nvPr/>
        </p:nvCxnSpPr>
        <p:spPr>
          <a:xfrm>
            <a:off x="2070085" y="5814442"/>
            <a:ext cx="179071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10">
            <a:extLst>
              <a:ext uri="{FF2B5EF4-FFF2-40B4-BE49-F238E27FC236}">
                <a16:creationId xmlns:a16="http://schemas.microsoft.com/office/drawing/2014/main" id="{2030BE18-6DE9-CBC9-7930-019ADC69C5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8852B28-D290-2A4B-A90A-47EAEF72A8E4}" type="slidenum">
              <a:rPr kumimoji="1" lang="ko-Kore-KR" altLang="en-US" smtClean="0"/>
              <a:t>6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562396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185A6-66DE-6C64-5B65-1D842E56F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170EEE-762B-ACAC-F58C-D498DE899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Overview: </a:t>
            </a:r>
            <a:r>
              <a:rPr kumimoji="1" lang="ko-KR" altLang="en-US" sz="32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대칭키</a:t>
            </a:r>
            <a:r>
              <a:rPr kumimoji="1" lang="ko-KR" altLang="en-US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암호 </a:t>
            </a:r>
            <a:r>
              <a:rPr kumimoji="1" lang="en-US" altLang="ko-KR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vs </a:t>
            </a:r>
            <a:r>
              <a:rPr kumimoji="1" lang="ko-KR" altLang="en-US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코드기반 암호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AF8D71-54DB-113B-7496-229E892F05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4514" y="1241510"/>
            <a:ext cx="11369675" cy="1097239"/>
          </a:xfrm>
        </p:spPr>
        <p:txBody>
          <a:bodyPr>
            <a:noAutofit/>
          </a:bodyPr>
          <a:lstStyle/>
          <a:p>
            <a:r>
              <a:rPr lang="ko-KR" altLang="en-US" sz="22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대칭키</a:t>
            </a:r>
            <a:r>
              <a:rPr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암호와 코드기반암호에 대한 </a:t>
            </a:r>
            <a:r>
              <a:rPr lang="ko-KR" altLang="en-US" sz="2200" b="1" dirty="0"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양자 분석 비교</a:t>
            </a:r>
            <a:r>
              <a:rPr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(Grover </a:t>
            </a:r>
            <a:r>
              <a:rPr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알고리즘</a:t>
            </a:r>
            <a:r>
              <a:rPr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)</a:t>
            </a:r>
            <a:endParaRPr kumimoji="1" lang="ko-KR" altLang="en-US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B5E2606-4691-B6C4-5E20-301CDA353C79}"/>
                  </a:ext>
                </a:extLst>
              </p:cNvPr>
              <p:cNvSpPr txBox="1"/>
              <p:nvPr/>
            </p:nvSpPr>
            <p:spPr>
              <a:xfrm>
                <a:off x="6646333" y="2870784"/>
                <a:ext cx="4902201" cy="26396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endParaRPr lang="en-US" altLang="ko-KR" sz="18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algn="ctr"/>
                <a:r>
                  <a:rPr lang="ko-KR" altLang="en-US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패리티 체크 행렬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  <m:t>𝐻</m:t>
                        </m:r>
                      </m:e>
                      <m:sub>
                        <m:d>
                          <m:dPr>
                            <m:ctrlPr>
                              <a:rPr kumimoji="1"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dPr>
                          <m:e>
                            <m:r>
                              <a:rPr kumimoji="1"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itchFamily="2" charset="2"/>
                              </a:rPr>
                              <m:t>𝑛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itchFamily="2" charset="2"/>
                              </a:rPr>
                              <m:t>−</m:t>
                            </m:r>
                            <m:r>
                              <a:rPr kumimoji="1" lang="en-US" altLang="ko-K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itchFamily="2" charset="2"/>
                              </a:rPr>
                              <m:t>𝑘</m:t>
                            </m:r>
                          </m:e>
                        </m:d>
                        <m:r>
                          <a:rPr kumimoji="1"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 × </m:t>
                        </m:r>
                        <m:r>
                          <a:rPr kumimoji="1"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𝑛</m:t>
                        </m:r>
                      </m:sub>
                    </m:sSub>
                  </m:oMath>
                </a14:m>
                <a:endParaRPr lang="en-US" altLang="ko-KR" sz="1800" dirty="0">
                  <a:latin typeface="Gmarket Sans TTF Medium" panose="02000000000000000000" pitchFamily="2" charset="-128"/>
                  <a:ea typeface="Gmarket Sans TTF Medium" panose="02000000000000000000" pitchFamily="2" charset="-128"/>
                  <a:sym typeface="Wingdings" pitchFamily="2" charset="2"/>
                </a:endParaRPr>
              </a:p>
              <a:p>
                <a:pPr algn="ctr"/>
                <a:endParaRPr lang="en-US" altLang="ko-KR" sz="1800" dirty="0">
                  <a:latin typeface="Gmarket Sans TTF Medium" panose="02000000000000000000" pitchFamily="2" charset="-128"/>
                  <a:ea typeface="Gmarket Sans TTF Medium" panose="02000000000000000000" pitchFamily="2" charset="-128"/>
                  <a:sym typeface="Wingdings" pitchFamily="2" charset="2"/>
                </a:endParaRPr>
              </a:p>
              <a:p>
                <a:pPr algn="ctr"/>
                <a:endParaRPr lang="en-US" altLang="ko-KR" sz="1800" dirty="0">
                  <a:latin typeface="Gmarket Sans TTF Medium" panose="02000000000000000000" pitchFamily="2" charset="-128"/>
                  <a:ea typeface="Gmarket Sans TTF Medium" panose="02000000000000000000" pitchFamily="2" charset="-128"/>
                  <a:sym typeface="Wingdings" pitchFamily="2" charset="2"/>
                </a:endParaRPr>
              </a:p>
              <a:p>
                <a:pPr algn="ctr"/>
                <a:r>
                  <a:rPr lang="en-US" altLang="ko-KR" sz="18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Information set </a:t>
                </a:r>
                <a:r>
                  <a:rPr lang="ko-KR" altLang="en-US" sz="18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추출</a:t>
                </a:r>
                <a:r>
                  <a:rPr lang="en-US" altLang="ko-KR" sz="18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ore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ore-KR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ko-Kore-KR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ko-Kore-KR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ko-Kore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altLang="ko-KR" dirty="0">
                  <a:latin typeface="Gmarket Sans TTF Medium" panose="02000000000000000000" pitchFamily="2" charset="-128"/>
                  <a:ea typeface="Gmarket Sans TTF Medium" panose="02000000000000000000" pitchFamily="2" charset="-128"/>
                  <a:sym typeface="Wingdings" pitchFamily="2" charset="2"/>
                </a:endParaRPr>
              </a:p>
              <a:p>
                <a:pPr algn="ctr"/>
                <a:r>
                  <a:rPr lang="en-US" altLang="ko-KR" sz="18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Information</a:t>
                </a:r>
                <a:r>
                  <a:rPr lang="ko-KR" altLang="en-US" sz="18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 </a:t>
                </a:r>
                <a:r>
                  <a:rPr lang="en-US" altLang="ko-KR" sz="18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set</a:t>
                </a:r>
                <a:r>
                  <a:rPr lang="ko-KR" altLang="en-US" sz="18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 </a:t>
                </a:r>
                <a:r>
                  <a:rPr lang="ko-KR" altLang="en-US" sz="1800" dirty="0" err="1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역행렬</a:t>
                </a:r>
                <a:r>
                  <a:rPr lang="ko-KR" altLang="en-US" sz="18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 계산</a:t>
                </a:r>
                <a:r>
                  <a:rPr lang="en-US" altLang="ko-KR" sz="18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: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ko-Kore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kumimoji="1" lang="en-US" altLang="ko-Kore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ore-KR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kumimoji="1" lang="en-US" altLang="ko-Kore-K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ko-Kore-K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ko-Kore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  <m:sup>
                        <m:r>
                          <a:rPr kumimoji="1" lang="en-US" altLang="ko-Kore-K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kumimoji="1" lang="en-US" altLang="ko-Kore-KR" dirty="0">
                  <a:latin typeface="Gmarket Sans TTF Medium" panose="02000000000000000000" pitchFamily="2" charset="-128"/>
                </a:endParaRPr>
              </a:p>
              <a:p>
                <a:pPr algn="ctr"/>
                <a:endParaRPr kumimoji="1" lang="en-US" altLang="ko-Kore-KR" sz="1500" dirty="0"/>
              </a:p>
              <a:p>
                <a:pPr algn="ctr"/>
                <a:r>
                  <a:rPr kumimoji="1" lang="en-US" altLang="ko-Kore-KR" dirty="0"/>
                  <a:t>Weight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ko-Kore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ko-Kore-KR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kumimoji="1" lang="en-US" altLang="ko-Kore-KR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ore-KR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kumimoji="1" lang="en-US" altLang="ko-Kore-K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kumimoji="1" lang="en-US" altLang="ko-Kore-K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kumimoji="1" lang="en-US" altLang="ko-Kore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  <m:sup>
                            <m:r>
                              <a:rPr kumimoji="1" lang="en-US" altLang="ko-Kore-K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kumimoji="1" lang="en-US" altLang="ko-Kore-K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kumimoji="1" lang="en-US" altLang="ko-KR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kumimoji="1" lang="en-US" altLang="ko-KR" b="0" i="0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kumimoji="1" lang="en-US" altLang="ko-Kore-KR" dirty="0">
                  <a:latin typeface="Gmarket Sans TTF Medium" panose="02000000000000000000" pitchFamily="2" charset="-128"/>
                </a:endParaRPr>
              </a:p>
              <a:p>
                <a:pPr algn="ctr"/>
                <a:endParaRPr kumimoji="1" lang="en-US" altLang="ko-Kore-KR" dirty="0">
                  <a:latin typeface="Gmarket Sans TTF Medium" panose="02000000000000000000" pitchFamily="2" charset="-128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B5E2606-4691-B6C4-5E20-301CDA353C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6333" y="2870784"/>
                <a:ext cx="4902201" cy="26396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2ABA9707-76E0-C630-2044-59D9B7CF861E}"/>
              </a:ext>
            </a:extLst>
          </p:cNvPr>
          <p:cNvSpPr txBox="1"/>
          <p:nvPr/>
        </p:nvSpPr>
        <p:spPr>
          <a:xfrm>
            <a:off x="2201333" y="2237045"/>
            <a:ext cx="916093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 algn="ctr">
              <a:buNone/>
            </a:pPr>
            <a:r>
              <a:rPr lang="ko-KR" altLang="en-US" sz="22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대칭키</a:t>
            </a:r>
            <a:r>
              <a:rPr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암호 키 복구            </a:t>
            </a:r>
            <a:r>
              <a:rPr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vs             </a:t>
            </a:r>
            <a:r>
              <a:rPr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코드기반암호</a:t>
            </a:r>
            <a:r>
              <a:rPr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양자 </a:t>
            </a:r>
            <a:r>
              <a:rPr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ISD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59B9A22-A0AC-8863-6073-F42BC577B559}"/>
              </a:ext>
            </a:extLst>
          </p:cNvPr>
          <p:cNvSpPr txBox="1"/>
          <p:nvPr/>
        </p:nvSpPr>
        <p:spPr>
          <a:xfrm>
            <a:off x="827913" y="3124446"/>
            <a:ext cx="108555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Input </a:t>
            </a:r>
          </a:p>
          <a:p>
            <a:pPr algn="ctr"/>
            <a:endParaRPr kumimoji="1" lang="en-US" altLang="ko-KR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algn="ctr"/>
            <a:endParaRPr kumimoji="1" lang="en-US" altLang="ko-KR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algn="ctr"/>
            <a:endParaRPr kumimoji="1" lang="en-US" altLang="ko-KR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algn="ctr"/>
            <a:r>
              <a:rPr kumimoji="1" lang="en-US" altLang="ko-KR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Grover</a:t>
            </a:r>
          </a:p>
          <a:p>
            <a:pPr algn="ctr"/>
            <a:r>
              <a:rPr kumimoji="1" lang="en-US" altLang="ko-KR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Oracle</a:t>
            </a:r>
            <a:endParaRPr kumimoji="1" lang="ko-KR" altLang="en-US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cxnSp>
        <p:nvCxnSpPr>
          <p:cNvPr id="26" name="직선 연결선[R] 25">
            <a:extLst>
              <a:ext uri="{FF2B5EF4-FFF2-40B4-BE49-F238E27FC236}">
                <a16:creationId xmlns:a16="http://schemas.microsoft.com/office/drawing/2014/main" id="{50C2F872-2333-06A6-75CB-0127A9BDB359}"/>
              </a:ext>
            </a:extLst>
          </p:cNvPr>
          <p:cNvCxnSpPr/>
          <p:nvPr/>
        </p:nvCxnSpPr>
        <p:spPr>
          <a:xfrm>
            <a:off x="891945" y="2849385"/>
            <a:ext cx="102277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[R] 26">
            <a:extLst>
              <a:ext uri="{FF2B5EF4-FFF2-40B4-BE49-F238E27FC236}">
                <a16:creationId xmlns:a16="http://schemas.microsoft.com/office/drawing/2014/main" id="{B1D40315-DB39-825F-A75E-48F0FD8C850E}"/>
              </a:ext>
            </a:extLst>
          </p:cNvPr>
          <p:cNvCxnSpPr/>
          <p:nvPr/>
        </p:nvCxnSpPr>
        <p:spPr>
          <a:xfrm>
            <a:off x="908878" y="3729918"/>
            <a:ext cx="102277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[R] 27">
            <a:extLst>
              <a:ext uri="{FF2B5EF4-FFF2-40B4-BE49-F238E27FC236}">
                <a16:creationId xmlns:a16="http://schemas.microsoft.com/office/drawing/2014/main" id="{2FEC2020-ABC7-B02C-A065-9E394E62F61A}"/>
              </a:ext>
            </a:extLst>
          </p:cNvPr>
          <p:cNvCxnSpPr/>
          <p:nvPr/>
        </p:nvCxnSpPr>
        <p:spPr>
          <a:xfrm>
            <a:off x="908878" y="5304718"/>
            <a:ext cx="102277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[R] 28">
            <a:extLst>
              <a:ext uri="{FF2B5EF4-FFF2-40B4-BE49-F238E27FC236}">
                <a16:creationId xmlns:a16="http://schemas.microsoft.com/office/drawing/2014/main" id="{A5F840C2-5098-F206-5470-03155EE2767B}"/>
              </a:ext>
            </a:extLst>
          </p:cNvPr>
          <p:cNvCxnSpPr>
            <a:cxnSpLocks/>
          </p:cNvCxnSpPr>
          <p:nvPr/>
        </p:nvCxnSpPr>
        <p:spPr>
          <a:xfrm flipV="1">
            <a:off x="2128079" y="2054667"/>
            <a:ext cx="0" cy="42193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943CF7AD-CCEF-42C5-C08E-88A64DDFEB4C}"/>
              </a:ext>
            </a:extLst>
          </p:cNvPr>
          <p:cNvSpPr txBox="1"/>
          <p:nvPr/>
        </p:nvSpPr>
        <p:spPr>
          <a:xfrm>
            <a:off x="758793" y="5496203"/>
            <a:ext cx="13692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Diffusion </a:t>
            </a:r>
          </a:p>
          <a:p>
            <a:r>
              <a:rPr kumimoji="1" lang="en-US" altLang="ko-KR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Operator</a:t>
            </a:r>
            <a:endParaRPr kumimoji="1" lang="ko-KR" altLang="en-US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cxnSp>
        <p:nvCxnSpPr>
          <p:cNvPr id="39" name="직선 연결선[R] 38">
            <a:extLst>
              <a:ext uri="{FF2B5EF4-FFF2-40B4-BE49-F238E27FC236}">
                <a16:creationId xmlns:a16="http://schemas.microsoft.com/office/drawing/2014/main" id="{1A4ACD13-637F-0115-60B4-D2BC64BB4986}"/>
              </a:ext>
            </a:extLst>
          </p:cNvPr>
          <p:cNvCxnSpPr>
            <a:cxnSpLocks/>
          </p:cNvCxnSpPr>
          <p:nvPr/>
        </p:nvCxnSpPr>
        <p:spPr>
          <a:xfrm>
            <a:off x="836380" y="6282511"/>
            <a:ext cx="103086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8BD694C-6B56-67CF-CA41-5CEF0B1E073E}"/>
                  </a:ext>
                </a:extLst>
              </p:cNvPr>
              <p:cNvSpPr txBox="1"/>
              <p:nvPr/>
            </p:nvSpPr>
            <p:spPr>
              <a:xfrm>
                <a:off x="7652646" y="5503181"/>
                <a:ext cx="276133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Information set </a:t>
                </a:r>
                <a14:m>
                  <m:oMath xmlns:m="http://schemas.openxmlformats.org/officeDocument/2006/math">
                    <m:r>
                      <a:rPr kumimoji="1" lang="en-US" altLang="ko-Kore-KR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kumimoji="1" lang="en-US" altLang="ko-Kore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ore-KR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ko-Kore-KR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ko-Kore-KR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ko-Kore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kumimoji="1" lang="en-US" altLang="ko-Kore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kumimoji="1" lang="en-US" altLang="ko-KR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algn="ctr"/>
                <a:r>
                  <a:rPr kumimoji="1" lang="ko-KR" altLang="en-US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추출에 사용 된 벡터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8BD694C-6B56-67CF-CA41-5CEF0B1E07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2646" y="5503181"/>
                <a:ext cx="2761333" cy="646331"/>
              </a:xfrm>
              <a:prstGeom prst="rect">
                <a:avLst/>
              </a:prstGeom>
              <a:blipFill>
                <a:blip r:embed="rId4"/>
                <a:stretch>
                  <a:fillRect l="-1835" t="-1923" b="-153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자유형 11">
            <a:extLst>
              <a:ext uri="{FF2B5EF4-FFF2-40B4-BE49-F238E27FC236}">
                <a16:creationId xmlns:a16="http://schemas.microsoft.com/office/drawing/2014/main" id="{75E6DD7B-6E31-0D1E-DAEA-8A505E6D68E9}"/>
              </a:ext>
            </a:extLst>
          </p:cNvPr>
          <p:cNvSpPr/>
          <p:nvPr/>
        </p:nvSpPr>
        <p:spPr>
          <a:xfrm>
            <a:off x="7645399" y="4847647"/>
            <a:ext cx="152400" cy="169333"/>
          </a:xfrm>
          <a:custGeom>
            <a:avLst/>
            <a:gdLst>
              <a:gd name="connsiteX0" fmla="*/ 0 w 152400"/>
              <a:gd name="connsiteY0" fmla="*/ 84667 h 169333"/>
              <a:gd name="connsiteX1" fmla="*/ 25400 w 152400"/>
              <a:gd name="connsiteY1" fmla="*/ 127000 h 169333"/>
              <a:gd name="connsiteX2" fmla="*/ 42334 w 152400"/>
              <a:gd name="connsiteY2" fmla="*/ 143933 h 169333"/>
              <a:gd name="connsiteX3" fmla="*/ 59267 w 152400"/>
              <a:gd name="connsiteY3" fmla="*/ 169333 h 169333"/>
              <a:gd name="connsiteX4" fmla="*/ 84667 w 152400"/>
              <a:gd name="connsiteY4" fmla="*/ 143933 h 169333"/>
              <a:gd name="connsiteX5" fmla="*/ 101600 w 152400"/>
              <a:gd name="connsiteY5" fmla="*/ 93133 h 169333"/>
              <a:gd name="connsiteX6" fmla="*/ 110067 w 152400"/>
              <a:gd name="connsiteY6" fmla="*/ 67733 h 169333"/>
              <a:gd name="connsiteX7" fmla="*/ 143934 w 152400"/>
              <a:gd name="connsiteY7" fmla="*/ 25400 h 169333"/>
              <a:gd name="connsiteX8" fmla="*/ 152400 w 152400"/>
              <a:gd name="connsiteY8" fmla="*/ 0 h 169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2400" h="169333">
                <a:moveTo>
                  <a:pt x="0" y="84667"/>
                </a:moveTo>
                <a:cubicBezTo>
                  <a:pt x="8467" y="98778"/>
                  <a:pt x="15835" y="113609"/>
                  <a:pt x="25400" y="127000"/>
                </a:cubicBezTo>
                <a:cubicBezTo>
                  <a:pt x="30040" y="133496"/>
                  <a:pt x="37347" y="137700"/>
                  <a:pt x="42334" y="143933"/>
                </a:cubicBezTo>
                <a:cubicBezTo>
                  <a:pt x="48691" y="151879"/>
                  <a:pt x="53623" y="160866"/>
                  <a:pt x="59267" y="169333"/>
                </a:cubicBezTo>
                <a:cubicBezTo>
                  <a:pt x="67734" y="160866"/>
                  <a:pt x="78852" y="154400"/>
                  <a:pt x="84667" y="143933"/>
                </a:cubicBezTo>
                <a:cubicBezTo>
                  <a:pt x="93335" y="128330"/>
                  <a:pt x="95956" y="110066"/>
                  <a:pt x="101600" y="93133"/>
                </a:cubicBezTo>
                <a:cubicBezTo>
                  <a:pt x="104422" y="84666"/>
                  <a:pt x="105117" y="75159"/>
                  <a:pt x="110067" y="67733"/>
                </a:cubicBezTo>
                <a:cubicBezTo>
                  <a:pt x="131428" y="35691"/>
                  <a:pt x="119805" y="49528"/>
                  <a:pt x="143934" y="25400"/>
                </a:cubicBezTo>
                <a:lnTo>
                  <a:pt x="152400" y="0"/>
                </a:ln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7A16E3C-A580-C059-81B2-022A5AE54DAD}"/>
                  </a:ext>
                </a:extLst>
              </p:cNvPr>
              <p:cNvSpPr txBox="1"/>
              <p:nvPr/>
            </p:nvSpPr>
            <p:spPr>
              <a:xfrm>
                <a:off x="1059553" y="2900187"/>
                <a:ext cx="6790268" cy="22621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endParaRPr lang="en-US" altLang="ko-KR" sz="18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algn="ctr"/>
                <a:r>
                  <a:rPr lang="ko-KR" altLang="en-US" sz="18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알려진 </a:t>
                </a:r>
                <a:r>
                  <a:rPr lang="ko-KR" altLang="en-US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평문</a:t>
                </a:r>
                <a:r>
                  <a:rPr lang="en-US" altLang="ko-KR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Gmarket Sans TTF Medium" panose="02000000000000000000" pitchFamily="2" charset="-128"/>
                        <a:sym typeface="Wingdings" pitchFamily="2" charset="2"/>
                      </a:rPr>
                      <m:t>𝑃</m:t>
                    </m:r>
                  </m:oMath>
                </a14:m>
                <a:endParaRPr lang="en-US" altLang="ko-KR" b="0" dirty="0">
                  <a:latin typeface="Gmarket Sans TTF Medium" panose="02000000000000000000" pitchFamily="2" charset="-128"/>
                  <a:ea typeface="Gmarket Sans TTF Medium" panose="02000000000000000000" pitchFamily="2" charset="-128"/>
                  <a:sym typeface="Wingdings" pitchFamily="2" charset="2"/>
                </a:endParaRPr>
              </a:p>
              <a:p>
                <a:pPr algn="ctr"/>
                <a:endParaRPr lang="en-US" altLang="ko-KR" sz="1800" dirty="0">
                  <a:latin typeface="Gmarket Sans TTF Medium" panose="02000000000000000000" pitchFamily="2" charset="-128"/>
                  <a:ea typeface="Gmarket Sans TTF Medium" panose="02000000000000000000" pitchFamily="2" charset="-128"/>
                  <a:sym typeface="Wingdings" pitchFamily="2" charset="2"/>
                </a:endParaRPr>
              </a:p>
              <a:p>
                <a:pPr algn="ctr"/>
                <a:endParaRPr lang="en-US" altLang="ko-KR" sz="1800" dirty="0">
                  <a:latin typeface="Gmarket Sans TTF Medium" panose="02000000000000000000" pitchFamily="2" charset="-128"/>
                  <a:ea typeface="Gmarket Sans TTF Medium" panose="02000000000000000000" pitchFamily="2" charset="-128"/>
                  <a:sym typeface="Wingdings" pitchFamily="2" charset="2"/>
                </a:endParaRPr>
              </a:p>
              <a:p>
                <a:pPr algn="ctr"/>
                <a:r>
                  <a:rPr lang="ko-KR" altLang="en-US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암호화 알고리즘</a:t>
                </a:r>
                <a:r>
                  <a:rPr lang="en-US" altLang="ko-KR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  <m:t>𝐸𝑛𝑐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altLang="ko-KR" i="1" dirty="0" smtClean="0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  <m:t>𝑃</m:t>
                        </m:r>
                      </m:e>
                    </m:d>
                  </m:oMath>
                </a14:m>
                <a:endParaRPr lang="en-US" altLang="ko-KR" i="1" dirty="0">
                  <a:latin typeface="Cambria Math" panose="02040503050406030204" pitchFamily="18" charset="0"/>
                  <a:ea typeface="Gmarket Sans TTF Medium" panose="02000000000000000000" pitchFamily="2" charset="-128"/>
                  <a:sym typeface="Wingdings" pitchFamily="2" charset="2"/>
                </a:endParaRPr>
              </a:p>
              <a:p>
                <a:pPr algn="ctr"/>
                <a:r>
                  <a:rPr lang="en-US" altLang="ko-KR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(e.g., AES, ARIA)</a:t>
                </a:r>
              </a:p>
              <a:p>
                <a:pPr algn="ctr"/>
                <a:endParaRPr lang="en-US" altLang="ko-KR" sz="1500" i="1" dirty="0">
                  <a:latin typeface="Cambria Math" panose="02040503050406030204" pitchFamily="18" charset="0"/>
                  <a:ea typeface="Gmarket Sans TTF Medium" panose="02000000000000000000" pitchFamily="2" charset="-128"/>
                  <a:sym typeface="Wingdings" pitchFamily="2" charset="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dirty="0" smtClean="0">
                              <a:latin typeface="Cambria Math" panose="02040503050406030204" pitchFamily="18" charset="0"/>
                              <a:ea typeface="Gmarket Sans TTF Medium" panose="02000000000000000000" pitchFamily="2" charset="-128"/>
                              <a:sym typeface="Wingdings" pitchFamily="2" charset="2"/>
                            </a:rPr>
                          </m:ctrlPr>
                        </m:sSub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  <a:ea typeface="Gmarket Sans TTF Medium" panose="02000000000000000000" pitchFamily="2" charset="-128"/>
                              <a:sym typeface="Wingdings" pitchFamily="2" charset="2"/>
                            </a:rPr>
                            <m:t>𝐸𝑛𝑐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  <a:ea typeface="Gmarket Sans TTF Medium" panose="02000000000000000000" pitchFamily="2" charset="-128"/>
                              <a:sym typeface="Wingdings" pitchFamily="2" charset="2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altLang="ko-KR" i="1" dirty="0" smtClean="0">
                              <a:latin typeface="Cambria Math" panose="02040503050406030204" pitchFamily="18" charset="0"/>
                              <a:ea typeface="Gmarket Sans TTF Medium" panose="02000000000000000000" pitchFamily="2" charset="-128"/>
                              <a:sym typeface="Wingdings" pitchFamily="2" charset="2"/>
                            </a:rPr>
                          </m:ctrlPr>
                        </m:dPr>
                        <m:e>
                          <m:r>
                            <a:rPr lang="en-US" altLang="ko-KR" i="1" dirty="0" smtClean="0">
                              <a:latin typeface="Cambria Math" panose="02040503050406030204" pitchFamily="18" charset="0"/>
                              <a:ea typeface="Gmarket Sans TTF Medium" panose="02000000000000000000" pitchFamily="2" charset="-128"/>
                              <a:sym typeface="Wingdings" pitchFamily="2" charset="2"/>
                            </a:rPr>
                            <m:t>𝑃</m:t>
                          </m:r>
                        </m:e>
                      </m:d>
                      <m:r>
                        <a:rPr lang="en-US" altLang="ko-KR" b="0" i="1" dirty="0" smtClean="0">
                          <a:latin typeface="Cambria Math" panose="02040503050406030204" pitchFamily="18" charset="0"/>
                          <a:ea typeface="Gmarket Sans TTF Medium" panose="02000000000000000000" pitchFamily="2" charset="-128"/>
                          <a:sym typeface="Wingdings" pitchFamily="2" charset="2"/>
                        </a:rPr>
                        <m:t>=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  <a:ea typeface="Gmarket Sans TTF Medium" panose="02000000000000000000" pitchFamily="2" charset="-128"/>
                          <a:sym typeface="Wingdings" pitchFamily="2" charset="2"/>
                        </a:rPr>
                        <m:t>𝐶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  <a:ea typeface="Gmarket Sans TTF Medium" panose="02000000000000000000" pitchFamily="2" charset="-128"/>
                          <a:sym typeface="Wingdings" pitchFamily="2" charset="2"/>
                        </a:rPr>
                        <m:t>?</m:t>
                      </m:r>
                    </m:oMath>
                  </m:oMathPara>
                </a14:m>
                <a:endParaRPr lang="en-US" altLang="ko-KR" sz="1500" i="1" dirty="0">
                  <a:latin typeface="Cambria Math" panose="02040503050406030204" pitchFamily="18" charset="0"/>
                  <a:ea typeface="Gmarket Sans TTF Medium" panose="02000000000000000000" pitchFamily="2" charset="-128"/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7A16E3C-A580-C059-81B2-022A5AE54D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553" y="2900187"/>
                <a:ext cx="6790268" cy="2262158"/>
              </a:xfrm>
              <a:prstGeom prst="rect">
                <a:avLst/>
              </a:prstGeom>
              <a:blipFill>
                <a:blip r:embed="rId5"/>
                <a:stretch>
                  <a:fillRect b="-335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DB7FB9A-D52B-78DA-395D-A76830647323}"/>
                  </a:ext>
                </a:extLst>
              </p:cNvPr>
              <p:cNvSpPr txBox="1"/>
              <p:nvPr/>
            </p:nvSpPr>
            <p:spPr>
              <a:xfrm>
                <a:off x="3849906" y="5668570"/>
                <a:ext cx="10631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ko-KR" altLang="en-US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비밀키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b="0" i="0" dirty="0" smtClean="0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endParaRPr kumimoji="1" lang="ko-KR" altLang="en-US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9DB7FB9A-D52B-78DA-395D-A768306473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9906" y="5668570"/>
                <a:ext cx="1063112" cy="369332"/>
              </a:xfrm>
              <a:prstGeom prst="rect">
                <a:avLst/>
              </a:prstGeom>
              <a:blipFill>
                <a:blip r:embed="rId6"/>
                <a:stretch>
                  <a:fillRect l="-4762" t="-3333" b="-3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자유형 15">
            <a:extLst>
              <a:ext uri="{FF2B5EF4-FFF2-40B4-BE49-F238E27FC236}">
                <a16:creationId xmlns:a16="http://schemas.microsoft.com/office/drawing/2014/main" id="{5457DD6F-4869-5AD5-64F3-A30F2A1540BF}"/>
              </a:ext>
            </a:extLst>
          </p:cNvPr>
          <p:cNvSpPr/>
          <p:nvPr/>
        </p:nvSpPr>
        <p:spPr>
          <a:xfrm>
            <a:off x="3486541" y="4856503"/>
            <a:ext cx="152400" cy="169333"/>
          </a:xfrm>
          <a:custGeom>
            <a:avLst/>
            <a:gdLst>
              <a:gd name="connsiteX0" fmla="*/ 0 w 152400"/>
              <a:gd name="connsiteY0" fmla="*/ 84667 h 169333"/>
              <a:gd name="connsiteX1" fmla="*/ 25400 w 152400"/>
              <a:gd name="connsiteY1" fmla="*/ 127000 h 169333"/>
              <a:gd name="connsiteX2" fmla="*/ 42334 w 152400"/>
              <a:gd name="connsiteY2" fmla="*/ 143933 h 169333"/>
              <a:gd name="connsiteX3" fmla="*/ 59267 w 152400"/>
              <a:gd name="connsiteY3" fmla="*/ 169333 h 169333"/>
              <a:gd name="connsiteX4" fmla="*/ 84667 w 152400"/>
              <a:gd name="connsiteY4" fmla="*/ 143933 h 169333"/>
              <a:gd name="connsiteX5" fmla="*/ 101600 w 152400"/>
              <a:gd name="connsiteY5" fmla="*/ 93133 h 169333"/>
              <a:gd name="connsiteX6" fmla="*/ 110067 w 152400"/>
              <a:gd name="connsiteY6" fmla="*/ 67733 h 169333"/>
              <a:gd name="connsiteX7" fmla="*/ 143934 w 152400"/>
              <a:gd name="connsiteY7" fmla="*/ 25400 h 169333"/>
              <a:gd name="connsiteX8" fmla="*/ 152400 w 152400"/>
              <a:gd name="connsiteY8" fmla="*/ 0 h 169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2400" h="169333">
                <a:moveTo>
                  <a:pt x="0" y="84667"/>
                </a:moveTo>
                <a:cubicBezTo>
                  <a:pt x="8467" y="98778"/>
                  <a:pt x="15835" y="113609"/>
                  <a:pt x="25400" y="127000"/>
                </a:cubicBezTo>
                <a:cubicBezTo>
                  <a:pt x="30040" y="133496"/>
                  <a:pt x="37347" y="137700"/>
                  <a:pt x="42334" y="143933"/>
                </a:cubicBezTo>
                <a:cubicBezTo>
                  <a:pt x="48691" y="151879"/>
                  <a:pt x="53623" y="160866"/>
                  <a:pt x="59267" y="169333"/>
                </a:cubicBezTo>
                <a:cubicBezTo>
                  <a:pt x="67734" y="160866"/>
                  <a:pt x="78852" y="154400"/>
                  <a:pt x="84667" y="143933"/>
                </a:cubicBezTo>
                <a:cubicBezTo>
                  <a:pt x="93335" y="128330"/>
                  <a:pt x="95956" y="110066"/>
                  <a:pt x="101600" y="93133"/>
                </a:cubicBezTo>
                <a:cubicBezTo>
                  <a:pt x="104422" y="84666"/>
                  <a:pt x="105117" y="75159"/>
                  <a:pt x="110067" y="67733"/>
                </a:cubicBezTo>
                <a:cubicBezTo>
                  <a:pt x="131428" y="35691"/>
                  <a:pt x="119805" y="49528"/>
                  <a:pt x="143934" y="25400"/>
                </a:cubicBezTo>
                <a:lnTo>
                  <a:pt x="152400" y="0"/>
                </a:ln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8" name="직선 연결선[R] 17">
            <a:extLst>
              <a:ext uri="{FF2B5EF4-FFF2-40B4-BE49-F238E27FC236}">
                <a16:creationId xmlns:a16="http://schemas.microsoft.com/office/drawing/2014/main" id="{3F92A90C-0760-8CB0-C14A-124C2245422C}"/>
              </a:ext>
            </a:extLst>
          </p:cNvPr>
          <p:cNvCxnSpPr>
            <a:cxnSpLocks/>
          </p:cNvCxnSpPr>
          <p:nvPr/>
        </p:nvCxnSpPr>
        <p:spPr>
          <a:xfrm>
            <a:off x="758793" y="2054667"/>
            <a:ext cx="103086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10">
            <a:extLst>
              <a:ext uri="{FF2B5EF4-FFF2-40B4-BE49-F238E27FC236}">
                <a16:creationId xmlns:a16="http://schemas.microsoft.com/office/drawing/2014/main" id="{2AEE285A-4706-6CE0-DBAA-176B2C1F93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8852B28-D290-2A4B-A90A-47EAEF72A8E4}" type="slidenum">
              <a:rPr kumimoji="1" lang="ko-Kore-KR" altLang="en-US" smtClean="0"/>
              <a:t>7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47003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22336-0C45-BDB0-A42E-FD4E7EF62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C67FA8-ED35-B67B-F109-EB90FAF31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Overview: </a:t>
            </a:r>
            <a:r>
              <a:rPr kumimoji="1" lang="ko-KR" altLang="en-US" sz="32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대칭키</a:t>
            </a:r>
            <a:r>
              <a:rPr kumimoji="1" lang="ko-KR" altLang="en-US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암호 </a:t>
            </a:r>
            <a:r>
              <a:rPr kumimoji="1" lang="en-US" altLang="ko-KR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vs </a:t>
            </a:r>
            <a:r>
              <a:rPr kumimoji="1" lang="ko-KR" altLang="en-US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코드기반 암호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E066811C-857A-E721-2F5E-0586C69DB21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2363" y="1088705"/>
                <a:ext cx="11880762" cy="1097239"/>
              </a:xfrm>
            </p:spPr>
            <p:txBody>
              <a:bodyPr>
                <a:noAutofit/>
              </a:bodyPr>
              <a:lstStyle/>
              <a:p>
                <a:r>
                  <a:rPr kumimoji="1"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코드기반암호의 경우 </a:t>
                </a:r>
                <a:r>
                  <a:rPr kumimoji="1" lang="en-US" altLang="ko-KR" sz="2200" b="1" dirty="0">
                    <a:latin typeface="Gmarket Sans TTF Bold" panose="02000000000000000000" pitchFamily="2" charset="-128"/>
                    <a:ea typeface="Gmarket Sans TTF Bold" panose="02000000000000000000" pitchFamily="2" charset="-128"/>
                  </a:rPr>
                  <a:t>Input</a:t>
                </a:r>
                <a:r>
                  <a:rPr kumimoji="1" lang="ko-KR" altLang="en-US" sz="2200" b="1" dirty="0">
                    <a:latin typeface="Gmarket Sans TTF Bold" panose="02000000000000000000" pitchFamily="2" charset="-128"/>
                    <a:ea typeface="Gmarket Sans TTF Bold" panose="02000000000000000000" pitchFamily="2" charset="-128"/>
                  </a:rPr>
                  <a:t> 단계부터 많은 수의 큐빗</a:t>
                </a:r>
                <a:r>
                  <a:rPr kumimoji="1"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이 필요</a:t>
                </a:r>
                <a:endParaRPr kumimoji="1" lang="en-US" altLang="ko-KR" sz="1800" dirty="0">
                  <a:latin typeface="Gmarket Sans TTF Medium" panose="02000000000000000000" pitchFamily="2" charset="-128"/>
                  <a:ea typeface="Cambria Math" panose="02040503050406030204" pitchFamily="18" charset="0"/>
                  <a:sym typeface="Wingdings" pitchFamily="2" charset="2"/>
                </a:endParaRPr>
              </a:p>
              <a:p>
                <a:pPr lvl="1"/>
                <a:r>
                  <a:rPr kumimoji="1" lang="en-US" altLang="ko-KR" sz="2000" dirty="0">
                    <a:latin typeface="Gmarket Sans TTF Medium" panose="02000000000000000000" pitchFamily="2" charset="-128"/>
                    <a:ea typeface="Cambria Math" panose="02040503050406030204" pitchFamily="18" charset="0"/>
                    <a:sym typeface="Wingdings" pitchFamily="2" charset="2"/>
                  </a:rPr>
                  <a:t>ISD:  </a:t>
                </a:r>
                <a:r>
                  <a:rPr kumimoji="1" lang="ko-KR" altLang="en-US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패리티 체크 행렬</a:t>
                </a:r>
                <a:r>
                  <a:rPr kumimoji="1" lang="ko-KR" altLang="en-US" sz="2000" dirty="0">
                    <a:latin typeface="Gmarket Sans TTF Medium" panose="02000000000000000000" pitchFamily="2" charset="-128"/>
                    <a:ea typeface="Cambria Math" panose="02040503050406030204" pitchFamily="18" charset="0"/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l-GR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</m:ctrlPr>
                      </m:sSubSupPr>
                      <m:e>
                        <m:r>
                          <a:rPr kumimoji="1" lang="en-US" altLang="ko-KR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 </m:t>
                        </m:r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𝐻</m:t>
                        </m:r>
                        <m:r>
                          <a:rPr kumimoji="1" lang="en-US" altLang="ko-KR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∈</m:t>
                        </m:r>
                        <m:r>
                          <a:rPr kumimoji="1" lang="el-GR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𝔽</m:t>
                        </m:r>
                      </m:e>
                      <m:sub>
                        <m:r>
                          <a:rPr kumimoji="1"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2</m:t>
                        </m:r>
                      </m:sub>
                      <m:sup>
                        <m:d>
                          <m:dPr>
                            <m:ctrlPr>
                              <a:rPr kumimoji="1"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dPr>
                          <m:e>
                            <m:r>
                              <a:rPr kumimoji="1"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itchFamily="2" charset="2"/>
                              </a:rPr>
                              <m:t>𝑛</m:t>
                            </m:r>
                            <m:r>
                              <a:rPr kumimoji="1"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itchFamily="2" charset="2"/>
                              </a:rPr>
                              <m:t>−</m:t>
                            </m:r>
                            <m:r>
                              <a:rPr kumimoji="1" lang="en-US" altLang="ko-KR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itchFamily="2" charset="2"/>
                              </a:rPr>
                              <m:t>𝑘</m:t>
                            </m:r>
                          </m:e>
                        </m:d>
                        <m:r>
                          <a:rPr kumimoji="1"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×</m:t>
                        </m:r>
                        <m:r>
                          <a:rPr kumimoji="1" lang="en-US" altLang="ko-KR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𝑛</m:t>
                        </m:r>
                      </m:sup>
                    </m:sSubSup>
                    <m:r>
                      <a:rPr kumimoji="1" lang="en-US" altLang="ko-K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  <m:r>
                      <a:rPr kumimoji="1" lang="en-US" altLang="ko-KR" sz="2000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 </m:t>
                    </m:r>
                    <m:r>
                      <a:rPr kumimoji="1" lang="en-US" altLang="ko-KR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(</m:t>
                    </m:r>
                    <m:r>
                      <m:rPr>
                        <m:nor/>
                      </m:rPr>
                      <a:rPr kumimoji="1" lang="en-US" altLang="ko-KR" sz="2000" dirty="0" smtClean="0">
                        <a:latin typeface="Gmarket Sans TTF Medium" panose="02000000000000000000" pitchFamily="2" charset="-128"/>
                        <a:ea typeface="Cambria Math" panose="02040503050406030204" pitchFamily="18" charset="0"/>
                        <a:sym typeface="Wingdings" pitchFamily="2" charset="2"/>
                      </a:rPr>
                      <m:t>HQC</m:t>
                    </m:r>
                    <m:r>
                      <m:rPr>
                        <m:nor/>
                      </m:rPr>
                      <a:rPr kumimoji="1" lang="en-US" altLang="ko-KR" sz="2000" dirty="0" smtClean="0">
                        <a:latin typeface="Gmarket Sans TTF Medium" panose="02000000000000000000" pitchFamily="2" charset="-128"/>
                        <a:ea typeface="Cambria Math" panose="02040503050406030204" pitchFamily="18" charset="0"/>
                        <a:sym typeface="Wingdings" pitchFamily="2" charset="2"/>
                      </a:rPr>
                      <m:t>−1</m:t>
                    </m:r>
                    <m:r>
                      <a:rPr kumimoji="1" lang="en-US" altLang="ko-KR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: </m:t>
                    </m:r>
                    <m:r>
                      <a:rPr kumimoji="1" lang="en-US" altLang="ko-KR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𝑛</m:t>
                    </m:r>
                    <m:r>
                      <a:rPr kumimoji="1" lang="en-US" altLang="ko-KR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=17699,  </m:t>
                    </m:r>
                    <m:r>
                      <a:rPr kumimoji="1" lang="en-US" altLang="ko-KR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𝑘</m:t>
                    </m:r>
                    <m:r>
                      <a:rPr kumimoji="1" lang="en-US" altLang="ko-KR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=</m:t>
                    </m:r>
                    <m:r>
                      <a:rPr kumimoji="1" lang="en-US" altLang="ko-KR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𝑛</m:t>
                    </m:r>
                    <m:r>
                      <a:rPr kumimoji="1" lang="en-US" altLang="ko-KR" sz="20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/2)</m:t>
                    </m:r>
                  </m:oMath>
                </a14:m>
                <a:r>
                  <a:rPr kumimoji="1" lang="en-US" altLang="ko-KR" sz="2200" dirty="0">
                    <a:latin typeface="Gmarket Sans TTF Medium" panose="02000000000000000000" pitchFamily="2" charset="-128"/>
                    <a:ea typeface="Cambria Math" panose="02040503050406030204" pitchFamily="18" charset="0"/>
                    <a:sym typeface="Wingdings" pitchFamily="2" charset="2"/>
                  </a:rPr>
                  <a:t> </a:t>
                </a:r>
              </a:p>
              <a:p>
                <a:pPr lvl="1"/>
                <a:r>
                  <a:rPr kumimoji="1" lang="en-US" altLang="ko-KR" sz="2000" dirty="0">
                    <a:latin typeface="Gmarket Sans TTF Medium" panose="02000000000000000000" pitchFamily="2" charset="-128"/>
                    <a:ea typeface="Cambria Math" panose="02040503050406030204" pitchFamily="18" charset="0"/>
                    <a:sym typeface="Wingdings" pitchFamily="2" charset="2"/>
                  </a:rPr>
                  <a:t>AES:  128</a:t>
                </a:r>
                <a:r>
                  <a:rPr kumimoji="1" lang="en-US" altLang="ko-KR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 </a:t>
                </a:r>
                <a:r>
                  <a:rPr kumimoji="1" lang="ko-KR" altLang="en-US" sz="2000" dirty="0" err="1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큐빗</a:t>
                </a:r>
                <a:r>
                  <a:rPr kumimoji="1" lang="ko-KR" altLang="en-US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 평문   </a:t>
                </a:r>
                <a:endParaRPr kumimoji="1" lang="en-US" altLang="ko-KR" sz="2000" dirty="0">
                  <a:latin typeface="Gmarket Sans TTF Medium" panose="02000000000000000000" pitchFamily="2" charset="-128"/>
                  <a:ea typeface="Gmarket Sans TTF Medium" panose="02000000000000000000" pitchFamily="2" charset="-128"/>
                  <a:sym typeface="Wingdings" pitchFamily="2" charset="2"/>
                </a:endParaRPr>
              </a:p>
              <a:p>
                <a:pPr lvl="1"/>
                <a:endParaRPr kumimoji="1" lang="en-US" altLang="ko-KR" sz="2000" dirty="0">
                  <a:latin typeface="Gmarket Sans TTF Medium" panose="02000000000000000000" pitchFamily="2" charset="-128"/>
                  <a:ea typeface="Gmarket Sans TTF Medium" panose="02000000000000000000" pitchFamily="2" charset="-128"/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E066811C-857A-E721-2F5E-0586C69DB2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2363" y="1088705"/>
                <a:ext cx="11880762" cy="1097239"/>
              </a:xfrm>
              <a:blipFill>
                <a:blip r:embed="rId3"/>
                <a:stretch>
                  <a:fillRect b="-23864"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5E506C0-0D0D-5694-B2C3-AC488F9D83D8}"/>
                  </a:ext>
                </a:extLst>
              </p:cNvPr>
              <p:cNvSpPr txBox="1"/>
              <p:nvPr/>
            </p:nvSpPr>
            <p:spPr>
              <a:xfrm>
                <a:off x="6678348" y="3304150"/>
                <a:ext cx="4902201" cy="26396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endParaRPr lang="en-US" altLang="ko-KR" sz="18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algn="ctr"/>
                <a:r>
                  <a:rPr lang="ko-KR" altLang="en-US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패리티 체크 행렬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  <a:ea typeface="Gmarket Sans TTF Medium" panose="02000000000000000000" pitchFamily="2" charset="-128"/>
                        <a:sym typeface="Wingdings" pitchFamily="2" charset="2"/>
                      </a:rPr>
                      <m:t>𝐻</m:t>
                    </m:r>
                  </m:oMath>
                </a14:m>
                <a:endParaRPr lang="en-US" altLang="ko-KR" sz="1800" dirty="0">
                  <a:latin typeface="Gmarket Sans TTF Medium" panose="02000000000000000000" pitchFamily="2" charset="-128"/>
                  <a:ea typeface="Gmarket Sans TTF Medium" panose="02000000000000000000" pitchFamily="2" charset="-128"/>
                  <a:sym typeface="Wingdings" pitchFamily="2" charset="2"/>
                </a:endParaRPr>
              </a:p>
              <a:p>
                <a:pPr algn="ctr"/>
                <a:endParaRPr lang="en-US" altLang="ko-KR" sz="1800" dirty="0">
                  <a:latin typeface="Gmarket Sans TTF Medium" panose="02000000000000000000" pitchFamily="2" charset="-128"/>
                  <a:ea typeface="Gmarket Sans TTF Medium" panose="02000000000000000000" pitchFamily="2" charset="-128"/>
                  <a:sym typeface="Wingdings" pitchFamily="2" charset="2"/>
                </a:endParaRPr>
              </a:p>
              <a:p>
                <a:pPr algn="ctr"/>
                <a:endParaRPr lang="en-US" altLang="ko-KR" sz="1800" dirty="0">
                  <a:latin typeface="Gmarket Sans TTF Medium" panose="02000000000000000000" pitchFamily="2" charset="-128"/>
                  <a:ea typeface="Gmarket Sans TTF Medium" panose="02000000000000000000" pitchFamily="2" charset="-128"/>
                  <a:sym typeface="Wingdings" pitchFamily="2" charset="2"/>
                </a:endParaRPr>
              </a:p>
              <a:p>
                <a:pPr algn="ctr"/>
                <a:r>
                  <a:rPr lang="en-US" altLang="ko-KR" sz="18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Information set </a:t>
                </a:r>
                <a:r>
                  <a:rPr lang="ko-KR" altLang="en-US" sz="18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추출</a:t>
                </a:r>
                <a:r>
                  <a:rPr lang="en-US" altLang="ko-KR" sz="18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ore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ore-KR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ko-Kore-KR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ko-Kore-KR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ko-Kore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altLang="ko-KR" dirty="0">
                  <a:latin typeface="Gmarket Sans TTF Medium" panose="02000000000000000000" pitchFamily="2" charset="-128"/>
                  <a:ea typeface="Gmarket Sans TTF Medium" panose="02000000000000000000" pitchFamily="2" charset="-128"/>
                  <a:sym typeface="Wingdings" pitchFamily="2" charset="2"/>
                </a:endParaRPr>
              </a:p>
              <a:p>
                <a:pPr algn="ctr"/>
                <a:r>
                  <a:rPr lang="en-US" altLang="ko-KR" sz="18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Information</a:t>
                </a:r>
                <a:r>
                  <a:rPr lang="ko-KR" altLang="en-US" sz="18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 </a:t>
                </a:r>
                <a:r>
                  <a:rPr lang="en-US" altLang="ko-KR" sz="18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set</a:t>
                </a:r>
                <a:r>
                  <a:rPr lang="ko-KR" altLang="en-US" sz="18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 </a:t>
                </a:r>
                <a:r>
                  <a:rPr lang="ko-KR" altLang="en-US" sz="1800" dirty="0" err="1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역행렬</a:t>
                </a:r>
                <a:r>
                  <a:rPr lang="ko-KR" altLang="en-US" sz="18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 계산</a:t>
                </a:r>
                <a:r>
                  <a:rPr lang="en-US" altLang="ko-KR" sz="18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: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ko-Kore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kumimoji="1" lang="en-US" altLang="ko-Kore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ore-KR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kumimoji="1" lang="en-US" altLang="ko-Kore-K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ko-Kore-K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ko-Kore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  <m:sup>
                        <m:r>
                          <a:rPr kumimoji="1" lang="en-US" altLang="ko-Kore-K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kumimoji="1" lang="en-US" altLang="ko-Kore-KR" dirty="0">
                  <a:latin typeface="Gmarket Sans TTF Medium" panose="02000000000000000000" pitchFamily="2" charset="-128"/>
                </a:endParaRPr>
              </a:p>
              <a:p>
                <a:pPr algn="ctr"/>
                <a:endParaRPr kumimoji="1" lang="en-US" altLang="ko-Kore-KR" sz="1500" dirty="0"/>
              </a:p>
              <a:p>
                <a:pPr algn="ctr"/>
                <a:r>
                  <a:rPr kumimoji="1" lang="en-US" altLang="ko-Kore-KR" dirty="0"/>
                  <a:t>Weight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ko-Kore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ko-Kore-KR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kumimoji="1" lang="en-US" altLang="ko-Kore-KR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ore-KR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kumimoji="1" lang="en-US" altLang="ko-Kore-K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kumimoji="1" lang="en-US" altLang="ko-Kore-K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kumimoji="1" lang="en-US" altLang="ko-Kore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  <m:sup>
                            <m:r>
                              <a:rPr kumimoji="1" lang="en-US" altLang="ko-Kore-K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kumimoji="1" lang="en-US" altLang="ko-Kore-K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kumimoji="1" lang="en-US" altLang="ko-KR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kumimoji="1" lang="en-US" altLang="ko-KR" b="0" i="0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kumimoji="1" lang="en-US" altLang="ko-Kore-KR" dirty="0">
                  <a:latin typeface="Gmarket Sans TTF Medium" panose="02000000000000000000" pitchFamily="2" charset="-128"/>
                </a:endParaRPr>
              </a:p>
              <a:p>
                <a:pPr algn="ctr"/>
                <a:endParaRPr kumimoji="1" lang="en-US" altLang="ko-Kore-KR" dirty="0">
                  <a:latin typeface="Gmarket Sans TTF Medium" panose="02000000000000000000" pitchFamily="2" charset="-128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5E506C0-0D0D-5694-B2C3-AC488F9D83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8348" y="3304150"/>
                <a:ext cx="4902201" cy="26396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56082DC5-65EF-464A-20D1-EECC467FA05F}"/>
              </a:ext>
            </a:extLst>
          </p:cNvPr>
          <p:cNvSpPr txBox="1"/>
          <p:nvPr/>
        </p:nvSpPr>
        <p:spPr>
          <a:xfrm>
            <a:off x="2233348" y="2670411"/>
            <a:ext cx="916093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 algn="ctr">
              <a:buNone/>
            </a:pPr>
            <a:r>
              <a:rPr lang="ko-KR" altLang="en-US" sz="22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대칭키</a:t>
            </a:r>
            <a:r>
              <a:rPr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암호 키 복구            </a:t>
            </a:r>
            <a:r>
              <a:rPr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vs             </a:t>
            </a:r>
            <a:r>
              <a:rPr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코드기반암호</a:t>
            </a:r>
            <a:r>
              <a:rPr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양자 </a:t>
            </a:r>
            <a:r>
              <a:rPr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ISD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9A8B242-1423-3ECE-E7CC-D36C1995B570}"/>
              </a:ext>
            </a:extLst>
          </p:cNvPr>
          <p:cNvSpPr txBox="1"/>
          <p:nvPr/>
        </p:nvSpPr>
        <p:spPr>
          <a:xfrm>
            <a:off x="859928" y="3557812"/>
            <a:ext cx="108555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Input </a:t>
            </a:r>
          </a:p>
          <a:p>
            <a:pPr algn="ctr"/>
            <a:endParaRPr kumimoji="1" lang="en-US" altLang="ko-KR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algn="ctr"/>
            <a:endParaRPr kumimoji="1" lang="en-US" altLang="ko-KR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algn="ctr"/>
            <a:endParaRPr kumimoji="1" lang="en-US" altLang="ko-KR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algn="ctr"/>
            <a:r>
              <a:rPr kumimoji="1" lang="en-US" altLang="ko-KR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Grover</a:t>
            </a:r>
          </a:p>
          <a:p>
            <a:pPr algn="ctr"/>
            <a:r>
              <a:rPr kumimoji="1" lang="en-US" altLang="ko-KR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Oracle</a:t>
            </a:r>
            <a:endParaRPr kumimoji="1" lang="ko-KR" altLang="en-US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cxnSp>
        <p:nvCxnSpPr>
          <p:cNvPr id="26" name="직선 연결선[R] 25">
            <a:extLst>
              <a:ext uri="{FF2B5EF4-FFF2-40B4-BE49-F238E27FC236}">
                <a16:creationId xmlns:a16="http://schemas.microsoft.com/office/drawing/2014/main" id="{0EE91F78-1687-52B6-E04B-B729EC504D11}"/>
              </a:ext>
            </a:extLst>
          </p:cNvPr>
          <p:cNvCxnSpPr/>
          <p:nvPr/>
        </p:nvCxnSpPr>
        <p:spPr>
          <a:xfrm>
            <a:off x="923960" y="3282751"/>
            <a:ext cx="102277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[R] 26">
            <a:extLst>
              <a:ext uri="{FF2B5EF4-FFF2-40B4-BE49-F238E27FC236}">
                <a16:creationId xmlns:a16="http://schemas.microsoft.com/office/drawing/2014/main" id="{44ED3353-07E4-37C6-0945-751132B4E637}"/>
              </a:ext>
            </a:extLst>
          </p:cNvPr>
          <p:cNvCxnSpPr/>
          <p:nvPr/>
        </p:nvCxnSpPr>
        <p:spPr>
          <a:xfrm>
            <a:off x="940893" y="4163284"/>
            <a:ext cx="102277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[R] 27">
            <a:extLst>
              <a:ext uri="{FF2B5EF4-FFF2-40B4-BE49-F238E27FC236}">
                <a16:creationId xmlns:a16="http://schemas.microsoft.com/office/drawing/2014/main" id="{05DC32CE-C3E8-B1CA-5C6D-34D99893D0D0}"/>
              </a:ext>
            </a:extLst>
          </p:cNvPr>
          <p:cNvCxnSpPr/>
          <p:nvPr/>
        </p:nvCxnSpPr>
        <p:spPr>
          <a:xfrm>
            <a:off x="940893" y="5738084"/>
            <a:ext cx="102277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[R] 28">
            <a:extLst>
              <a:ext uri="{FF2B5EF4-FFF2-40B4-BE49-F238E27FC236}">
                <a16:creationId xmlns:a16="http://schemas.microsoft.com/office/drawing/2014/main" id="{BCAFA2E4-0358-B472-E6FC-59761221503B}"/>
              </a:ext>
            </a:extLst>
          </p:cNvPr>
          <p:cNvCxnSpPr>
            <a:cxnSpLocks/>
          </p:cNvCxnSpPr>
          <p:nvPr/>
        </p:nvCxnSpPr>
        <p:spPr>
          <a:xfrm flipV="1">
            <a:off x="2160094" y="2470105"/>
            <a:ext cx="0" cy="42373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5D2DE06E-0D56-179C-C86F-A5387DAACAF9}"/>
              </a:ext>
            </a:extLst>
          </p:cNvPr>
          <p:cNvSpPr txBox="1"/>
          <p:nvPr/>
        </p:nvSpPr>
        <p:spPr>
          <a:xfrm>
            <a:off x="790808" y="5929569"/>
            <a:ext cx="13692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Diffusion </a:t>
            </a:r>
          </a:p>
          <a:p>
            <a:r>
              <a:rPr kumimoji="1" lang="en-US" altLang="ko-KR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Operator</a:t>
            </a:r>
            <a:endParaRPr kumimoji="1" lang="ko-KR" altLang="en-US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cxnSp>
        <p:nvCxnSpPr>
          <p:cNvPr id="39" name="직선 연결선[R] 38">
            <a:extLst>
              <a:ext uri="{FF2B5EF4-FFF2-40B4-BE49-F238E27FC236}">
                <a16:creationId xmlns:a16="http://schemas.microsoft.com/office/drawing/2014/main" id="{0D9FAFCC-CAAA-52F3-0F75-7E1AECA1AEF7}"/>
              </a:ext>
            </a:extLst>
          </p:cNvPr>
          <p:cNvCxnSpPr>
            <a:cxnSpLocks/>
          </p:cNvCxnSpPr>
          <p:nvPr/>
        </p:nvCxnSpPr>
        <p:spPr>
          <a:xfrm>
            <a:off x="868395" y="6715877"/>
            <a:ext cx="103086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9267815-DA0E-24F5-D3AF-F9443EB9E473}"/>
                  </a:ext>
                </a:extLst>
              </p:cNvPr>
              <p:cNvSpPr txBox="1"/>
              <p:nvPr/>
            </p:nvSpPr>
            <p:spPr>
              <a:xfrm>
                <a:off x="7684661" y="5936547"/>
                <a:ext cx="276133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Information set </a:t>
                </a:r>
                <a14:m>
                  <m:oMath xmlns:m="http://schemas.openxmlformats.org/officeDocument/2006/math">
                    <m:r>
                      <a:rPr kumimoji="1" lang="en-US" altLang="ko-Kore-KR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kumimoji="1" lang="en-US" altLang="ko-Kore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ore-KR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ko-Kore-KR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ko-Kore-KR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ko-Kore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kumimoji="1" lang="en-US" altLang="ko-Kore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kumimoji="1" lang="en-US" altLang="ko-KR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algn="ctr"/>
                <a:r>
                  <a:rPr kumimoji="1" lang="ko-KR" altLang="en-US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추출에 사용 된 벡터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9267815-DA0E-24F5-D3AF-F9443EB9E4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4661" y="5936547"/>
                <a:ext cx="2761333" cy="646331"/>
              </a:xfrm>
              <a:prstGeom prst="rect">
                <a:avLst/>
              </a:prstGeom>
              <a:blipFill>
                <a:blip r:embed="rId5"/>
                <a:stretch>
                  <a:fillRect l="-2294" t="-1923" b="-153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자유형 11">
            <a:extLst>
              <a:ext uri="{FF2B5EF4-FFF2-40B4-BE49-F238E27FC236}">
                <a16:creationId xmlns:a16="http://schemas.microsoft.com/office/drawing/2014/main" id="{7AC72BF0-FA34-BACE-EEA9-201190CB1B53}"/>
              </a:ext>
            </a:extLst>
          </p:cNvPr>
          <p:cNvSpPr/>
          <p:nvPr/>
        </p:nvSpPr>
        <p:spPr>
          <a:xfrm>
            <a:off x="7677414" y="5281013"/>
            <a:ext cx="152400" cy="169333"/>
          </a:xfrm>
          <a:custGeom>
            <a:avLst/>
            <a:gdLst>
              <a:gd name="connsiteX0" fmla="*/ 0 w 152400"/>
              <a:gd name="connsiteY0" fmla="*/ 84667 h 169333"/>
              <a:gd name="connsiteX1" fmla="*/ 25400 w 152400"/>
              <a:gd name="connsiteY1" fmla="*/ 127000 h 169333"/>
              <a:gd name="connsiteX2" fmla="*/ 42334 w 152400"/>
              <a:gd name="connsiteY2" fmla="*/ 143933 h 169333"/>
              <a:gd name="connsiteX3" fmla="*/ 59267 w 152400"/>
              <a:gd name="connsiteY3" fmla="*/ 169333 h 169333"/>
              <a:gd name="connsiteX4" fmla="*/ 84667 w 152400"/>
              <a:gd name="connsiteY4" fmla="*/ 143933 h 169333"/>
              <a:gd name="connsiteX5" fmla="*/ 101600 w 152400"/>
              <a:gd name="connsiteY5" fmla="*/ 93133 h 169333"/>
              <a:gd name="connsiteX6" fmla="*/ 110067 w 152400"/>
              <a:gd name="connsiteY6" fmla="*/ 67733 h 169333"/>
              <a:gd name="connsiteX7" fmla="*/ 143934 w 152400"/>
              <a:gd name="connsiteY7" fmla="*/ 25400 h 169333"/>
              <a:gd name="connsiteX8" fmla="*/ 152400 w 152400"/>
              <a:gd name="connsiteY8" fmla="*/ 0 h 169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2400" h="169333">
                <a:moveTo>
                  <a:pt x="0" y="84667"/>
                </a:moveTo>
                <a:cubicBezTo>
                  <a:pt x="8467" y="98778"/>
                  <a:pt x="15835" y="113609"/>
                  <a:pt x="25400" y="127000"/>
                </a:cubicBezTo>
                <a:cubicBezTo>
                  <a:pt x="30040" y="133496"/>
                  <a:pt x="37347" y="137700"/>
                  <a:pt x="42334" y="143933"/>
                </a:cubicBezTo>
                <a:cubicBezTo>
                  <a:pt x="48691" y="151879"/>
                  <a:pt x="53623" y="160866"/>
                  <a:pt x="59267" y="169333"/>
                </a:cubicBezTo>
                <a:cubicBezTo>
                  <a:pt x="67734" y="160866"/>
                  <a:pt x="78852" y="154400"/>
                  <a:pt x="84667" y="143933"/>
                </a:cubicBezTo>
                <a:cubicBezTo>
                  <a:pt x="93335" y="128330"/>
                  <a:pt x="95956" y="110066"/>
                  <a:pt x="101600" y="93133"/>
                </a:cubicBezTo>
                <a:cubicBezTo>
                  <a:pt x="104422" y="84666"/>
                  <a:pt x="105117" y="75159"/>
                  <a:pt x="110067" y="67733"/>
                </a:cubicBezTo>
                <a:cubicBezTo>
                  <a:pt x="131428" y="35691"/>
                  <a:pt x="119805" y="49528"/>
                  <a:pt x="143934" y="25400"/>
                </a:cubicBezTo>
                <a:lnTo>
                  <a:pt x="152400" y="0"/>
                </a:ln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63B7E73-9B8B-96BD-F061-88DE5B679E22}"/>
                  </a:ext>
                </a:extLst>
              </p:cNvPr>
              <p:cNvSpPr txBox="1"/>
              <p:nvPr/>
            </p:nvSpPr>
            <p:spPr>
              <a:xfrm>
                <a:off x="1091568" y="3333553"/>
                <a:ext cx="6790268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endParaRPr lang="en-US" altLang="ko-KR" sz="18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algn="ctr"/>
                <a:r>
                  <a:rPr lang="ko-KR" altLang="en-US" sz="18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알려진 </a:t>
                </a:r>
                <a:r>
                  <a:rPr lang="ko-KR" altLang="en-US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평문</a:t>
                </a:r>
                <a:r>
                  <a:rPr lang="en-US" altLang="ko-KR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Gmarket Sans TTF Medium" panose="02000000000000000000" pitchFamily="2" charset="-128"/>
                        <a:sym typeface="Wingdings" pitchFamily="2" charset="2"/>
                      </a:rPr>
                      <m:t>𝑃</m:t>
                    </m:r>
                  </m:oMath>
                </a14:m>
                <a:endParaRPr lang="en-US" altLang="ko-KR" sz="1800" dirty="0">
                  <a:latin typeface="Gmarket Sans TTF Medium" panose="02000000000000000000" pitchFamily="2" charset="-128"/>
                  <a:ea typeface="Gmarket Sans TTF Medium" panose="02000000000000000000" pitchFamily="2" charset="-128"/>
                  <a:sym typeface="Wingdings" pitchFamily="2" charset="2"/>
                </a:endParaRPr>
              </a:p>
              <a:p>
                <a:pPr algn="ctr"/>
                <a:endParaRPr lang="en-US" altLang="ko-KR" sz="1800" dirty="0">
                  <a:latin typeface="Gmarket Sans TTF Medium" panose="02000000000000000000" pitchFamily="2" charset="-128"/>
                  <a:ea typeface="Gmarket Sans TTF Medium" panose="02000000000000000000" pitchFamily="2" charset="-128"/>
                  <a:sym typeface="Wingdings" pitchFamily="2" charset="2"/>
                </a:endParaRPr>
              </a:p>
              <a:p>
                <a:pPr algn="ctr"/>
                <a:endParaRPr lang="en-US" altLang="ko-KR" sz="1800" dirty="0">
                  <a:latin typeface="Gmarket Sans TTF Medium" panose="02000000000000000000" pitchFamily="2" charset="-128"/>
                  <a:ea typeface="Gmarket Sans TTF Medium" panose="02000000000000000000" pitchFamily="2" charset="-128"/>
                  <a:sym typeface="Wingdings" pitchFamily="2" charset="2"/>
                </a:endParaRPr>
              </a:p>
              <a:p>
                <a:pPr algn="ctr"/>
                <a:r>
                  <a:rPr lang="ko-KR" altLang="en-US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암호화 알고리즘</a:t>
                </a:r>
                <a:r>
                  <a:rPr lang="en-US" altLang="ko-KR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  <m:t>𝐸𝑛𝑐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altLang="ko-KR" i="1" dirty="0" smtClean="0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  <m:t>𝑃</m:t>
                        </m:r>
                      </m:e>
                    </m:d>
                  </m:oMath>
                </a14:m>
                <a:endParaRPr lang="en-US" altLang="ko-KR" i="1" dirty="0">
                  <a:latin typeface="Cambria Math" panose="02040503050406030204" pitchFamily="18" charset="0"/>
                  <a:ea typeface="Gmarket Sans TTF Medium" panose="02000000000000000000" pitchFamily="2" charset="-128"/>
                  <a:sym typeface="Wingdings" pitchFamily="2" charset="2"/>
                </a:endParaRPr>
              </a:p>
              <a:p>
                <a:pPr algn="ctr"/>
                <a:r>
                  <a:rPr lang="en-US" altLang="ko-KR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(e.g., AES, ARIA)</a:t>
                </a:r>
              </a:p>
              <a:p>
                <a:pPr algn="ctr"/>
                <a:endParaRPr lang="en-US" altLang="ko-KR" sz="1500" i="1" dirty="0">
                  <a:latin typeface="Cambria Math" panose="02040503050406030204" pitchFamily="18" charset="0"/>
                  <a:ea typeface="Gmarket Sans TTF Medium" panose="02000000000000000000" pitchFamily="2" charset="-128"/>
                  <a:sym typeface="Wingdings" pitchFamily="2" charset="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dirty="0" smtClean="0">
                              <a:latin typeface="Cambria Math" panose="02040503050406030204" pitchFamily="18" charset="0"/>
                              <a:ea typeface="Gmarket Sans TTF Medium" panose="02000000000000000000" pitchFamily="2" charset="-128"/>
                              <a:sym typeface="Wingdings" pitchFamily="2" charset="2"/>
                            </a:rPr>
                          </m:ctrlPr>
                        </m:sSub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  <a:ea typeface="Gmarket Sans TTF Medium" panose="02000000000000000000" pitchFamily="2" charset="-128"/>
                              <a:sym typeface="Wingdings" pitchFamily="2" charset="2"/>
                            </a:rPr>
                            <m:t>𝐸𝑛𝑐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  <a:ea typeface="Gmarket Sans TTF Medium" panose="02000000000000000000" pitchFamily="2" charset="-128"/>
                              <a:sym typeface="Wingdings" pitchFamily="2" charset="2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altLang="ko-KR" i="1" dirty="0" smtClean="0">
                              <a:latin typeface="Cambria Math" panose="02040503050406030204" pitchFamily="18" charset="0"/>
                              <a:ea typeface="Gmarket Sans TTF Medium" panose="02000000000000000000" pitchFamily="2" charset="-128"/>
                              <a:sym typeface="Wingdings" pitchFamily="2" charset="2"/>
                            </a:rPr>
                          </m:ctrlPr>
                        </m:dPr>
                        <m:e>
                          <m:r>
                            <a:rPr lang="en-US" altLang="ko-KR" i="1" dirty="0" smtClean="0">
                              <a:latin typeface="Cambria Math" panose="02040503050406030204" pitchFamily="18" charset="0"/>
                              <a:ea typeface="Gmarket Sans TTF Medium" panose="02000000000000000000" pitchFamily="2" charset="-128"/>
                              <a:sym typeface="Wingdings" pitchFamily="2" charset="2"/>
                            </a:rPr>
                            <m:t>𝑃</m:t>
                          </m:r>
                        </m:e>
                      </m:d>
                      <m:r>
                        <a:rPr lang="en-US" altLang="ko-KR" b="0" i="1" dirty="0" smtClean="0">
                          <a:latin typeface="Cambria Math" panose="02040503050406030204" pitchFamily="18" charset="0"/>
                          <a:ea typeface="Gmarket Sans TTF Medium" panose="02000000000000000000" pitchFamily="2" charset="-128"/>
                          <a:sym typeface="Wingdings" pitchFamily="2" charset="2"/>
                        </a:rPr>
                        <m:t>=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  <a:ea typeface="Gmarket Sans TTF Medium" panose="02000000000000000000" pitchFamily="2" charset="-128"/>
                          <a:sym typeface="Wingdings" pitchFamily="2" charset="2"/>
                        </a:rPr>
                        <m:t>𝐶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  <a:ea typeface="Gmarket Sans TTF Medium" panose="02000000000000000000" pitchFamily="2" charset="-128"/>
                          <a:sym typeface="Wingdings" pitchFamily="2" charset="2"/>
                        </a:rPr>
                        <m:t>?</m:t>
                      </m:r>
                    </m:oMath>
                  </m:oMathPara>
                </a14:m>
                <a:endParaRPr lang="en-US" altLang="ko-KR" sz="1500" i="1" dirty="0">
                  <a:latin typeface="Cambria Math" panose="02040503050406030204" pitchFamily="18" charset="0"/>
                  <a:ea typeface="Gmarket Sans TTF Medium" panose="02000000000000000000" pitchFamily="2" charset="-128"/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63B7E73-9B8B-96BD-F061-88DE5B679E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568" y="3333553"/>
                <a:ext cx="6790268" cy="2308324"/>
              </a:xfrm>
              <a:prstGeom prst="rect">
                <a:avLst/>
              </a:prstGeom>
              <a:blipFill>
                <a:blip r:embed="rId6"/>
                <a:stretch>
                  <a:fillRect b="-10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2E0125A-20C0-559D-DBED-4FEB1A435C75}"/>
                  </a:ext>
                </a:extLst>
              </p:cNvPr>
              <p:cNvSpPr txBox="1"/>
              <p:nvPr/>
            </p:nvSpPr>
            <p:spPr>
              <a:xfrm>
                <a:off x="3881921" y="6101936"/>
                <a:ext cx="10631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ko-KR" altLang="en-US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비밀키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ko-KR" b="0" i="0" dirty="0" smtClean="0">
                        <a:latin typeface="Cambria Math" panose="02040503050406030204" pitchFamily="18" charset="0"/>
                      </a:rPr>
                      <m:t>K</m:t>
                    </m:r>
                  </m:oMath>
                </a14:m>
                <a:endParaRPr kumimoji="1" lang="ko-KR" altLang="en-US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2E0125A-20C0-559D-DBED-4FEB1A435C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1921" y="6101936"/>
                <a:ext cx="1063112" cy="369332"/>
              </a:xfrm>
              <a:prstGeom prst="rect">
                <a:avLst/>
              </a:prstGeom>
              <a:blipFill>
                <a:blip r:embed="rId7"/>
                <a:stretch>
                  <a:fillRect l="-4706" t="-3333" b="-3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자유형 15">
            <a:extLst>
              <a:ext uri="{FF2B5EF4-FFF2-40B4-BE49-F238E27FC236}">
                <a16:creationId xmlns:a16="http://schemas.microsoft.com/office/drawing/2014/main" id="{5F74CCFE-73EA-B2FB-962C-0F2B3FFD1E15}"/>
              </a:ext>
            </a:extLst>
          </p:cNvPr>
          <p:cNvSpPr/>
          <p:nvPr/>
        </p:nvSpPr>
        <p:spPr>
          <a:xfrm>
            <a:off x="3518556" y="5289869"/>
            <a:ext cx="152400" cy="169333"/>
          </a:xfrm>
          <a:custGeom>
            <a:avLst/>
            <a:gdLst>
              <a:gd name="connsiteX0" fmla="*/ 0 w 152400"/>
              <a:gd name="connsiteY0" fmla="*/ 84667 h 169333"/>
              <a:gd name="connsiteX1" fmla="*/ 25400 w 152400"/>
              <a:gd name="connsiteY1" fmla="*/ 127000 h 169333"/>
              <a:gd name="connsiteX2" fmla="*/ 42334 w 152400"/>
              <a:gd name="connsiteY2" fmla="*/ 143933 h 169333"/>
              <a:gd name="connsiteX3" fmla="*/ 59267 w 152400"/>
              <a:gd name="connsiteY3" fmla="*/ 169333 h 169333"/>
              <a:gd name="connsiteX4" fmla="*/ 84667 w 152400"/>
              <a:gd name="connsiteY4" fmla="*/ 143933 h 169333"/>
              <a:gd name="connsiteX5" fmla="*/ 101600 w 152400"/>
              <a:gd name="connsiteY5" fmla="*/ 93133 h 169333"/>
              <a:gd name="connsiteX6" fmla="*/ 110067 w 152400"/>
              <a:gd name="connsiteY6" fmla="*/ 67733 h 169333"/>
              <a:gd name="connsiteX7" fmla="*/ 143934 w 152400"/>
              <a:gd name="connsiteY7" fmla="*/ 25400 h 169333"/>
              <a:gd name="connsiteX8" fmla="*/ 152400 w 152400"/>
              <a:gd name="connsiteY8" fmla="*/ 0 h 169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2400" h="169333">
                <a:moveTo>
                  <a:pt x="0" y="84667"/>
                </a:moveTo>
                <a:cubicBezTo>
                  <a:pt x="8467" y="98778"/>
                  <a:pt x="15835" y="113609"/>
                  <a:pt x="25400" y="127000"/>
                </a:cubicBezTo>
                <a:cubicBezTo>
                  <a:pt x="30040" y="133496"/>
                  <a:pt x="37347" y="137700"/>
                  <a:pt x="42334" y="143933"/>
                </a:cubicBezTo>
                <a:cubicBezTo>
                  <a:pt x="48691" y="151879"/>
                  <a:pt x="53623" y="160866"/>
                  <a:pt x="59267" y="169333"/>
                </a:cubicBezTo>
                <a:cubicBezTo>
                  <a:pt x="67734" y="160866"/>
                  <a:pt x="78852" y="154400"/>
                  <a:pt x="84667" y="143933"/>
                </a:cubicBezTo>
                <a:cubicBezTo>
                  <a:pt x="93335" y="128330"/>
                  <a:pt x="95956" y="110066"/>
                  <a:pt x="101600" y="93133"/>
                </a:cubicBezTo>
                <a:cubicBezTo>
                  <a:pt x="104422" y="84666"/>
                  <a:pt x="105117" y="75159"/>
                  <a:pt x="110067" y="67733"/>
                </a:cubicBezTo>
                <a:cubicBezTo>
                  <a:pt x="131428" y="35691"/>
                  <a:pt x="119805" y="49528"/>
                  <a:pt x="143934" y="25400"/>
                </a:cubicBezTo>
                <a:lnTo>
                  <a:pt x="152400" y="0"/>
                </a:ln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0A78AEB-FCFC-6220-EC14-E19129CEDE7C}"/>
              </a:ext>
            </a:extLst>
          </p:cNvPr>
          <p:cNvSpPr/>
          <p:nvPr/>
        </p:nvSpPr>
        <p:spPr>
          <a:xfrm>
            <a:off x="868395" y="3282751"/>
            <a:ext cx="10308698" cy="88053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1" name="직선 연결선[R] 10">
            <a:extLst>
              <a:ext uri="{FF2B5EF4-FFF2-40B4-BE49-F238E27FC236}">
                <a16:creationId xmlns:a16="http://schemas.microsoft.com/office/drawing/2014/main" id="{5ED605DC-17BD-7422-0AE4-27C302E94F07}"/>
              </a:ext>
            </a:extLst>
          </p:cNvPr>
          <p:cNvCxnSpPr>
            <a:cxnSpLocks/>
          </p:cNvCxnSpPr>
          <p:nvPr/>
        </p:nvCxnSpPr>
        <p:spPr>
          <a:xfrm>
            <a:off x="758793" y="2470105"/>
            <a:ext cx="103086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슬라이드 번호 개체 틀 10">
            <a:extLst>
              <a:ext uri="{FF2B5EF4-FFF2-40B4-BE49-F238E27FC236}">
                <a16:creationId xmlns:a16="http://schemas.microsoft.com/office/drawing/2014/main" id="{A62F649C-C4EB-4FCC-2A2E-8795D711F3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8852B28-D290-2A4B-A90A-47EAEF72A8E4}" type="slidenum">
              <a:rPr kumimoji="1" lang="ko-Kore-KR" altLang="en-US" smtClean="0"/>
              <a:t>8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01648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0E8D1-3DC8-FECF-D2DE-937ECEA77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7D9517-6AE9-E56E-FA3A-2BFDCFD0E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Overview: </a:t>
            </a:r>
            <a:r>
              <a:rPr kumimoji="1" lang="ko-KR" altLang="en-US" sz="32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대칭키</a:t>
            </a:r>
            <a:r>
              <a:rPr kumimoji="1" lang="ko-KR" altLang="en-US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암호 </a:t>
            </a:r>
            <a:r>
              <a:rPr kumimoji="1" lang="en-US" altLang="ko-KR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vs </a:t>
            </a:r>
            <a:r>
              <a:rPr kumimoji="1" lang="ko-KR" altLang="en-US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코드기반 암호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0CA3DB-3FBC-134E-626D-3B553CC9F9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106120"/>
            <a:ext cx="11880762" cy="1097239"/>
          </a:xfrm>
        </p:spPr>
        <p:txBody>
          <a:bodyPr>
            <a:noAutofit/>
          </a:bodyPr>
          <a:lstStyle/>
          <a:p>
            <a:r>
              <a:rPr kumimoji="1"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  <a:sym typeface="Wingdings" pitchFamily="2" charset="2"/>
              </a:rPr>
              <a:t>Oracle</a:t>
            </a:r>
            <a:r>
              <a:rPr kumimoji="1" lang="ko-KR" altLang="en-US" sz="22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  <a:sym typeface="Wingdings" pitchFamily="2" charset="2"/>
              </a:rPr>
              <a:t>에</a:t>
            </a: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  <a:sym typeface="Wingdings" pitchFamily="2" charset="2"/>
              </a:rPr>
              <a:t> 들어가는 </a:t>
            </a:r>
            <a:r>
              <a:rPr kumimoji="1" lang="ko-KR" altLang="en-US" sz="2200" b="1" dirty="0">
                <a:latin typeface="Gmarket Sans TTF Bold" panose="02000000000000000000" pitchFamily="2" charset="-128"/>
                <a:ea typeface="Gmarket Sans TTF Bold" panose="02000000000000000000" pitchFamily="2" charset="-128"/>
                <a:sym typeface="Wingdings" pitchFamily="2" charset="2"/>
              </a:rPr>
              <a:t>로직이 더욱 복잡</a:t>
            </a: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  <a:sym typeface="Wingdings" pitchFamily="2" charset="2"/>
              </a:rPr>
              <a:t>하며</a:t>
            </a:r>
            <a:r>
              <a:rPr kumimoji="1"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  <a:sym typeface="Wingdings" pitchFamily="2" charset="2"/>
              </a:rPr>
              <a:t>,</a:t>
            </a: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  <a:sym typeface="Wingdings" pitchFamily="2" charset="2"/>
              </a:rPr>
              <a:t> </a:t>
            </a:r>
            <a:r>
              <a:rPr kumimoji="1" lang="ko-KR" altLang="en-US" sz="2200" b="1" dirty="0">
                <a:latin typeface="Gmarket Sans TTF Bold" panose="02000000000000000000" pitchFamily="2" charset="-128"/>
                <a:ea typeface="Gmarket Sans TTF Bold" panose="02000000000000000000" pitchFamily="2" charset="-128"/>
                <a:sym typeface="Wingdings" pitchFamily="2" charset="2"/>
              </a:rPr>
              <a:t>대규모 행렬</a:t>
            </a: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  <a:sym typeface="Wingdings" pitchFamily="2" charset="2"/>
              </a:rPr>
              <a:t>을 대상으로 함</a:t>
            </a:r>
            <a:endParaRPr kumimoji="1" lang="en-US" altLang="ko-KR" sz="2200" dirty="0">
              <a:latin typeface="Gmarket Sans TTF Medium" panose="02000000000000000000" pitchFamily="2" charset="-128"/>
              <a:ea typeface="Gmarket Sans TTF Medium" panose="02000000000000000000" pitchFamily="2" charset="-128"/>
              <a:sym typeface="Wingdings" pitchFamily="2" charset="2"/>
            </a:endParaRPr>
          </a:p>
          <a:p>
            <a:pPr lvl="1"/>
            <a:r>
              <a:rPr kumimoji="1" lang="en-US" altLang="ko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  <a:sym typeface="Wingdings" pitchFamily="2" charset="2"/>
              </a:rPr>
              <a:t>ISD:  Information set </a:t>
            </a:r>
            <a:r>
              <a:rPr kumimoji="1"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  <a:sym typeface="Wingdings" pitchFamily="2" charset="2"/>
              </a:rPr>
              <a:t>추출</a:t>
            </a:r>
            <a:r>
              <a:rPr kumimoji="1" lang="en-US" altLang="ko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  <a:sym typeface="Wingdings" pitchFamily="2" charset="2"/>
              </a:rPr>
              <a:t>,</a:t>
            </a:r>
            <a:r>
              <a:rPr kumimoji="1"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  <a:sym typeface="Wingdings" pitchFamily="2" charset="2"/>
              </a:rPr>
              <a:t>  </a:t>
            </a:r>
            <a:r>
              <a:rPr kumimoji="1" lang="ko-KR" altLang="en-US" sz="20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  <a:sym typeface="Wingdings" pitchFamily="2" charset="2"/>
              </a:rPr>
              <a:t>역행렬</a:t>
            </a:r>
            <a:r>
              <a:rPr kumimoji="1"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  <a:sym typeface="Wingdings" pitchFamily="2" charset="2"/>
              </a:rPr>
              <a:t> 계산 </a:t>
            </a:r>
            <a:r>
              <a:rPr kumimoji="1" lang="en-US" altLang="ko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  <a:sym typeface="Wingdings" pitchFamily="2" charset="2"/>
              </a:rPr>
              <a:t>(</a:t>
            </a:r>
            <a:r>
              <a:rPr kumimoji="1"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  <a:sym typeface="Wingdings" pitchFamily="2" charset="2"/>
              </a:rPr>
              <a:t>가우스 소거</a:t>
            </a:r>
            <a:r>
              <a:rPr kumimoji="1" lang="en-US" altLang="ko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  <a:sym typeface="Wingdings" pitchFamily="2" charset="2"/>
              </a:rPr>
              <a:t>),  </a:t>
            </a:r>
            <a:r>
              <a:rPr kumimoji="1" lang="ko-KR" altLang="en-US" sz="20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  <a:sym typeface="Wingdings" pitchFamily="2" charset="2"/>
              </a:rPr>
              <a:t>해밍</a:t>
            </a:r>
            <a:r>
              <a:rPr kumimoji="1"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  <a:sym typeface="Wingdings" pitchFamily="2" charset="2"/>
              </a:rPr>
              <a:t> 무게 계산 </a:t>
            </a:r>
            <a:r>
              <a:rPr kumimoji="1" lang="en-US" altLang="ko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  <a:sym typeface="Wingdings" pitchFamily="2" charset="2"/>
              </a:rPr>
              <a:t>(</a:t>
            </a:r>
            <a:r>
              <a:rPr kumimoji="1"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  <a:sym typeface="Wingdings" pitchFamily="2" charset="2"/>
              </a:rPr>
              <a:t>덧셈 트리</a:t>
            </a:r>
            <a:r>
              <a:rPr kumimoji="1" lang="en-US" altLang="ko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  <a:sym typeface="Wingdings" pitchFamily="2" charset="2"/>
              </a:rPr>
              <a:t>)</a:t>
            </a:r>
          </a:p>
          <a:p>
            <a:pPr lvl="1"/>
            <a:r>
              <a:rPr kumimoji="1" lang="en-US" altLang="ko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  <a:sym typeface="Wingdings" pitchFamily="2" charset="2"/>
              </a:rPr>
              <a:t>AES:  </a:t>
            </a:r>
            <a:r>
              <a:rPr kumimoji="1" lang="ko-KR" altLang="en-US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  <a:sym typeface="Wingdings" pitchFamily="2" charset="2"/>
              </a:rPr>
              <a:t>암호화 연산 </a:t>
            </a:r>
            <a:r>
              <a:rPr kumimoji="1" lang="en-US" altLang="ko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  <a:sym typeface="Wingdings" pitchFamily="2" charset="2"/>
              </a:rPr>
              <a:t>(</a:t>
            </a:r>
            <a:r>
              <a:rPr kumimoji="1" lang="en-US" altLang="ko-KR" sz="20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  <a:sym typeface="Wingdings" pitchFamily="2" charset="2"/>
              </a:rPr>
              <a:t>AddRoundkey</a:t>
            </a:r>
            <a:r>
              <a:rPr kumimoji="1" lang="en-US" altLang="ko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  <a:sym typeface="Wingdings" pitchFamily="2" charset="2"/>
              </a:rPr>
              <a:t>, </a:t>
            </a:r>
            <a:r>
              <a:rPr kumimoji="1" lang="en-US" altLang="ko-KR" sz="20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  <a:sym typeface="Wingdings" pitchFamily="2" charset="2"/>
              </a:rPr>
              <a:t>SubBytes</a:t>
            </a:r>
            <a:r>
              <a:rPr kumimoji="1" lang="en-US" altLang="ko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  <a:sym typeface="Wingdings" pitchFamily="2" charset="2"/>
              </a:rPr>
              <a:t>, </a:t>
            </a:r>
            <a:r>
              <a:rPr kumimoji="1" lang="en-US" altLang="ko-KR" sz="20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  <a:sym typeface="Wingdings" pitchFamily="2" charset="2"/>
              </a:rPr>
              <a:t>MixColumns</a:t>
            </a:r>
            <a:r>
              <a:rPr kumimoji="1" lang="en-US" altLang="ko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  <a:sym typeface="Wingdings" pitchFamily="2" charset="2"/>
              </a:rPr>
              <a:t>, </a:t>
            </a:r>
            <a:r>
              <a:rPr kumimoji="1" lang="en-US" altLang="ko-KR" sz="20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  <a:sym typeface="Wingdings" pitchFamily="2" charset="2"/>
              </a:rPr>
              <a:t>KeySchedule</a:t>
            </a:r>
            <a:r>
              <a:rPr kumimoji="1" lang="en-US" altLang="ko-KR" sz="2000" dirty="0">
                <a:latin typeface="Gmarket Sans TTF Medium" panose="02000000000000000000" pitchFamily="2" charset="-128"/>
                <a:ea typeface="Gmarket Sans TTF Medium" panose="02000000000000000000" pitchFamily="2" charset="-128"/>
                <a:sym typeface="Wingdings" pitchFamily="2" charset="2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F785646-3D63-65C6-7AC1-8C352BCDBC32}"/>
                  </a:ext>
                </a:extLst>
              </p:cNvPr>
              <p:cNvSpPr txBox="1"/>
              <p:nvPr/>
            </p:nvSpPr>
            <p:spPr>
              <a:xfrm>
                <a:off x="6678348" y="3304150"/>
                <a:ext cx="4902201" cy="26396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endParaRPr lang="en-US" altLang="ko-KR" sz="18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algn="ctr"/>
                <a:r>
                  <a:rPr lang="ko-KR" altLang="en-US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패리티 체크 행렬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  <a:ea typeface="Gmarket Sans TTF Medium" panose="02000000000000000000" pitchFamily="2" charset="-128"/>
                        <a:sym typeface="Wingdings" pitchFamily="2" charset="2"/>
                      </a:rPr>
                      <m:t>𝐻</m:t>
                    </m:r>
                  </m:oMath>
                </a14:m>
                <a:endParaRPr lang="en-US" altLang="ko-KR" sz="1800" dirty="0">
                  <a:latin typeface="Gmarket Sans TTF Medium" panose="02000000000000000000" pitchFamily="2" charset="-128"/>
                  <a:ea typeface="Gmarket Sans TTF Medium" panose="02000000000000000000" pitchFamily="2" charset="-128"/>
                  <a:sym typeface="Wingdings" pitchFamily="2" charset="2"/>
                </a:endParaRPr>
              </a:p>
              <a:p>
                <a:pPr algn="ctr"/>
                <a:endParaRPr lang="en-US" altLang="ko-KR" sz="1800" dirty="0">
                  <a:latin typeface="Gmarket Sans TTF Medium" panose="02000000000000000000" pitchFamily="2" charset="-128"/>
                  <a:ea typeface="Gmarket Sans TTF Medium" panose="02000000000000000000" pitchFamily="2" charset="-128"/>
                  <a:sym typeface="Wingdings" pitchFamily="2" charset="2"/>
                </a:endParaRPr>
              </a:p>
              <a:p>
                <a:pPr algn="ctr"/>
                <a:endParaRPr lang="en-US" altLang="ko-KR" sz="1800" dirty="0">
                  <a:latin typeface="Gmarket Sans TTF Medium" panose="02000000000000000000" pitchFamily="2" charset="-128"/>
                  <a:ea typeface="Gmarket Sans TTF Medium" panose="02000000000000000000" pitchFamily="2" charset="-128"/>
                  <a:sym typeface="Wingdings" pitchFamily="2" charset="2"/>
                </a:endParaRPr>
              </a:p>
              <a:p>
                <a:pPr algn="ctr"/>
                <a:r>
                  <a:rPr lang="en-US" altLang="ko-KR" sz="18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Information set </a:t>
                </a:r>
                <a:r>
                  <a:rPr lang="ko-KR" altLang="en-US" sz="18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추출</a:t>
                </a:r>
                <a:r>
                  <a:rPr lang="en-US" altLang="ko-KR" sz="18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ore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ore-KR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ko-Kore-KR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ko-Kore-KR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ko-Kore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altLang="ko-KR" dirty="0">
                  <a:latin typeface="Gmarket Sans TTF Medium" panose="02000000000000000000" pitchFamily="2" charset="-128"/>
                  <a:ea typeface="Gmarket Sans TTF Medium" panose="02000000000000000000" pitchFamily="2" charset="-128"/>
                  <a:sym typeface="Wingdings" pitchFamily="2" charset="2"/>
                </a:endParaRPr>
              </a:p>
              <a:p>
                <a:pPr algn="ctr"/>
                <a:r>
                  <a:rPr lang="en-US" altLang="ko-KR" sz="18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Information</a:t>
                </a:r>
                <a:r>
                  <a:rPr lang="ko-KR" altLang="en-US" sz="18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 </a:t>
                </a:r>
                <a:r>
                  <a:rPr lang="en-US" altLang="ko-KR" sz="18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set</a:t>
                </a:r>
                <a:r>
                  <a:rPr lang="ko-KR" altLang="en-US" sz="18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 </a:t>
                </a:r>
                <a:r>
                  <a:rPr lang="ko-KR" altLang="en-US" sz="1800" dirty="0" err="1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역행렬</a:t>
                </a:r>
                <a:r>
                  <a:rPr lang="ko-KR" altLang="en-US" sz="18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 계산</a:t>
                </a:r>
                <a:r>
                  <a:rPr lang="en-US" altLang="ko-KR" sz="18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: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ko-Kore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kumimoji="1" lang="en-US" altLang="ko-Kore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ore-KR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kumimoji="1" lang="en-US" altLang="ko-Kore-K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ko-Kore-K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ko-Kore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  <m:sup>
                        <m:r>
                          <a:rPr kumimoji="1" lang="en-US" altLang="ko-Kore-K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kumimoji="1" lang="en-US" altLang="ko-Kore-KR" dirty="0">
                  <a:latin typeface="Gmarket Sans TTF Medium" panose="02000000000000000000" pitchFamily="2" charset="-128"/>
                </a:endParaRPr>
              </a:p>
              <a:p>
                <a:pPr algn="ctr"/>
                <a:endParaRPr kumimoji="1" lang="en-US" altLang="ko-Kore-KR" sz="1500" dirty="0"/>
              </a:p>
              <a:p>
                <a:pPr algn="ctr"/>
                <a:r>
                  <a:rPr kumimoji="1" lang="en-US" altLang="ko-Kore-KR" dirty="0"/>
                  <a:t>Weight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ko-Kore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ko-Kore-KR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kumimoji="1" lang="en-US" altLang="ko-Kore-KR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ore-KR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kumimoji="1" lang="en-US" altLang="ko-Kore-K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kumimoji="1" lang="en-US" altLang="ko-Kore-K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kumimoji="1" lang="en-US" altLang="ko-Kore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  <m:sup>
                            <m:r>
                              <a:rPr kumimoji="1" lang="en-US" altLang="ko-Kore-K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kumimoji="1" lang="en-US" altLang="ko-Kore-K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kumimoji="1" lang="en-US" altLang="ko-KR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kumimoji="1" lang="en-US" altLang="ko-KR" b="0" i="0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kumimoji="1" lang="en-US" altLang="ko-Kore-KR" dirty="0">
                  <a:latin typeface="Gmarket Sans TTF Medium" panose="02000000000000000000" pitchFamily="2" charset="-128"/>
                </a:endParaRPr>
              </a:p>
              <a:p>
                <a:pPr algn="ctr"/>
                <a:endParaRPr kumimoji="1" lang="en-US" altLang="ko-Kore-KR" dirty="0">
                  <a:latin typeface="Gmarket Sans TTF Medium" panose="02000000000000000000" pitchFamily="2" charset="-128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F785646-3D63-65C6-7AC1-8C352BCDBC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8348" y="3304150"/>
                <a:ext cx="4902201" cy="26396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85E1AF87-50D6-A634-8D6B-C4F8BDD3E0AA}"/>
              </a:ext>
            </a:extLst>
          </p:cNvPr>
          <p:cNvSpPr txBox="1"/>
          <p:nvPr/>
        </p:nvSpPr>
        <p:spPr>
          <a:xfrm>
            <a:off x="2233348" y="2670411"/>
            <a:ext cx="916093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 algn="ctr">
              <a:buNone/>
            </a:pPr>
            <a:r>
              <a:rPr lang="ko-KR" altLang="en-US" sz="22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대칭키</a:t>
            </a:r>
            <a:r>
              <a:rPr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암호 키 복구            </a:t>
            </a:r>
            <a:r>
              <a:rPr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vs             </a:t>
            </a:r>
            <a:r>
              <a:rPr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코드기반암호</a:t>
            </a:r>
            <a:r>
              <a:rPr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양자 </a:t>
            </a:r>
            <a:r>
              <a:rPr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ISD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801719-0B20-F63F-1F47-FD5E8263CB79}"/>
              </a:ext>
            </a:extLst>
          </p:cNvPr>
          <p:cNvSpPr txBox="1"/>
          <p:nvPr/>
        </p:nvSpPr>
        <p:spPr>
          <a:xfrm>
            <a:off x="859928" y="3557812"/>
            <a:ext cx="108555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Input </a:t>
            </a:r>
          </a:p>
          <a:p>
            <a:pPr algn="ctr"/>
            <a:endParaRPr kumimoji="1" lang="en-US" altLang="ko-KR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algn="ctr"/>
            <a:endParaRPr kumimoji="1" lang="en-US" altLang="ko-KR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algn="ctr"/>
            <a:endParaRPr kumimoji="1" lang="en-US" altLang="ko-KR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algn="ctr"/>
            <a:r>
              <a:rPr kumimoji="1" lang="en-US" altLang="ko-KR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Grover</a:t>
            </a:r>
          </a:p>
          <a:p>
            <a:pPr algn="ctr"/>
            <a:r>
              <a:rPr kumimoji="1" lang="en-US" altLang="ko-KR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Oracle</a:t>
            </a:r>
            <a:endParaRPr kumimoji="1" lang="ko-KR" altLang="en-US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cxnSp>
        <p:nvCxnSpPr>
          <p:cNvPr id="26" name="직선 연결선[R] 25">
            <a:extLst>
              <a:ext uri="{FF2B5EF4-FFF2-40B4-BE49-F238E27FC236}">
                <a16:creationId xmlns:a16="http://schemas.microsoft.com/office/drawing/2014/main" id="{D3AE3BFA-FC31-CEFB-72B7-74709A71B12B}"/>
              </a:ext>
            </a:extLst>
          </p:cNvPr>
          <p:cNvCxnSpPr/>
          <p:nvPr/>
        </p:nvCxnSpPr>
        <p:spPr>
          <a:xfrm>
            <a:off x="923960" y="3282751"/>
            <a:ext cx="102277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[R] 26">
            <a:extLst>
              <a:ext uri="{FF2B5EF4-FFF2-40B4-BE49-F238E27FC236}">
                <a16:creationId xmlns:a16="http://schemas.microsoft.com/office/drawing/2014/main" id="{E29A27E6-A12E-7250-A43E-328756FB2B6C}"/>
              </a:ext>
            </a:extLst>
          </p:cNvPr>
          <p:cNvCxnSpPr/>
          <p:nvPr/>
        </p:nvCxnSpPr>
        <p:spPr>
          <a:xfrm>
            <a:off x="940893" y="4163284"/>
            <a:ext cx="102277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[R] 27">
            <a:extLst>
              <a:ext uri="{FF2B5EF4-FFF2-40B4-BE49-F238E27FC236}">
                <a16:creationId xmlns:a16="http://schemas.microsoft.com/office/drawing/2014/main" id="{C4E83252-1257-2974-67A7-F15F1F82701D}"/>
              </a:ext>
            </a:extLst>
          </p:cNvPr>
          <p:cNvCxnSpPr/>
          <p:nvPr/>
        </p:nvCxnSpPr>
        <p:spPr>
          <a:xfrm>
            <a:off x="940893" y="5738084"/>
            <a:ext cx="102277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[R] 28">
            <a:extLst>
              <a:ext uri="{FF2B5EF4-FFF2-40B4-BE49-F238E27FC236}">
                <a16:creationId xmlns:a16="http://schemas.microsoft.com/office/drawing/2014/main" id="{4E6FA0C7-3A16-068B-9600-F0960DB46B0D}"/>
              </a:ext>
            </a:extLst>
          </p:cNvPr>
          <p:cNvCxnSpPr>
            <a:cxnSpLocks/>
          </p:cNvCxnSpPr>
          <p:nvPr/>
        </p:nvCxnSpPr>
        <p:spPr>
          <a:xfrm flipV="1">
            <a:off x="2160094" y="2470105"/>
            <a:ext cx="0" cy="42373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2F7499E6-7994-DF51-7A87-1B1482E53F32}"/>
              </a:ext>
            </a:extLst>
          </p:cNvPr>
          <p:cNvSpPr txBox="1"/>
          <p:nvPr/>
        </p:nvSpPr>
        <p:spPr>
          <a:xfrm>
            <a:off x="790808" y="5929569"/>
            <a:ext cx="13692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Diffusion </a:t>
            </a:r>
          </a:p>
          <a:p>
            <a:r>
              <a:rPr kumimoji="1" lang="en-US" altLang="ko-KR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Operator</a:t>
            </a:r>
            <a:endParaRPr kumimoji="1" lang="ko-KR" altLang="en-US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cxnSp>
        <p:nvCxnSpPr>
          <p:cNvPr id="39" name="직선 연결선[R] 38">
            <a:extLst>
              <a:ext uri="{FF2B5EF4-FFF2-40B4-BE49-F238E27FC236}">
                <a16:creationId xmlns:a16="http://schemas.microsoft.com/office/drawing/2014/main" id="{0E58FEF7-28D7-7605-85A0-36584EE17480}"/>
              </a:ext>
            </a:extLst>
          </p:cNvPr>
          <p:cNvCxnSpPr>
            <a:cxnSpLocks/>
          </p:cNvCxnSpPr>
          <p:nvPr/>
        </p:nvCxnSpPr>
        <p:spPr>
          <a:xfrm>
            <a:off x="868395" y="6715877"/>
            <a:ext cx="103086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170ADCB-80E6-F9D1-5B79-134849313ABA}"/>
                  </a:ext>
                </a:extLst>
              </p:cNvPr>
              <p:cNvSpPr txBox="1"/>
              <p:nvPr/>
            </p:nvSpPr>
            <p:spPr>
              <a:xfrm>
                <a:off x="7684661" y="5936547"/>
                <a:ext cx="276133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Information set </a:t>
                </a:r>
                <a14:m>
                  <m:oMath xmlns:m="http://schemas.openxmlformats.org/officeDocument/2006/math">
                    <m:r>
                      <a:rPr kumimoji="1" lang="en-US" altLang="ko-Kore-KR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kumimoji="1" lang="en-US" altLang="ko-Kore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ore-KR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ko-Kore-KR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ko-Kore-KR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ko-Kore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kumimoji="1" lang="en-US" altLang="ko-Kore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kumimoji="1" lang="en-US" altLang="ko-KR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algn="ctr"/>
                <a:r>
                  <a:rPr kumimoji="1" lang="ko-KR" altLang="en-US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추출에 사용 된 벡터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170ADCB-80E6-F9D1-5B79-134849313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4661" y="5936547"/>
                <a:ext cx="2761333" cy="646331"/>
              </a:xfrm>
              <a:prstGeom prst="rect">
                <a:avLst/>
              </a:prstGeom>
              <a:blipFill>
                <a:blip r:embed="rId4"/>
                <a:stretch>
                  <a:fillRect l="-2294" t="-1923" b="-153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자유형 11">
            <a:extLst>
              <a:ext uri="{FF2B5EF4-FFF2-40B4-BE49-F238E27FC236}">
                <a16:creationId xmlns:a16="http://schemas.microsoft.com/office/drawing/2014/main" id="{8EE8D03B-109A-B991-34E9-78F3F8A5AED0}"/>
              </a:ext>
            </a:extLst>
          </p:cNvPr>
          <p:cNvSpPr/>
          <p:nvPr/>
        </p:nvSpPr>
        <p:spPr>
          <a:xfrm>
            <a:off x="7677414" y="5281013"/>
            <a:ext cx="152400" cy="169333"/>
          </a:xfrm>
          <a:custGeom>
            <a:avLst/>
            <a:gdLst>
              <a:gd name="connsiteX0" fmla="*/ 0 w 152400"/>
              <a:gd name="connsiteY0" fmla="*/ 84667 h 169333"/>
              <a:gd name="connsiteX1" fmla="*/ 25400 w 152400"/>
              <a:gd name="connsiteY1" fmla="*/ 127000 h 169333"/>
              <a:gd name="connsiteX2" fmla="*/ 42334 w 152400"/>
              <a:gd name="connsiteY2" fmla="*/ 143933 h 169333"/>
              <a:gd name="connsiteX3" fmla="*/ 59267 w 152400"/>
              <a:gd name="connsiteY3" fmla="*/ 169333 h 169333"/>
              <a:gd name="connsiteX4" fmla="*/ 84667 w 152400"/>
              <a:gd name="connsiteY4" fmla="*/ 143933 h 169333"/>
              <a:gd name="connsiteX5" fmla="*/ 101600 w 152400"/>
              <a:gd name="connsiteY5" fmla="*/ 93133 h 169333"/>
              <a:gd name="connsiteX6" fmla="*/ 110067 w 152400"/>
              <a:gd name="connsiteY6" fmla="*/ 67733 h 169333"/>
              <a:gd name="connsiteX7" fmla="*/ 143934 w 152400"/>
              <a:gd name="connsiteY7" fmla="*/ 25400 h 169333"/>
              <a:gd name="connsiteX8" fmla="*/ 152400 w 152400"/>
              <a:gd name="connsiteY8" fmla="*/ 0 h 169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2400" h="169333">
                <a:moveTo>
                  <a:pt x="0" y="84667"/>
                </a:moveTo>
                <a:cubicBezTo>
                  <a:pt x="8467" y="98778"/>
                  <a:pt x="15835" y="113609"/>
                  <a:pt x="25400" y="127000"/>
                </a:cubicBezTo>
                <a:cubicBezTo>
                  <a:pt x="30040" y="133496"/>
                  <a:pt x="37347" y="137700"/>
                  <a:pt x="42334" y="143933"/>
                </a:cubicBezTo>
                <a:cubicBezTo>
                  <a:pt x="48691" y="151879"/>
                  <a:pt x="53623" y="160866"/>
                  <a:pt x="59267" y="169333"/>
                </a:cubicBezTo>
                <a:cubicBezTo>
                  <a:pt x="67734" y="160866"/>
                  <a:pt x="78852" y="154400"/>
                  <a:pt x="84667" y="143933"/>
                </a:cubicBezTo>
                <a:cubicBezTo>
                  <a:pt x="93335" y="128330"/>
                  <a:pt x="95956" y="110066"/>
                  <a:pt x="101600" y="93133"/>
                </a:cubicBezTo>
                <a:cubicBezTo>
                  <a:pt x="104422" y="84666"/>
                  <a:pt x="105117" y="75159"/>
                  <a:pt x="110067" y="67733"/>
                </a:cubicBezTo>
                <a:cubicBezTo>
                  <a:pt x="131428" y="35691"/>
                  <a:pt x="119805" y="49528"/>
                  <a:pt x="143934" y="25400"/>
                </a:cubicBezTo>
                <a:lnTo>
                  <a:pt x="152400" y="0"/>
                </a:ln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2B670E7-ED53-BC48-ADAB-54A16FD461BD}"/>
                  </a:ext>
                </a:extLst>
              </p:cNvPr>
              <p:cNvSpPr txBox="1"/>
              <p:nvPr/>
            </p:nvSpPr>
            <p:spPr>
              <a:xfrm>
                <a:off x="1091568" y="3333553"/>
                <a:ext cx="6790268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endParaRPr lang="en-US" altLang="ko-KR" sz="18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algn="ctr"/>
                <a:r>
                  <a:rPr lang="ko-KR" altLang="en-US" sz="18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알려진 </a:t>
                </a:r>
                <a:r>
                  <a:rPr lang="ko-KR" altLang="en-US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평문</a:t>
                </a:r>
                <a:r>
                  <a:rPr lang="en-US" altLang="ko-KR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Gmarket Sans TTF Medium" panose="02000000000000000000" pitchFamily="2" charset="-128"/>
                        <a:sym typeface="Wingdings" pitchFamily="2" charset="2"/>
                      </a:rPr>
                      <m:t>𝑃</m:t>
                    </m:r>
                  </m:oMath>
                </a14:m>
                <a:endParaRPr lang="en-US" altLang="ko-KR" sz="1800" dirty="0">
                  <a:latin typeface="Gmarket Sans TTF Medium" panose="02000000000000000000" pitchFamily="2" charset="-128"/>
                  <a:ea typeface="Gmarket Sans TTF Medium" panose="02000000000000000000" pitchFamily="2" charset="-128"/>
                  <a:sym typeface="Wingdings" pitchFamily="2" charset="2"/>
                </a:endParaRPr>
              </a:p>
              <a:p>
                <a:pPr algn="ctr"/>
                <a:endParaRPr lang="en-US" altLang="ko-KR" sz="1800" dirty="0">
                  <a:latin typeface="Gmarket Sans TTF Medium" panose="02000000000000000000" pitchFamily="2" charset="-128"/>
                  <a:ea typeface="Gmarket Sans TTF Medium" panose="02000000000000000000" pitchFamily="2" charset="-128"/>
                  <a:sym typeface="Wingdings" pitchFamily="2" charset="2"/>
                </a:endParaRPr>
              </a:p>
              <a:p>
                <a:pPr algn="ctr"/>
                <a:endParaRPr lang="en-US" altLang="ko-KR" sz="1800" dirty="0">
                  <a:latin typeface="Gmarket Sans TTF Medium" panose="02000000000000000000" pitchFamily="2" charset="-128"/>
                  <a:ea typeface="Gmarket Sans TTF Medium" panose="02000000000000000000" pitchFamily="2" charset="-128"/>
                  <a:sym typeface="Wingdings" pitchFamily="2" charset="2"/>
                </a:endParaRPr>
              </a:p>
              <a:p>
                <a:pPr algn="ctr"/>
                <a:r>
                  <a:rPr lang="ko-KR" altLang="en-US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암호화 알고리즘</a:t>
                </a:r>
                <a:r>
                  <a:rPr lang="en-US" altLang="ko-KR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  <m:t>𝐸𝑛𝑐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  <m:t>𝐾</m:t>
                        </m:r>
                      </m:sub>
                    </m:sSub>
                    <m:d>
                      <m:dPr>
                        <m:ctrlPr>
                          <a:rPr lang="en-US" altLang="ko-KR" i="1" dirty="0" smtClean="0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  <m:t>𝑃</m:t>
                        </m:r>
                      </m:e>
                    </m:d>
                  </m:oMath>
                </a14:m>
                <a:endParaRPr lang="en-US" altLang="ko-KR" i="1" dirty="0">
                  <a:latin typeface="Cambria Math" panose="02040503050406030204" pitchFamily="18" charset="0"/>
                  <a:ea typeface="Gmarket Sans TTF Medium" panose="02000000000000000000" pitchFamily="2" charset="-128"/>
                  <a:sym typeface="Wingdings" pitchFamily="2" charset="2"/>
                </a:endParaRPr>
              </a:p>
              <a:p>
                <a:pPr algn="ctr"/>
                <a:r>
                  <a:rPr lang="en-US" altLang="ko-KR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(e.g., AES, ARIA)</a:t>
                </a:r>
              </a:p>
              <a:p>
                <a:pPr algn="ctr"/>
                <a:endParaRPr lang="en-US" altLang="ko-KR" sz="1500" i="1" dirty="0">
                  <a:latin typeface="Cambria Math" panose="02040503050406030204" pitchFamily="18" charset="0"/>
                  <a:ea typeface="Gmarket Sans TTF Medium" panose="02000000000000000000" pitchFamily="2" charset="-128"/>
                  <a:sym typeface="Wingdings" pitchFamily="2" charset="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dirty="0" smtClean="0">
                              <a:latin typeface="Cambria Math" panose="02040503050406030204" pitchFamily="18" charset="0"/>
                              <a:ea typeface="Gmarket Sans TTF Medium" panose="02000000000000000000" pitchFamily="2" charset="-128"/>
                              <a:sym typeface="Wingdings" pitchFamily="2" charset="2"/>
                            </a:rPr>
                          </m:ctrlPr>
                        </m:sSub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  <a:ea typeface="Gmarket Sans TTF Medium" panose="02000000000000000000" pitchFamily="2" charset="-128"/>
                              <a:sym typeface="Wingdings" pitchFamily="2" charset="2"/>
                            </a:rPr>
                            <m:t>𝐸𝑛𝑐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  <a:ea typeface="Gmarket Sans TTF Medium" panose="02000000000000000000" pitchFamily="2" charset="-128"/>
                              <a:sym typeface="Wingdings" pitchFamily="2" charset="2"/>
                            </a:rPr>
                            <m:t>𝐾</m:t>
                          </m:r>
                        </m:sub>
                      </m:sSub>
                      <m:d>
                        <m:dPr>
                          <m:ctrlPr>
                            <a:rPr lang="en-US" altLang="ko-KR" i="1" dirty="0" smtClean="0">
                              <a:latin typeface="Cambria Math" panose="02040503050406030204" pitchFamily="18" charset="0"/>
                              <a:ea typeface="Gmarket Sans TTF Medium" panose="02000000000000000000" pitchFamily="2" charset="-128"/>
                              <a:sym typeface="Wingdings" pitchFamily="2" charset="2"/>
                            </a:rPr>
                          </m:ctrlPr>
                        </m:dPr>
                        <m:e>
                          <m:r>
                            <a:rPr lang="en-US" altLang="ko-KR" i="1" dirty="0" smtClean="0">
                              <a:latin typeface="Cambria Math" panose="02040503050406030204" pitchFamily="18" charset="0"/>
                              <a:ea typeface="Gmarket Sans TTF Medium" panose="02000000000000000000" pitchFamily="2" charset="-128"/>
                              <a:sym typeface="Wingdings" pitchFamily="2" charset="2"/>
                            </a:rPr>
                            <m:t>𝑃</m:t>
                          </m:r>
                        </m:e>
                      </m:d>
                      <m:r>
                        <a:rPr lang="en-US" altLang="ko-KR" b="0" i="1" dirty="0" smtClean="0">
                          <a:latin typeface="Cambria Math" panose="02040503050406030204" pitchFamily="18" charset="0"/>
                          <a:ea typeface="Gmarket Sans TTF Medium" panose="02000000000000000000" pitchFamily="2" charset="-128"/>
                          <a:sym typeface="Wingdings" pitchFamily="2" charset="2"/>
                        </a:rPr>
                        <m:t>=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  <a:ea typeface="Gmarket Sans TTF Medium" panose="02000000000000000000" pitchFamily="2" charset="-128"/>
                          <a:sym typeface="Wingdings" pitchFamily="2" charset="2"/>
                        </a:rPr>
                        <m:t>𝐶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  <a:ea typeface="Gmarket Sans TTF Medium" panose="02000000000000000000" pitchFamily="2" charset="-128"/>
                          <a:sym typeface="Wingdings" pitchFamily="2" charset="2"/>
                        </a:rPr>
                        <m:t>?</m:t>
                      </m:r>
                    </m:oMath>
                  </m:oMathPara>
                </a14:m>
                <a:endParaRPr lang="en-US" altLang="ko-KR" sz="1500" i="1" dirty="0">
                  <a:latin typeface="Cambria Math" panose="02040503050406030204" pitchFamily="18" charset="0"/>
                  <a:ea typeface="Gmarket Sans TTF Medium" panose="02000000000000000000" pitchFamily="2" charset="-128"/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2B670E7-ED53-BC48-ADAB-54A16FD46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568" y="3333553"/>
                <a:ext cx="6790268" cy="2308324"/>
              </a:xfrm>
              <a:prstGeom prst="rect">
                <a:avLst/>
              </a:prstGeom>
              <a:blipFill>
                <a:blip r:embed="rId5"/>
                <a:stretch>
                  <a:fillRect b="-10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0A4AA3C-A81A-C6B6-4657-85E3AC3E6BC7}"/>
                  </a:ext>
                </a:extLst>
              </p:cNvPr>
              <p:cNvSpPr txBox="1"/>
              <p:nvPr/>
            </p:nvSpPr>
            <p:spPr>
              <a:xfrm>
                <a:off x="3881921" y="6082686"/>
                <a:ext cx="10861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ko-KR" altLang="en-US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비밀키 </a:t>
                </a:r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Gmarket Sans TTF Medium" panose="02000000000000000000" pitchFamily="2" charset="-128"/>
                      </a:rPr>
                      <m:t>𝐾</m:t>
                    </m:r>
                  </m:oMath>
                </a14:m>
                <a:endParaRPr kumimoji="1" lang="ko-KR" altLang="en-US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0A4AA3C-A81A-C6B6-4657-85E3AC3E6B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1921" y="6082686"/>
                <a:ext cx="1086131" cy="369332"/>
              </a:xfrm>
              <a:prstGeom prst="rect">
                <a:avLst/>
              </a:prstGeom>
              <a:blipFill>
                <a:blip r:embed="rId6"/>
                <a:stretch>
                  <a:fillRect l="-4598" t="-6897" b="-3103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자유형 15">
            <a:extLst>
              <a:ext uri="{FF2B5EF4-FFF2-40B4-BE49-F238E27FC236}">
                <a16:creationId xmlns:a16="http://schemas.microsoft.com/office/drawing/2014/main" id="{54CF889B-692B-057C-1DC2-F00239F9B5E1}"/>
              </a:ext>
            </a:extLst>
          </p:cNvPr>
          <p:cNvSpPr/>
          <p:nvPr/>
        </p:nvSpPr>
        <p:spPr>
          <a:xfrm>
            <a:off x="3518556" y="5289869"/>
            <a:ext cx="152400" cy="169333"/>
          </a:xfrm>
          <a:custGeom>
            <a:avLst/>
            <a:gdLst>
              <a:gd name="connsiteX0" fmla="*/ 0 w 152400"/>
              <a:gd name="connsiteY0" fmla="*/ 84667 h 169333"/>
              <a:gd name="connsiteX1" fmla="*/ 25400 w 152400"/>
              <a:gd name="connsiteY1" fmla="*/ 127000 h 169333"/>
              <a:gd name="connsiteX2" fmla="*/ 42334 w 152400"/>
              <a:gd name="connsiteY2" fmla="*/ 143933 h 169333"/>
              <a:gd name="connsiteX3" fmla="*/ 59267 w 152400"/>
              <a:gd name="connsiteY3" fmla="*/ 169333 h 169333"/>
              <a:gd name="connsiteX4" fmla="*/ 84667 w 152400"/>
              <a:gd name="connsiteY4" fmla="*/ 143933 h 169333"/>
              <a:gd name="connsiteX5" fmla="*/ 101600 w 152400"/>
              <a:gd name="connsiteY5" fmla="*/ 93133 h 169333"/>
              <a:gd name="connsiteX6" fmla="*/ 110067 w 152400"/>
              <a:gd name="connsiteY6" fmla="*/ 67733 h 169333"/>
              <a:gd name="connsiteX7" fmla="*/ 143934 w 152400"/>
              <a:gd name="connsiteY7" fmla="*/ 25400 h 169333"/>
              <a:gd name="connsiteX8" fmla="*/ 152400 w 152400"/>
              <a:gd name="connsiteY8" fmla="*/ 0 h 169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2400" h="169333">
                <a:moveTo>
                  <a:pt x="0" y="84667"/>
                </a:moveTo>
                <a:cubicBezTo>
                  <a:pt x="8467" y="98778"/>
                  <a:pt x="15835" y="113609"/>
                  <a:pt x="25400" y="127000"/>
                </a:cubicBezTo>
                <a:cubicBezTo>
                  <a:pt x="30040" y="133496"/>
                  <a:pt x="37347" y="137700"/>
                  <a:pt x="42334" y="143933"/>
                </a:cubicBezTo>
                <a:cubicBezTo>
                  <a:pt x="48691" y="151879"/>
                  <a:pt x="53623" y="160866"/>
                  <a:pt x="59267" y="169333"/>
                </a:cubicBezTo>
                <a:cubicBezTo>
                  <a:pt x="67734" y="160866"/>
                  <a:pt x="78852" y="154400"/>
                  <a:pt x="84667" y="143933"/>
                </a:cubicBezTo>
                <a:cubicBezTo>
                  <a:pt x="93335" y="128330"/>
                  <a:pt x="95956" y="110066"/>
                  <a:pt x="101600" y="93133"/>
                </a:cubicBezTo>
                <a:cubicBezTo>
                  <a:pt x="104422" y="84666"/>
                  <a:pt x="105117" y="75159"/>
                  <a:pt x="110067" y="67733"/>
                </a:cubicBezTo>
                <a:cubicBezTo>
                  <a:pt x="131428" y="35691"/>
                  <a:pt x="119805" y="49528"/>
                  <a:pt x="143934" y="25400"/>
                </a:cubicBezTo>
                <a:lnTo>
                  <a:pt x="152400" y="0"/>
                </a:ln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B4FA92E-5DD9-AE9E-05FF-26BA8765091A}"/>
              </a:ext>
            </a:extLst>
          </p:cNvPr>
          <p:cNvSpPr/>
          <p:nvPr/>
        </p:nvSpPr>
        <p:spPr>
          <a:xfrm>
            <a:off x="868395" y="4151273"/>
            <a:ext cx="10308698" cy="157834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6" name="직선 연결선[R] 5">
            <a:extLst>
              <a:ext uri="{FF2B5EF4-FFF2-40B4-BE49-F238E27FC236}">
                <a16:creationId xmlns:a16="http://schemas.microsoft.com/office/drawing/2014/main" id="{E94BED12-E163-CDF3-CF52-53C8A69C3493}"/>
              </a:ext>
            </a:extLst>
          </p:cNvPr>
          <p:cNvCxnSpPr>
            <a:cxnSpLocks/>
          </p:cNvCxnSpPr>
          <p:nvPr/>
        </p:nvCxnSpPr>
        <p:spPr>
          <a:xfrm>
            <a:off x="758793" y="2470105"/>
            <a:ext cx="103086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슬라이드 번호 개체 틀 10">
            <a:extLst>
              <a:ext uri="{FF2B5EF4-FFF2-40B4-BE49-F238E27FC236}">
                <a16:creationId xmlns:a16="http://schemas.microsoft.com/office/drawing/2014/main" id="{7DA8E8D0-DCF8-C711-529D-EE71A13038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8852B28-D290-2A4B-A90A-47EAEF72A8E4}" type="slidenum">
              <a:rPr kumimoji="1" lang="ko-Kore-KR" altLang="en-US" smtClean="0"/>
              <a:t>9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17564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EC90E-633B-F342-73A9-9179DD4BE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CB4BBE-91CB-9108-9D5B-59D6BED3C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Overview: </a:t>
            </a:r>
            <a:r>
              <a:rPr kumimoji="1" lang="ko-KR" altLang="en-US" sz="32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대칭키</a:t>
            </a:r>
            <a:r>
              <a:rPr kumimoji="1" lang="ko-KR" altLang="en-US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암호 </a:t>
            </a:r>
            <a:r>
              <a:rPr kumimoji="1" lang="en-US" altLang="ko-KR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vs </a:t>
            </a:r>
            <a:r>
              <a:rPr kumimoji="1" lang="ko-KR" altLang="en-US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코드기반 암호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8E903983-0C49-FD11-4B17-851E5B9FAB1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0" y="1106120"/>
                <a:ext cx="11880762" cy="1097239"/>
              </a:xfrm>
            </p:spPr>
            <p:txBody>
              <a:bodyPr>
                <a:noAutofit/>
              </a:bodyPr>
              <a:lstStyle/>
              <a:p>
                <a:r>
                  <a:rPr kumimoji="1"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Diffusion Operator</a:t>
                </a:r>
                <a:r>
                  <a:rPr kumimoji="1"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의 </a:t>
                </a:r>
                <a:r>
                  <a:rPr kumimoji="1" lang="en-US" altLang="ko-KR" sz="2200" b="1" dirty="0">
                    <a:latin typeface="Gmarket Sans TTF Bold" panose="02000000000000000000" pitchFamily="2" charset="-128"/>
                    <a:ea typeface="Gmarket Sans TTF Bold" panose="02000000000000000000" pitchFamily="2" charset="-128"/>
                    <a:sym typeface="Wingdings" pitchFamily="2" charset="2"/>
                  </a:rPr>
                  <a:t>Multi-Controlled </a:t>
                </a:r>
                <a:r>
                  <a:rPr kumimoji="1" lang="ko-KR" altLang="en-US" sz="2200" b="1" dirty="0">
                    <a:latin typeface="Gmarket Sans TTF Bold" panose="02000000000000000000" pitchFamily="2" charset="-128"/>
                    <a:ea typeface="Gmarket Sans TTF Bold" panose="02000000000000000000" pitchFamily="2" charset="-128"/>
                    <a:sym typeface="Wingdings" pitchFamily="2" charset="2"/>
                  </a:rPr>
                  <a:t>게이트</a:t>
                </a:r>
                <a:endParaRPr kumimoji="1" lang="en-US" altLang="ko-KR" sz="2200" b="1" dirty="0">
                  <a:latin typeface="Gmarket Sans TTF Bold" panose="02000000000000000000" pitchFamily="2" charset="-128"/>
                  <a:ea typeface="Gmarket Sans TTF Bold" panose="02000000000000000000" pitchFamily="2" charset="-128"/>
                  <a:sym typeface="Wingdings" pitchFamily="2" charset="2"/>
                </a:endParaRPr>
              </a:p>
              <a:p>
                <a:pPr lvl="1"/>
                <a:r>
                  <a:rPr kumimoji="1" lang="en-US" altLang="ko-KR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ISD:  </a:t>
                </a:r>
                <a14:m>
                  <m:oMath xmlns:m="http://schemas.openxmlformats.org/officeDocument/2006/math">
                    <m:r>
                      <a:rPr kumimoji="1" lang="en-US" altLang="ko-KR" sz="2000" b="0" i="1" dirty="0" smtClean="0">
                        <a:latin typeface="Cambria Math" panose="02040503050406030204" pitchFamily="18" charset="0"/>
                        <a:ea typeface="Gmarket Sans TTF Medium" panose="02000000000000000000" pitchFamily="2" charset="-128"/>
                        <a:sym typeface="Wingdings" pitchFamily="2" charset="2"/>
                      </a:rPr>
                      <m:t>𝑛</m:t>
                    </m:r>
                  </m:oMath>
                </a14:m>
                <a:r>
                  <a:rPr kumimoji="1" lang="en-US" altLang="ko-KR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-qubit </a:t>
                </a:r>
                <a:r>
                  <a:rPr kumimoji="1" lang="ko-KR" altLang="en-US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벡터를 대상으로 동작</a:t>
                </a:r>
                <a14:m>
                  <m:oMath xmlns:m="http://schemas.openxmlformats.org/officeDocument/2006/math">
                    <m:r>
                      <a:rPr kumimoji="1" lang="en-US" altLang="ko-KR" sz="2000" b="0" i="0" dirty="0" smtClean="0">
                        <a:latin typeface="Cambria Math" panose="02040503050406030204" pitchFamily="18" charset="0"/>
                        <a:ea typeface="Gmarket Sans TTF Medium" panose="02000000000000000000" pitchFamily="2" charset="-128"/>
                        <a:sym typeface="Wingdings" pitchFamily="2" charset="2"/>
                      </a:rPr>
                      <m:t> (</m:t>
                    </m:r>
                    <m:r>
                      <m:rPr>
                        <m:nor/>
                      </m:rPr>
                      <a:rPr kumimoji="1" lang="en-US" altLang="ko-KR" sz="2000" dirty="0">
                        <a:latin typeface="Gmarket Sans TTF Medium" panose="02000000000000000000" pitchFamily="2" charset="-128"/>
                        <a:ea typeface="Cambria Math" panose="02040503050406030204" pitchFamily="18" charset="0"/>
                        <a:sym typeface="Wingdings" pitchFamily="2" charset="2"/>
                      </a:rPr>
                      <m:t>HQC</m:t>
                    </m:r>
                    <m:r>
                      <m:rPr>
                        <m:nor/>
                      </m:rPr>
                      <a:rPr kumimoji="1" lang="en-US" altLang="ko-KR" sz="2000" dirty="0">
                        <a:latin typeface="Gmarket Sans TTF Medium" panose="02000000000000000000" pitchFamily="2" charset="-128"/>
                        <a:ea typeface="Cambria Math" panose="02040503050406030204" pitchFamily="18" charset="0"/>
                        <a:sym typeface="Wingdings" pitchFamily="2" charset="2"/>
                      </a:rPr>
                      <m:t>−1</m:t>
                    </m:r>
                    <m:r>
                      <a:rPr kumimoji="1" lang="en-US" altLang="ko-KR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: </m:t>
                    </m:r>
                    <m:r>
                      <a:rPr kumimoji="1" lang="en-US" altLang="ko-KR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𝑛</m:t>
                    </m:r>
                    <m:r>
                      <a:rPr kumimoji="1" lang="en-US" altLang="ko-KR" sz="20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=17699</m:t>
                    </m:r>
                    <m:r>
                      <a:rPr kumimoji="1" lang="en-US" altLang="ko-KR" sz="2000" b="0" i="0" dirty="0" smtClean="0">
                        <a:latin typeface="Cambria Math" panose="02040503050406030204" pitchFamily="18" charset="0"/>
                        <a:ea typeface="Gmarket Sans TTF Medium" panose="02000000000000000000" pitchFamily="2" charset="-128"/>
                        <a:sym typeface="Wingdings" pitchFamily="2" charset="2"/>
                      </a:rPr>
                      <m:t>)</m:t>
                    </m:r>
                  </m:oMath>
                </a14:m>
                <a:endParaRPr kumimoji="1" lang="ko-KR" altLang="en-US" sz="2000" dirty="0">
                  <a:latin typeface="Gmarket Sans TTF Medium" panose="02000000000000000000" pitchFamily="2" charset="-128"/>
                  <a:ea typeface="Gmarket Sans TTF Medium" panose="02000000000000000000" pitchFamily="2" charset="-128"/>
                  <a:sym typeface="Wingdings" pitchFamily="2" charset="2"/>
                </a:endParaRPr>
              </a:p>
              <a:p>
                <a:pPr lvl="1"/>
                <a:r>
                  <a:rPr kumimoji="1" lang="en-US" altLang="ko-KR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AES:  </a:t>
                </a:r>
                <a:r>
                  <a:rPr kumimoji="1" lang="ko-KR" altLang="en-US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비밀키 </a:t>
                </a:r>
                <a14:m>
                  <m:oMath xmlns:m="http://schemas.openxmlformats.org/officeDocument/2006/math">
                    <m:r>
                      <a:rPr kumimoji="1" lang="en-US" altLang="ko-KR" sz="2000" i="1" dirty="0" smtClean="0">
                        <a:latin typeface="Cambria Math" panose="02040503050406030204" pitchFamily="18" charset="0"/>
                        <a:ea typeface="Gmarket Sans TTF Medium" panose="02000000000000000000" pitchFamily="2" charset="-128"/>
                        <a:sym typeface="Wingdings" pitchFamily="2" charset="2"/>
                      </a:rPr>
                      <m:t>𝐾</m:t>
                    </m:r>
                  </m:oMath>
                </a14:m>
                <a:r>
                  <a:rPr kumimoji="1" lang="ko-KR" altLang="en-US" sz="2000" dirty="0" err="1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를</a:t>
                </a:r>
                <a:r>
                  <a:rPr kumimoji="1" lang="ko-KR" altLang="en-US" sz="20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 대상으로 동작</a:t>
                </a:r>
                <a:endParaRPr kumimoji="1" lang="en-US" altLang="ko-KR" sz="2000" dirty="0">
                  <a:latin typeface="Gmarket Sans TTF Medium" panose="02000000000000000000" pitchFamily="2" charset="-128"/>
                  <a:ea typeface="Gmarket Sans TTF Medium" panose="02000000000000000000" pitchFamily="2" charset="-128"/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8E903983-0C49-FD11-4B17-851E5B9FAB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0" y="1106120"/>
                <a:ext cx="11880762" cy="1097239"/>
              </a:xfrm>
              <a:blipFill>
                <a:blip r:embed="rId3"/>
                <a:stretch>
                  <a:fillRect b="-20455"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EE73668-9F6C-0547-59A6-1FA1F9966373}"/>
                  </a:ext>
                </a:extLst>
              </p:cNvPr>
              <p:cNvSpPr txBox="1"/>
              <p:nvPr/>
            </p:nvSpPr>
            <p:spPr>
              <a:xfrm>
                <a:off x="6678348" y="3304150"/>
                <a:ext cx="4902201" cy="26396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endParaRPr lang="en-US" altLang="ko-KR" sz="18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algn="ctr"/>
                <a:r>
                  <a:rPr lang="ko-KR" altLang="en-US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패리티 체크 행렬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  <a:ea typeface="Gmarket Sans TTF Medium" panose="02000000000000000000" pitchFamily="2" charset="-128"/>
                        <a:sym typeface="Wingdings" pitchFamily="2" charset="2"/>
                      </a:rPr>
                      <m:t>𝐻</m:t>
                    </m:r>
                  </m:oMath>
                </a14:m>
                <a:endParaRPr lang="en-US" altLang="ko-KR" sz="1800" dirty="0">
                  <a:latin typeface="Gmarket Sans TTF Medium" panose="02000000000000000000" pitchFamily="2" charset="-128"/>
                  <a:ea typeface="Gmarket Sans TTF Medium" panose="02000000000000000000" pitchFamily="2" charset="-128"/>
                  <a:sym typeface="Wingdings" pitchFamily="2" charset="2"/>
                </a:endParaRPr>
              </a:p>
              <a:p>
                <a:pPr algn="ctr"/>
                <a:endParaRPr lang="en-US" altLang="ko-KR" sz="1800" dirty="0">
                  <a:latin typeface="Gmarket Sans TTF Medium" panose="02000000000000000000" pitchFamily="2" charset="-128"/>
                  <a:ea typeface="Gmarket Sans TTF Medium" panose="02000000000000000000" pitchFamily="2" charset="-128"/>
                  <a:sym typeface="Wingdings" pitchFamily="2" charset="2"/>
                </a:endParaRPr>
              </a:p>
              <a:p>
                <a:pPr algn="ctr"/>
                <a:endParaRPr lang="en-US" altLang="ko-KR" sz="1800" dirty="0">
                  <a:latin typeface="Gmarket Sans TTF Medium" panose="02000000000000000000" pitchFamily="2" charset="-128"/>
                  <a:ea typeface="Gmarket Sans TTF Medium" panose="02000000000000000000" pitchFamily="2" charset="-128"/>
                  <a:sym typeface="Wingdings" pitchFamily="2" charset="2"/>
                </a:endParaRPr>
              </a:p>
              <a:p>
                <a:pPr algn="ctr"/>
                <a:r>
                  <a:rPr lang="en-US" altLang="ko-KR" sz="18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Information set </a:t>
                </a:r>
                <a:r>
                  <a:rPr lang="ko-KR" altLang="en-US" sz="18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추출</a:t>
                </a:r>
                <a:r>
                  <a:rPr lang="en-US" altLang="ko-KR" sz="18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ore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ore-KR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ko-Kore-KR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ko-Kore-KR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ko-Kore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altLang="ko-KR" dirty="0">
                  <a:latin typeface="Gmarket Sans TTF Medium" panose="02000000000000000000" pitchFamily="2" charset="-128"/>
                  <a:ea typeface="Gmarket Sans TTF Medium" panose="02000000000000000000" pitchFamily="2" charset="-128"/>
                  <a:sym typeface="Wingdings" pitchFamily="2" charset="2"/>
                </a:endParaRPr>
              </a:p>
              <a:p>
                <a:pPr algn="ctr"/>
                <a:r>
                  <a:rPr lang="en-US" altLang="ko-KR" sz="18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Information</a:t>
                </a:r>
                <a:r>
                  <a:rPr lang="ko-KR" altLang="en-US" sz="18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 </a:t>
                </a:r>
                <a:r>
                  <a:rPr lang="en-US" altLang="ko-KR" sz="18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set</a:t>
                </a:r>
                <a:r>
                  <a:rPr lang="ko-KR" altLang="en-US" sz="18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 </a:t>
                </a:r>
                <a:r>
                  <a:rPr lang="ko-KR" altLang="en-US" sz="1800" dirty="0" err="1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역행렬</a:t>
                </a:r>
                <a:r>
                  <a:rPr lang="ko-KR" altLang="en-US" sz="18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 계산</a:t>
                </a:r>
                <a:r>
                  <a:rPr lang="en-US" altLang="ko-KR" sz="18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: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ko-Kore-K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kumimoji="1" lang="en-US" altLang="ko-Kore-K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ore-KR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kumimoji="1" lang="en-US" altLang="ko-Kore-K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ko-Kore-K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ko-Kore-KR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  <m:sup>
                        <m:r>
                          <a:rPr kumimoji="1" lang="en-US" altLang="ko-Kore-K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kumimoji="1" lang="en-US" altLang="ko-Kore-KR" dirty="0">
                  <a:latin typeface="Gmarket Sans TTF Medium" panose="02000000000000000000" pitchFamily="2" charset="-128"/>
                </a:endParaRPr>
              </a:p>
              <a:p>
                <a:pPr algn="ctr"/>
                <a:endParaRPr kumimoji="1" lang="en-US" altLang="ko-Kore-KR" sz="1500" dirty="0"/>
              </a:p>
              <a:p>
                <a:pPr algn="ctr"/>
                <a:r>
                  <a:rPr kumimoji="1" lang="en-US" altLang="ko-Kore-KR" dirty="0"/>
                  <a:t>Weight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ko-Kore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ko-Kore-KR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kumimoji="1" lang="en-US" altLang="ko-Kore-KR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ko-Kore-KR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kumimoji="1" lang="en-US" altLang="ko-Kore-K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kumimoji="1" lang="en-US" altLang="ko-Kore-K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kumimoji="1" lang="en-US" altLang="ko-Kore-K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  <m:sup>
                            <m:r>
                              <a:rPr kumimoji="1" lang="en-US" altLang="ko-Kore-K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kumimoji="1" lang="en-US" altLang="ko-Kore-K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kumimoji="1" lang="en-US" altLang="ko-KR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ko-KR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kumimoji="1" lang="en-US" altLang="ko-KR" b="0" i="0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kumimoji="1" lang="en-US" altLang="ko-Kore-KR" dirty="0">
                  <a:latin typeface="Gmarket Sans TTF Medium" panose="02000000000000000000" pitchFamily="2" charset="-128"/>
                </a:endParaRPr>
              </a:p>
              <a:p>
                <a:pPr algn="ctr"/>
                <a:endParaRPr kumimoji="1" lang="en-US" altLang="ko-Kore-KR" dirty="0">
                  <a:latin typeface="Gmarket Sans TTF Medium" panose="02000000000000000000" pitchFamily="2" charset="-128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EE73668-9F6C-0547-59A6-1FA1F99663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8348" y="3304150"/>
                <a:ext cx="4902201" cy="263963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0064FBF8-5E59-6C89-1FF3-309628123362}"/>
              </a:ext>
            </a:extLst>
          </p:cNvPr>
          <p:cNvSpPr txBox="1"/>
          <p:nvPr/>
        </p:nvSpPr>
        <p:spPr>
          <a:xfrm>
            <a:off x="2233348" y="2670411"/>
            <a:ext cx="916093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 algn="ctr">
              <a:buNone/>
            </a:pPr>
            <a:r>
              <a:rPr lang="ko-KR" altLang="en-US" sz="22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대칭키</a:t>
            </a:r>
            <a:r>
              <a:rPr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암호 키 복구            </a:t>
            </a:r>
            <a:r>
              <a:rPr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vs             </a:t>
            </a:r>
            <a:r>
              <a:rPr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코드기반암호</a:t>
            </a:r>
            <a:r>
              <a:rPr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양자 </a:t>
            </a:r>
            <a:r>
              <a:rPr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ISD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25BDB2-35A7-84BA-EEFB-3190E3FCB5C8}"/>
              </a:ext>
            </a:extLst>
          </p:cNvPr>
          <p:cNvSpPr txBox="1"/>
          <p:nvPr/>
        </p:nvSpPr>
        <p:spPr>
          <a:xfrm>
            <a:off x="859928" y="3557812"/>
            <a:ext cx="108555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R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Input </a:t>
            </a:r>
          </a:p>
          <a:p>
            <a:pPr algn="ctr"/>
            <a:endParaRPr kumimoji="1" lang="en-US" altLang="ko-KR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algn="ctr"/>
            <a:endParaRPr kumimoji="1" lang="en-US" altLang="ko-KR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algn="ctr"/>
            <a:endParaRPr kumimoji="1" lang="en-US" altLang="ko-KR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algn="ctr"/>
            <a:r>
              <a:rPr kumimoji="1" lang="en-US" altLang="ko-KR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Grover</a:t>
            </a:r>
          </a:p>
          <a:p>
            <a:pPr algn="ctr"/>
            <a:r>
              <a:rPr kumimoji="1" lang="en-US" altLang="ko-KR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Oracle</a:t>
            </a:r>
            <a:endParaRPr kumimoji="1" lang="ko-KR" altLang="en-US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cxnSp>
        <p:nvCxnSpPr>
          <p:cNvPr id="26" name="직선 연결선[R] 25">
            <a:extLst>
              <a:ext uri="{FF2B5EF4-FFF2-40B4-BE49-F238E27FC236}">
                <a16:creationId xmlns:a16="http://schemas.microsoft.com/office/drawing/2014/main" id="{70512C15-E339-A34A-7737-E5F807C8E5F2}"/>
              </a:ext>
            </a:extLst>
          </p:cNvPr>
          <p:cNvCxnSpPr/>
          <p:nvPr/>
        </p:nvCxnSpPr>
        <p:spPr>
          <a:xfrm>
            <a:off x="923960" y="3282751"/>
            <a:ext cx="102277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[R] 26">
            <a:extLst>
              <a:ext uri="{FF2B5EF4-FFF2-40B4-BE49-F238E27FC236}">
                <a16:creationId xmlns:a16="http://schemas.microsoft.com/office/drawing/2014/main" id="{AF5A9838-99D8-A415-CD66-F39997313217}"/>
              </a:ext>
            </a:extLst>
          </p:cNvPr>
          <p:cNvCxnSpPr/>
          <p:nvPr/>
        </p:nvCxnSpPr>
        <p:spPr>
          <a:xfrm>
            <a:off x="940893" y="4163284"/>
            <a:ext cx="102277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[R] 27">
            <a:extLst>
              <a:ext uri="{FF2B5EF4-FFF2-40B4-BE49-F238E27FC236}">
                <a16:creationId xmlns:a16="http://schemas.microsoft.com/office/drawing/2014/main" id="{5584ECD6-99B0-53F0-96E9-E65B92474DDA}"/>
              </a:ext>
            </a:extLst>
          </p:cNvPr>
          <p:cNvCxnSpPr/>
          <p:nvPr/>
        </p:nvCxnSpPr>
        <p:spPr>
          <a:xfrm>
            <a:off x="940893" y="5738084"/>
            <a:ext cx="102277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[R] 28">
            <a:extLst>
              <a:ext uri="{FF2B5EF4-FFF2-40B4-BE49-F238E27FC236}">
                <a16:creationId xmlns:a16="http://schemas.microsoft.com/office/drawing/2014/main" id="{631C5DB8-D4DB-2545-77DA-73A9430F1F5A}"/>
              </a:ext>
            </a:extLst>
          </p:cNvPr>
          <p:cNvCxnSpPr>
            <a:cxnSpLocks/>
          </p:cNvCxnSpPr>
          <p:nvPr/>
        </p:nvCxnSpPr>
        <p:spPr>
          <a:xfrm flipV="1">
            <a:off x="2160094" y="2470105"/>
            <a:ext cx="0" cy="42373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5D346688-AAA0-FF1C-1B87-49AE1FF030B8}"/>
              </a:ext>
            </a:extLst>
          </p:cNvPr>
          <p:cNvSpPr txBox="1"/>
          <p:nvPr/>
        </p:nvSpPr>
        <p:spPr>
          <a:xfrm>
            <a:off x="790808" y="5929569"/>
            <a:ext cx="13692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Diffusion </a:t>
            </a:r>
          </a:p>
          <a:p>
            <a:r>
              <a:rPr kumimoji="1" lang="en-US" altLang="ko-KR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Operator</a:t>
            </a:r>
            <a:endParaRPr kumimoji="1" lang="ko-KR" altLang="en-US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cxnSp>
        <p:nvCxnSpPr>
          <p:cNvPr id="39" name="직선 연결선[R] 38">
            <a:extLst>
              <a:ext uri="{FF2B5EF4-FFF2-40B4-BE49-F238E27FC236}">
                <a16:creationId xmlns:a16="http://schemas.microsoft.com/office/drawing/2014/main" id="{5186075C-81AC-CF55-4186-1DFD58E99159}"/>
              </a:ext>
            </a:extLst>
          </p:cNvPr>
          <p:cNvCxnSpPr>
            <a:cxnSpLocks/>
          </p:cNvCxnSpPr>
          <p:nvPr/>
        </p:nvCxnSpPr>
        <p:spPr>
          <a:xfrm>
            <a:off x="868395" y="6715877"/>
            <a:ext cx="103086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CB71460-0D68-5872-17C5-9B1A6EF06A8F}"/>
                  </a:ext>
                </a:extLst>
              </p:cNvPr>
              <p:cNvSpPr txBox="1"/>
              <p:nvPr/>
            </p:nvSpPr>
            <p:spPr>
              <a:xfrm>
                <a:off x="7684661" y="5936547"/>
                <a:ext cx="276133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Information set </a:t>
                </a:r>
                <a14:m>
                  <m:oMath xmlns:m="http://schemas.openxmlformats.org/officeDocument/2006/math">
                    <m:r>
                      <a:rPr kumimoji="1" lang="en-US" altLang="ko-Kore-KR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kumimoji="1" lang="en-US" altLang="ko-Kore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ore-KR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ko-Kore-KR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ko-Kore-KR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ko-Kore-KR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kumimoji="1" lang="en-US" altLang="ko-Kore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kumimoji="1" lang="en-US" altLang="ko-KR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algn="ctr"/>
                <a:r>
                  <a:rPr kumimoji="1" lang="ko-KR" altLang="en-US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추출에 사용 된 벡터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CB71460-0D68-5872-17C5-9B1A6EF06A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4661" y="5936547"/>
                <a:ext cx="2761333" cy="646331"/>
              </a:xfrm>
              <a:prstGeom prst="rect">
                <a:avLst/>
              </a:prstGeom>
              <a:blipFill>
                <a:blip r:embed="rId5"/>
                <a:stretch>
                  <a:fillRect l="-2294" t="-1923" b="-1538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자유형 11">
            <a:extLst>
              <a:ext uri="{FF2B5EF4-FFF2-40B4-BE49-F238E27FC236}">
                <a16:creationId xmlns:a16="http://schemas.microsoft.com/office/drawing/2014/main" id="{6CE6382C-3E3E-3E2E-75C2-6EB2202E18BD}"/>
              </a:ext>
            </a:extLst>
          </p:cNvPr>
          <p:cNvSpPr/>
          <p:nvPr/>
        </p:nvSpPr>
        <p:spPr>
          <a:xfrm>
            <a:off x="7677414" y="5281013"/>
            <a:ext cx="152400" cy="169333"/>
          </a:xfrm>
          <a:custGeom>
            <a:avLst/>
            <a:gdLst>
              <a:gd name="connsiteX0" fmla="*/ 0 w 152400"/>
              <a:gd name="connsiteY0" fmla="*/ 84667 h 169333"/>
              <a:gd name="connsiteX1" fmla="*/ 25400 w 152400"/>
              <a:gd name="connsiteY1" fmla="*/ 127000 h 169333"/>
              <a:gd name="connsiteX2" fmla="*/ 42334 w 152400"/>
              <a:gd name="connsiteY2" fmla="*/ 143933 h 169333"/>
              <a:gd name="connsiteX3" fmla="*/ 59267 w 152400"/>
              <a:gd name="connsiteY3" fmla="*/ 169333 h 169333"/>
              <a:gd name="connsiteX4" fmla="*/ 84667 w 152400"/>
              <a:gd name="connsiteY4" fmla="*/ 143933 h 169333"/>
              <a:gd name="connsiteX5" fmla="*/ 101600 w 152400"/>
              <a:gd name="connsiteY5" fmla="*/ 93133 h 169333"/>
              <a:gd name="connsiteX6" fmla="*/ 110067 w 152400"/>
              <a:gd name="connsiteY6" fmla="*/ 67733 h 169333"/>
              <a:gd name="connsiteX7" fmla="*/ 143934 w 152400"/>
              <a:gd name="connsiteY7" fmla="*/ 25400 h 169333"/>
              <a:gd name="connsiteX8" fmla="*/ 152400 w 152400"/>
              <a:gd name="connsiteY8" fmla="*/ 0 h 169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2400" h="169333">
                <a:moveTo>
                  <a:pt x="0" y="84667"/>
                </a:moveTo>
                <a:cubicBezTo>
                  <a:pt x="8467" y="98778"/>
                  <a:pt x="15835" y="113609"/>
                  <a:pt x="25400" y="127000"/>
                </a:cubicBezTo>
                <a:cubicBezTo>
                  <a:pt x="30040" y="133496"/>
                  <a:pt x="37347" y="137700"/>
                  <a:pt x="42334" y="143933"/>
                </a:cubicBezTo>
                <a:cubicBezTo>
                  <a:pt x="48691" y="151879"/>
                  <a:pt x="53623" y="160866"/>
                  <a:pt x="59267" y="169333"/>
                </a:cubicBezTo>
                <a:cubicBezTo>
                  <a:pt x="67734" y="160866"/>
                  <a:pt x="78852" y="154400"/>
                  <a:pt x="84667" y="143933"/>
                </a:cubicBezTo>
                <a:cubicBezTo>
                  <a:pt x="93335" y="128330"/>
                  <a:pt x="95956" y="110066"/>
                  <a:pt x="101600" y="93133"/>
                </a:cubicBezTo>
                <a:cubicBezTo>
                  <a:pt x="104422" y="84666"/>
                  <a:pt x="105117" y="75159"/>
                  <a:pt x="110067" y="67733"/>
                </a:cubicBezTo>
                <a:cubicBezTo>
                  <a:pt x="131428" y="35691"/>
                  <a:pt x="119805" y="49528"/>
                  <a:pt x="143934" y="25400"/>
                </a:cubicBezTo>
                <a:lnTo>
                  <a:pt x="152400" y="0"/>
                </a:ln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91506C3-B5CE-ABF7-D3E0-772DF69CE4C4}"/>
                  </a:ext>
                </a:extLst>
              </p:cNvPr>
              <p:cNvSpPr txBox="1"/>
              <p:nvPr/>
            </p:nvSpPr>
            <p:spPr>
              <a:xfrm>
                <a:off x="1091568" y="3333553"/>
                <a:ext cx="6790268" cy="2308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endParaRPr lang="en-US" altLang="ko-KR" sz="18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algn="ctr"/>
                <a:r>
                  <a:rPr lang="ko-KR" altLang="en-US" sz="18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알려진 </a:t>
                </a:r>
                <a:r>
                  <a:rPr lang="ko-KR" altLang="en-US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평문</a:t>
                </a:r>
                <a:r>
                  <a:rPr lang="en-US" altLang="ko-KR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Gmarket Sans TTF Medium" panose="02000000000000000000" pitchFamily="2" charset="-128"/>
                        <a:sym typeface="Wingdings" pitchFamily="2" charset="2"/>
                      </a:rPr>
                      <m:t>𝑃</m:t>
                    </m:r>
                  </m:oMath>
                </a14:m>
                <a:endParaRPr lang="en-US" altLang="ko-KR" sz="1800" dirty="0">
                  <a:latin typeface="Gmarket Sans TTF Medium" panose="02000000000000000000" pitchFamily="2" charset="-128"/>
                  <a:ea typeface="Gmarket Sans TTF Medium" panose="02000000000000000000" pitchFamily="2" charset="-128"/>
                  <a:sym typeface="Wingdings" pitchFamily="2" charset="2"/>
                </a:endParaRPr>
              </a:p>
              <a:p>
                <a:pPr algn="ctr"/>
                <a:endParaRPr lang="en-US" altLang="ko-KR" sz="1800" dirty="0">
                  <a:latin typeface="Gmarket Sans TTF Medium" panose="02000000000000000000" pitchFamily="2" charset="-128"/>
                  <a:ea typeface="Gmarket Sans TTF Medium" panose="02000000000000000000" pitchFamily="2" charset="-128"/>
                  <a:sym typeface="Wingdings" pitchFamily="2" charset="2"/>
                </a:endParaRPr>
              </a:p>
              <a:p>
                <a:pPr algn="ctr"/>
                <a:endParaRPr lang="en-US" altLang="ko-KR" sz="1800" dirty="0">
                  <a:latin typeface="Gmarket Sans TTF Medium" panose="02000000000000000000" pitchFamily="2" charset="-128"/>
                  <a:ea typeface="Gmarket Sans TTF Medium" panose="02000000000000000000" pitchFamily="2" charset="-128"/>
                  <a:sym typeface="Wingdings" pitchFamily="2" charset="2"/>
                </a:endParaRPr>
              </a:p>
              <a:p>
                <a:pPr algn="ctr"/>
                <a:r>
                  <a:rPr lang="ko-KR" altLang="en-US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암호화 알고리즘</a:t>
                </a:r>
                <a:r>
                  <a:rPr lang="en-US" altLang="ko-KR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  <m:t>𝐸𝑛𝑐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  <m:t>𝐾</m:t>
                        </m:r>
                      </m:sub>
                    </m:sSub>
                    <m:d>
                      <m:dPr>
                        <m:ctrlPr>
                          <a:rPr lang="en-US" altLang="ko-KR" i="1" dirty="0" smtClean="0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</m:ctrlPr>
                      </m:d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  <m:t>𝑃</m:t>
                        </m:r>
                      </m:e>
                    </m:d>
                  </m:oMath>
                </a14:m>
                <a:endParaRPr lang="en-US" altLang="ko-KR" i="1" dirty="0">
                  <a:latin typeface="Cambria Math" panose="02040503050406030204" pitchFamily="18" charset="0"/>
                  <a:ea typeface="Gmarket Sans TTF Medium" panose="02000000000000000000" pitchFamily="2" charset="-128"/>
                  <a:sym typeface="Wingdings" pitchFamily="2" charset="2"/>
                </a:endParaRPr>
              </a:p>
              <a:p>
                <a:pPr algn="ctr"/>
                <a:r>
                  <a:rPr lang="en-US" altLang="ko-KR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(e.g., AES, ARIA)</a:t>
                </a:r>
              </a:p>
              <a:p>
                <a:pPr algn="ctr"/>
                <a:endParaRPr lang="en-US" altLang="ko-KR" sz="1500" i="1" dirty="0">
                  <a:latin typeface="Cambria Math" panose="02040503050406030204" pitchFamily="18" charset="0"/>
                  <a:ea typeface="Gmarket Sans TTF Medium" panose="02000000000000000000" pitchFamily="2" charset="-128"/>
                  <a:sym typeface="Wingdings" pitchFamily="2" charset="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dirty="0" smtClean="0">
                              <a:latin typeface="Cambria Math" panose="02040503050406030204" pitchFamily="18" charset="0"/>
                              <a:ea typeface="Gmarket Sans TTF Medium" panose="02000000000000000000" pitchFamily="2" charset="-128"/>
                              <a:sym typeface="Wingdings" pitchFamily="2" charset="2"/>
                            </a:rPr>
                          </m:ctrlPr>
                        </m:sSubPr>
                        <m:e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  <a:ea typeface="Gmarket Sans TTF Medium" panose="02000000000000000000" pitchFamily="2" charset="-128"/>
                              <a:sym typeface="Wingdings" pitchFamily="2" charset="2"/>
                            </a:rPr>
                            <m:t>𝐸𝑛𝑐</m:t>
                          </m:r>
                        </m:e>
                        <m:sub>
                          <m:r>
                            <a:rPr lang="en-US" altLang="ko-KR" b="0" i="1" dirty="0" smtClean="0">
                              <a:latin typeface="Cambria Math" panose="02040503050406030204" pitchFamily="18" charset="0"/>
                              <a:ea typeface="Gmarket Sans TTF Medium" panose="02000000000000000000" pitchFamily="2" charset="-128"/>
                              <a:sym typeface="Wingdings" pitchFamily="2" charset="2"/>
                            </a:rPr>
                            <m:t>𝐾</m:t>
                          </m:r>
                        </m:sub>
                      </m:sSub>
                      <m:d>
                        <m:dPr>
                          <m:ctrlPr>
                            <a:rPr lang="en-US" altLang="ko-KR" i="1" dirty="0" smtClean="0">
                              <a:latin typeface="Cambria Math" panose="02040503050406030204" pitchFamily="18" charset="0"/>
                              <a:ea typeface="Gmarket Sans TTF Medium" panose="02000000000000000000" pitchFamily="2" charset="-128"/>
                              <a:sym typeface="Wingdings" pitchFamily="2" charset="2"/>
                            </a:rPr>
                          </m:ctrlPr>
                        </m:dPr>
                        <m:e>
                          <m:r>
                            <a:rPr lang="en-US" altLang="ko-KR" i="1" dirty="0" smtClean="0">
                              <a:latin typeface="Cambria Math" panose="02040503050406030204" pitchFamily="18" charset="0"/>
                              <a:ea typeface="Gmarket Sans TTF Medium" panose="02000000000000000000" pitchFamily="2" charset="-128"/>
                              <a:sym typeface="Wingdings" pitchFamily="2" charset="2"/>
                            </a:rPr>
                            <m:t>𝑃</m:t>
                          </m:r>
                        </m:e>
                      </m:d>
                      <m:r>
                        <a:rPr lang="en-US" altLang="ko-KR" b="0" i="1" dirty="0" smtClean="0">
                          <a:latin typeface="Cambria Math" panose="02040503050406030204" pitchFamily="18" charset="0"/>
                          <a:ea typeface="Gmarket Sans TTF Medium" panose="02000000000000000000" pitchFamily="2" charset="-128"/>
                          <a:sym typeface="Wingdings" pitchFamily="2" charset="2"/>
                        </a:rPr>
                        <m:t>=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  <a:ea typeface="Gmarket Sans TTF Medium" panose="02000000000000000000" pitchFamily="2" charset="-128"/>
                          <a:sym typeface="Wingdings" pitchFamily="2" charset="2"/>
                        </a:rPr>
                        <m:t>𝐶</m:t>
                      </m:r>
                      <m:r>
                        <a:rPr lang="en-US" altLang="ko-KR" b="0" i="1" dirty="0" smtClean="0">
                          <a:latin typeface="Cambria Math" panose="02040503050406030204" pitchFamily="18" charset="0"/>
                          <a:ea typeface="Gmarket Sans TTF Medium" panose="02000000000000000000" pitchFamily="2" charset="-128"/>
                          <a:sym typeface="Wingdings" pitchFamily="2" charset="2"/>
                        </a:rPr>
                        <m:t>?</m:t>
                      </m:r>
                    </m:oMath>
                  </m:oMathPara>
                </a14:m>
                <a:endParaRPr lang="en-US" altLang="ko-KR" sz="1500" i="1" dirty="0">
                  <a:latin typeface="Cambria Math" panose="02040503050406030204" pitchFamily="18" charset="0"/>
                  <a:ea typeface="Gmarket Sans TTF Medium" panose="02000000000000000000" pitchFamily="2" charset="-128"/>
                  <a:sym typeface="Wingdings" pitchFamily="2" charset="2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91506C3-B5CE-ABF7-D3E0-772DF69CE4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1568" y="3333553"/>
                <a:ext cx="6790268" cy="2308324"/>
              </a:xfrm>
              <a:prstGeom prst="rect">
                <a:avLst/>
              </a:prstGeom>
              <a:blipFill>
                <a:blip r:embed="rId6"/>
                <a:stretch>
                  <a:fillRect b="-10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2B45EB9-60A0-D2EA-CA88-5CB7D25EF092}"/>
                  </a:ext>
                </a:extLst>
              </p:cNvPr>
              <p:cNvSpPr txBox="1"/>
              <p:nvPr/>
            </p:nvSpPr>
            <p:spPr>
              <a:xfrm>
                <a:off x="3881921" y="6082686"/>
                <a:ext cx="10861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ko-KR" altLang="en-US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비밀키 </a:t>
                </a:r>
                <a14:m>
                  <m:oMath xmlns:m="http://schemas.openxmlformats.org/officeDocument/2006/math">
                    <m:r>
                      <a:rPr kumimoji="1" lang="en-US" altLang="ko-KR" b="0" i="1" smtClean="0">
                        <a:latin typeface="Cambria Math" panose="02040503050406030204" pitchFamily="18" charset="0"/>
                        <a:ea typeface="Gmarket Sans TTF Medium" panose="02000000000000000000" pitchFamily="2" charset="-128"/>
                      </a:rPr>
                      <m:t>𝐾</m:t>
                    </m:r>
                  </m:oMath>
                </a14:m>
                <a:endParaRPr kumimoji="1" lang="ko-KR" altLang="en-US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2B45EB9-60A0-D2EA-CA88-5CB7D25EF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1921" y="6082686"/>
                <a:ext cx="1086131" cy="369332"/>
              </a:xfrm>
              <a:prstGeom prst="rect">
                <a:avLst/>
              </a:prstGeom>
              <a:blipFill>
                <a:blip r:embed="rId7"/>
                <a:stretch>
                  <a:fillRect l="-4598" t="-6897" b="-3103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자유형 15">
            <a:extLst>
              <a:ext uri="{FF2B5EF4-FFF2-40B4-BE49-F238E27FC236}">
                <a16:creationId xmlns:a16="http://schemas.microsoft.com/office/drawing/2014/main" id="{D3B8A261-451C-A354-7FF4-F62F2266682F}"/>
              </a:ext>
            </a:extLst>
          </p:cNvPr>
          <p:cNvSpPr/>
          <p:nvPr/>
        </p:nvSpPr>
        <p:spPr>
          <a:xfrm>
            <a:off x="3518556" y="5289869"/>
            <a:ext cx="152400" cy="169333"/>
          </a:xfrm>
          <a:custGeom>
            <a:avLst/>
            <a:gdLst>
              <a:gd name="connsiteX0" fmla="*/ 0 w 152400"/>
              <a:gd name="connsiteY0" fmla="*/ 84667 h 169333"/>
              <a:gd name="connsiteX1" fmla="*/ 25400 w 152400"/>
              <a:gd name="connsiteY1" fmla="*/ 127000 h 169333"/>
              <a:gd name="connsiteX2" fmla="*/ 42334 w 152400"/>
              <a:gd name="connsiteY2" fmla="*/ 143933 h 169333"/>
              <a:gd name="connsiteX3" fmla="*/ 59267 w 152400"/>
              <a:gd name="connsiteY3" fmla="*/ 169333 h 169333"/>
              <a:gd name="connsiteX4" fmla="*/ 84667 w 152400"/>
              <a:gd name="connsiteY4" fmla="*/ 143933 h 169333"/>
              <a:gd name="connsiteX5" fmla="*/ 101600 w 152400"/>
              <a:gd name="connsiteY5" fmla="*/ 93133 h 169333"/>
              <a:gd name="connsiteX6" fmla="*/ 110067 w 152400"/>
              <a:gd name="connsiteY6" fmla="*/ 67733 h 169333"/>
              <a:gd name="connsiteX7" fmla="*/ 143934 w 152400"/>
              <a:gd name="connsiteY7" fmla="*/ 25400 h 169333"/>
              <a:gd name="connsiteX8" fmla="*/ 152400 w 152400"/>
              <a:gd name="connsiteY8" fmla="*/ 0 h 169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2400" h="169333">
                <a:moveTo>
                  <a:pt x="0" y="84667"/>
                </a:moveTo>
                <a:cubicBezTo>
                  <a:pt x="8467" y="98778"/>
                  <a:pt x="15835" y="113609"/>
                  <a:pt x="25400" y="127000"/>
                </a:cubicBezTo>
                <a:cubicBezTo>
                  <a:pt x="30040" y="133496"/>
                  <a:pt x="37347" y="137700"/>
                  <a:pt x="42334" y="143933"/>
                </a:cubicBezTo>
                <a:cubicBezTo>
                  <a:pt x="48691" y="151879"/>
                  <a:pt x="53623" y="160866"/>
                  <a:pt x="59267" y="169333"/>
                </a:cubicBezTo>
                <a:cubicBezTo>
                  <a:pt x="67734" y="160866"/>
                  <a:pt x="78852" y="154400"/>
                  <a:pt x="84667" y="143933"/>
                </a:cubicBezTo>
                <a:cubicBezTo>
                  <a:pt x="93335" y="128330"/>
                  <a:pt x="95956" y="110066"/>
                  <a:pt x="101600" y="93133"/>
                </a:cubicBezTo>
                <a:cubicBezTo>
                  <a:pt x="104422" y="84666"/>
                  <a:pt x="105117" y="75159"/>
                  <a:pt x="110067" y="67733"/>
                </a:cubicBezTo>
                <a:cubicBezTo>
                  <a:pt x="131428" y="35691"/>
                  <a:pt x="119805" y="49528"/>
                  <a:pt x="143934" y="25400"/>
                </a:cubicBezTo>
                <a:lnTo>
                  <a:pt x="152400" y="0"/>
                </a:lnTo>
              </a:path>
            </a:pathLst>
          </a:cu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F84E992-9DBA-C116-81E7-564668341125}"/>
              </a:ext>
            </a:extLst>
          </p:cNvPr>
          <p:cNvSpPr/>
          <p:nvPr/>
        </p:nvSpPr>
        <p:spPr>
          <a:xfrm flipV="1">
            <a:off x="868395" y="5729616"/>
            <a:ext cx="10308698" cy="97779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6" name="직선 연결선[R] 5">
            <a:extLst>
              <a:ext uri="{FF2B5EF4-FFF2-40B4-BE49-F238E27FC236}">
                <a16:creationId xmlns:a16="http://schemas.microsoft.com/office/drawing/2014/main" id="{F242F3C8-125B-1A07-78BA-4D7E08D5AEBC}"/>
              </a:ext>
            </a:extLst>
          </p:cNvPr>
          <p:cNvCxnSpPr>
            <a:cxnSpLocks/>
          </p:cNvCxnSpPr>
          <p:nvPr/>
        </p:nvCxnSpPr>
        <p:spPr>
          <a:xfrm>
            <a:off x="758793" y="2470105"/>
            <a:ext cx="103086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슬라이드 번호 개체 틀 10">
            <a:extLst>
              <a:ext uri="{FF2B5EF4-FFF2-40B4-BE49-F238E27FC236}">
                <a16:creationId xmlns:a16="http://schemas.microsoft.com/office/drawing/2014/main" id="{63E3564E-D2D8-533D-8A59-7A9C8DAB02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99443" y="6356350"/>
            <a:ext cx="2743200" cy="365125"/>
          </a:xfrm>
        </p:spPr>
        <p:txBody>
          <a:bodyPr/>
          <a:lstStyle/>
          <a:p>
            <a:fld id="{48852B28-D290-2A4B-A90A-47EAEF72A8E4}" type="slidenum">
              <a:rPr kumimoji="1" lang="ko-Kore-KR" altLang="en-US" smtClean="0"/>
              <a:t>10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559925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9">
          <a:extLst>
            <a:ext uri="{FF2B5EF4-FFF2-40B4-BE49-F238E27FC236}">
              <a16:creationId xmlns:a16="http://schemas.microsoft.com/office/drawing/2014/main" id="{BF77EE52-5478-3D2E-CF0D-F641F98C3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80">
            <a:extLst>
              <a:ext uri="{FF2B5EF4-FFF2-40B4-BE49-F238E27FC236}">
                <a16:creationId xmlns:a16="http://schemas.microsoft.com/office/drawing/2014/main" id="{D92931ED-7797-C6C3-E4AE-E3D20A51D94C}"/>
              </a:ext>
            </a:extLst>
          </p:cNvPr>
          <p:cNvSpPr/>
          <p:nvPr/>
        </p:nvSpPr>
        <p:spPr>
          <a:xfrm>
            <a:off x="304800" y="142875"/>
            <a:ext cx="11639550" cy="104775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80">
            <a:extLst>
              <a:ext uri="{FF2B5EF4-FFF2-40B4-BE49-F238E27FC236}">
                <a16:creationId xmlns:a16="http://schemas.microsoft.com/office/drawing/2014/main" id="{B18FA636-C96B-5D23-9325-97841BCE1B93}"/>
              </a:ext>
            </a:extLst>
          </p:cNvPr>
          <p:cNvSpPr txBox="1"/>
          <p:nvPr/>
        </p:nvSpPr>
        <p:spPr>
          <a:xfrm>
            <a:off x="1337913" y="2613412"/>
            <a:ext cx="9875520" cy="163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lang="en-US" sz="5000" u="none" strike="noStrike" cap="none" dirty="0" err="1">
                <a:solidFill>
                  <a:schemeClr val="dk1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  <a:cs typeface="Calibri"/>
                <a:sym typeface="Calibri"/>
              </a:rPr>
              <a:t>코드기반암호에</a:t>
            </a:r>
            <a:r>
              <a:rPr lang="en-US" sz="5000" u="none" strike="noStrike" cap="none" dirty="0">
                <a:solidFill>
                  <a:schemeClr val="dk1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  <a:cs typeface="Calibri"/>
                <a:sym typeface="Calibri"/>
              </a:rPr>
              <a:t> </a:t>
            </a:r>
            <a:r>
              <a:rPr lang="en-US" sz="5000" u="none" strike="noStrike" cap="none" dirty="0" err="1">
                <a:solidFill>
                  <a:schemeClr val="dk1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  <a:cs typeface="Calibri"/>
                <a:sym typeface="Calibri"/>
              </a:rPr>
              <a:t>대한</a:t>
            </a:r>
            <a:r>
              <a:rPr lang="en-US" sz="5000" u="none" strike="noStrike" cap="none" dirty="0">
                <a:solidFill>
                  <a:schemeClr val="dk1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  <a:cs typeface="Calibri"/>
                <a:sym typeface="Calibri"/>
              </a:rPr>
              <a:t>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lang="en-US" sz="5000" u="none" strike="noStrike" cap="none" dirty="0" err="1">
                <a:solidFill>
                  <a:schemeClr val="dk1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  <a:cs typeface="Calibri"/>
                <a:sym typeface="Calibri"/>
              </a:rPr>
              <a:t>양자</a:t>
            </a:r>
            <a:r>
              <a:rPr lang="en-US" sz="5000" u="none" strike="noStrike" cap="none" dirty="0">
                <a:solidFill>
                  <a:schemeClr val="dk1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  <a:cs typeface="Calibri"/>
                <a:sym typeface="Calibri"/>
              </a:rPr>
              <a:t> ISD</a:t>
            </a:r>
            <a:r>
              <a:rPr lang="ko-KR" altLang="en-US" sz="5000" u="none" strike="noStrike" cap="none" dirty="0">
                <a:solidFill>
                  <a:schemeClr val="dk1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  <a:cs typeface="Calibri"/>
                <a:sym typeface="Calibri"/>
              </a:rPr>
              <a:t> 회로 구현</a:t>
            </a:r>
            <a:endParaRPr sz="5000" u="none" strike="noStrike" cap="none" dirty="0">
              <a:solidFill>
                <a:schemeClr val="dk1"/>
              </a:solidFill>
              <a:latin typeface="Gmarket Sans TTF Medium" panose="02000000000000000000" pitchFamily="2" charset="-128"/>
              <a:ea typeface="Gmarket Sans TTF Medium" panose="02000000000000000000" pitchFamily="2" charset="-128"/>
              <a:cs typeface="Calibri"/>
              <a:sym typeface="Calibri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6D23627-0192-A0EA-5481-C39A6D274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AB9D3-EAF0-7A44-B522-0A500B1E98A1}" type="slidenum">
              <a:rPr kumimoji="1" lang="ko-Kore-KR" altLang="en-US" smtClean="0"/>
              <a:t>11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924198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1"/>
          <p:cNvSpPr txBox="1">
            <a:spLocks noGrp="1"/>
          </p:cNvSpPr>
          <p:nvPr>
            <p:ph type="title"/>
          </p:nvPr>
        </p:nvSpPr>
        <p:spPr>
          <a:xfrm>
            <a:off x="411920" y="226997"/>
            <a:ext cx="11368200" cy="7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altLang="ko-KR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Input Setting (1/2)</a:t>
            </a:r>
            <a:endParaRPr sz="3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69BF70-CC1C-8D00-2156-07F687A3D66A}"/>
              </a:ext>
            </a:extLst>
          </p:cNvPr>
          <p:cNvSpPr txBox="1"/>
          <p:nvPr/>
        </p:nvSpPr>
        <p:spPr>
          <a:xfrm>
            <a:off x="-77002" y="6569480"/>
            <a:ext cx="1099052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ore-KR" sz="1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[*] </a:t>
            </a:r>
            <a:r>
              <a:rPr lang="ko-Kore-KR" altLang="en-US" sz="1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C</a:t>
            </a:r>
            <a:r>
              <a:rPr lang="en-US" altLang="ko-Kore-KR" sz="1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. </a:t>
            </a:r>
            <a:r>
              <a:rPr lang="ko-Kore-KR" altLang="en-US" sz="1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M</a:t>
            </a:r>
            <a:r>
              <a:rPr lang="en-US" altLang="ko-Kore-KR" sz="10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ukherjee</a:t>
            </a:r>
            <a:r>
              <a:rPr lang="en-US" altLang="ko-Kore-KR" sz="1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et al. “Preparing </a:t>
            </a:r>
            <a:r>
              <a:rPr lang="en-US" altLang="ko-Kore-KR" sz="10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Dicke</a:t>
            </a:r>
            <a:r>
              <a:rPr lang="en-US" altLang="ko-Kore-KR" sz="1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States on a Quantum Computer”, IEEE Transactions on Quantum Engineering, 2020.</a:t>
            </a:r>
            <a:endParaRPr lang="ko-Kore-KR" altLang="en-US" sz="10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C760DBD-AE08-B132-191B-2D84E6A1CDF7}"/>
                  </a:ext>
                </a:extLst>
              </p:cNvPr>
              <p:cNvSpPr txBox="1"/>
              <p:nvPr/>
            </p:nvSpPr>
            <p:spPr>
              <a:xfrm>
                <a:off x="29050" y="1219200"/>
                <a:ext cx="10674076" cy="214731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19100" indent="-457200">
                  <a:buSzPts val="2400"/>
                  <a:buFont typeface="Arial" panose="020B0604020202020204" pitchFamily="34" charset="0"/>
                  <a:buChar char="•"/>
                </a:pPr>
                <a:r>
                  <a:rPr lang="ko-KR" altLang="en-US" sz="2200" dirty="0">
                    <a:solidFill>
                      <a:schemeClr val="tx1"/>
                    </a:solidFill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큐빗 패리티 체크 행렬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</a:rPr>
                        </m:ctrlPr>
                      </m:sSubPr>
                      <m:e>
                        <m:r>
                          <a:rPr lang="en-US" altLang="ko-KR" sz="2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</a:rPr>
                          <m:t>𝐻</m:t>
                        </m:r>
                      </m:e>
                      <m:sub>
                        <m:d>
                          <m:dPr>
                            <m:ctrlPr>
                              <a:rPr kumimoji="1" lang="en-US" altLang="ko-KR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dPr>
                          <m:e>
                            <m:r>
                              <a:rPr kumimoji="1" lang="en-US" altLang="ko-KR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itchFamily="2" charset="2"/>
                              </a:rPr>
                              <m:t>𝑛</m:t>
                            </m:r>
                            <m:r>
                              <a:rPr kumimoji="1" lang="en-US" altLang="ko-KR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itchFamily="2" charset="2"/>
                              </a:rPr>
                              <m:t>−</m:t>
                            </m:r>
                            <m:r>
                              <a:rPr kumimoji="1" lang="en-US" altLang="ko-KR" sz="22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sym typeface="Wingdings" pitchFamily="2" charset="2"/>
                              </a:rPr>
                              <m:t>𝑘</m:t>
                            </m:r>
                          </m:e>
                        </m:d>
                        <m:r>
                          <a:rPr kumimoji="1" lang="en-US" altLang="ko-K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 </m:t>
                        </m:r>
                        <m:r>
                          <a:rPr kumimoji="1" lang="en-US" altLang="ko-KR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×</m:t>
                        </m:r>
                        <m:r>
                          <a:rPr kumimoji="1" lang="en-US" altLang="ko-KR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 </m:t>
                        </m:r>
                        <m:r>
                          <a:rPr kumimoji="1" lang="en-US" altLang="ko-KR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Wingdings" pitchFamily="2" charset="2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ko-KR" altLang="en-US" sz="2200" dirty="0">
                    <a:solidFill>
                      <a:schemeClr val="tx1"/>
                    </a:solidFill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로부터 </a:t>
                </a:r>
                <a:r>
                  <a:rPr lang="en-US" altLang="ko-KR" sz="2200" dirty="0">
                    <a:solidFill>
                      <a:schemeClr val="tx1"/>
                    </a:solidFill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Information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ore-KR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ore-KR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ko-Kore-KR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ko-Kore-KR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ko-Kore-KR" sz="2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kumimoji="1" lang="en-US" altLang="ko-Kore-KR" sz="2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2200" dirty="0">
                    <a:solidFill>
                      <a:schemeClr val="tx1"/>
                    </a:solidFill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을 준비</a:t>
                </a:r>
                <a:endParaRPr lang="en-US" altLang="ko-KR" sz="2200" dirty="0">
                  <a:solidFill>
                    <a:schemeClr val="tx1"/>
                  </a:solidFill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marL="876300" lvl="1" indent="-457200">
                  <a:buSzPts val="2400"/>
                  <a:buFont typeface="Arial" panose="020B0604020202020204" pitchFamily="34" charset="0"/>
                  <a:buChar char="•"/>
                </a:pPr>
                <a:r>
                  <a:rPr lang="en-US" altLang="ko-Kore-KR" sz="2200" b="1" dirty="0">
                    <a:latin typeface="Gmarket Sans TTF Bold" panose="02000000000000000000" pitchFamily="2" charset="-128"/>
                    <a:ea typeface="Gmarket Sans TTF Bold" panose="02000000000000000000" pitchFamily="2" charset="-128"/>
                  </a:rPr>
                  <a:t>Dicke state </a:t>
                </a:r>
                <a:r>
                  <a:rPr lang="en-US" altLang="ko-Kore-KR" sz="2200" b="1" dirty="0" err="1">
                    <a:latin typeface="Gmarket Sans TTF Bold" panose="02000000000000000000" pitchFamily="2" charset="-128"/>
                    <a:ea typeface="Gmarket Sans TTF Bold" panose="02000000000000000000" pitchFamily="2" charset="-128"/>
                  </a:rPr>
                  <a:t>기법</a:t>
                </a:r>
                <a:r>
                  <a:rPr lang="en-US" altLang="ko-Kore-KR" sz="2200" b="1" dirty="0">
                    <a:latin typeface="Gmarket Sans TTF Bold" panose="02000000000000000000" pitchFamily="2" charset="-128"/>
                    <a:ea typeface="Gmarket Sans TTF Bold" panose="02000000000000000000" pitchFamily="2" charset="-128"/>
                  </a:rPr>
                  <a:t> </a:t>
                </a:r>
                <a:r>
                  <a:rPr lang="en-US" altLang="ko-Kore-KR" sz="2200" dirty="0">
                    <a:ea typeface="Gmarket Sans TTF Medium" panose="02000000000000000000" pitchFamily="2" charset="-128"/>
                  </a:rPr>
                  <a:t>:  </a:t>
                </a:r>
                <a14:m>
                  <m:oMath xmlns:m="http://schemas.openxmlformats.org/officeDocument/2006/math">
                    <m:r>
                      <a:rPr lang="en-US" altLang="ko-Kore-KR" sz="2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Gmarket Sans TTF Medium" panose="02000000000000000000" pitchFamily="2" charset="-128"/>
                      </a:rPr>
                      <m:t>𝑛</m:t>
                    </m:r>
                  </m:oMath>
                </a14:m>
                <a:r>
                  <a:rPr lang="en-US" altLang="ko-Kore-KR" sz="2200" dirty="0">
                    <a:solidFill>
                      <a:schemeClr val="tx1"/>
                    </a:solidFill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개의 큐빗 </a:t>
                </a:r>
                <a:r>
                  <a:rPr lang="en-US" altLang="ko-Kore-KR" sz="2200" dirty="0" err="1">
                    <a:solidFill>
                      <a:schemeClr val="tx1"/>
                    </a:solidFill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중</a:t>
                </a:r>
                <a:r>
                  <a:rPr lang="en-US" altLang="ko-Kore-KR" sz="2200" dirty="0">
                    <a:solidFill>
                      <a:schemeClr val="tx1"/>
                    </a:solidFill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ore-KR" sz="2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Gmarket Sans TTF Medium" panose="02000000000000000000" pitchFamily="2" charset="-128"/>
                      </a:rPr>
                      <m:t>(</m:t>
                    </m:r>
                    <m:r>
                      <a:rPr lang="en-US" altLang="ko-Kore-KR" sz="2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Gmarket Sans TTF Medium" panose="02000000000000000000" pitchFamily="2" charset="-128"/>
                      </a:rPr>
                      <m:t>𝑛</m:t>
                    </m:r>
                    <m:r>
                      <a:rPr lang="en-US" altLang="ko-Kore-KR" sz="2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Gmarket Sans TTF Medium" panose="02000000000000000000" pitchFamily="2" charset="-128"/>
                      </a:rPr>
                      <m:t>−</m:t>
                    </m:r>
                    <m:r>
                      <a:rPr lang="en-US" altLang="ko-Kore-KR" sz="2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Gmarket Sans TTF Medium" panose="02000000000000000000" pitchFamily="2" charset="-128"/>
                      </a:rPr>
                      <m:t>𝑘</m:t>
                    </m:r>
                    <m:r>
                      <a:rPr lang="en-US" altLang="ko-Kore-KR" sz="2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Gmarket Sans TTF Medium" panose="02000000000000000000" pitchFamily="2" charset="-128"/>
                      </a:rPr>
                      <m:t>)</m:t>
                    </m:r>
                  </m:oMath>
                </a14:m>
                <a:r>
                  <a:rPr lang="en-US" altLang="ko-Kore-KR" sz="2200" dirty="0" err="1">
                    <a:solidFill>
                      <a:schemeClr val="tx1"/>
                    </a:solidFill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개의</a:t>
                </a:r>
                <a:r>
                  <a:rPr lang="en-US" altLang="ko-Kore-KR" sz="2200" dirty="0">
                    <a:solidFill>
                      <a:schemeClr val="tx1"/>
                    </a:solidFill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큐빗</a:t>
                </a:r>
                <a:r>
                  <a:rPr lang="ko-KR" altLang="en-US" sz="2200" dirty="0">
                    <a:solidFill>
                      <a:schemeClr val="tx1"/>
                    </a:solidFill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만을 </a:t>
                </a:r>
                <a:r>
                  <a:rPr lang="en-US" altLang="ko-KR" sz="2200" dirty="0">
                    <a:solidFill>
                      <a:schemeClr val="tx1"/>
                    </a:solidFill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1</a:t>
                </a:r>
                <a:r>
                  <a:rPr lang="ko-KR" altLang="en-US" sz="2200" dirty="0">
                    <a:solidFill>
                      <a:schemeClr val="tx1"/>
                    </a:solidFill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로 변경  </a:t>
                </a:r>
                <a:r>
                  <a:rPr lang="en-US" altLang="ko-KR" sz="2200" dirty="0">
                    <a:solidFill>
                      <a:schemeClr val="tx1"/>
                    </a:solidFill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  </a:t>
                </a:r>
                <a:r>
                  <a:rPr lang="en-US" altLang="ko-Kore-KR" sz="2200" dirty="0">
                    <a:solidFill>
                      <a:schemeClr val="tx1"/>
                    </a:solidFill>
                    <a:sym typeface="Wingdings" pitchFamily="2" charset="2"/>
                  </a:rPr>
                  <a:t>I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altLang="ko-Kore-KR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ore-KR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SupPr>
                          <m:e>
                            <m:r>
                              <a:rPr lang="en-US" altLang="ko-Kore-KR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ko-Kore-KR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𝑛</m:t>
                            </m:r>
                            <m:r>
                              <a:rPr lang="en-US" altLang="ko-Kore-KR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−</m:t>
                            </m:r>
                            <m:r>
                              <a:rPr lang="en-US" altLang="ko-Kore-KR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𝑘</m:t>
                            </m:r>
                          </m:sub>
                          <m:sup>
                            <m:r>
                              <a:rPr lang="en-US" altLang="ko-Kore-KR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𝑛</m:t>
                            </m:r>
                          </m:sup>
                        </m:sSubSup>
                      </m:e>
                    </m:d>
                  </m:oMath>
                </a14:m>
                <a:endParaRPr lang="en-US" altLang="ko-KR" sz="2200" dirty="0">
                  <a:solidFill>
                    <a:schemeClr val="tx1"/>
                  </a:solidFill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marL="1333500" lvl="2" indent="-457200">
                  <a:buSzPts val="2400"/>
                  <a:buFont typeface="Arial" panose="020B0604020202020204" pitchFamily="34" charset="0"/>
                  <a:buChar char="•"/>
                </a:pPr>
                <a:r>
                  <a:rPr lang="ko-KR" altLang="en-US" sz="2200" dirty="0">
                    <a:solidFill>
                      <a:schemeClr val="tx1"/>
                    </a:solidFill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큐빗이 </a:t>
                </a:r>
                <a:r>
                  <a:rPr lang="en-US" altLang="ko-KR" sz="2200" dirty="0">
                    <a:solidFill>
                      <a:schemeClr val="tx1"/>
                    </a:solidFill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1</a:t>
                </a:r>
                <a:r>
                  <a:rPr lang="ko-KR" altLang="en-US" sz="2200" dirty="0">
                    <a:solidFill>
                      <a:schemeClr val="tx1"/>
                    </a:solidFill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인 열 만을 선택하여 </a:t>
                </a:r>
                <a:r>
                  <a:rPr lang="en-US" altLang="ko-KR" sz="2200" dirty="0">
                    <a:solidFill>
                      <a:schemeClr val="tx1"/>
                    </a:solidFill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Information set</a:t>
                </a:r>
                <a:r>
                  <a:rPr lang="ko-KR" altLang="en-US" sz="2200" dirty="0">
                    <a:solidFill>
                      <a:schemeClr val="tx1"/>
                    </a:solidFill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을 추출</a:t>
                </a:r>
                <a:endParaRPr lang="en-US" altLang="ko-Kore-KR" sz="2200" dirty="0">
                  <a:solidFill>
                    <a:schemeClr val="tx1"/>
                  </a:solidFill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marL="419100" indent="-457200">
                  <a:buSzPts val="2400"/>
                  <a:buFont typeface="Arial" panose="020B0604020202020204" pitchFamily="34" charset="0"/>
                  <a:buChar char="•"/>
                </a:pPr>
                <a:endParaRPr lang="en-US" altLang="ko-Kore-KR" sz="2200" dirty="0">
                  <a:solidFill>
                    <a:schemeClr val="tx1"/>
                  </a:solidFill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marL="685800" lvl="1" indent="-266700">
                  <a:lnSpc>
                    <a:spcPct val="100000"/>
                  </a:lnSpc>
                  <a:spcBef>
                    <a:spcPts val="0"/>
                  </a:spcBef>
                  <a:buSzPts val="2400"/>
                </a:pPr>
                <a:endParaRPr lang="en-US" altLang="ko-Kore-KR" sz="2200" dirty="0">
                  <a:solidFill>
                    <a:schemeClr val="tx1"/>
                  </a:solidFill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endParaRPr kumimoji="1" lang="ko-Kore-KR" altLang="en-US" sz="2200" dirty="0">
                  <a:solidFill>
                    <a:schemeClr val="tx1"/>
                  </a:solidFill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C760DBD-AE08-B132-191B-2D84E6A1CD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50" y="1219200"/>
                <a:ext cx="10674076" cy="2147319"/>
              </a:xfrm>
              <a:prstGeom prst="rect">
                <a:avLst/>
              </a:prstGeom>
              <a:blipFill>
                <a:blip r:embed="rId3"/>
                <a:stretch>
                  <a:fillRect l="-832" t="-9467" r="-20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그룹 4">
            <a:extLst>
              <a:ext uri="{FF2B5EF4-FFF2-40B4-BE49-F238E27FC236}">
                <a16:creationId xmlns:a16="http://schemas.microsoft.com/office/drawing/2014/main" id="{6FC85D58-A873-FA31-56D8-C2FC7A8A7D3F}"/>
              </a:ext>
            </a:extLst>
          </p:cNvPr>
          <p:cNvGrpSpPr/>
          <p:nvPr/>
        </p:nvGrpSpPr>
        <p:grpSpPr>
          <a:xfrm>
            <a:off x="3475821" y="3489930"/>
            <a:ext cx="4468839" cy="2511212"/>
            <a:chOff x="411920" y="2973567"/>
            <a:chExt cx="6433599" cy="3615287"/>
          </a:xfrm>
        </p:grpSpPr>
        <p:pic>
          <p:nvPicPr>
            <p:cNvPr id="6" name="Google Shape;216;p31">
              <a:extLst>
                <a:ext uri="{FF2B5EF4-FFF2-40B4-BE49-F238E27FC236}">
                  <a16:creationId xmlns:a16="http://schemas.microsoft.com/office/drawing/2014/main" id="{0349D29E-E084-A75A-B6C6-C9C676B285CD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11920" y="2973567"/>
              <a:ext cx="6433599" cy="30835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EF7BDF0-E566-3CBD-11FA-30EB3B39FABB}"/>
                </a:ext>
              </a:extLst>
            </p:cNvPr>
            <p:cNvSpPr txBox="1"/>
            <p:nvPr/>
          </p:nvSpPr>
          <p:spPr>
            <a:xfrm>
              <a:off x="2912784" y="6057142"/>
              <a:ext cx="3588618" cy="5317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ore-KR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rPr>
                <a:t>Information set</a:t>
              </a:r>
              <a:endParaRPr kumimoji="1" lang="ko-Kore-KR" altLang="en-US">
                <a:latin typeface="Gmarket Sans TTF Medium" panose="02000000000000000000" pitchFamily="2" charset="-128"/>
                <a:ea typeface="Gmarket Sans TTF Medium" panose="02000000000000000000" pitchFamily="2" charset="-128"/>
              </a:endParaRPr>
            </a:p>
          </p:txBody>
        </p:sp>
        <p:sp>
          <p:nvSpPr>
            <p:cNvPr id="9" name="모서리가 둥근 직사각형 8">
              <a:extLst>
                <a:ext uri="{FF2B5EF4-FFF2-40B4-BE49-F238E27FC236}">
                  <a16:creationId xmlns:a16="http://schemas.microsoft.com/office/drawing/2014/main" id="{D3466119-84A7-66E5-5F63-4C8249BFF49F}"/>
                </a:ext>
              </a:extLst>
            </p:cNvPr>
            <p:cNvSpPr/>
            <p:nvPr/>
          </p:nvSpPr>
          <p:spPr>
            <a:xfrm>
              <a:off x="3155795" y="3342276"/>
              <a:ext cx="2743997" cy="2567870"/>
            </a:xfrm>
            <a:prstGeom prst="roundRect">
              <a:avLst/>
            </a:prstGeom>
            <a:noFill/>
            <a:ln w="317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>
                <a:latin typeface="Gmarket Sans TTF Medium" panose="02000000000000000000" pitchFamily="2" charset="-128"/>
                <a:ea typeface="Gmarket Sans TTF Medium" panose="02000000000000000000" pitchFamily="2" charset="-128"/>
              </a:endParaRPr>
            </a:p>
          </p:txBody>
        </p:sp>
      </p:grp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782A8BF9-6758-F9D8-2464-F362D03E45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852B28-D290-2A4B-A90A-47EAEF72A8E4}" type="slidenum">
              <a:rPr kumimoji="1" lang="ko-Kore-KR" altLang="en-US" smtClean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12</a:t>
            </a:fld>
            <a:endParaRPr kumimoji="1" lang="ko-Kore-KR" altLang="en-US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07C3C0-67BD-FA26-A501-265DD7315FE3}"/>
                  </a:ext>
                </a:extLst>
              </p:cNvPr>
              <p:cNvSpPr txBox="1"/>
              <p:nvPr/>
            </p:nvSpPr>
            <p:spPr>
              <a:xfrm>
                <a:off x="3109761" y="2613732"/>
                <a:ext cx="6136104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ore-KR" sz="1800" dirty="0">
                    <a:solidFill>
                      <a:schemeClr val="bg1"/>
                    </a:solidFill>
                    <a:sym typeface="Wingdings" pitchFamily="2" charset="2"/>
                  </a:rPr>
                  <a:t>I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altLang="ko-Kore-KR" sz="18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ore-KR" sz="18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SupPr>
                          <m:e>
                            <m:r>
                              <a:rPr lang="en-US" altLang="ko-Kore-KR" sz="1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ko-Kore-KR" sz="1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𝑛</m:t>
                            </m:r>
                            <m:r>
                              <a:rPr lang="en-US" altLang="ko-Kore-KR" sz="1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−</m:t>
                            </m:r>
                            <m:r>
                              <a:rPr lang="en-US" altLang="ko-Kore-KR" sz="1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𝑘</m:t>
                            </m:r>
                          </m:sub>
                          <m:sup>
                            <m:r>
                              <a:rPr lang="en-US" altLang="ko-Kore-KR" sz="1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𝑛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altLang="ko-KR" dirty="0">
                    <a:solidFill>
                      <a:schemeClr val="bg1"/>
                    </a:solidFill>
                  </a:rPr>
                  <a:t>: </a:t>
                </a:r>
                <a:r>
                  <a:rPr lang="en-US" altLang="ko-KR" sz="1700" dirty="0">
                    <a:solidFill>
                      <a:schemeClr val="bg1"/>
                    </a:solidFill>
                  </a:rPr>
                  <a:t> </a:t>
                </a:r>
                <a:r>
                  <a:rPr lang="en-US" altLang="ko-KR" sz="1700" dirty="0"/>
                  <a:t>0 </a:t>
                </a:r>
                <a:r>
                  <a:rPr lang="en-US" altLang="ko-KR" sz="500" dirty="0"/>
                  <a:t> </a:t>
                </a:r>
                <a:r>
                  <a:rPr lang="en-US" altLang="ko-KR" sz="1700" dirty="0"/>
                  <a:t>0</a:t>
                </a:r>
                <a:r>
                  <a:rPr lang="en-US" altLang="ko-KR" sz="800" dirty="0"/>
                  <a:t> </a:t>
                </a:r>
                <a:r>
                  <a:rPr lang="en-US" altLang="ko-KR" sz="600" dirty="0"/>
                  <a:t> </a:t>
                </a:r>
                <a:r>
                  <a:rPr lang="en-US" altLang="ko-KR" sz="800" dirty="0"/>
                  <a:t> </a:t>
                </a:r>
                <a:r>
                  <a:rPr lang="en-US" altLang="ko-KR" sz="1700" dirty="0"/>
                  <a:t>0 </a:t>
                </a:r>
                <a:r>
                  <a:rPr lang="en-US" altLang="ko-KR" sz="800" dirty="0"/>
                  <a:t>  </a:t>
                </a:r>
                <a:r>
                  <a:rPr lang="en-US" altLang="ko-KR" sz="1700" dirty="0"/>
                  <a:t>0</a:t>
                </a:r>
                <a:r>
                  <a:rPr lang="en-US" altLang="ko-KR" sz="800" dirty="0"/>
                  <a:t>   </a:t>
                </a:r>
                <a:r>
                  <a:rPr lang="en-US" altLang="ko-KR" sz="1700" dirty="0"/>
                  <a:t>0</a:t>
                </a:r>
                <a:r>
                  <a:rPr lang="en-US" altLang="ko-KR" sz="800" dirty="0"/>
                  <a:t>   </a:t>
                </a:r>
                <a:r>
                  <a:rPr lang="en-US" altLang="ko-KR" sz="1700" dirty="0"/>
                  <a:t>0</a:t>
                </a:r>
                <a:r>
                  <a:rPr lang="en-US" altLang="ko-KR" sz="800" dirty="0"/>
                  <a:t>   </a:t>
                </a:r>
                <a:r>
                  <a:rPr lang="en-US" altLang="ko-KR" sz="1700" dirty="0"/>
                  <a:t>1</a:t>
                </a:r>
                <a:r>
                  <a:rPr lang="en-US" altLang="ko-KR" dirty="0"/>
                  <a:t> </a:t>
                </a:r>
                <a:r>
                  <a:rPr lang="en-US" altLang="ko-KR" sz="1100" dirty="0"/>
                  <a:t> </a:t>
                </a:r>
                <a:r>
                  <a:rPr lang="en-US" altLang="ko-KR" sz="1700" dirty="0"/>
                  <a:t>1</a:t>
                </a:r>
                <a:r>
                  <a:rPr lang="en-US" altLang="ko-KR" dirty="0"/>
                  <a:t> </a:t>
                </a:r>
                <a:r>
                  <a:rPr lang="en-US" altLang="ko-KR" sz="1000" dirty="0"/>
                  <a:t> </a:t>
                </a:r>
                <a:r>
                  <a:rPr lang="en-US" altLang="ko-KR" sz="1700" dirty="0"/>
                  <a:t>1</a:t>
                </a:r>
                <a:r>
                  <a:rPr lang="en-US" altLang="ko-KR" sz="2000" dirty="0"/>
                  <a:t> </a:t>
                </a:r>
                <a:r>
                  <a:rPr lang="en-US" altLang="ko-KR" sz="1700" dirty="0"/>
                  <a:t>1</a:t>
                </a:r>
                <a:r>
                  <a:rPr lang="en-US" altLang="ko-KR" sz="2500" dirty="0"/>
                  <a:t> </a:t>
                </a:r>
                <a:r>
                  <a:rPr lang="en-US" altLang="ko-KR" sz="1700" dirty="0"/>
                  <a:t>1</a:t>
                </a:r>
                <a:r>
                  <a:rPr lang="en-US" altLang="ko-KR" sz="3000" dirty="0"/>
                  <a:t> </a:t>
                </a:r>
                <a:r>
                  <a:rPr lang="en-US" altLang="ko-KR" sz="1700" dirty="0"/>
                  <a:t>1</a:t>
                </a:r>
                <a:r>
                  <a:rPr lang="en-US" altLang="ko-KR" sz="2800" dirty="0"/>
                  <a:t> </a:t>
                </a:r>
                <a:r>
                  <a:rPr lang="en-US" altLang="ko-KR" sz="1700" dirty="0"/>
                  <a:t>1</a:t>
                </a:r>
                <a:r>
                  <a:rPr lang="en-US" altLang="ko-KR" sz="2800" dirty="0"/>
                  <a:t> </a:t>
                </a:r>
                <a:r>
                  <a:rPr lang="en-US" altLang="ko-KR" sz="1700" dirty="0"/>
                  <a:t>1</a:t>
                </a:r>
                <a:r>
                  <a:rPr lang="en-US" altLang="ko-KR" sz="2700" dirty="0"/>
                  <a:t> </a:t>
                </a:r>
                <a:r>
                  <a:rPr lang="en-US" altLang="ko-KR" sz="1700" dirty="0"/>
                  <a:t>0</a:t>
                </a:r>
                <a:r>
                  <a:rPr lang="en-US" altLang="ko-KR" sz="2700" dirty="0"/>
                  <a:t> </a:t>
                </a:r>
                <a:r>
                  <a:rPr lang="en-US" altLang="ko-KR" sz="1700" dirty="0"/>
                  <a:t>0</a:t>
                </a:r>
                <a:endParaRPr lang="ko-KR" altLang="en-US" sz="17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807C3C0-67BD-FA26-A501-265DD7315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9761" y="2613732"/>
                <a:ext cx="6136104" cy="553998"/>
              </a:xfrm>
              <a:prstGeom prst="rect">
                <a:avLst/>
              </a:prstGeom>
              <a:blipFill>
                <a:blip r:embed="rId5"/>
                <a:stretch>
                  <a:fillRect l="-825" t="-46667" b="-10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698ACB0E-7915-E9EB-E636-60EB670A9304}"/>
              </a:ext>
            </a:extLst>
          </p:cNvPr>
          <p:cNvCxnSpPr/>
          <p:nvPr/>
        </p:nvCxnSpPr>
        <p:spPr>
          <a:xfrm>
            <a:off x="5490472" y="3138855"/>
            <a:ext cx="0" cy="2519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80A45D17-C5F5-B859-C4D5-DCF5D75C8531}"/>
              </a:ext>
            </a:extLst>
          </p:cNvPr>
          <p:cNvCxnSpPr/>
          <p:nvPr/>
        </p:nvCxnSpPr>
        <p:spPr>
          <a:xfrm>
            <a:off x="5748758" y="3138855"/>
            <a:ext cx="0" cy="2519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47A3DFBD-2319-6626-7E13-D87782C0D6FC}"/>
              </a:ext>
            </a:extLst>
          </p:cNvPr>
          <p:cNvCxnSpPr/>
          <p:nvPr/>
        </p:nvCxnSpPr>
        <p:spPr>
          <a:xfrm>
            <a:off x="5997410" y="3137250"/>
            <a:ext cx="0" cy="2519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47216509-9112-E9CB-8AC0-A713657ACF51}"/>
              </a:ext>
            </a:extLst>
          </p:cNvPr>
          <p:cNvCxnSpPr/>
          <p:nvPr/>
        </p:nvCxnSpPr>
        <p:spPr>
          <a:xfrm>
            <a:off x="6201003" y="3129230"/>
            <a:ext cx="0" cy="2519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DD130B9-13D5-7882-7DD2-DE0AF307598D}"/>
              </a:ext>
            </a:extLst>
          </p:cNvPr>
          <p:cNvCxnSpPr/>
          <p:nvPr/>
        </p:nvCxnSpPr>
        <p:spPr>
          <a:xfrm>
            <a:off x="6459289" y="3129230"/>
            <a:ext cx="0" cy="2519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D384C8ED-3854-F19B-8558-69279171653C}"/>
              </a:ext>
            </a:extLst>
          </p:cNvPr>
          <p:cNvCxnSpPr/>
          <p:nvPr/>
        </p:nvCxnSpPr>
        <p:spPr>
          <a:xfrm>
            <a:off x="6707941" y="3127625"/>
            <a:ext cx="0" cy="2519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AE8A68F8-167B-B5E7-9503-F313EB8B749B}"/>
              </a:ext>
            </a:extLst>
          </p:cNvPr>
          <p:cNvCxnSpPr/>
          <p:nvPr/>
        </p:nvCxnSpPr>
        <p:spPr>
          <a:xfrm>
            <a:off x="6921294" y="3138855"/>
            <a:ext cx="0" cy="2519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CF201B86-2528-5B41-FB36-63CB0C022679}"/>
              </a:ext>
            </a:extLst>
          </p:cNvPr>
          <p:cNvCxnSpPr/>
          <p:nvPr/>
        </p:nvCxnSpPr>
        <p:spPr>
          <a:xfrm>
            <a:off x="7179580" y="3138855"/>
            <a:ext cx="0" cy="2519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F8145C2-311A-2E67-77B6-3F60512471AD}"/>
                  </a:ext>
                </a:extLst>
              </p:cNvPr>
              <p:cNvSpPr txBox="1"/>
              <p:nvPr/>
            </p:nvSpPr>
            <p:spPr>
              <a:xfrm>
                <a:off x="2950946" y="2738273"/>
                <a:ext cx="969647" cy="47134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altLang="ko-Kore-KR" sz="2200" dirty="0">
                    <a:solidFill>
                      <a:schemeClr val="tx1"/>
                    </a:solidFill>
                    <a:sym typeface="Wingdings" pitchFamily="2" charset="2"/>
                  </a:rPr>
                  <a:t>I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altLang="ko-Kore-KR" sz="2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ore-KR" sz="2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SupPr>
                          <m:e>
                            <m:r>
                              <a:rPr lang="en-US" altLang="ko-Kore-KR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ko-KR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8</m:t>
                            </m:r>
                          </m:sub>
                          <m:sup>
                            <m:r>
                              <a:rPr lang="en-US" altLang="ko-KR" sz="2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16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altLang="ko-KR" sz="2200" dirty="0"/>
                  <a:t>:</a:t>
                </a:r>
                <a:endParaRPr lang="ko-KR" altLang="en-US" sz="22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F8145C2-311A-2E67-77B6-3F60512471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0946" y="2738273"/>
                <a:ext cx="969647" cy="471347"/>
              </a:xfrm>
              <a:prstGeom prst="rect">
                <a:avLst/>
              </a:prstGeom>
              <a:blipFill>
                <a:blip r:embed="rId6"/>
                <a:stretch>
                  <a:fillRect l="-7792" t="-152632" r="-31169" b="-23157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D2B31FA4-6B1A-7E0A-8E09-3EFB5B1917B5}"/>
              </a:ext>
            </a:extLst>
          </p:cNvPr>
          <p:cNvSpPr txBox="1"/>
          <p:nvPr/>
        </p:nvSpPr>
        <p:spPr>
          <a:xfrm>
            <a:off x="3292641" y="1470393"/>
            <a:ext cx="282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1934851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1"/>
          <p:cNvSpPr txBox="1">
            <a:spLocks noGrp="1"/>
          </p:cNvSpPr>
          <p:nvPr>
            <p:ph type="title"/>
          </p:nvPr>
        </p:nvSpPr>
        <p:spPr>
          <a:xfrm>
            <a:off x="411920" y="207747"/>
            <a:ext cx="11368200" cy="7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altLang="ko-KR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Input Setting (1/2)</a:t>
            </a:r>
            <a:endParaRPr sz="3200" dirty="0"/>
          </a:p>
        </p:txBody>
      </p:sp>
      <p:sp>
        <p:nvSpPr>
          <p:cNvPr id="214" name="Google Shape;214;p31"/>
          <p:cNvSpPr txBox="1">
            <a:spLocks noGrp="1"/>
          </p:cNvSpPr>
          <p:nvPr>
            <p:ph type="body" idx="1"/>
          </p:nvPr>
        </p:nvSpPr>
        <p:spPr>
          <a:xfrm>
            <a:off x="-185156" y="1156473"/>
            <a:ext cx="11839451" cy="3844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19100" lvl="1" indent="0">
              <a:lnSpc>
                <a:spcPct val="100000"/>
              </a:lnSpc>
              <a:spcBef>
                <a:spcPts val="0"/>
              </a:spcBef>
              <a:buSzPts val="2400"/>
              <a:buNone/>
            </a:pPr>
            <a:endParaRPr lang="en-US" altLang="ko-Kore-KR" sz="1000" dirty="0">
              <a:solidFill>
                <a:schemeClr val="tx1"/>
              </a:solidFill>
            </a:endParaRPr>
          </a:p>
          <a:p>
            <a:pPr marL="685800" lvl="1" indent="-266700">
              <a:lnSpc>
                <a:spcPct val="100000"/>
              </a:lnSpc>
              <a:spcBef>
                <a:spcPts val="0"/>
              </a:spcBef>
              <a:buSzPts val="2400"/>
            </a:pPr>
            <a:r>
              <a:rPr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Dicke State </a:t>
            </a:r>
            <a:r>
              <a:rPr lang="ko-KR" altLang="en-US" sz="2200" dirty="0">
                <a:solidFill>
                  <a:schemeClr val="tx1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구현 비용 및 양자 회로 </a:t>
            </a:r>
            <a:endParaRPr lang="en-US" altLang="ko-Kore-KR" sz="2200" dirty="0">
              <a:solidFill>
                <a:schemeClr val="tx1"/>
              </a:solidFill>
            </a:endParaRPr>
          </a:p>
          <a:p>
            <a:pPr marL="685800" lvl="1" indent="-266700">
              <a:lnSpc>
                <a:spcPct val="100000"/>
              </a:lnSpc>
              <a:spcBef>
                <a:spcPts val="0"/>
              </a:spcBef>
              <a:buSzPts val="2400"/>
            </a:pPr>
            <a:endParaRPr lang="en-US" altLang="ko-Kore-KR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569BF70-CC1C-8D00-2156-07F687A3D66A}"/>
              </a:ext>
            </a:extLst>
          </p:cNvPr>
          <p:cNvSpPr txBox="1"/>
          <p:nvPr/>
        </p:nvSpPr>
        <p:spPr>
          <a:xfrm>
            <a:off x="-77002" y="6569480"/>
            <a:ext cx="1099052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ore-KR" sz="1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[*] </a:t>
            </a:r>
            <a:r>
              <a:rPr lang="ko-Kore-KR" altLang="en-US" sz="1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C</a:t>
            </a:r>
            <a:r>
              <a:rPr lang="en-US" altLang="ko-Kore-KR" sz="1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. </a:t>
            </a:r>
            <a:r>
              <a:rPr lang="ko-Kore-KR" altLang="en-US" sz="1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M</a:t>
            </a:r>
            <a:r>
              <a:rPr lang="en-US" altLang="ko-Kore-KR" sz="10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ukherjee</a:t>
            </a:r>
            <a:r>
              <a:rPr lang="en-US" altLang="ko-Kore-KR" sz="1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et al. “Preparing </a:t>
            </a:r>
            <a:r>
              <a:rPr lang="en-US" altLang="ko-Kore-KR" sz="10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Dicke</a:t>
            </a:r>
            <a:r>
              <a:rPr lang="en-US" altLang="ko-Kore-KR" sz="1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States on a Quantum Computer”, IEEE Transactions on Quantum Engineering, 2020.</a:t>
            </a:r>
            <a:endParaRPr lang="ko-Kore-KR" altLang="en-US" sz="10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7CEEEA6-9E58-83C7-D104-98E95DFA7D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852B28-D290-2A4B-A90A-47EAEF72A8E4}" type="slidenum">
              <a:rPr kumimoji="1" lang="ko-Kore-KR" altLang="en-US" smtClean="0"/>
              <a:t>13</a:t>
            </a:fld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표 1">
                <a:extLst>
                  <a:ext uri="{FF2B5EF4-FFF2-40B4-BE49-F238E27FC236}">
                    <a16:creationId xmlns:a16="http://schemas.microsoft.com/office/drawing/2014/main" id="{C2A230DA-2220-969B-9F95-01978420D0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3939152"/>
                  </p:ext>
                </p:extLst>
              </p:nvPr>
            </p:nvGraphicFramePr>
            <p:xfrm>
              <a:off x="743340" y="1948448"/>
              <a:ext cx="10255129" cy="128577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35887">
                      <a:extLst>
                        <a:ext uri="{9D8B030D-6E8A-4147-A177-3AD203B41FA5}">
                          <a16:colId xmlns:a16="http://schemas.microsoft.com/office/drawing/2014/main" val="2960314680"/>
                        </a:ext>
                      </a:extLst>
                    </a:gridCol>
                    <a:gridCol w="1200182">
                      <a:extLst>
                        <a:ext uri="{9D8B030D-6E8A-4147-A177-3AD203B41FA5}">
                          <a16:colId xmlns:a16="http://schemas.microsoft.com/office/drawing/2014/main" val="120991763"/>
                        </a:ext>
                      </a:extLst>
                    </a:gridCol>
                    <a:gridCol w="996580">
                      <a:extLst>
                        <a:ext uri="{9D8B030D-6E8A-4147-A177-3AD203B41FA5}">
                          <a16:colId xmlns:a16="http://schemas.microsoft.com/office/drawing/2014/main" val="3374579767"/>
                        </a:ext>
                      </a:extLst>
                    </a:gridCol>
                    <a:gridCol w="2007581">
                      <a:extLst>
                        <a:ext uri="{9D8B030D-6E8A-4147-A177-3AD203B41FA5}">
                          <a16:colId xmlns:a16="http://schemas.microsoft.com/office/drawing/2014/main" val="3477819340"/>
                        </a:ext>
                      </a:extLst>
                    </a:gridCol>
                    <a:gridCol w="2321648">
                      <a:extLst>
                        <a:ext uri="{9D8B030D-6E8A-4147-A177-3AD203B41FA5}">
                          <a16:colId xmlns:a16="http://schemas.microsoft.com/office/drawing/2014/main" val="3624024535"/>
                        </a:ext>
                      </a:extLst>
                    </a:gridCol>
                    <a:gridCol w="2593251">
                      <a:extLst>
                        <a:ext uri="{9D8B030D-6E8A-4147-A177-3AD203B41FA5}">
                          <a16:colId xmlns:a16="http://schemas.microsoft.com/office/drawing/2014/main" val="1741509662"/>
                        </a:ext>
                      </a:extLst>
                    </a:gridCol>
                  </a:tblGrid>
                  <a:tr h="4269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ore-KR" sz="16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State</a:t>
                          </a:r>
                          <a:endParaRPr lang="ko-Kore-KR" altLang="en-US" sz="16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ore-KR" sz="16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X </a:t>
                          </a:r>
                          <a:endParaRPr lang="ko-Kore-KR" altLang="en-US" sz="16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ore-KR" sz="16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Qubits</a:t>
                          </a:r>
                          <a:endParaRPr lang="ko-Kore-KR" altLang="en-US" sz="16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ore-KR" sz="16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CNOT</a:t>
                          </a:r>
                          <a:endParaRPr lang="ko-Kore-KR" altLang="en-US" sz="16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ore-KR" sz="16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Ry</a:t>
                          </a:r>
                          <a:endParaRPr lang="ko-Kore-KR" altLang="en-US" sz="16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ore-KR" sz="16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Depth</a:t>
                          </a:r>
                          <a:endParaRPr lang="ko-Kore-KR" altLang="en-US" sz="16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27084367"/>
                      </a:ext>
                    </a:extLst>
                  </a:tr>
                  <a:tr h="85886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o-KR" altLang="en-US" sz="1800" b="1" dirty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</a:rPr>
                            <a:t> </a:t>
                          </a:r>
                          <a:r>
                            <a:rPr lang="en-US" altLang="ko-Kore-KR" sz="1800" dirty="0">
                              <a:solidFill>
                                <a:schemeClr val="tx1"/>
                              </a:solidFill>
                              <a:sym typeface="Wingdings" pitchFamily="2" charset="2"/>
                            </a:rPr>
                            <a:t>I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en-US" altLang="ko-Kore-KR" sz="18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ko-Kore-KR" sz="18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ore-KR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altLang="ko-Kore-KR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n-US" altLang="ko-Kore-KR" sz="18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  <m:t>𝑛</m:t>
                                      </m:r>
                                    </m:sup>
                                  </m:sSubSup>
                                </m:e>
                              </m:d>
                            </m:oMath>
                          </a14:m>
                          <a:r>
                            <a:rPr lang="ko-KR" altLang="en-US" sz="1800" dirty="0"/>
                            <a:t> </a:t>
                          </a:r>
                          <a:endParaRPr lang="ko-Kore-KR" altLang="en-US" sz="1800" b="0" dirty="0"/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ore-KR" sz="1800" b="0" i="1" dirty="0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ko-Kore-KR" altLang="en-US" sz="18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ore-KR" sz="1800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ko-Kore-KR" altLang="en-US" sz="18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ore-KR" sz="1800" b="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US" altLang="ko-Kore-KR" sz="1800" b="0" i="1" dirty="0" smtClean="0">
                                    <a:latin typeface="Cambria Math" panose="02040503050406030204" pitchFamily="18" charset="0"/>
                                  </a:rPr>
                                  <m:t>𝑛𝑟</m:t>
                                </m:r>
                                <m:r>
                                  <a:rPr lang="en-US" altLang="ko-Kore-KR" sz="1800" b="0" i="1" dirty="0" smtClean="0">
                                    <a:latin typeface="Cambria Math" panose="02040503050406030204" pitchFamily="18" charset="0"/>
                                  </a:rPr>
                                  <m:t> – </m:t>
                                </m:r>
                                <m:sSup>
                                  <m:sSupPr>
                                    <m:ctrlPr>
                                      <a:rPr lang="en-US" altLang="ko-Kore-KR" sz="1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ore-KR" sz="1800" b="0" i="1" dirty="0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r>
                                      <a:rPr lang="en-US" altLang="ko-Kore-KR" sz="1800" b="0" i="1" dirty="0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lang="en-US" altLang="ko-Kore-KR" sz="18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ore-KR" sz="1800" b="0" i="1" dirty="0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r>
                                  <a:rPr lang="en-US" altLang="ko-Kore-KR" sz="1800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ko-Kore-KR" altLang="en-US" sz="18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ore-KR" sz="18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US" altLang="ko-Kore-KR" sz="1800" b="0" i="1" smtClean="0">
                                    <a:latin typeface="Cambria Math" panose="02040503050406030204" pitchFamily="18" charset="0"/>
                                  </a:rPr>
                                  <m:t>𝑛𝑟</m:t>
                                </m:r>
                                <m:r>
                                  <a:rPr lang="en-US" altLang="ko-Kore-KR" sz="1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altLang="ko-Kore-KR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ore-KR" sz="18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US" altLang="ko-Kore-KR" sz="18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lang="en-US" altLang="ko-Kore-KR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ko-Kore-KR" sz="18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r>
                                  <a:rPr lang="en-US" altLang="ko-Kore-KR" sz="18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ko-Kore-KR" sz="18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oMath>
                            </m:oMathPara>
                          </a14:m>
                          <a:endParaRPr lang="en-US" altLang="ko-Kore-KR" sz="1800" b="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ko-Kore-KR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ko-Kore-KR" sz="1800" b="0" i="1" smtClean="0">
                                        <a:latin typeface="Cambria Math" panose="02040503050406030204" pitchFamily="18" charset="0"/>
                                      </a:rPr>
                                      <m:t>27</m:t>
                                    </m:r>
                                    <m:r>
                                      <a:rPr lang="en-US" altLang="ko-Kore-KR" sz="1800" b="0" i="1" smtClean="0">
                                        <a:latin typeface="Cambria Math" panose="02040503050406030204" pitchFamily="18" charset="0"/>
                                      </a:rPr>
                                      <m:t>𝑛𝑘</m:t>
                                    </m:r>
                                    <m:r>
                                      <a:rPr lang="en-US" altLang="ko-Kore-KR" sz="1800" b="0" i="1" smtClean="0">
                                        <a:latin typeface="Cambria Math" panose="02040503050406030204" pitchFamily="18" charset="0"/>
                                      </a:rPr>
                                      <m:t>−12</m:t>
                                    </m:r>
                                    <m:r>
                                      <a:rPr lang="en-US" altLang="ko-Kore-KR" sz="18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altLang="ko-Kore-KR" sz="1800" b="0" i="1" smtClean="0">
                                        <a:latin typeface="Cambria Math" panose="02040503050406030204" pitchFamily="18" charset="0"/>
                                      </a:rPr>
                                      <m:t>−27</m:t>
                                    </m:r>
                                    <m:sSup>
                                      <m:sSupPr>
                                        <m:ctrlPr>
                                          <a:rPr lang="en-US" altLang="ko-Kore-KR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ko-Kore-KR" sz="1800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e>
                                      <m:sup>
                                        <m:r>
                                          <a:rPr lang="en-US" altLang="ko-Kore-KR" sz="18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altLang="ko-Kore-KR" sz="1800" b="0" i="1" smtClean="0">
                                        <a:latin typeface="Cambria Math" panose="02040503050406030204" pitchFamily="18" charset="0"/>
                                      </a:rPr>
                                      <m:t>+3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altLang="ko-Kore-KR" sz="1800" b="0" dirty="0"/>
                                      <m:t> </m:t>
                                    </m:r>
                                  </m:num>
                                  <m:den>
                                    <m:r>
                                      <a:rPr lang="en-US" altLang="ko-Kore-KR" sz="1800" b="0" i="1" dirty="0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altLang="ko-Kore-KR" sz="1800" b="0" i="1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altLang="ko-Kore-KR" sz="1800" b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1291469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표 1">
                <a:extLst>
                  <a:ext uri="{FF2B5EF4-FFF2-40B4-BE49-F238E27FC236}">
                    <a16:creationId xmlns:a16="http://schemas.microsoft.com/office/drawing/2014/main" id="{C2A230DA-2220-969B-9F95-01978420D04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33939152"/>
                  </p:ext>
                </p:extLst>
              </p:nvPr>
            </p:nvGraphicFramePr>
            <p:xfrm>
              <a:off x="743340" y="1948448"/>
              <a:ext cx="10255129" cy="128577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35887">
                      <a:extLst>
                        <a:ext uri="{9D8B030D-6E8A-4147-A177-3AD203B41FA5}">
                          <a16:colId xmlns:a16="http://schemas.microsoft.com/office/drawing/2014/main" val="2960314680"/>
                        </a:ext>
                      </a:extLst>
                    </a:gridCol>
                    <a:gridCol w="1200182">
                      <a:extLst>
                        <a:ext uri="{9D8B030D-6E8A-4147-A177-3AD203B41FA5}">
                          <a16:colId xmlns:a16="http://schemas.microsoft.com/office/drawing/2014/main" val="120991763"/>
                        </a:ext>
                      </a:extLst>
                    </a:gridCol>
                    <a:gridCol w="996580">
                      <a:extLst>
                        <a:ext uri="{9D8B030D-6E8A-4147-A177-3AD203B41FA5}">
                          <a16:colId xmlns:a16="http://schemas.microsoft.com/office/drawing/2014/main" val="3374579767"/>
                        </a:ext>
                      </a:extLst>
                    </a:gridCol>
                    <a:gridCol w="2007581">
                      <a:extLst>
                        <a:ext uri="{9D8B030D-6E8A-4147-A177-3AD203B41FA5}">
                          <a16:colId xmlns:a16="http://schemas.microsoft.com/office/drawing/2014/main" val="3477819340"/>
                        </a:ext>
                      </a:extLst>
                    </a:gridCol>
                    <a:gridCol w="2321648">
                      <a:extLst>
                        <a:ext uri="{9D8B030D-6E8A-4147-A177-3AD203B41FA5}">
                          <a16:colId xmlns:a16="http://schemas.microsoft.com/office/drawing/2014/main" val="3624024535"/>
                        </a:ext>
                      </a:extLst>
                    </a:gridCol>
                    <a:gridCol w="2593251">
                      <a:extLst>
                        <a:ext uri="{9D8B030D-6E8A-4147-A177-3AD203B41FA5}">
                          <a16:colId xmlns:a16="http://schemas.microsoft.com/office/drawing/2014/main" val="1741509662"/>
                        </a:ext>
                      </a:extLst>
                    </a:gridCol>
                  </a:tblGrid>
                  <a:tr h="42690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ore-KR" sz="16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State</a:t>
                          </a:r>
                          <a:endParaRPr lang="ko-Kore-KR" altLang="en-US" sz="16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ore-KR" sz="16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X </a:t>
                          </a:r>
                          <a:endParaRPr lang="ko-Kore-KR" altLang="en-US" sz="16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ore-KR" sz="16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Qubits</a:t>
                          </a:r>
                          <a:endParaRPr lang="ko-Kore-KR" altLang="en-US" sz="16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ore-KR" sz="16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CNOT</a:t>
                          </a:r>
                          <a:endParaRPr lang="ko-Kore-KR" altLang="en-US" sz="16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ore-KR" sz="16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Ry</a:t>
                          </a:r>
                          <a:endParaRPr lang="ko-Kore-KR" altLang="en-US" sz="16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ore-KR" sz="16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Depth</a:t>
                          </a:r>
                          <a:endParaRPr lang="ko-Kore-KR" altLang="en-US" sz="16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27084367"/>
                      </a:ext>
                    </a:extLst>
                  </a:tr>
                  <a:tr h="858866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0584" marR="100584" anchor="ctr">
                        <a:blipFill>
                          <a:blip r:embed="rId3"/>
                          <a:stretch>
                            <a:fillRect l="-1111" t="-51471" r="-801111" b="-455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96809" t="-51471" r="-667021" b="-455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34177" t="-51471" r="-693671" b="-455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67089" t="-51471" r="-246835" b="-455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30601" t="-51471" r="-113115" b="-455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95122" t="-51471" r="-976" b="-455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291469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" name="그림 3">
            <a:extLst>
              <a:ext uri="{FF2B5EF4-FFF2-40B4-BE49-F238E27FC236}">
                <a16:creationId xmlns:a16="http://schemas.microsoft.com/office/drawing/2014/main" id="{8FC328C9-2186-B50B-C0B2-25FA7855E3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340" y="3584864"/>
            <a:ext cx="10345064" cy="1967301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B56A66-17C3-CCC8-8288-46A0EB33537C}"/>
                  </a:ext>
                </a:extLst>
              </p:cNvPr>
              <p:cNvSpPr txBox="1"/>
              <p:nvPr/>
            </p:nvSpPr>
            <p:spPr>
              <a:xfrm>
                <a:off x="4688338" y="5580859"/>
                <a:ext cx="3016051" cy="4368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2000" dirty="0">
                    <a:sym typeface="Wingdings" pitchFamily="2" charset="2"/>
                  </a:rPr>
                  <a:t>&lt; </a:t>
                </a:r>
                <a:r>
                  <a:rPr lang="en-US" altLang="ko-Kore-KR" sz="2000" dirty="0">
                    <a:solidFill>
                      <a:schemeClr val="tx1"/>
                    </a:solidFill>
                    <a:sym typeface="Wingdings" pitchFamily="2" charset="2"/>
                  </a:rPr>
                  <a:t>I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en-US" altLang="ko-Kore-KR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altLang="ko-Kore-KR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SupPr>
                          <m:e>
                            <m:r>
                              <a:rPr lang="en-US" altLang="ko-Kore-KR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ko-KR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3</m:t>
                            </m:r>
                          </m:sub>
                          <m:sup>
                            <m:r>
                              <a:rPr lang="en-US" altLang="ko-KR" sz="20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5</m:t>
                            </m:r>
                          </m:sup>
                        </m:sSubSup>
                      </m:e>
                    </m:d>
                  </m:oMath>
                </a14:m>
                <a:r>
                  <a:rPr lang="ko-KR" altLang="en-US" sz="2000" dirty="0">
                    <a:solidFill>
                      <a:schemeClr val="tx1"/>
                    </a:solidFill>
                    <a:sym typeface="Wingdings" pitchFamily="2" charset="2"/>
                  </a:rPr>
                  <a:t> </a:t>
                </a:r>
                <a:r>
                  <a:rPr lang="ko-KR" altLang="en-US" sz="2000" dirty="0">
                    <a:solidFill>
                      <a:schemeClr val="tx1"/>
                    </a:solidFill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양자 회로 </a:t>
                </a:r>
                <a:r>
                  <a:rPr lang="en-US" altLang="ko-KR" sz="2000" dirty="0">
                    <a:solidFill>
                      <a:schemeClr val="tx1"/>
                    </a:solidFill>
                    <a:sym typeface="Wingdings" pitchFamily="2" charset="2"/>
                  </a:rPr>
                  <a:t>&gt;</a:t>
                </a:r>
                <a:r>
                  <a:rPr lang="ko-KR" altLang="en-US" sz="2000" dirty="0">
                    <a:solidFill>
                      <a:schemeClr val="tx1"/>
                    </a:solidFill>
                    <a:sym typeface="Wingdings" pitchFamily="2" charset="2"/>
                  </a:rPr>
                  <a:t> </a:t>
                </a:r>
                <a:r>
                  <a:rPr lang="en-US" altLang="ko-KR" sz="2000" dirty="0">
                    <a:solidFill>
                      <a:schemeClr val="tx1"/>
                    </a:solidFill>
                    <a:sym typeface="Wingdings" pitchFamily="2" charset="2"/>
                  </a:rPr>
                  <a:t> </a:t>
                </a:r>
                <a:endParaRPr lang="ko-Kore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8B56A66-17C3-CCC8-8288-46A0EB3353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8338" y="5580859"/>
                <a:ext cx="3016051" cy="436851"/>
              </a:xfrm>
              <a:prstGeom prst="rect">
                <a:avLst/>
              </a:prstGeom>
              <a:blipFill>
                <a:blip r:embed="rId5"/>
                <a:stretch>
                  <a:fillRect l="-2101" t="-157143" b="-2285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11636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7C149-1464-4AA1-798C-6C6F3F569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182B25-3F11-6CE2-5193-36783A364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Input Setting (2/2)</a:t>
            </a:r>
            <a:endParaRPr kumimoji="1" lang="ko-KR" altLang="en-US" sz="3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3E9F84-7073-616B-DF29-4E6C5590A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4514" y="1121028"/>
            <a:ext cx="11369675" cy="5603875"/>
          </a:xfrm>
        </p:spPr>
        <p:txBody>
          <a:bodyPr/>
          <a:lstStyle/>
          <a:p>
            <a:endParaRPr lang="ko-KR" altLang="en-US" sz="2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endParaRPr kumimoji="1"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122696-BC11-C1D8-915D-B945F39D4825}"/>
              </a:ext>
            </a:extLst>
          </p:cNvPr>
          <p:cNvSpPr txBox="1"/>
          <p:nvPr/>
        </p:nvSpPr>
        <p:spPr>
          <a:xfrm>
            <a:off x="-283946" y="1242031"/>
            <a:ext cx="1247594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62000" lvl="1" indent="-342900">
              <a:lnSpc>
                <a:spcPct val="100000"/>
              </a:lnSpc>
              <a:spcBef>
                <a:spcPts val="0"/>
              </a:spcBef>
              <a:buSzPts val="2400"/>
              <a:buFont typeface="Arial" panose="020B0604020202020204" pitchFamily="34" charset="0"/>
              <a:buChar char="•"/>
            </a:pPr>
            <a:r>
              <a:rPr lang="ko-KR" altLang="en-US" sz="2100" dirty="0">
                <a:solidFill>
                  <a:schemeClr val="tx1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양자 분류 네트워크</a:t>
            </a:r>
            <a:r>
              <a:rPr lang="en-US" altLang="ko-KR" sz="2100" dirty="0">
                <a:solidFill>
                  <a:schemeClr val="tx1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: Dicke State</a:t>
            </a:r>
            <a:r>
              <a:rPr lang="ko-KR" altLang="en-US" sz="2100" dirty="0">
                <a:solidFill>
                  <a:schemeClr val="tx1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로부터 값이 </a:t>
            </a:r>
            <a:r>
              <a:rPr lang="en-US" altLang="ko-KR" sz="2100" dirty="0">
                <a:solidFill>
                  <a:schemeClr val="tx1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1</a:t>
            </a:r>
            <a:r>
              <a:rPr lang="ko-KR" altLang="en-US" sz="2100" dirty="0">
                <a:solidFill>
                  <a:schemeClr val="tx1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인 열 만을 모아 </a:t>
            </a:r>
            <a:r>
              <a:rPr lang="en-US" altLang="ko-KR" sz="2100" b="1" dirty="0">
                <a:solidFill>
                  <a:schemeClr val="tx1"/>
                </a:solidFill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Information set</a:t>
            </a:r>
            <a:r>
              <a:rPr lang="ko-KR" altLang="en-US" sz="2100" b="1" dirty="0">
                <a:solidFill>
                  <a:schemeClr val="tx1"/>
                </a:solidFill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을 추출 </a:t>
            </a:r>
            <a:endParaRPr lang="en-US" altLang="ko-KR" sz="2100" b="1" dirty="0">
              <a:solidFill>
                <a:schemeClr val="tx1"/>
              </a:solidFill>
              <a:latin typeface="Gmarket Sans TTF Bold" panose="02000000000000000000" pitchFamily="2" charset="-128"/>
              <a:ea typeface="Gmarket Sans TTF Bold" panose="02000000000000000000" pitchFamily="2" charset="-128"/>
            </a:endParaRPr>
          </a:p>
          <a:p>
            <a:pPr marL="1219200" lvl="2" indent="-342900">
              <a:buSzPts val="2400"/>
              <a:buFont typeface="Arial" panose="020B0604020202020204" pitchFamily="34" charset="0"/>
              <a:buChar char="•"/>
            </a:pPr>
            <a:r>
              <a:rPr lang="en-US" altLang="ko-KR" sz="2100" dirty="0">
                <a:solidFill>
                  <a:schemeClr val="tx1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1</a:t>
            </a:r>
            <a:r>
              <a:rPr lang="ko-KR" altLang="en-US" sz="21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은</a:t>
            </a:r>
            <a:r>
              <a:rPr lang="ko-KR" altLang="en-US" sz="2100" dirty="0">
                <a:solidFill>
                  <a:schemeClr val="tx1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좌측</a:t>
            </a:r>
            <a:r>
              <a:rPr lang="en-US" altLang="ko-KR" sz="21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, 0</a:t>
            </a:r>
            <a:r>
              <a:rPr lang="ko-KR" altLang="en-US" sz="21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은 우측으로 구분 </a:t>
            </a:r>
            <a:r>
              <a:rPr lang="en-US" altLang="ko-KR" sz="2100" dirty="0">
                <a:latin typeface="Gmarket Sans TTF Medium" panose="02000000000000000000" pitchFamily="2" charset="-128"/>
                <a:ea typeface="Gmarket Sans TTF Medium" panose="02000000000000000000" pitchFamily="2" charset="-128"/>
                <a:sym typeface="Wingdings" pitchFamily="2" charset="2"/>
              </a:rPr>
              <a:t> </a:t>
            </a:r>
            <a:r>
              <a:rPr lang="ko-KR" altLang="en-US" sz="2100" dirty="0">
                <a:latin typeface="Gmarket Sans TTF Medium" panose="02000000000000000000" pitchFamily="2" charset="-128"/>
                <a:ea typeface="Gmarket Sans TTF Medium" panose="02000000000000000000" pitchFamily="2" charset="-128"/>
                <a:sym typeface="Wingdings" pitchFamily="2" charset="2"/>
              </a:rPr>
              <a:t>좌측의 행렬을 </a:t>
            </a:r>
            <a:r>
              <a:rPr lang="en-US" altLang="ko-KR" sz="2100" dirty="0">
                <a:latin typeface="Gmarket Sans TTF Medium" panose="02000000000000000000" pitchFamily="2" charset="-128"/>
                <a:ea typeface="Gmarket Sans TTF Medium" panose="02000000000000000000" pitchFamily="2" charset="-128"/>
                <a:sym typeface="Wingdings" pitchFamily="2" charset="2"/>
              </a:rPr>
              <a:t>Information set</a:t>
            </a:r>
            <a:r>
              <a:rPr lang="ko-KR" altLang="en-US" sz="21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  <a:sym typeface="Wingdings" pitchFamily="2" charset="2"/>
              </a:rPr>
              <a:t>으로</a:t>
            </a:r>
            <a:r>
              <a:rPr lang="ko-KR" altLang="en-US" sz="2100" dirty="0">
                <a:latin typeface="Gmarket Sans TTF Medium" panose="02000000000000000000" pitchFamily="2" charset="-128"/>
                <a:ea typeface="Gmarket Sans TTF Medium" panose="02000000000000000000" pitchFamily="2" charset="-128"/>
                <a:sym typeface="Wingdings" pitchFamily="2" charset="2"/>
              </a:rPr>
              <a:t> 사용</a:t>
            </a:r>
            <a:endParaRPr lang="en-US" altLang="ko-Kore-KR" sz="2100" dirty="0">
              <a:solidFill>
                <a:schemeClr val="tx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81D4477-785B-52A9-D6CA-31CF05C742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9896" y="2312248"/>
            <a:ext cx="2326801" cy="155389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ECD0C32-7CEB-CFBC-966C-CF2C58E1155D}"/>
              </a:ext>
            </a:extLst>
          </p:cNvPr>
          <p:cNvSpPr txBox="1"/>
          <p:nvPr/>
        </p:nvSpPr>
        <p:spPr>
          <a:xfrm>
            <a:off x="2751058" y="6377228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&lt; </a:t>
            </a:r>
            <a:r>
              <a:rPr kumimoji="1" lang="ko-KR" altLang="en-US" dirty="0"/>
              <a:t>분류기</a:t>
            </a:r>
            <a:r>
              <a:rPr kumimoji="1" lang="en-US" altLang="ko-KR" dirty="0"/>
              <a:t> &gt;</a:t>
            </a:r>
            <a:endParaRPr kumimoji="1"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A94B52E-8E26-14C5-C62E-AAE9BC7331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4435" y="4874962"/>
            <a:ext cx="3465916" cy="142784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01EDE058-F8E6-9F26-E04C-EA4495EA4E63}"/>
              </a:ext>
            </a:extLst>
          </p:cNvPr>
          <p:cNvCxnSpPr>
            <a:cxnSpLocks/>
          </p:cNvCxnSpPr>
          <p:nvPr/>
        </p:nvCxnSpPr>
        <p:spPr>
          <a:xfrm>
            <a:off x="3462171" y="3986473"/>
            <a:ext cx="0" cy="727744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그림 12">
            <a:extLst>
              <a:ext uri="{FF2B5EF4-FFF2-40B4-BE49-F238E27FC236}">
                <a16:creationId xmlns:a16="http://schemas.microsoft.com/office/drawing/2014/main" id="{75DDDC69-A9C4-753A-5769-168FBA8E27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6487" y="3031448"/>
            <a:ext cx="3988470" cy="211707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F2FCFF4-9AD5-6116-14CD-6CA0436E8A34}"/>
              </a:ext>
            </a:extLst>
          </p:cNvPr>
          <p:cNvSpPr txBox="1"/>
          <p:nvPr/>
        </p:nvSpPr>
        <p:spPr>
          <a:xfrm>
            <a:off x="7760819" y="5358988"/>
            <a:ext cx="1767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&lt; </a:t>
            </a:r>
            <a:r>
              <a:rPr kumimoji="1" lang="ko-KR" altLang="en-US" dirty="0"/>
              <a:t>분류 네트워크</a:t>
            </a:r>
            <a:r>
              <a:rPr kumimoji="1" lang="en-US" altLang="ko-KR" dirty="0"/>
              <a:t> &gt;</a:t>
            </a:r>
            <a:endParaRPr kumimoji="1" lang="ko-KR" altLang="en-US" dirty="0"/>
          </a:p>
        </p:txBody>
      </p:sp>
      <p:cxnSp>
        <p:nvCxnSpPr>
          <p:cNvPr id="18" name="직선 연결선[R] 17">
            <a:extLst>
              <a:ext uri="{FF2B5EF4-FFF2-40B4-BE49-F238E27FC236}">
                <a16:creationId xmlns:a16="http://schemas.microsoft.com/office/drawing/2014/main" id="{25C2D15C-1802-0E5C-852E-FE5C1A436584}"/>
              </a:ext>
            </a:extLst>
          </p:cNvPr>
          <p:cNvCxnSpPr/>
          <p:nvPr/>
        </p:nvCxnSpPr>
        <p:spPr>
          <a:xfrm>
            <a:off x="6054290" y="2081450"/>
            <a:ext cx="0" cy="4655485"/>
          </a:xfrm>
          <a:prstGeom prst="line">
            <a:avLst/>
          </a:prstGeom>
          <a:ln>
            <a:prstDash val="lg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슬라이드 번호 개체 틀 10">
            <a:extLst>
              <a:ext uri="{FF2B5EF4-FFF2-40B4-BE49-F238E27FC236}">
                <a16:creationId xmlns:a16="http://schemas.microsoft.com/office/drawing/2014/main" id="{1DA38DDE-3FC2-590F-1908-C5474FA275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8852B28-D290-2A4B-A90A-47EAEF72A8E4}" type="slidenum">
              <a:rPr kumimoji="1" lang="ko-Kore-KR" altLang="en-US" smtClean="0"/>
              <a:t>14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1919767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그룹 191">
            <a:extLst>
              <a:ext uri="{FF2B5EF4-FFF2-40B4-BE49-F238E27FC236}">
                <a16:creationId xmlns:a16="http://schemas.microsoft.com/office/drawing/2014/main" id="{1C4EEA1F-41AC-6CFA-7CC9-22047EF72352}"/>
              </a:ext>
            </a:extLst>
          </p:cNvPr>
          <p:cNvGrpSpPr/>
          <p:nvPr/>
        </p:nvGrpSpPr>
        <p:grpSpPr>
          <a:xfrm>
            <a:off x="4572140" y="5112459"/>
            <a:ext cx="3546925" cy="1016458"/>
            <a:chOff x="411920" y="5707464"/>
            <a:chExt cx="5411423" cy="1016458"/>
          </a:xfrm>
        </p:grpSpPr>
        <p:sp>
          <p:nvSpPr>
            <p:cNvPr id="62" name="양쪽 중괄호 61">
              <a:extLst>
                <a:ext uri="{FF2B5EF4-FFF2-40B4-BE49-F238E27FC236}">
                  <a16:creationId xmlns:a16="http://schemas.microsoft.com/office/drawing/2014/main" id="{9D84A8DD-C1CC-258F-188E-5350182C2BAA}"/>
                </a:ext>
              </a:extLst>
            </p:cNvPr>
            <p:cNvSpPr/>
            <p:nvPr/>
          </p:nvSpPr>
          <p:spPr>
            <a:xfrm rot="16200000">
              <a:off x="2699816" y="3692486"/>
              <a:ext cx="924448" cy="5138424"/>
            </a:xfrm>
            <a:prstGeom prst="bracePair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A7EBEE82-EA7E-6733-44A0-67EE59BFA97B}"/>
                </a:ext>
              </a:extLst>
            </p:cNvPr>
            <p:cNvSpPr/>
            <p:nvPr/>
          </p:nvSpPr>
          <p:spPr>
            <a:xfrm>
              <a:off x="411920" y="5707464"/>
              <a:ext cx="5411423" cy="37731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213" name="Google Shape;213;p31"/>
          <p:cNvSpPr txBox="1">
            <a:spLocks noGrp="1"/>
          </p:cNvSpPr>
          <p:nvPr>
            <p:ph type="title"/>
          </p:nvPr>
        </p:nvSpPr>
        <p:spPr>
          <a:xfrm>
            <a:off x="411920" y="207747"/>
            <a:ext cx="11368200" cy="7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lang="en-US" altLang="ko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Oracle: Gauss-Jordan Elimination</a:t>
            </a:r>
            <a:endParaRPr sz="3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sp>
        <p:nvSpPr>
          <p:cNvPr id="214" name="Google Shape;214;p31"/>
          <p:cNvSpPr txBox="1">
            <a:spLocks noGrp="1"/>
          </p:cNvSpPr>
          <p:nvPr>
            <p:ph type="body" idx="1"/>
          </p:nvPr>
        </p:nvSpPr>
        <p:spPr>
          <a:xfrm>
            <a:off x="426637" y="1430889"/>
            <a:ext cx="11839451" cy="3844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indent="-266700">
              <a:lnSpc>
                <a:spcPct val="100000"/>
              </a:lnSpc>
              <a:spcBef>
                <a:spcPts val="0"/>
              </a:spcBef>
              <a:buSzPts val="2400"/>
            </a:pPr>
            <a:r>
              <a:rPr lang="ko-KR" altLang="en-US" sz="21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추출한 </a:t>
            </a:r>
            <a:r>
              <a:rPr lang="en-US" altLang="ko-KR" sz="21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Information set (         )</a:t>
            </a:r>
            <a:r>
              <a:rPr lang="ko-KR" altLang="en-US" sz="21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에</a:t>
            </a:r>
            <a:r>
              <a:rPr lang="ko-KR" altLang="en-US" sz="21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lang="en-US" altLang="ko-KR" sz="2100" b="1" dirty="0"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Gauss-Jordan </a:t>
            </a:r>
            <a:r>
              <a:rPr lang="ko-KR" altLang="en-US" sz="2100" b="1" dirty="0"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소거</a:t>
            </a:r>
            <a:r>
              <a:rPr lang="ko-KR" altLang="en-US" sz="21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를 통해 </a:t>
            </a:r>
            <a:r>
              <a:rPr lang="ko" altLang="ko-Kore-KR" sz="21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Inverse </a:t>
            </a:r>
            <a:r>
              <a:rPr lang="ko" altLang="en-US" sz="21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행렬 계산</a:t>
            </a:r>
            <a:endParaRPr lang="en-US" altLang="ko" sz="21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marL="685800" lvl="1" indent="-266700">
              <a:lnSpc>
                <a:spcPct val="100000"/>
              </a:lnSpc>
              <a:spcBef>
                <a:spcPts val="0"/>
              </a:spcBef>
              <a:buSzPts val="2400"/>
            </a:pPr>
            <a:r>
              <a:rPr lang="ko" altLang="en-US" sz="2100" b="1" dirty="0"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가장 많은 양자 비용</a:t>
            </a:r>
            <a:r>
              <a:rPr lang="ko" altLang="en-US" sz="21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이 드는 연산이며</a:t>
            </a:r>
            <a:r>
              <a:rPr lang="en-US" altLang="ko-KR" sz="21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, </a:t>
            </a:r>
            <a:r>
              <a:rPr lang="ko-KR" altLang="en-US" sz="2100" b="1" dirty="0"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양자 </a:t>
            </a:r>
            <a:r>
              <a:rPr lang="en-US" altLang="ko-KR" sz="2100" b="1" dirty="0"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ISD</a:t>
            </a:r>
            <a:r>
              <a:rPr lang="ko-KR" altLang="en-US" sz="2100" b="1" dirty="0"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 최적화 핵심</a:t>
            </a:r>
            <a:endParaRPr lang="en-US" altLang="ko" sz="2100" b="1" dirty="0">
              <a:latin typeface="Gmarket Sans TTF Bold" panose="02000000000000000000" pitchFamily="2" charset="-128"/>
              <a:ea typeface="Gmarket Sans TTF Bold" panose="02000000000000000000" pitchFamily="2" charset="-128"/>
            </a:endParaRPr>
          </a:p>
        </p:txBody>
      </p:sp>
      <p:sp>
        <p:nvSpPr>
          <p:cNvPr id="218" name="Google Shape;218;p31"/>
          <p:cNvSpPr/>
          <p:nvPr/>
        </p:nvSpPr>
        <p:spPr>
          <a:xfrm>
            <a:off x="4056425" y="1430889"/>
            <a:ext cx="552847" cy="346839"/>
          </a:xfrm>
          <a:prstGeom prst="roundRect">
            <a:avLst>
              <a:gd name="adj" fmla="val 16667"/>
            </a:avLst>
          </a:prstGeom>
          <a:noFill/>
          <a:ln w="25400" cap="flat" cmpd="sng">
            <a:solidFill>
              <a:schemeClr val="accent1">
                <a:lumMod val="75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C00000"/>
              </a:solidFill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sp>
        <p:nvSpPr>
          <p:cNvPr id="7" name="위쪽 화살표[U] 6">
            <a:extLst>
              <a:ext uri="{FF2B5EF4-FFF2-40B4-BE49-F238E27FC236}">
                <a16:creationId xmlns:a16="http://schemas.microsoft.com/office/drawing/2014/main" id="{EFF4F582-088F-D82E-331E-A540C4FDDA50}"/>
              </a:ext>
            </a:extLst>
          </p:cNvPr>
          <p:cNvSpPr/>
          <p:nvPr/>
        </p:nvSpPr>
        <p:spPr>
          <a:xfrm rot="5400000">
            <a:off x="5220021" y="3828391"/>
            <a:ext cx="161273" cy="638859"/>
          </a:xfrm>
          <a:prstGeom prst="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511AD3-8A20-02FE-3CA7-9A8EBCCD55AE}"/>
              </a:ext>
            </a:extLst>
          </p:cNvPr>
          <p:cNvSpPr txBox="1"/>
          <p:nvPr/>
        </p:nvSpPr>
        <p:spPr>
          <a:xfrm>
            <a:off x="4435676" y="4323252"/>
            <a:ext cx="172996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ore-KR" sz="15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Gauss-Jordan</a:t>
            </a:r>
          </a:p>
          <a:p>
            <a:pPr algn="ctr"/>
            <a:r>
              <a:rPr kumimoji="1" lang="en-US" altLang="ko-Kore-KR" sz="15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소거</a:t>
            </a:r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EDF260E0-27BA-D349-C62D-D87C4200E2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852B28-D290-2A4B-A90A-47EAEF72A8E4}" type="slidenum">
              <a:rPr kumimoji="1" lang="ko-Kore-KR" altLang="en-US" smtClean="0"/>
              <a:t>15</a:t>
            </a:fld>
            <a:endParaRPr kumimoji="1" lang="ko-Kore-KR" altLang="en-US"/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8A6059EF-6142-CC48-19BE-2A26DB2495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717" y="2644691"/>
            <a:ext cx="3988470" cy="25737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F24B47C-B013-808D-221E-7873E40D1CF3}"/>
                  </a:ext>
                </a:extLst>
              </p:cNvPr>
              <p:cNvSpPr txBox="1"/>
              <p:nvPr/>
            </p:nvSpPr>
            <p:spPr>
              <a:xfrm>
                <a:off x="8113186" y="3995178"/>
                <a:ext cx="446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itchFamily="2" charset="2"/>
                        </a:rPr>
                        <m:t>×</m:t>
                      </m:r>
                    </m:oMath>
                  </m:oMathPara>
                </a14:m>
                <a:endParaRPr lang="ko-Kore-KR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F24B47C-B013-808D-221E-7873E40D1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3186" y="3995178"/>
                <a:ext cx="44605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양쪽 대괄호 45">
            <a:extLst>
              <a:ext uri="{FF2B5EF4-FFF2-40B4-BE49-F238E27FC236}">
                <a16:creationId xmlns:a16="http://schemas.microsoft.com/office/drawing/2014/main" id="{920E2795-459C-D625-E37F-958AACF15192}"/>
              </a:ext>
            </a:extLst>
          </p:cNvPr>
          <p:cNvSpPr/>
          <p:nvPr/>
        </p:nvSpPr>
        <p:spPr>
          <a:xfrm>
            <a:off x="8636415" y="2650857"/>
            <a:ext cx="446050" cy="3154028"/>
          </a:xfrm>
          <a:prstGeom prst="bracketPair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8562169-1DA6-FB12-A0C5-CB83F56C4A43}"/>
                  </a:ext>
                </a:extLst>
              </p:cNvPr>
              <p:cNvSpPr txBox="1"/>
              <p:nvPr/>
            </p:nvSpPr>
            <p:spPr>
              <a:xfrm>
                <a:off x="5596309" y="3902371"/>
                <a:ext cx="6556916" cy="477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ko-Kore-KR" altLang="en-US" sz="25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38562169-1DA6-FB12-A0C5-CB83F56C4A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6309" y="3902371"/>
                <a:ext cx="6556916" cy="4770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38E7F8C-F26F-B0EC-718B-A8E3F98832E0}"/>
                  </a:ext>
                </a:extLst>
              </p:cNvPr>
              <p:cNvSpPr txBox="1"/>
              <p:nvPr/>
            </p:nvSpPr>
            <p:spPr>
              <a:xfrm>
                <a:off x="9112609" y="3910210"/>
                <a:ext cx="495649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ore-KR" sz="25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ko-Kore-KR" altLang="en-US" sz="250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38E7F8C-F26F-B0EC-718B-A8E3F98832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2609" y="3910210"/>
                <a:ext cx="495649" cy="4770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양쪽 대괄호 48">
            <a:extLst>
              <a:ext uri="{FF2B5EF4-FFF2-40B4-BE49-F238E27FC236}">
                <a16:creationId xmlns:a16="http://schemas.microsoft.com/office/drawing/2014/main" id="{4F3B664F-CF7B-08D6-CB96-BDADF93BD177}"/>
              </a:ext>
            </a:extLst>
          </p:cNvPr>
          <p:cNvSpPr/>
          <p:nvPr/>
        </p:nvSpPr>
        <p:spPr>
          <a:xfrm>
            <a:off x="9697584" y="4012847"/>
            <a:ext cx="2335724" cy="311699"/>
          </a:xfrm>
          <a:prstGeom prst="bracketPair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50" name="모서리가 둥근 직사각형 49">
            <a:extLst>
              <a:ext uri="{FF2B5EF4-FFF2-40B4-BE49-F238E27FC236}">
                <a16:creationId xmlns:a16="http://schemas.microsoft.com/office/drawing/2014/main" id="{4BFD3F82-4934-06A3-4104-954E1A671D6C}"/>
              </a:ext>
            </a:extLst>
          </p:cNvPr>
          <p:cNvSpPr/>
          <p:nvPr/>
        </p:nvSpPr>
        <p:spPr>
          <a:xfrm>
            <a:off x="6209587" y="3453706"/>
            <a:ext cx="1732733" cy="1340095"/>
          </a:xfrm>
          <a:prstGeom prst="roundRect">
            <a:avLst/>
          </a:prstGeom>
          <a:noFill/>
          <a:ln w="3175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chemeClr val="tx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9EB8E72-584B-FE01-831C-1B924DCEA699}"/>
              </a:ext>
            </a:extLst>
          </p:cNvPr>
          <p:cNvSpPr txBox="1"/>
          <p:nvPr/>
        </p:nvSpPr>
        <p:spPr>
          <a:xfrm>
            <a:off x="5360342" y="4915768"/>
            <a:ext cx="34588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Information set</a:t>
            </a:r>
            <a:r>
              <a:rPr kumimoji="1" lang="ko-KR" altLang="en-US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endParaRPr kumimoji="1" lang="en-US" altLang="ko-KR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algn="ctr"/>
            <a:r>
              <a:rPr kumimoji="1" lang="ko-KR" altLang="en-US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역행렬</a:t>
            </a:r>
            <a:endParaRPr kumimoji="1" lang="ko-Kore-KR" altLang="en-US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208BA15-EE7C-621C-C2E7-3CAA2153003D}"/>
                  </a:ext>
                </a:extLst>
              </p:cNvPr>
              <p:cNvSpPr txBox="1"/>
              <p:nvPr/>
            </p:nvSpPr>
            <p:spPr>
              <a:xfrm>
                <a:off x="7751727" y="3183191"/>
                <a:ext cx="5677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ore-KR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kumimoji="1" lang="ko-Kore-KR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208BA15-EE7C-621C-C2E7-3CAA215300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1727" y="3183191"/>
                <a:ext cx="56778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TextBox 52">
            <a:extLst>
              <a:ext uri="{FF2B5EF4-FFF2-40B4-BE49-F238E27FC236}">
                <a16:creationId xmlns:a16="http://schemas.microsoft.com/office/drawing/2014/main" id="{5A260F3A-B538-F37B-BA2C-209FDBCE1964}"/>
              </a:ext>
            </a:extLst>
          </p:cNvPr>
          <p:cNvSpPr txBox="1"/>
          <p:nvPr/>
        </p:nvSpPr>
        <p:spPr>
          <a:xfrm>
            <a:off x="10419529" y="483751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ore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F9596F9-AFB8-85CE-1D1E-9FA650D6B307}"/>
              </a:ext>
            </a:extLst>
          </p:cNvPr>
          <p:cNvSpPr txBox="1"/>
          <p:nvPr/>
        </p:nvSpPr>
        <p:spPr>
          <a:xfrm>
            <a:off x="9750026" y="4006205"/>
            <a:ext cx="2612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Weight check</a:t>
            </a:r>
            <a:r>
              <a:rPr kumimoji="1" lang="ko-KR" altLang="en-US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kumimoji="1" lang="en-US" altLang="ko-KR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=?</a:t>
            </a:r>
            <a:endParaRPr kumimoji="1" lang="ko-Kore-KR" altLang="en-US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sp>
        <p:nvSpPr>
          <p:cNvPr id="61" name="위쪽 화살표[U] 60">
            <a:extLst>
              <a:ext uri="{FF2B5EF4-FFF2-40B4-BE49-F238E27FC236}">
                <a16:creationId xmlns:a16="http://schemas.microsoft.com/office/drawing/2014/main" id="{46E3E6E2-EC57-205F-6620-D96962FEA300}"/>
              </a:ext>
            </a:extLst>
          </p:cNvPr>
          <p:cNvSpPr/>
          <p:nvPr/>
        </p:nvSpPr>
        <p:spPr>
          <a:xfrm>
            <a:off x="6247108" y="6356350"/>
            <a:ext cx="255203" cy="305723"/>
          </a:xfrm>
          <a:prstGeom prst="up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177121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D0D6C-82C6-3355-C7AA-3371096AA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780ED73-3CCA-0A68-77D6-80839393F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2107" y="2739857"/>
            <a:ext cx="5807787" cy="3417081"/>
          </a:xfrm>
          <a:prstGeom prst="rect">
            <a:avLst/>
          </a:prstGeom>
        </p:spPr>
      </p:pic>
      <p:sp>
        <p:nvSpPr>
          <p:cNvPr id="5" name="제목 3">
            <a:extLst>
              <a:ext uri="{FF2B5EF4-FFF2-40B4-BE49-F238E27FC236}">
                <a16:creationId xmlns:a16="http://schemas.microsoft.com/office/drawing/2014/main" id="{0EF2D42C-0DB3-DBEA-5593-32C581F01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920" y="207747"/>
            <a:ext cx="11368160" cy="762163"/>
          </a:xfrm>
        </p:spPr>
        <p:txBody>
          <a:bodyPr>
            <a:normAutofit/>
          </a:bodyPr>
          <a:lstStyle/>
          <a:p>
            <a:r>
              <a:rPr lang="en-US" altLang="ko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Oracle: Gauss-Jordan Elimination</a:t>
            </a:r>
            <a:endParaRPr lang="ko-Kore-KR" alt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10D807-F716-AA89-7399-98FA3C69F17F}"/>
                  </a:ext>
                </a:extLst>
              </p:cNvPr>
              <p:cNvSpPr txBox="1"/>
              <p:nvPr/>
            </p:nvSpPr>
            <p:spPr>
              <a:xfrm>
                <a:off x="78079" y="1275434"/>
                <a:ext cx="11759309" cy="195438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en-US" altLang="ko-Kore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Gauss-Jordan 소거 목표</a:t>
                </a:r>
                <a:r>
                  <a:rPr kumimoji="1"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:</a:t>
                </a:r>
                <a:r>
                  <a:rPr kumimoji="1" lang="en-US" altLang="ko-Kore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</a:t>
                </a:r>
                <a:r>
                  <a:rPr kumimoji="1"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Information set </a:t>
                </a:r>
                <a:r>
                  <a:rPr kumimoji="1"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행렬을 </a:t>
                </a:r>
                <a:r>
                  <a:rPr kumimoji="1"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Identity</a:t>
                </a:r>
                <a:r>
                  <a:rPr kumimoji="1"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행렬로 만듦</a:t>
                </a:r>
                <a:endParaRPr kumimoji="1" lang="en-US" altLang="ko-KR" sz="22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kumimoji="1" lang="en-US" altLang="ko-Kore-KR" sz="5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kumimoji="1" lang="en-US" altLang="ko-Kore-KR" sz="2200" dirty="0" err="1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해당</a:t>
                </a:r>
                <a:r>
                  <a:rPr kumimoji="1" lang="en-US" altLang="ko-Kore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</a:t>
                </a:r>
                <a:r>
                  <a:rPr kumimoji="1" lang="en-US" altLang="ko-Kore-KR" sz="2200" dirty="0" err="1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연산을</a:t>
                </a:r>
                <a:r>
                  <a:rPr kumimoji="1" lang="en-US" altLang="ko-Kore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</a:t>
                </a:r>
                <a:r>
                  <a:rPr kumimoji="1" lang="en-US" altLang="ko-Kore-KR" sz="2200" dirty="0" err="1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신드롬</a:t>
                </a:r>
                <a:r>
                  <a:rPr kumimoji="1" lang="en-US" altLang="ko-Kore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ko-Kore-KR" sz="2200" i="1" dirty="0" smtClean="0">
                        <a:latin typeface="Cambria Math" panose="02040503050406030204" pitchFamily="18" charset="0"/>
                        <a:ea typeface="Gmarket Sans TTF Medium" panose="02000000000000000000" pitchFamily="2" charset="-128"/>
                      </a:rPr>
                      <m:t>𝑠</m:t>
                    </m:r>
                  </m:oMath>
                </a14:m>
                <a:r>
                  <a:rPr kumimoji="1" lang="en-US" altLang="ko-Kore-KR" sz="2200" dirty="0" err="1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에도</a:t>
                </a:r>
                <a:r>
                  <a:rPr kumimoji="1" lang="en-US" altLang="ko-Kore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동일하게 </a:t>
                </a:r>
                <a:r>
                  <a:rPr kumimoji="1" lang="en-US" altLang="ko-Kore-KR" sz="2200" dirty="0" err="1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수행한다면</a:t>
                </a:r>
                <a:r>
                  <a:rPr kumimoji="1"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, Information set</a:t>
                </a:r>
                <a:r>
                  <a:rPr kumimoji="1"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의 역행렬을</a:t>
                </a:r>
                <a:r>
                  <a:rPr kumimoji="1"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</a:t>
                </a:r>
                <a:r>
                  <a:rPr kumimoji="1"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신드롬에 </a:t>
                </a:r>
                <a:endParaRPr kumimoji="1" lang="en-US" altLang="ko-KR" sz="22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lvl="1"/>
                <a:r>
                  <a:rPr kumimoji="1"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   곱한 값을 동일하게 얻을 수 있음</a:t>
                </a:r>
                <a:r>
                  <a:rPr kumimoji="1"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 </a:t>
                </a:r>
                <a:r>
                  <a:rPr kumimoji="1" lang="en-US" altLang="ko-KR" sz="2200" dirty="0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ko-Kore-KR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kumimoji="1" lang="en-US" altLang="ko-Kore-KR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ore-KR" sz="24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1" lang="en-US" altLang="ko-Kore-KR" sz="24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kumimoji="1" lang="en-US" altLang="ko-Kore-KR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ko-Kore-KR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ko-Kore-KR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kumimoji="1" lang="en-US" altLang="ko-Kore-KR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1" lang="en-US" altLang="ko-Kore-KR" sz="24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kumimoji="1" lang="en-US" altLang="ko-Kore-KR" sz="24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kumimoji="1" lang="en-US" altLang="ko-Kore-KR" sz="24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endParaRPr kumimoji="1" lang="en-US" altLang="ko-Kore-KR" sz="24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kumimoji="1" lang="en-US" altLang="ko-Kore-KR" sz="2400" b="1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B10D807-F716-AA89-7399-98FA3C69F1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79" y="1275434"/>
                <a:ext cx="11759309" cy="1954381"/>
              </a:xfrm>
              <a:prstGeom prst="rect">
                <a:avLst/>
              </a:prstGeom>
              <a:blipFill>
                <a:blip r:embed="rId3"/>
                <a:stretch>
                  <a:fillRect l="-647" t="-32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2428A452-ED97-361C-9C6C-EBCA357CDA5A}"/>
              </a:ext>
            </a:extLst>
          </p:cNvPr>
          <p:cNvSpPr txBox="1">
            <a:spLocks/>
          </p:cNvSpPr>
          <p:nvPr/>
        </p:nvSpPr>
        <p:spPr>
          <a:xfrm>
            <a:off x="11017827" y="6402954"/>
            <a:ext cx="371560" cy="365125"/>
          </a:xfrm>
          <a:prstGeom prst="rect">
            <a:avLst/>
          </a:prstGeom>
        </p:spPr>
        <p:txBody>
          <a:bodyPr/>
          <a:lstStyle>
            <a:defPPr>
              <a:defRPr lang="ko-Kore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ko-Kore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7E1BB16-664D-68E4-6527-D708E4A2E7D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00AB9D3-EAF0-7A44-B522-0A500B1E98A1}" type="slidenum">
              <a:rPr kumimoji="1" lang="ko-Kore-KR" altLang="en-US" smtClean="0"/>
              <a:t>16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2094245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14E8C-4F1A-9F5A-85C7-EC8E8E945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3">
            <a:extLst>
              <a:ext uri="{FF2B5EF4-FFF2-40B4-BE49-F238E27FC236}">
                <a16:creationId xmlns:a16="http://schemas.microsoft.com/office/drawing/2014/main" id="{583DDC95-59BA-70A6-B3B0-0709D0BAE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920" y="207747"/>
            <a:ext cx="11368160" cy="762163"/>
          </a:xfrm>
        </p:spPr>
        <p:txBody>
          <a:bodyPr>
            <a:normAutofit/>
          </a:bodyPr>
          <a:lstStyle/>
          <a:p>
            <a:r>
              <a:rPr lang="en-US" altLang="ko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Oracle: Gauss-Jordan Elimination</a:t>
            </a:r>
            <a:endParaRPr lang="ko-Kore-KR" altLang="en-US" sz="3200" b="1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4D24DE44-50BB-0A08-E639-77360F5A3D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2019" y="2582675"/>
            <a:ext cx="2094430" cy="264405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43264E7-FC98-31E5-F8CA-1CD13746B691}"/>
              </a:ext>
            </a:extLst>
          </p:cNvPr>
          <p:cNvSpPr txBox="1"/>
          <p:nvPr/>
        </p:nvSpPr>
        <p:spPr>
          <a:xfrm>
            <a:off x="252395" y="1321154"/>
            <a:ext cx="12038594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크게 </a:t>
            </a:r>
            <a:r>
              <a:rPr kumimoji="1"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2 </a:t>
            </a: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가지 단계로 구분 됨</a:t>
            </a:r>
            <a:r>
              <a:rPr kumimoji="1"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kumimoji="1"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  <a:sym typeface="Wingdings" pitchFamily="2" charset="2"/>
              </a:rPr>
              <a:t></a:t>
            </a:r>
            <a:r>
              <a:rPr kumimoji="1"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kumimoji="1" lang="en-US" altLang="ko-KR" sz="2200" b="1" dirty="0"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Swap </a:t>
            </a:r>
            <a:r>
              <a:rPr kumimoji="1" lang="ko-KR" altLang="en-US" sz="2200" b="1" dirty="0"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과 </a:t>
            </a:r>
            <a:r>
              <a:rPr kumimoji="1" lang="en-US" altLang="ko-KR" sz="2200" b="1" dirty="0"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Elimination</a:t>
            </a:r>
            <a:r>
              <a:rPr kumimoji="1" lang="ko-KR" altLang="en-US" sz="2200" b="1" dirty="0"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 </a:t>
            </a:r>
            <a:endParaRPr kumimoji="1" lang="en-US" altLang="ko-KR" sz="2200" b="1" dirty="0">
              <a:latin typeface="Gmarket Sans TTF Bold" panose="02000000000000000000" pitchFamily="2" charset="-128"/>
              <a:ea typeface="Gmarket Sans TTF Bold" panose="02000000000000000000" pitchFamily="2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1" lang="en-US" altLang="ko-KR" sz="3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1"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Classical </a:t>
            </a: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구현과 달리 </a:t>
            </a:r>
            <a:r>
              <a:rPr kumimoji="1"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(branch),</a:t>
            </a: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양자 구현 시 </a:t>
            </a:r>
            <a:r>
              <a:rPr kumimoji="1"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(branch</a:t>
            </a: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kumimoji="1"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X)</a:t>
            </a: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고려 사항이 다수 존재함</a:t>
            </a:r>
            <a:endParaRPr kumimoji="1" lang="en-US" altLang="ko-KR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8CB317B1-895E-5B14-6A3E-73B0ECBF8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740" y="2582675"/>
            <a:ext cx="2094430" cy="2644055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7E7114A2-8560-E982-34F2-499117939C60}"/>
              </a:ext>
            </a:extLst>
          </p:cNvPr>
          <p:cNvSpPr/>
          <p:nvPr/>
        </p:nvSpPr>
        <p:spPr>
          <a:xfrm>
            <a:off x="1061004" y="3403417"/>
            <a:ext cx="111581" cy="1927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725FDB9-68E8-4D08-09D5-66D7CF85F7F8}"/>
              </a:ext>
            </a:extLst>
          </p:cNvPr>
          <p:cNvSpPr/>
          <p:nvPr/>
        </p:nvSpPr>
        <p:spPr>
          <a:xfrm>
            <a:off x="1250226" y="3641735"/>
            <a:ext cx="111581" cy="1927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054050E-419C-F93D-2800-68D17B120D1E}"/>
              </a:ext>
            </a:extLst>
          </p:cNvPr>
          <p:cNvSpPr/>
          <p:nvPr/>
        </p:nvSpPr>
        <p:spPr>
          <a:xfrm>
            <a:off x="1675164" y="4145979"/>
            <a:ext cx="111581" cy="1927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FE2B372-BB2C-C55B-65F4-A231539F28E4}"/>
              </a:ext>
            </a:extLst>
          </p:cNvPr>
          <p:cNvSpPr/>
          <p:nvPr/>
        </p:nvSpPr>
        <p:spPr>
          <a:xfrm>
            <a:off x="2091452" y="4654320"/>
            <a:ext cx="111581" cy="1927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0461153-1267-45F8-35DD-4FE84C802328}"/>
              </a:ext>
            </a:extLst>
          </p:cNvPr>
          <p:cNvSpPr/>
          <p:nvPr/>
        </p:nvSpPr>
        <p:spPr>
          <a:xfrm>
            <a:off x="1276015" y="4600475"/>
            <a:ext cx="111581" cy="1927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CAC9FCC-F989-7F45-AFCC-65FD1B9846AC}"/>
              </a:ext>
            </a:extLst>
          </p:cNvPr>
          <p:cNvSpPr/>
          <p:nvPr/>
        </p:nvSpPr>
        <p:spPr>
          <a:xfrm>
            <a:off x="1067871" y="4122343"/>
            <a:ext cx="111581" cy="1927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4938791-D00B-841E-C6B3-9FD2A7B5850F}"/>
              </a:ext>
            </a:extLst>
          </p:cNvPr>
          <p:cNvSpPr/>
          <p:nvPr/>
        </p:nvSpPr>
        <p:spPr>
          <a:xfrm>
            <a:off x="1668688" y="4865461"/>
            <a:ext cx="111581" cy="1927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F5071A1-7E9F-73E8-C618-9863016952ED}"/>
              </a:ext>
            </a:extLst>
          </p:cNvPr>
          <p:cNvSpPr/>
          <p:nvPr/>
        </p:nvSpPr>
        <p:spPr>
          <a:xfrm>
            <a:off x="868297" y="4623268"/>
            <a:ext cx="111581" cy="1927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611C004-F28C-2D99-B9D9-130A8DFE2BB2}"/>
              </a:ext>
            </a:extLst>
          </p:cNvPr>
          <p:cNvSpPr/>
          <p:nvPr/>
        </p:nvSpPr>
        <p:spPr>
          <a:xfrm>
            <a:off x="868296" y="3904702"/>
            <a:ext cx="111581" cy="1927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C98F86E-FAD8-3112-4EFB-12116F5E8402}"/>
              </a:ext>
            </a:extLst>
          </p:cNvPr>
          <p:cNvSpPr/>
          <p:nvPr/>
        </p:nvSpPr>
        <p:spPr>
          <a:xfrm>
            <a:off x="1468691" y="4385018"/>
            <a:ext cx="111581" cy="1927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5F4EFDD-56E2-C24E-EE96-755012D6D6CB}"/>
              </a:ext>
            </a:extLst>
          </p:cNvPr>
          <p:cNvSpPr txBox="1"/>
          <p:nvPr/>
        </p:nvSpPr>
        <p:spPr>
          <a:xfrm>
            <a:off x="1386238" y="4301389"/>
            <a:ext cx="29527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700" dirty="0"/>
              <a:t>1</a:t>
            </a:r>
            <a:endParaRPr kumimoji="1" lang="ko-Kore-KR" altLang="en-US" sz="17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BB3E8BB-7B9A-C927-5440-6575B6BF628B}"/>
              </a:ext>
            </a:extLst>
          </p:cNvPr>
          <p:cNvSpPr txBox="1"/>
          <p:nvPr/>
        </p:nvSpPr>
        <p:spPr>
          <a:xfrm>
            <a:off x="1585750" y="4808460"/>
            <a:ext cx="29527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700" dirty="0"/>
              <a:t>1</a:t>
            </a:r>
            <a:endParaRPr kumimoji="1" lang="ko-Kore-KR" altLang="en-US" sz="17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E5803B-F43D-7931-C262-F6D80421229D}"/>
              </a:ext>
            </a:extLst>
          </p:cNvPr>
          <p:cNvSpPr txBox="1"/>
          <p:nvPr/>
        </p:nvSpPr>
        <p:spPr>
          <a:xfrm>
            <a:off x="1179125" y="4547297"/>
            <a:ext cx="29527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700" dirty="0"/>
              <a:t>1</a:t>
            </a:r>
            <a:endParaRPr kumimoji="1" lang="ko-Kore-KR" altLang="en-US" sz="17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CB972B6-B997-C8D0-32C8-1A0DE983F1B2}"/>
              </a:ext>
            </a:extLst>
          </p:cNvPr>
          <p:cNvSpPr txBox="1"/>
          <p:nvPr/>
        </p:nvSpPr>
        <p:spPr>
          <a:xfrm>
            <a:off x="779866" y="4541160"/>
            <a:ext cx="29527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700" dirty="0"/>
              <a:t>1</a:t>
            </a:r>
            <a:endParaRPr kumimoji="1" lang="ko-Kore-KR" altLang="en-US" sz="17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C64F027-65D2-AED7-B916-89B7ACFF0F1A}"/>
              </a:ext>
            </a:extLst>
          </p:cNvPr>
          <p:cNvSpPr txBox="1"/>
          <p:nvPr/>
        </p:nvSpPr>
        <p:spPr>
          <a:xfrm>
            <a:off x="971153" y="4040689"/>
            <a:ext cx="29527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700" dirty="0"/>
              <a:t>1</a:t>
            </a:r>
            <a:endParaRPr kumimoji="1" lang="ko-Kore-KR" altLang="en-US" sz="17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0DF9A3E-62F8-49D2-FB21-D704D1E9BF81}"/>
              </a:ext>
            </a:extLst>
          </p:cNvPr>
          <p:cNvSpPr txBox="1"/>
          <p:nvPr/>
        </p:nvSpPr>
        <p:spPr>
          <a:xfrm>
            <a:off x="779866" y="3808493"/>
            <a:ext cx="29527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700" dirty="0"/>
              <a:t>1</a:t>
            </a:r>
            <a:endParaRPr kumimoji="1" lang="ko-Kore-KR" altLang="en-US" sz="17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17D7CEC-C0E5-AD5A-62C3-769A9E85959F}"/>
              </a:ext>
            </a:extLst>
          </p:cNvPr>
          <p:cNvSpPr txBox="1"/>
          <p:nvPr/>
        </p:nvSpPr>
        <p:spPr>
          <a:xfrm>
            <a:off x="980741" y="3299778"/>
            <a:ext cx="29527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700" dirty="0"/>
              <a:t>0</a:t>
            </a:r>
            <a:endParaRPr kumimoji="1" lang="ko-Kore-KR" altLang="en-US" sz="17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ED945A1-BD3E-F676-95F4-4C5D8E0288CC}"/>
              </a:ext>
            </a:extLst>
          </p:cNvPr>
          <p:cNvSpPr txBox="1"/>
          <p:nvPr/>
        </p:nvSpPr>
        <p:spPr>
          <a:xfrm>
            <a:off x="1185691" y="3550891"/>
            <a:ext cx="29527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700" dirty="0"/>
              <a:t>0</a:t>
            </a:r>
            <a:endParaRPr kumimoji="1" lang="ko-Kore-KR" altLang="en-US" sz="17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E933E36-DC16-54E2-2E34-D2867CCDF448}"/>
              </a:ext>
            </a:extLst>
          </p:cNvPr>
          <p:cNvSpPr txBox="1"/>
          <p:nvPr/>
        </p:nvSpPr>
        <p:spPr>
          <a:xfrm>
            <a:off x="1578388" y="4046624"/>
            <a:ext cx="29527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700" dirty="0"/>
              <a:t>0</a:t>
            </a:r>
            <a:endParaRPr kumimoji="1" lang="ko-Kore-KR" altLang="en-US" sz="17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CD8C03D-6ACD-A24D-EC39-D5A4F563475F}"/>
              </a:ext>
            </a:extLst>
          </p:cNvPr>
          <p:cNvSpPr txBox="1"/>
          <p:nvPr/>
        </p:nvSpPr>
        <p:spPr>
          <a:xfrm>
            <a:off x="1987917" y="4555302"/>
            <a:ext cx="29527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700" dirty="0"/>
              <a:t>0</a:t>
            </a:r>
            <a:endParaRPr kumimoji="1" lang="ko-Kore-KR" altLang="en-US" sz="1700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DB5F1B04-5FCB-3F01-0445-B19F429AE49F}"/>
              </a:ext>
            </a:extLst>
          </p:cNvPr>
          <p:cNvSpPr/>
          <p:nvPr/>
        </p:nvSpPr>
        <p:spPr>
          <a:xfrm>
            <a:off x="3860415" y="3865710"/>
            <a:ext cx="111581" cy="1927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EB77AC6-282D-3DC9-7438-880DA04AAE66}"/>
              </a:ext>
            </a:extLst>
          </p:cNvPr>
          <p:cNvSpPr txBox="1"/>
          <p:nvPr/>
        </p:nvSpPr>
        <p:spPr>
          <a:xfrm>
            <a:off x="3777477" y="3808709"/>
            <a:ext cx="29527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700" dirty="0"/>
              <a:t>1</a:t>
            </a:r>
            <a:endParaRPr kumimoji="1" lang="ko-Kore-KR" altLang="en-US" sz="1700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D2D79117-6CA6-76F2-9C35-6C08AAE88162}"/>
              </a:ext>
            </a:extLst>
          </p:cNvPr>
          <p:cNvSpPr/>
          <p:nvPr/>
        </p:nvSpPr>
        <p:spPr>
          <a:xfrm>
            <a:off x="3866467" y="4591722"/>
            <a:ext cx="111581" cy="1927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F23815A-AB20-6810-18B3-D0FBA96990F6}"/>
              </a:ext>
            </a:extLst>
          </p:cNvPr>
          <p:cNvSpPr txBox="1"/>
          <p:nvPr/>
        </p:nvSpPr>
        <p:spPr>
          <a:xfrm>
            <a:off x="3783529" y="4534721"/>
            <a:ext cx="29527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700" dirty="0"/>
              <a:t>1</a:t>
            </a:r>
            <a:endParaRPr kumimoji="1" lang="ko-Kore-KR" altLang="en-US" sz="1700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C007668-90A5-9652-D7B5-8C962B04F4EF}"/>
              </a:ext>
            </a:extLst>
          </p:cNvPr>
          <p:cNvSpPr/>
          <p:nvPr/>
        </p:nvSpPr>
        <p:spPr>
          <a:xfrm>
            <a:off x="4468448" y="4357378"/>
            <a:ext cx="111581" cy="1927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1218478-BB82-5C6E-EBEC-C124683CB878}"/>
              </a:ext>
            </a:extLst>
          </p:cNvPr>
          <p:cNvSpPr txBox="1"/>
          <p:nvPr/>
        </p:nvSpPr>
        <p:spPr>
          <a:xfrm>
            <a:off x="4385510" y="4300377"/>
            <a:ext cx="29527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700" dirty="0"/>
              <a:t>1</a:t>
            </a:r>
            <a:endParaRPr kumimoji="1" lang="ko-Kore-KR" altLang="en-US" sz="1700" dirty="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D177EB7-AD2E-A41E-A479-2B11A48F63D1}"/>
              </a:ext>
            </a:extLst>
          </p:cNvPr>
          <p:cNvSpPr/>
          <p:nvPr/>
        </p:nvSpPr>
        <p:spPr>
          <a:xfrm>
            <a:off x="2072966" y="4852583"/>
            <a:ext cx="111581" cy="1927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4615585-7365-86B8-13A8-E4F2840D0B6D}"/>
              </a:ext>
            </a:extLst>
          </p:cNvPr>
          <p:cNvSpPr txBox="1"/>
          <p:nvPr/>
        </p:nvSpPr>
        <p:spPr>
          <a:xfrm>
            <a:off x="1990028" y="4795582"/>
            <a:ext cx="29527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700" dirty="0"/>
              <a:t>1</a:t>
            </a:r>
            <a:endParaRPr kumimoji="1" lang="ko-Kore-KR" altLang="en-US" sz="1700" dirty="0"/>
          </a:p>
        </p:txBody>
      </p:sp>
      <p:sp>
        <p:nvSpPr>
          <p:cNvPr id="43" name="오른쪽 화살표[R] 42">
            <a:extLst>
              <a:ext uri="{FF2B5EF4-FFF2-40B4-BE49-F238E27FC236}">
                <a16:creationId xmlns:a16="http://schemas.microsoft.com/office/drawing/2014/main" id="{89F802F0-6C2B-658C-A421-5B4F7DD10790}"/>
              </a:ext>
            </a:extLst>
          </p:cNvPr>
          <p:cNvSpPr/>
          <p:nvPr/>
        </p:nvSpPr>
        <p:spPr>
          <a:xfrm>
            <a:off x="2705622" y="3967519"/>
            <a:ext cx="511869" cy="1299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525E26C-245B-CC29-AB98-855AFF1C5B7C}"/>
              </a:ext>
            </a:extLst>
          </p:cNvPr>
          <p:cNvSpPr txBox="1"/>
          <p:nvPr/>
        </p:nvSpPr>
        <p:spPr>
          <a:xfrm>
            <a:off x="2503954" y="5307130"/>
            <a:ext cx="1272015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2300" b="1" dirty="0"/>
              <a:t>&lt; Swap &gt;</a:t>
            </a:r>
            <a:endParaRPr kumimoji="1" lang="ko-Kore-KR" altLang="en-US" sz="2300" b="1" dirty="0"/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184BE27B-BD2E-C28E-FDF8-7E25294FCF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7983" y="2573913"/>
            <a:ext cx="2094430" cy="2644055"/>
          </a:xfrm>
          <a:prstGeom prst="rect">
            <a:avLst/>
          </a:prstGeom>
        </p:spPr>
      </p:pic>
      <p:sp>
        <p:nvSpPr>
          <p:cNvPr id="46" name="직사각형 45">
            <a:extLst>
              <a:ext uri="{FF2B5EF4-FFF2-40B4-BE49-F238E27FC236}">
                <a16:creationId xmlns:a16="http://schemas.microsoft.com/office/drawing/2014/main" id="{6464F786-9893-1DD0-5DA6-A874463C4053}"/>
              </a:ext>
            </a:extLst>
          </p:cNvPr>
          <p:cNvSpPr/>
          <p:nvPr/>
        </p:nvSpPr>
        <p:spPr>
          <a:xfrm>
            <a:off x="6966379" y="3856948"/>
            <a:ext cx="111581" cy="1927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91E6D18-9236-2A31-5E69-E10B2B7E5B31}"/>
              </a:ext>
            </a:extLst>
          </p:cNvPr>
          <p:cNvSpPr txBox="1"/>
          <p:nvPr/>
        </p:nvSpPr>
        <p:spPr>
          <a:xfrm>
            <a:off x="6883441" y="3799947"/>
            <a:ext cx="29527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700" dirty="0"/>
              <a:t>1</a:t>
            </a:r>
            <a:endParaRPr kumimoji="1" lang="ko-Kore-KR" altLang="en-US" sz="1700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1F3113C-F63C-E289-3660-FED09C07A36D}"/>
              </a:ext>
            </a:extLst>
          </p:cNvPr>
          <p:cNvSpPr/>
          <p:nvPr/>
        </p:nvSpPr>
        <p:spPr>
          <a:xfrm>
            <a:off x="6972431" y="4582960"/>
            <a:ext cx="111581" cy="1927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8CBC98A-14A7-58CC-6539-41115FC298B1}"/>
              </a:ext>
            </a:extLst>
          </p:cNvPr>
          <p:cNvSpPr txBox="1"/>
          <p:nvPr/>
        </p:nvSpPr>
        <p:spPr>
          <a:xfrm>
            <a:off x="6889493" y="4525959"/>
            <a:ext cx="29527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700" dirty="0"/>
              <a:t>1</a:t>
            </a:r>
            <a:endParaRPr kumimoji="1" lang="ko-Kore-KR" altLang="en-US" sz="1700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5020BD39-20A2-A327-77E4-F34E6EF02DF9}"/>
              </a:ext>
            </a:extLst>
          </p:cNvPr>
          <p:cNvSpPr/>
          <p:nvPr/>
        </p:nvSpPr>
        <p:spPr>
          <a:xfrm>
            <a:off x="7574412" y="4348616"/>
            <a:ext cx="111581" cy="1927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6F3D360-6336-313F-A897-2808DCACB33A}"/>
              </a:ext>
            </a:extLst>
          </p:cNvPr>
          <p:cNvSpPr txBox="1"/>
          <p:nvPr/>
        </p:nvSpPr>
        <p:spPr>
          <a:xfrm>
            <a:off x="7491474" y="4291615"/>
            <a:ext cx="29527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700" dirty="0"/>
              <a:t>1</a:t>
            </a:r>
            <a:endParaRPr kumimoji="1" lang="ko-Kore-KR" altLang="en-US" sz="1700" dirty="0"/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1F40DF13-1FAB-4558-B8F9-C97AFEBAC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0116" y="2571539"/>
            <a:ext cx="2094430" cy="2644055"/>
          </a:xfrm>
          <a:prstGeom prst="rect">
            <a:avLst/>
          </a:prstGeom>
        </p:spPr>
      </p:pic>
      <p:sp>
        <p:nvSpPr>
          <p:cNvPr id="53" name="오른쪽 화살표[R] 52">
            <a:extLst>
              <a:ext uri="{FF2B5EF4-FFF2-40B4-BE49-F238E27FC236}">
                <a16:creationId xmlns:a16="http://schemas.microsoft.com/office/drawing/2014/main" id="{06C69127-A2D3-548A-A35E-57ED33460601}"/>
              </a:ext>
            </a:extLst>
          </p:cNvPr>
          <p:cNvSpPr/>
          <p:nvPr/>
        </p:nvSpPr>
        <p:spPr>
          <a:xfrm>
            <a:off x="8897524" y="3948840"/>
            <a:ext cx="511869" cy="1299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3DD00D9-B763-08E8-DB18-BB1BBF8FEDD4}"/>
              </a:ext>
            </a:extLst>
          </p:cNvPr>
          <p:cNvSpPr txBox="1"/>
          <p:nvPr/>
        </p:nvSpPr>
        <p:spPr>
          <a:xfrm>
            <a:off x="8404726" y="5295994"/>
            <a:ext cx="2009333" cy="4462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2300" b="1" dirty="0"/>
              <a:t>&lt; Elimination &gt;</a:t>
            </a:r>
            <a:endParaRPr kumimoji="1" lang="ko-Kore-KR" altLang="en-US" sz="2300" b="1" dirty="0"/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9C745EB2-729F-235A-6BCB-FC1E79ABD3E8}"/>
              </a:ext>
            </a:extLst>
          </p:cNvPr>
          <p:cNvCxnSpPr>
            <a:cxnSpLocks/>
          </p:cNvCxnSpPr>
          <p:nvPr/>
        </p:nvCxnSpPr>
        <p:spPr>
          <a:xfrm flipH="1">
            <a:off x="1116794" y="3475736"/>
            <a:ext cx="161075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연결선[R] 91">
            <a:extLst>
              <a:ext uri="{FF2B5EF4-FFF2-40B4-BE49-F238E27FC236}">
                <a16:creationId xmlns:a16="http://schemas.microsoft.com/office/drawing/2014/main" id="{6A4C4C85-F84F-2EE1-5834-1A4B30111468}"/>
              </a:ext>
            </a:extLst>
          </p:cNvPr>
          <p:cNvCxnSpPr>
            <a:cxnSpLocks/>
          </p:cNvCxnSpPr>
          <p:nvPr/>
        </p:nvCxnSpPr>
        <p:spPr>
          <a:xfrm>
            <a:off x="1265321" y="3476750"/>
            <a:ext cx="0" cy="728718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5" name="직선 화살표 연결선 94">
            <a:extLst>
              <a:ext uri="{FF2B5EF4-FFF2-40B4-BE49-F238E27FC236}">
                <a16:creationId xmlns:a16="http://schemas.microsoft.com/office/drawing/2014/main" id="{5F320088-20BC-4DE3-0962-6AF3122D334A}"/>
              </a:ext>
            </a:extLst>
          </p:cNvPr>
          <p:cNvCxnSpPr/>
          <p:nvPr/>
        </p:nvCxnSpPr>
        <p:spPr>
          <a:xfrm flipH="1">
            <a:off x="1324520" y="3712458"/>
            <a:ext cx="168993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[R] 95">
            <a:extLst>
              <a:ext uri="{FF2B5EF4-FFF2-40B4-BE49-F238E27FC236}">
                <a16:creationId xmlns:a16="http://schemas.microsoft.com/office/drawing/2014/main" id="{88F97E9A-8E84-5B2B-08DE-765F34C0D33F}"/>
              </a:ext>
            </a:extLst>
          </p:cNvPr>
          <p:cNvCxnSpPr>
            <a:cxnSpLocks/>
          </p:cNvCxnSpPr>
          <p:nvPr/>
        </p:nvCxnSpPr>
        <p:spPr>
          <a:xfrm flipH="1">
            <a:off x="1474399" y="3724230"/>
            <a:ext cx="6566" cy="1010797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직선 연결선[R] 98">
            <a:extLst>
              <a:ext uri="{FF2B5EF4-FFF2-40B4-BE49-F238E27FC236}">
                <a16:creationId xmlns:a16="http://schemas.microsoft.com/office/drawing/2014/main" id="{CD40DF35-748D-7AAF-AD06-8D9284C19290}"/>
              </a:ext>
            </a:extLst>
          </p:cNvPr>
          <p:cNvCxnSpPr>
            <a:cxnSpLocks/>
          </p:cNvCxnSpPr>
          <p:nvPr/>
        </p:nvCxnSpPr>
        <p:spPr>
          <a:xfrm flipH="1">
            <a:off x="2254112" y="4697538"/>
            <a:ext cx="4103" cy="291409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17A7C363-CF79-54F0-69E3-B937C5162E0F}"/>
              </a:ext>
            </a:extLst>
          </p:cNvPr>
          <p:cNvCxnSpPr/>
          <p:nvPr/>
        </p:nvCxnSpPr>
        <p:spPr>
          <a:xfrm flipH="1">
            <a:off x="1722003" y="4218018"/>
            <a:ext cx="168993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직선 연결선[R] 106">
            <a:extLst>
              <a:ext uri="{FF2B5EF4-FFF2-40B4-BE49-F238E27FC236}">
                <a16:creationId xmlns:a16="http://schemas.microsoft.com/office/drawing/2014/main" id="{F548A061-7F0B-322F-D691-465242625B05}"/>
              </a:ext>
            </a:extLst>
          </p:cNvPr>
          <p:cNvCxnSpPr>
            <a:cxnSpLocks/>
          </p:cNvCxnSpPr>
          <p:nvPr/>
        </p:nvCxnSpPr>
        <p:spPr>
          <a:xfrm flipH="1">
            <a:off x="1776364" y="4986949"/>
            <a:ext cx="10084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9" name="직선 연결선[R] 108">
            <a:extLst>
              <a:ext uri="{FF2B5EF4-FFF2-40B4-BE49-F238E27FC236}">
                <a16:creationId xmlns:a16="http://schemas.microsoft.com/office/drawing/2014/main" id="{7D0C1417-3102-5ECC-BEC2-E8C73D654902}"/>
              </a:ext>
            </a:extLst>
          </p:cNvPr>
          <p:cNvCxnSpPr>
            <a:cxnSpLocks/>
          </p:cNvCxnSpPr>
          <p:nvPr/>
        </p:nvCxnSpPr>
        <p:spPr>
          <a:xfrm flipH="1">
            <a:off x="1369365" y="4741313"/>
            <a:ext cx="10084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직선 연결선[R] 110">
            <a:extLst>
              <a:ext uri="{FF2B5EF4-FFF2-40B4-BE49-F238E27FC236}">
                <a16:creationId xmlns:a16="http://schemas.microsoft.com/office/drawing/2014/main" id="{BA81336E-DE16-BB1A-045B-CD593090C6ED}"/>
              </a:ext>
            </a:extLst>
          </p:cNvPr>
          <p:cNvCxnSpPr>
            <a:cxnSpLocks/>
          </p:cNvCxnSpPr>
          <p:nvPr/>
        </p:nvCxnSpPr>
        <p:spPr>
          <a:xfrm flipH="1">
            <a:off x="1166762" y="4210569"/>
            <a:ext cx="10084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직선 연결선[R] 112">
            <a:extLst>
              <a:ext uri="{FF2B5EF4-FFF2-40B4-BE49-F238E27FC236}">
                <a16:creationId xmlns:a16="http://schemas.microsoft.com/office/drawing/2014/main" id="{F32A04FF-26CB-1635-374D-F96227D82C4B}"/>
              </a:ext>
            </a:extLst>
          </p:cNvPr>
          <p:cNvCxnSpPr>
            <a:cxnSpLocks/>
          </p:cNvCxnSpPr>
          <p:nvPr/>
        </p:nvCxnSpPr>
        <p:spPr>
          <a:xfrm flipH="1">
            <a:off x="2163229" y="4986949"/>
            <a:ext cx="10084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직선 연결선[R] 113">
            <a:extLst>
              <a:ext uri="{FF2B5EF4-FFF2-40B4-BE49-F238E27FC236}">
                <a16:creationId xmlns:a16="http://schemas.microsoft.com/office/drawing/2014/main" id="{511CF1FE-4166-026D-EA63-BEF619748AD1}"/>
              </a:ext>
            </a:extLst>
          </p:cNvPr>
          <p:cNvCxnSpPr>
            <a:cxnSpLocks/>
          </p:cNvCxnSpPr>
          <p:nvPr/>
        </p:nvCxnSpPr>
        <p:spPr>
          <a:xfrm>
            <a:off x="1890996" y="4212909"/>
            <a:ext cx="0" cy="784245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직선 화살표 연결선 118">
            <a:extLst>
              <a:ext uri="{FF2B5EF4-FFF2-40B4-BE49-F238E27FC236}">
                <a16:creationId xmlns:a16="http://schemas.microsoft.com/office/drawing/2014/main" id="{3A2F4CDF-D91E-CCDC-7A7C-808C0D66E786}"/>
              </a:ext>
            </a:extLst>
          </p:cNvPr>
          <p:cNvCxnSpPr/>
          <p:nvPr/>
        </p:nvCxnSpPr>
        <p:spPr>
          <a:xfrm flipH="1">
            <a:off x="2135211" y="4706407"/>
            <a:ext cx="126967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E8DE8A55-C160-B5B7-1C46-26A359297720}"/>
              </a:ext>
            </a:extLst>
          </p:cNvPr>
          <p:cNvCxnSpPr>
            <a:cxnSpLocks/>
          </p:cNvCxnSpPr>
          <p:nvPr/>
        </p:nvCxnSpPr>
        <p:spPr>
          <a:xfrm>
            <a:off x="3888158" y="3229366"/>
            <a:ext cx="1533678" cy="1839804"/>
          </a:xfrm>
          <a:prstGeom prst="straightConnector1">
            <a:avLst/>
          </a:prstGeom>
          <a:ln w="127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연결선[R] 125">
            <a:extLst>
              <a:ext uri="{FF2B5EF4-FFF2-40B4-BE49-F238E27FC236}">
                <a16:creationId xmlns:a16="http://schemas.microsoft.com/office/drawing/2014/main" id="{955DFA3F-67D6-4B9D-18D3-C84DE1BAB4A2}"/>
              </a:ext>
            </a:extLst>
          </p:cNvPr>
          <p:cNvCxnSpPr>
            <a:cxnSpLocks/>
          </p:cNvCxnSpPr>
          <p:nvPr/>
        </p:nvCxnSpPr>
        <p:spPr>
          <a:xfrm flipH="1">
            <a:off x="6151774" y="2465020"/>
            <a:ext cx="28575" cy="3148324"/>
          </a:xfrm>
          <a:prstGeom prst="line">
            <a:avLst/>
          </a:prstGeom>
          <a:ln w="19050"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8" name="슬라이드 번호 개체 틀 5">
            <a:extLst>
              <a:ext uri="{FF2B5EF4-FFF2-40B4-BE49-F238E27FC236}">
                <a16:creationId xmlns:a16="http://schemas.microsoft.com/office/drawing/2014/main" id="{ED30C65D-906F-EBD0-5A01-29D093599C37}"/>
              </a:ext>
            </a:extLst>
          </p:cNvPr>
          <p:cNvSpPr txBox="1">
            <a:spLocks/>
          </p:cNvSpPr>
          <p:nvPr/>
        </p:nvSpPr>
        <p:spPr>
          <a:xfrm>
            <a:off x="11017827" y="6402954"/>
            <a:ext cx="371560" cy="365125"/>
          </a:xfrm>
          <a:prstGeom prst="rect">
            <a:avLst/>
          </a:prstGeom>
        </p:spPr>
        <p:txBody>
          <a:bodyPr/>
          <a:lstStyle>
            <a:defPPr>
              <a:defRPr lang="ko-Kore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ko-Kore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583C38-65B8-02E9-CAFE-8FE61CB4A89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00AB9D3-EAF0-7A44-B522-0A500B1E98A1}" type="slidenum">
              <a:rPr kumimoji="1" lang="ko-Kore-KR" altLang="en-US" smtClean="0"/>
              <a:t>17</a:t>
            </a:fld>
            <a:endParaRPr kumimoji="1" lang="ko-Kore-KR" altLang="en-US"/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CCB3A257-254B-20C7-D365-6597A71DBF4C}"/>
              </a:ext>
            </a:extLst>
          </p:cNvPr>
          <p:cNvGrpSpPr/>
          <p:nvPr/>
        </p:nvGrpSpPr>
        <p:grpSpPr>
          <a:xfrm rot="2671393">
            <a:off x="6945534" y="3887577"/>
            <a:ext cx="183192" cy="178681"/>
            <a:chOff x="5055558" y="5397500"/>
            <a:chExt cx="183192" cy="178681"/>
          </a:xfrm>
        </p:grpSpPr>
        <p:cxnSp>
          <p:nvCxnSpPr>
            <p:cNvPr id="6" name="직선 연결선[R] 5">
              <a:extLst>
                <a:ext uri="{FF2B5EF4-FFF2-40B4-BE49-F238E27FC236}">
                  <a16:creationId xmlns:a16="http://schemas.microsoft.com/office/drawing/2014/main" id="{9F72E252-0ACC-EC5A-D6BC-68C024BA4A2C}"/>
                </a:ext>
              </a:extLst>
            </p:cNvPr>
            <p:cNvCxnSpPr>
              <a:cxnSpLocks/>
            </p:cNvCxnSpPr>
            <p:nvPr/>
          </p:nvCxnSpPr>
          <p:spPr>
            <a:xfrm>
              <a:off x="5055558" y="5487282"/>
              <a:ext cx="183192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[R] 6">
              <a:extLst>
                <a:ext uri="{FF2B5EF4-FFF2-40B4-BE49-F238E27FC236}">
                  <a16:creationId xmlns:a16="http://schemas.microsoft.com/office/drawing/2014/main" id="{9D46A526-BFDB-B634-E24C-144DC58D37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48220" y="5397500"/>
              <a:ext cx="0" cy="17868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83A4FD57-B810-AE4E-E508-86143EA1077E}"/>
              </a:ext>
            </a:extLst>
          </p:cNvPr>
          <p:cNvGrpSpPr/>
          <p:nvPr/>
        </p:nvGrpSpPr>
        <p:grpSpPr>
          <a:xfrm rot="2671393">
            <a:off x="6939481" y="4607501"/>
            <a:ext cx="183192" cy="178681"/>
            <a:chOff x="5055558" y="5397500"/>
            <a:chExt cx="183192" cy="178681"/>
          </a:xfrm>
        </p:grpSpPr>
        <p:cxnSp>
          <p:nvCxnSpPr>
            <p:cNvPr id="58" name="직선 연결선[R] 57">
              <a:extLst>
                <a:ext uri="{FF2B5EF4-FFF2-40B4-BE49-F238E27FC236}">
                  <a16:creationId xmlns:a16="http://schemas.microsoft.com/office/drawing/2014/main" id="{FF3ED23F-6ECA-E592-0FCF-0EB9B52D296D}"/>
                </a:ext>
              </a:extLst>
            </p:cNvPr>
            <p:cNvCxnSpPr>
              <a:cxnSpLocks/>
            </p:cNvCxnSpPr>
            <p:nvPr/>
          </p:nvCxnSpPr>
          <p:spPr>
            <a:xfrm>
              <a:off x="5055558" y="5487282"/>
              <a:ext cx="183192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연결선[R] 60">
              <a:extLst>
                <a:ext uri="{FF2B5EF4-FFF2-40B4-BE49-F238E27FC236}">
                  <a16:creationId xmlns:a16="http://schemas.microsoft.com/office/drawing/2014/main" id="{F2B2951F-C32C-09E6-77AD-EC4F1B8554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48220" y="5397500"/>
              <a:ext cx="0" cy="17868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688E9FE7-28C4-2FED-4764-49E3ACD274B8}"/>
              </a:ext>
            </a:extLst>
          </p:cNvPr>
          <p:cNvGrpSpPr/>
          <p:nvPr/>
        </p:nvGrpSpPr>
        <p:grpSpPr>
          <a:xfrm rot="2671393">
            <a:off x="7546409" y="4379245"/>
            <a:ext cx="183192" cy="178681"/>
            <a:chOff x="5055558" y="5397500"/>
            <a:chExt cx="183192" cy="178681"/>
          </a:xfrm>
        </p:grpSpPr>
        <p:cxnSp>
          <p:nvCxnSpPr>
            <p:cNvPr id="64" name="직선 연결선[R] 63">
              <a:extLst>
                <a:ext uri="{FF2B5EF4-FFF2-40B4-BE49-F238E27FC236}">
                  <a16:creationId xmlns:a16="http://schemas.microsoft.com/office/drawing/2014/main" id="{8FD533C4-69C6-14A5-5891-EA79403AEAE3}"/>
                </a:ext>
              </a:extLst>
            </p:cNvPr>
            <p:cNvCxnSpPr>
              <a:cxnSpLocks/>
            </p:cNvCxnSpPr>
            <p:nvPr/>
          </p:nvCxnSpPr>
          <p:spPr>
            <a:xfrm>
              <a:off x="5055558" y="5487282"/>
              <a:ext cx="183192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연결선[R] 65">
              <a:extLst>
                <a:ext uri="{FF2B5EF4-FFF2-40B4-BE49-F238E27FC236}">
                  <a16:creationId xmlns:a16="http://schemas.microsoft.com/office/drawing/2014/main" id="{B7C03A4C-A2F3-B4FB-2F15-4242B437CF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48220" y="5397500"/>
              <a:ext cx="0" cy="17868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465526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>
          <a:extLst>
            <a:ext uri="{FF2B5EF4-FFF2-40B4-BE49-F238E27FC236}">
              <a16:creationId xmlns:a16="http://schemas.microsoft.com/office/drawing/2014/main" id="{D7C71EA0-0F31-2AB3-8520-654D539EE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1">
            <a:extLst>
              <a:ext uri="{FF2B5EF4-FFF2-40B4-BE49-F238E27FC236}">
                <a16:creationId xmlns:a16="http://schemas.microsoft.com/office/drawing/2014/main" id="{A7949EFD-10AA-C514-4446-AB195F09F8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920" y="207747"/>
            <a:ext cx="11368200" cy="7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altLang="ko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Oracle: Gauss-Jordan Elimination</a:t>
            </a:r>
            <a:endParaRPr sz="32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B746127-3E27-82F1-BBA6-FDFAAEC3698F}"/>
              </a:ext>
            </a:extLst>
          </p:cNvPr>
          <p:cNvSpPr txBox="1"/>
          <p:nvPr/>
        </p:nvSpPr>
        <p:spPr>
          <a:xfrm>
            <a:off x="313507" y="929407"/>
            <a:ext cx="12175623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altLang="ko-KR" sz="2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1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Gaussian-Jordan </a:t>
            </a:r>
            <a:r>
              <a:rPr lang="ko-KR" altLang="en-US" sz="21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소거를</a:t>
            </a:r>
            <a:r>
              <a:rPr lang="en-US" altLang="ko-KR" sz="21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lang="ko-KR" altLang="en-US" sz="21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대상 행렬 </a:t>
            </a:r>
            <a:r>
              <a:rPr lang="en-US" altLang="ko-KR" sz="21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(Information set)</a:t>
            </a:r>
            <a:r>
              <a:rPr lang="ko-KR" altLang="en-US" sz="21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의 첫번째 </a:t>
            </a:r>
            <a:r>
              <a:rPr lang="en-US" altLang="ko-KR" sz="21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Pivot</a:t>
            </a:r>
            <a:r>
              <a:rPr lang="ko-KR" altLang="en-US" sz="21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부터</a:t>
            </a:r>
            <a:r>
              <a:rPr lang="ko-KR" altLang="en-US" sz="21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endParaRPr lang="en-US" altLang="ko-KR" sz="21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r>
              <a:rPr lang="en-US" altLang="ko-KR" sz="21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   </a:t>
            </a:r>
            <a:r>
              <a:rPr lang="ko-KR" altLang="en-US" sz="21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마지막 </a:t>
            </a:r>
            <a:r>
              <a:rPr lang="en-US" altLang="ko-KR" sz="21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Pivot</a:t>
            </a:r>
            <a:r>
              <a:rPr lang="ko-KR" altLang="en-US" sz="21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까지 수행</a:t>
            </a:r>
            <a:endParaRPr lang="en-US" altLang="ko-KR" sz="21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200" dirty="0">
              <a:solidFill>
                <a:schemeClr val="accent1">
                  <a:lumMod val="75000"/>
                </a:schemeClr>
              </a:solidFill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48AAE6B-3F30-000A-56DB-6109B1A158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512250" y="6475069"/>
            <a:ext cx="2743200" cy="365125"/>
          </a:xfrm>
        </p:spPr>
        <p:txBody>
          <a:bodyPr/>
          <a:lstStyle/>
          <a:p>
            <a:fld id="{48852B28-D290-2A4B-A90A-47EAEF72A8E4}" type="slidenum">
              <a:rPr kumimoji="1" lang="ko-Kore-KR" altLang="en-US" smtClean="0"/>
              <a:t>18</a:t>
            </a:fld>
            <a:endParaRPr kumimoji="1" lang="ko-Kore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FD39F3-8276-EBE2-0363-4A61A156777A}"/>
              </a:ext>
            </a:extLst>
          </p:cNvPr>
          <p:cNvSpPr txBox="1"/>
          <p:nvPr/>
        </p:nvSpPr>
        <p:spPr>
          <a:xfrm>
            <a:off x="-50298" y="6657632"/>
            <a:ext cx="443583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ko-Kore-KR" sz="800" dirty="0"/>
              <a:t>[*] Jang et al. “Depth Optimized Quantum Circuit of Gauss-Jordan Elimination”, </a:t>
            </a:r>
            <a:r>
              <a:rPr kumimoji="1" lang="en-US" altLang="ko-Kore-KR" sz="800" dirty="0"/>
              <a:t>Applied sciences, 2024.</a:t>
            </a:r>
            <a:endParaRPr kumimoji="1" lang="ko-Kore-KR" altLang="en-US" sz="8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3E2A56C-8B9D-B480-6229-B5799F16C1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2385" y="2088320"/>
            <a:ext cx="7065818" cy="45619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AD327E-9687-E926-D3B0-19885D54FF60}"/>
              </a:ext>
            </a:extLst>
          </p:cNvPr>
          <p:cNvSpPr txBox="1"/>
          <p:nvPr/>
        </p:nvSpPr>
        <p:spPr>
          <a:xfrm>
            <a:off x="1345629" y="5158239"/>
            <a:ext cx="164397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2200" b="1" dirty="0">
                <a:solidFill>
                  <a:schemeClr val="accent1">
                    <a:lumMod val="75000"/>
                  </a:schemeClr>
                </a:solidFill>
                <a:sym typeface="Wingdings" pitchFamily="2" charset="2"/>
              </a:rPr>
              <a:t>Elimination  </a:t>
            </a:r>
            <a:endParaRPr kumimoji="1" lang="ko-Kore-KR" altLang="en-US" sz="2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왼쪽 중괄호[L] 8">
            <a:extLst>
              <a:ext uri="{FF2B5EF4-FFF2-40B4-BE49-F238E27FC236}">
                <a16:creationId xmlns:a16="http://schemas.microsoft.com/office/drawing/2014/main" id="{38BAC946-D401-16B2-29BA-CB40D4AF2A30}"/>
              </a:ext>
            </a:extLst>
          </p:cNvPr>
          <p:cNvSpPr/>
          <p:nvPr/>
        </p:nvSpPr>
        <p:spPr>
          <a:xfrm>
            <a:off x="2905124" y="3543813"/>
            <a:ext cx="758339" cy="545920"/>
          </a:xfrm>
          <a:prstGeom prst="leftBrace">
            <a:avLst>
              <a:gd name="adj1" fmla="val 8333"/>
              <a:gd name="adj2" fmla="val 53756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410A35-5D56-BD1F-9E72-A2EDA16DBA95}"/>
              </a:ext>
            </a:extLst>
          </p:cNvPr>
          <p:cNvSpPr txBox="1"/>
          <p:nvPr/>
        </p:nvSpPr>
        <p:spPr>
          <a:xfrm>
            <a:off x="2094255" y="3574788"/>
            <a:ext cx="89535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ore-KR" sz="2200" b="1" dirty="0">
                <a:solidFill>
                  <a:schemeClr val="accent1">
                    <a:lumMod val="75000"/>
                  </a:schemeClr>
                </a:solidFill>
              </a:rPr>
              <a:t>Swap</a:t>
            </a:r>
            <a:endParaRPr lang="ko-Kore-KR" altLang="en-US" sz="22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왼쪽 중괄호[L] 11">
            <a:extLst>
              <a:ext uri="{FF2B5EF4-FFF2-40B4-BE49-F238E27FC236}">
                <a16:creationId xmlns:a16="http://schemas.microsoft.com/office/drawing/2014/main" id="{7DEAD837-3420-923C-9A32-7737E076A22F}"/>
              </a:ext>
            </a:extLst>
          </p:cNvPr>
          <p:cNvSpPr/>
          <p:nvPr/>
        </p:nvSpPr>
        <p:spPr>
          <a:xfrm>
            <a:off x="2842384" y="4438650"/>
            <a:ext cx="575845" cy="1762125"/>
          </a:xfrm>
          <a:prstGeom prst="leftBrace">
            <a:avLst>
              <a:gd name="adj1" fmla="val 8333"/>
              <a:gd name="adj2" fmla="val 53756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0583535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808E0-E78F-4051-142E-CB31F5D6E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58D9771-88C0-1B3A-A7CC-00228389380A}"/>
              </a:ext>
            </a:extLst>
          </p:cNvPr>
          <p:cNvSpPr txBox="1"/>
          <p:nvPr/>
        </p:nvSpPr>
        <p:spPr>
          <a:xfrm>
            <a:off x="144379" y="1223253"/>
            <a:ext cx="12192000" cy="549381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ko-KR" sz="24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Gauss-Jordan elimination </a:t>
            </a:r>
            <a:r>
              <a:rPr kumimoji="1" lang="ko-KR" altLang="en-US" sz="24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양자 구현 비용</a:t>
            </a:r>
            <a:endParaRPr kumimoji="1" lang="en-US" altLang="ko-KR" sz="24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R" sz="15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en-US" altLang="ko-Kore-KR" sz="2400" dirty="0"/>
          </a:p>
          <a:p>
            <a:endParaRPr kumimoji="1" lang="en-US" altLang="ko-Kore-KR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1" lang="en-US" altLang="ko-Kore-KR" sz="24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1" lang="en-US" altLang="ko-Kore-KR" sz="24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1" lang="en-US" altLang="ko-Kore-KR" sz="24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1" lang="en-US" altLang="ko-Kore-KR" sz="2400" b="1" dirty="0"/>
          </a:p>
          <a:p>
            <a:pPr lvl="1"/>
            <a:endParaRPr kumimoji="1" lang="en-US" altLang="ko-Kore-KR" sz="2400" b="1" dirty="0"/>
          </a:p>
        </p:txBody>
      </p:sp>
      <p:sp>
        <p:nvSpPr>
          <p:cNvPr id="13" name="제목 3">
            <a:extLst>
              <a:ext uri="{FF2B5EF4-FFF2-40B4-BE49-F238E27FC236}">
                <a16:creationId xmlns:a16="http://schemas.microsoft.com/office/drawing/2014/main" id="{0730CF3F-AC9B-A7B2-3EA8-A46426900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920" y="216456"/>
            <a:ext cx="11368160" cy="762163"/>
          </a:xfrm>
        </p:spPr>
        <p:txBody>
          <a:bodyPr/>
          <a:lstStyle/>
          <a:p>
            <a:r>
              <a:rPr lang="en-US" altLang="ko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Oracle: Gauss-Jordan Elimination</a:t>
            </a:r>
            <a:endParaRPr lang="ko-Kore-KR" altLang="en-US" b="1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63756CA-1A57-ED6F-22B1-BC447704B4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6224612"/>
              </p:ext>
            </p:extLst>
          </p:nvPr>
        </p:nvGraphicFramePr>
        <p:xfrm>
          <a:off x="616310" y="3196630"/>
          <a:ext cx="10133509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9994">
                  <a:extLst>
                    <a:ext uri="{9D8B030D-6E8A-4147-A177-3AD203B41FA5}">
                      <a16:colId xmlns:a16="http://schemas.microsoft.com/office/drawing/2014/main" val="2960314680"/>
                    </a:ext>
                  </a:extLst>
                </a:gridCol>
                <a:gridCol w="1643715">
                  <a:extLst>
                    <a:ext uri="{9D8B030D-6E8A-4147-A177-3AD203B41FA5}">
                      <a16:colId xmlns:a16="http://schemas.microsoft.com/office/drawing/2014/main" val="3374579767"/>
                    </a:ext>
                  </a:extLst>
                </a:gridCol>
                <a:gridCol w="1145512">
                  <a:extLst>
                    <a:ext uri="{9D8B030D-6E8A-4147-A177-3AD203B41FA5}">
                      <a16:colId xmlns:a16="http://schemas.microsoft.com/office/drawing/2014/main" val="761767930"/>
                    </a:ext>
                  </a:extLst>
                </a:gridCol>
                <a:gridCol w="1496688">
                  <a:extLst>
                    <a:ext uri="{9D8B030D-6E8A-4147-A177-3AD203B41FA5}">
                      <a16:colId xmlns:a16="http://schemas.microsoft.com/office/drawing/2014/main" val="3477819340"/>
                    </a:ext>
                  </a:extLst>
                </a:gridCol>
                <a:gridCol w="1496688">
                  <a:extLst>
                    <a:ext uri="{9D8B030D-6E8A-4147-A177-3AD203B41FA5}">
                      <a16:colId xmlns:a16="http://schemas.microsoft.com/office/drawing/2014/main" val="3624024535"/>
                    </a:ext>
                  </a:extLst>
                </a:gridCol>
                <a:gridCol w="1162112">
                  <a:extLst>
                    <a:ext uri="{9D8B030D-6E8A-4147-A177-3AD203B41FA5}">
                      <a16:colId xmlns:a16="http://schemas.microsoft.com/office/drawing/2014/main" val="427051092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6173571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500" b="0" i="0" dirty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Matrix size</a:t>
                      </a:r>
                      <a:endParaRPr lang="ko-Kore-KR" altLang="en-US" sz="1500" b="0" i="0" dirty="0">
                        <a:latin typeface="Gmarket Sans TTF Medium" panose="02000000000000000000" pitchFamily="2" charset="-128"/>
                        <a:ea typeface="Gmarket Sans TTF Medium" panose="02000000000000000000" pitchFamily="2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b="0" i="0" dirty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Qubits</a:t>
                      </a:r>
                      <a:endParaRPr lang="ko-Kore-KR" altLang="en-US" sz="1600" b="0" i="0">
                        <a:latin typeface="Gmarket Sans TTF Medium" panose="02000000000000000000" pitchFamily="2" charset="-128"/>
                        <a:ea typeface="Gmarket Sans TTF Medium" panose="02000000000000000000" pitchFamily="2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b="0" i="0" dirty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# CNOT</a:t>
                      </a:r>
                      <a:endParaRPr lang="ko-Kore-KR" altLang="en-US" sz="1600" b="0" i="0" dirty="0">
                        <a:latin typeface="Gmarket Sans TTF Medium" panose="02000000000000000000" pitchFamily="2" charset="-128"/>
                        <a:ea typeface="Gmarket Sans TTF Medium" panose="02000000000000000000" pitchFamily="2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b="0" i="0" dirty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# 1qCliff</a:t>
                      </a:r>
                      <a:endParaRPr lang="ko-Kore-KR" altLang="en-US" sz="1600" b="0" i="0" dirty="0">
                        <a:latin typeface="Gmarket Sans TTF Medium" panose="02000000000000000000" pitchFamily="2" charset="-128"/>
                        <a:ea typeface="Gmarket Sans TTF Medium" panose="02000000000000000000" pitchFamily="2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b="0" i="0" dirty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# T</a:t>
                      </a:r>
                      <a:endParaRPr lang="ko-Kore-KR" altLang="en-US" sz="1600" b="0" i="0" dirty="0">
                        <a:latin typeface="Gmarket Sans TTF Medium" panose="02000000000000000000" pitchFamily="2" charset="-128"/>
                        <a:ea typeface="Gmarket Sans TTF Medium" panose="02000000000000000000" pitchFamily="2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b="0" i="0" dirty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T-depth</a:t>
                      </a:r>
                      <a:endParaRPr lang="ko-Kore-KR" altLang="en-US" sz="1600" b="0" i="0" dirty="0">
                        <a:latin typeface="Gmarket Sans TTF Medium" panose="02000000000000000000" pitchFamily="2" charset="-128"/>
                        <a:ea typeface="Gmarket Sans TTF Medium" panose="02000000000000000000" pitchFamily="2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400" b="0" i="0" dirty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Full depth</a:t>
                      </a:r>
                      <a:endParaRPr lang="ko-Kore-KR" altLang="en-US" sz="1400" b="0" i="0" dirty="0">
                        <a:latin typeface="Gmarket Sans TTF Medium" panose="02000000000000000000" pitchFamily="2" charset="-128"/>
                        <a:ea typeface="Gmarket Sans TTF Medium" panose="02000000000000000000" pitchFamily="2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70843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b="0" i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8 x 8</a:t>
                      </a:r>
                      <a:endParaRPr lang="ko-Kore-KR" altLang="en-US" sz="1600" b="0" i="0">
                        <a:latin typeface="Gmarket Sans TTF Medium" panose="02000000000000000000" pitchFamily="2" charset="-128"/>
                        <a:ea typeface="Gmarket Sans TTF Medium" panose="02000000000000000000" pitchFamily="2" charset="-128"/>
                      </a:endParaRP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b="0" i="0" dirty="0">
                          <a:solidFill>
                            <a:schemeClr val="tx1"/>
                          </a:solidFill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183</a:t>
                      </a:r>
                      <a:endParaRPr lang="ko-Kore-KR" altLang="en-US" sz="1600" b="0" i="0" dirty="0">
                        <a:solidFill>
                          <a:schemeClr val="tx1"/>
                        </a:solidFill>
                        <a:latin typeface="Gmarket Sans TTF Medium" panose="02000000000000000000" pitchFamily="2" charset="-128"/>
                        <a:ea typeface="Gmarket Sans TTF Medium" panose="02000000000000000000" pitchFamily="2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b="0" i="0" dirty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3861</a:t>
                      </a:r>
                      <a:endParaRPr lang="ko-Kore-KR" altLang="en-US" sz="1600" b="0" i="0" dirty="0">
                        <a:latin typeface="Gmarket Sans TTF Medium" panose="02000000000000000000" pitchFamily="2" charset="-128"/>
                        <a:ea typeface="Gmarket Sans TTF Medium" panose="02000000000000000000" pitchFamily="2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b="0" i="0" dirty="0">
                          <a:solidFill>
                            <a:schemeClr val="tx1"/>
                          </a:solidFill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492</a:t>
                      </a:r>
                      <a:endParaRPr lang="ko-Kore-KR" altLang="en-US" sz="1600" b="0" i="0" dirty="0">
                        <a:solidFill>
                          <a:schemeClr val="tx1"/>
                        </a:solidFill>
                        <a:latin typeface="Gmarket Sans TTF Medium" panose="02000000000000000000" pitchFamily="2" charset="-128"/>
                        <a:ea typeface="Gmarket Sans TTF Medium" panose="02000000000000000000" pitchFamily="2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i="0" dirty="0">
                          <a:solidFill>
                            <a:schemeClr val="tx1"/>
                          </a:solidFill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3,136</a:t>
                      </a:r>
                      <a:endParaRPr lang="ko-Kore-KR" altLang="en-US" sz="1600" b="0" i="0" dirty="0">
                        <a:solidFill>
                          <a:schemeClr val="tx1"/>
                        </a:solidFill>
                        <a:latin typeface="Gmarket Sans TTF Medium" panose="02000000000000000000" pitchFamily="2" charset="-128"/>
                        <a:ea typeface="Gmarket Sans TTF Medium" panose="02000000000000000000" pitchFamily="2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b="0" i="0" dirty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140</a:t>
                      </a:r>
                      <a:endParaRPr lang="ko-Kore-KR" altLang="en-US" sz="1600" b="0" i="0" dirty="0">
                        <a:latin typeface="Gmarket Sans TTF Medium" panose="02000000000000000000" pitchFamily="2" charset="-128"/>
                        <a:ea typeface="Gmarket Sans TTF Medium" panose="02000000000000000000" pitchFamily="2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b="0" i="0" dirty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112</a:t>
                      </a:r>
                      <a:endParaRPr lang="ko-Kore-KR" altLang="en-US" sz="1600" b="0" i="0" dirty="0">
                        <a:latin typeface="Gmarket Sans TTF Medium" panose="02000000000000000000" pitchFamily="2" charset="-128"/>
                        <a:ea typeface="Gmarket Sans TTF Medium" panose="02000000000000000000" pitchFamily="2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2914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b="0" i="0" dirty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16</a:t>
                      </a:r>
                      <a:r>
                        <a:rPr lang="en-US" altLang="ko-Kore-KR" sz="1600" b="0" i="0" dirty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 x </a:t>
                      </a:r>
                      <a:r>
                        <a:rPr lang="en-US" altLang="ko-KR" sz="1600" b="0" i="0" dirty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16</a:t>
                      </a:r>
                      <a:endParaRPr lang="ko-Kore-KR" altLang="en-US" sz="1600" b="0" i="0" dirty="0">
                        <a:latin typeface="Gmarket Sans TTF Medium" panose="02000000000000000000" pitchFamily="2" charset="-128"/>
                        <a:ea typeface="Gmarket Sans TTF Medium" panose="02000000000000000000" pitchFamily="2" charset="-128"/>
                      </a:endParaRP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b="0" i="0" dirty="0">
                          <a:solidFill>
                            <a:schemeClr val="tx1"/>
                          </a:solidFill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811</a:t>
                      </a:r>
                      <a:endParaRPr lang="ko-Kore-KR" altLang="en-US" sz="1600" b="0" i="0" dirty="0">
                        <a:solidFill>
                          <a:schemeClr val="tx1"/>
                        </a:solidFill>
                        <a:latin typeface="Gmarket Sans TTF Medium" panose="02000000000000000000" pitchFamily="2" charset="-128"/>
                        <a:ea typeface="Gmarket Sans TTF Medium" panose="02000000000000000000" pitchFamily="2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b="0" i="0" dirty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31329</a:t>
                      </a:r>
                      <a:endParaRPr lang="ko-Kore-KR" altLang="en-US" sz="1600" b="0" i="0" dirty="0">
                        <a:latin typeface="Gmarket Sans TTF Medium" panose="02000000000000000000" pitchFamily="2" charset="-128"/>
                        <a:ea typeface="Gmarket Sans TTF Medium" panose="02000000000000000000" pitchFamily="2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b="0" i="0" dirty="0">
                          <a:solidFill>
                            <a:schemeClr val="tx1"/>
                          </a:solidFill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3,352</a:t>
                      </a:r>
                      <a:endParaRPr lang="ko-Kore-KR" altLang="en-US" sz="1600" b="0" i="0" dirty="0">
                        <a:solidFill>
                          <a:schemeClr val="tx1"/>
                        </a:solidFill>
                        <a:latin typeface="Gmarket Sans TTF Medium" panose="02000000000000000000" pitchFamily="2" charset="-128"/>
                        <a:ea typeface="Gmarket Sans TTF Medium" panose="02000000000000000000" pitchFamily="2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i="0" dirty="0">
                          <a:solidFill>
                            <a:schemeClr val="tx1"/>
                          </a:solidFill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24,640</a:t>
                      </a:r>
                      <a:endParaRPr lang="ko-Kore-KR" altLang="en-US" sz="1600" b="0" i="0" dirty="0">
                        <a:solidFill>
                          <a:schemeClr val="tx1"/>
                        </a:solidFill>
                        <a:latin typeface="Gmarket Sans TTF Medium" panose="02000000000000000000" pitchFamily="2" charset="-128"/>
                        <a:ea typeface="Gmarket Sans TTF Medium" panose="02000000000000000000" pitchFamily="2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b="0" i="0" dirty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540</a:t>
                      </a:r>
                      <a:endParaRPr lang="ko-Kore-KR" altLang="en-US" sz="1600" b="0" i="0" dirty="0">
                        <a:latin typeface="Gmarket Sans TTF Medium" panose="02000000000000000000" pitchFamily="2" charset="-128"/>
                        <a:ea typeface="Gmarket Sans TTF Medium" panose="02000000000000000000" pitchFamily="2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b="0" i="0" dirty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407</a:t>
                      </a:r>
                      <a:endParaRPr lang="ko-Kore-KR" altLang="en-US" sz="1600" b="0" i="0" dirty="0">
                        <a:latin typeface="Gmarket Sans TTF Medium" panose="02000000000000000000" pitchFamily="2" charset="-128"/>
                        <a:ea typeface="Gmarket Sans TTF Medium" panose="02000000000000000000" pitchFamily="2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193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b="0" i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32 x 32</a:t>
                      </a:r>
                      <a:endParaRPr lang="ko-Kore-KR" altLang="en-US" sz="1600" b="0" i="0">
                        <a:latin typeface="Gmarket Sans TTF Medium" panose="02000000000000000000" pitchFamily="2" charset="-128"/>
                        <a:ea typeface="Gmarket Sans TTF Medium" panose="02000000000000000000" pitchFamily="2" charset="-128"/>
                      </a:endParaRP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i="0" dirty="0">
                          <a:solidFill>
                            <a:schemeClr val="tx1"/>
                          </a:solidFill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3,411</a:t>
                      </a:r>
                      <a:endParaRPr lang="ko-Kore-KR" altLang="en-US" sz="1600" b="0" i="0" dirty="0">
                        <a:solidFill>
                          <a:schemeClr val="tx1"/>
                        </a:solidFill>
                        <a:latin typeface="Gmarket Sans TTF Medium" panose="02000000000000000000" pitchFamily="2" charset="-128"/>
                        <a:ea typeface="Gmarket Sans TTF Medium" panose="02000000000000000000" pitchFamily="2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b="0" i="0" dirty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251321</a:t>
                      </a:r>
                      <a:endParaRPr lang="ko-Kore-KR" altLang="en-US" sz="1600" b="0" i="0" dirty="0">
                        <a:latin typeface="Gmarket Sans TTF Medium" panose="02000000000000000000" pitchFamily="2" charset="-128"/>
                        <a:ea typeface="Gmarket Sans TTF Medium" panose="02000000000000000000" pitchFamily="2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b="0" i="0" dirty="0">
                          <a:solidFill>
                            <a:schemeClr val="tx1"/>
                          </a:solidFill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24,368</a:t>
                      </a:r>
                      <a:endParaRPr lang="ko-Kore-KR" altLang="en-US" sz="1600" b="0" i="0" dirty="0">
                        <a:solidFill>
                          <a:schemeClr val="tx1"/>
                        </a:solidFill>
                        <a:latin typeface="Gmarket Sans TTF Medium" panose="02000000000000000000" pitchFamily="2" charset="-128"/>
                        <a:ea typeface="Gmarket Sans TTF Medium" panose="02000000000000000000" pitchFamily="2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i="0" dirty="0">
                          <a:solidFill>
                            <a:schemeClr val="tx1"/>
                          </a:solidFill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194,432</a:t>
                      </a:r>
                      <a:endParaRPr lang="ko-Kore-KR" altLang="en-US" sz="1600" b="0" i="0" dirty="0">
                        <a:solidFill>
                          <a:schemeClr val="tx1"/>
                        </a:solidFill>
                        <a:latin typeface="Gmarket Sans TTF Medium" panose="02000000000000000000" pitchFamily="2" charset="-128"/>
                        <a:ea typeface="Gmarket Sans TTF Medium" panose="02000000000000000000" pitchFamily="2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b="0" i="0" dirty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2,108</a:t>
                      </a:r>
                      <a:endParaRPr lang="ko-Kore-KR" altLang="en-US" sz="1600" b="0" i="0" dirty="0">
                        <a:latin typeface="Gmarket Sans TTF Medium" panose="02000000000000000000" pitchFamily="2" charset="-128"/>
                        <a:ea typeface="Gmarket Sans TTF Medium" panose="02000000000000000000" pitchFamily="2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b="0" i="0" dirty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1</a:t>
                      </a:r>
                      <a:r>
                        <a:rPr lang="en-US" altLang="ko-KR" sz="1600" b="0" i="0" dirty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,</a:t>
                      </a:r>
                      <a:r>
                        <a:rPr lang="en-US" altLang="ko-Kore-KR" sz="1600" b="0" i="0" dirty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880</a:t>
                      </a:r>
                      <a:endParaRPr lang="ko-Kore-KR" altLang="en-US" sz="1600" b="0" i="0" dirty="0">
                        <a:latin typeface="Gmarket Sans TTF Medium" panose="02000000000000000000" pitchFamily="2" charset="-128"/>
                        <a:ea typeface="Gmarket Sans TTF Medium" panose="02000000000000000000" pitchFamily="2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00057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ore-KR" sz="1600" b="0" i="0" dirty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4</a:t>
                      </a:r>
                      <a:r>
                        <a:rPr lang="en-US" altLang="ko-KR" sz="1600" b="0" i="0" dirty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8 x 48</a:t>
                      </a:r>
                      <a:endParaRPr lang="ko-Kore-KR" altLang="en-US" sz="1600" b="0" i="0" dirty="0">
                        <a:latin typeface="Gmarket Sans TTF Medium" panose="02000000000000000000" pitchFamily="2" charset="-128"/>
                        <a:ea typeface="Gmarket Sans TTF Medium" panose="02000000000000000000" pitchFamily="2" charset="-128"/>
                      </a:endParaRP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b="0" i="0" dirty="0">
                          <a:solidFill>
                            <a:schemeClr val="tx1"/>
                          </a:solidFill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7,803</a:t>
                      </a:r>
                      <a:endParaRPr lang="ko-Kore-KR" altLang="en-US" sz="1600" b="0" i="0" dirty="0">
                        <a:solidFill>
                          <a:schemeClr val="tx1"/>
                        </a:solidFill>
                        <a:latin typeface="Gmarket Sans TTF Medium" panose="02000000000000000000" pitchFamily="2" charset="-128"/>
                        <a:ea typeface="Gmarket Sans TTF Medium" panose="02000000000000000000" pitchFamily="2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600" b="0" i="0" dirty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848401</a:t>
                      </a:r>
                      <a:endParaRPr lang="ko-Kore-KR" altLang="en-US" sz="1600" b="0" i="0" dirty="0">
                        <a:latin typeface="Gmarket Sans TTF Medium" panose="02000000000000000000" pitchFamily="2" charset="-128"/>
                        <a:ea typeface="Gmarket Sans TTF Medium" panose="02000000000000000000" pitchFamily="2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b="0" i="0" dirty="0">
                          <a:solidFill>
                            <a:schemeClr val="tx1"/>
                          </a:solidFill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7</a:t>
                      </a:r>
                      <a:r>
                        <a:rPr lang="en-US" altLang="ko-KR" sz="1600" b="0" i="0" dirty="0">
                          <a:solidFill>
                            <a:schemeClr val="tx1"/>
                          </a:solidFill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9,432</a:t>
                      </a:r>
                      <a:endParaRPr lang="ko-Kore-KR" altLang="en-US" sz="1600" b="0" i="0" dirty="0">
                        <a:solidFill>
                          <a:schemeClr val="tx1"/>
                        </a:solidFill>
                        <a:latin typeface="Gmarket Sans TTF Medium" panose="02000000000000000000" pitchFamily="2" charset="-128"/>
                        <a:ea typeface="Gmarket Sans TTF Medium" panose="02000000000000000000" pitchFamily="2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i="0" dirty="0">
                          <a:solidFill>
                            <a:schemeClr val="tx1"/>
                          </a:solidFill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652,736</a:t>
                      </a:r>
                      <a:endParaRPr lang="ko-Kore-KR" altLang="en-US" sz="1600" b="0" i="0" dirty="0">
                        <a:solidFill>
                          <a:schemeClr val="tx1"/>
                        </a:solidFill>
                        <a:latin typeface="Gmarket Sans TTF Medium" panose="02000000000000000000" pitchFamily="2" charset="-128"/>
                        <a:ea typeface="Gmarket Sans TTF Medium" panose="02000000000000000000" pitchFamily="2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b="0" i="0" dirty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4,700</a:t>
                      </a:r>
                      <a:endParaRPr lang="ko-Kore-KR" altLang="en-US" sz="1600" b="0" i="0" dirty="0">
                        <a:latin typeface="Gmarket Sans TTF Medium" panose="02000000000000000000" pitchFamily="2" charset="-128"/>
                        <a:ea typeface="Gmarket Sans TTF Medium" panose="02000000000000000000" pitchFamily="2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ore-KR" sz="1600" b="0" i="0" dirty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12</a:t>
                      </a:r>
                      <a:r>
                        <a:rPr lang="en-US" altLang="ko-KR" sz="1600" b="0" i="0" dirty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,</a:t>
                      </a:r>
                      <a:r>
                        <a:rPr lang="en-US" altLang="ko-Kore-KR" sz="1600" b="0" i="0" dirty="0">
                          <a:latin typeface="Gmarket Sans TTF Medium" panose="02000000000000000000" pitchFamily="2" charset="-128"/>
                          <a:ea typeface="Gmarket Sans TTF Medium" panose="02000000000000000000" pitchFamily="2" charset="-128"/>
                        </a:rPr>
                        <a:t>260</a:t>
                      </a:r>
                      <a:endParaRPr lang="ko-Kore-KR" altLang="en-US" sz="1600" b="0" i="0" dirty="0">
                        <a:latin typeface="Gmarket Sans TTF Medium" panose="02000000000000000000" pitchFamily="2" charset="-128"/>
                        <a:ea typeface="Gmarket Sans TTF Medium" panose="02000000000000000000" pitchFamily="2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5574911"/>
                  </a:ext>
                </a:extLst>
              </a:tr>
            </a:tbl>
          </a:graphicData>
        </a:graphic>
      </p:graphicFrame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D7413804-876B-2A75-60FA-0177E935F566}"/>
              </a:ext>
            </a:extLst>
          </p:cNvPr>
          <p:cNvSpPr txBox="1">
            <a:spLocks/>
          </p:cNvSpPr>
          <p:nvPr/>
        </p:nvSpPr>
        <p:spPr>
          <a:xfrm>
            <a:off x="11017827" y="6402954"/>
            <a:ext cx="371560" cy="365125"/>
          </a:xfrm>
          <a:prstGeom prst="rect">
            <a:avLst/>
          </a:prstGeom>
        </p:spPr>
        <p:txBody>
          <a:bodyPr/>
          <a:lstStyle>
            <a:defPPr>
              <a:defRPr lang="ko-Kore-K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ko-Kore-KR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00996A72-93AF-9794-03D7-E505AB81C38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00AB9D3-EAF0-7A44-B522-0A500B1E98A1}" type="slidenum">
              <a:rPr kumimoji="1" lang="ko-Kore-KR" altLang="en-US" smtClean="0"/>
              <a:t>19</a:t>
            </a:fld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213752C8-77C5-5EFC-0C73-0109C8F344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42850528"/>
                  </p:ext>
                </p:extLst>
              </p:nvPr>
            </p:nvGraphicFramePr>
            <p:xfrm>
              <a:off x="616310" y="1953717"/>
              <a:ext cx="6597289" cy="91605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85209">
                      <a:extLst>
                        <a:ext uri="{9D8B030D-6E8A-4147-A177-3AD203B41FA5}">
                          <a16:colId xmlns:a16="http://schemas.microsoft.com/office/drawing/2014/main" val="2960314680"/>
                        </a:ext>
                      </a:extLst>
                    </a:gridCol>
                    <a:gridCol w="1645920">
                      <a:extLst>
                        <a:ext uri="{9D8B030D-6E8A-4147-A177-3AD203B41FA5}">
                          <a16:colId xmlns:a16="http://schemas.microsoft.com/office/drawing/2014/main" val="3374579767"/>
                        </a:ext>
                      </a:extLst>
                    </a:gridCol>
                    <a:gridCol w="1686560">
                      <a:extLst>
                        <a:ext uri="{9D8B030D-6E8A-4147-A177-3AD203B41FA5}">
                          <a16:colId xmlns:a16="http://schemas.microsoft.com/office/drawing/2014/main" val="3624024535"/>
                        </a:ext>
                      </a:extLst>
                    </a:gridCol>
                    <a:gridCol w="1879600">
                      <a:extLst>
                        <a:ext uri="{9D8B030D-6E8A-4147-A177-3AD203B41FA5}">
                          <a16:colId xmlns:a16="http://schemas.microsoft.com/office/drawing/2014/main" val="427051092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ore-KR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Matrix size</a:t>
                          </a:r>
                          <a:endParaRPr lang="ko-Kore-KR" altLang="en-US" sz="15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ore-KR" sz="16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Qubits</a:t>
                          </a:r>
                          <a:endParaRPr lang="ko-Kore-KR" altLang="en-US" sz="1600" b="0" i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ore-KR" sz="16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# T</a:t>
                          </a:r>
                          <a:endParaRPr lang="ko-Kore-KR" altLang="en-US" sz="16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ore-KR" sz="16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T-depth</a:t>
                          </a:r>
                          <a:endParaRPr lang="ko-Kore-KR" altLang="en-US" sz="16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2708436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en-US" sz="1600" b="0" i="1" dirty="0" smtClean="0">
                                    <a:latin typeface="Cambria Math" panose="02040503050406030204" pitchFamily="18" charset="0"/>
                                    <a:ea typeface="Gmarket Sans TTF Medium" panose="02000000000000000000" pitchFamily="2" charset="-128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ko-Kore-KR" altLang="en-US" sz="1600" b="0" i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ko-Kore-KR" altLang="en-US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Gmarket Sans TTF Medium" panose="02000000000000000000" pitchFamily="2" charset="-128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en-US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Gmarket Sans TTF Medium" panose="02000000000000000000" pitchFamily="2" charset="-128"/>
                                          </a:rPr>
                                          <m:t>7</m:t>
                                        </m:r>
                                        <m:r>
                                          <a:rPr lang="en-US" altLang="en-US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Gmarket Sans TTF Medium" panose="02000000000000000000" pitchFamily="2" charset="-128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altLang="en-US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Gmarket Sans TTF Medium" panose="02000000000000000000" pitchFamily="2" charset="-128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  <m:t>−11</m:t>
                                    </m:r>
                                    <m: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  <m:t>𝑛</m:t>
                                    </m:r>
                                    <m: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  <m:t>+6</m:t>
                                    </m:r>
                                  </m:num>
                                  <m:den>
                                    <m: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ko-Kore-KR" altLang="en-US" sz="1600" b="0" i="0" dirty="0">
                            <a:solidFill>
                              <a:schemeClr val="tx1"/>
                            </a:solidFill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  <m:t>7</m:t>
                                    </m:r>
                                    <m: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  <m:t>𝑛</m:t>
                                    </m:r>
                                    <m: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ko-Kore-KR" altLang="en-US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Gmarket Sans TTF Medium" panose="02000000000000000000" pitchFamily="2" charset="-128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en-US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Gmarket Sans TTF Medium" panose="02000000000000000000" pitchFamily="2" charset="-128"/>
                                          </a:rPr>
                                          <m:t>5</m:t>
                                        </m:r>
                                        <m:r>
                                          <a:rPr lang="en-US" altLang="en-US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Gmarket Sans TTF Medium" panose="02000000000000000000" pitchFamily="2" charset="-128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altLang="en-US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Gmarket Sans TTF Medium" panose="02000000000000000000" pitchFamily="2" charset="-128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  <m:t>+3</m:t>
                                    </m:r>
                                    <m: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  <m:t>𝑛</m:t>
                                    </m:r>
                                    <m: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  <m:t>−8)</m:t>
                                    </m:r>
                                  </m:num>
                                  <m:den>
                                    <m: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ko-Kore-KR" altLang="en-US" sz="1600" b="0" i="0" dirty="0">
                            <a:solidFill>
                              <a:schemeClr val="tx1"/>
                            </a:solidFill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ko-Kore-KR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  <m:t>2</m:t>
                                    </m:r>
                                    <m: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Gmarket Sans TTF Medium" panose="02000000000000000000" pitchFamily="2" charset="-128"/>
                                  </a:rPr>
                                  <m:t>+2</m:t>
                                </m:r>
                                <m:r>
                                  <a:rPr lang="en-US" alt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Gmarket Sans TTF Medium" panose="02000000000000000000" pitchFamily="2" charset="-128"/>
                                  </a:rPr>
                                  <m:t>𝑛</m:t>
                                </m:r>
                                <m:r>
                                  <a:rPr lang="en-US" alt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Gmarket Sans TTF Medium" panose="02000000000000000000" pitchFamily="2" charset="-128"/>
                                  </a:rPr>
                                  <m:t>−4</m:t>
                                </m:r>
                              </m:oMath>
                            </m:oMathPara>
                          </a14:m>
                          <a:endParaRPr lang="ko-Kore-KR" altLang="en-US" sz="1600" b="0" i="0" dirty="0">
                            <a:solidFill>
                              <a:schemeClr val="tx1"/>
                            </a:solidFill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1291469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213752C8-77C5-5EFC-0C73-0109C8F3442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42850528"/>
                  </p:ext>
                </p:extLst>
              </p:nvPr>
            </p:nvGraphicFramePr>
            <p:xfrm>
              <a:off x="616310" y="1953717"/>
              <a:ext cx="6597289" cy="91605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85209">
                      <a:extLst>
                        <a:ext uri="{9D8B030D-6E8A-4147-A177-3AD203B41FA5}">
                          <a16:colId xmlns:a16="http://schemas.microsoft.com/office/drawing/2014/main" val="2960314680"/>
                        </a:ext>
                      </a:extLst>
                    </a:gridCol>
                    <a:gridCol w="1645920">
                      <a:extLst>
                        <a:ext uri="{9D8B030D-6E8A-4147-A177-3AD203B41FA5}">
                          <a16:colId xmlns:a16="http://schemas.microsoft.com/office/drawing/2014/main" val="3374579767"/>
                        </a:ext>
                      </a:extLst>
                    </a:gridCol>
                    <a:gridCol w="1686560">
                      <a:extLst>
                        <a:ext uri="{9D8B030D-6E8A-4147-A177-3AD203B41FA5}">
                          <a16:colId xmlns:a16="http://schemas.microsoft.com/office/drawing/2014/main" val="3624024535"/>
                        </a:ext>
                      </a:extLst>
                    </a:gridCol>
                    <a:gridCol w="1879600">
                      <a:extLst>
                        <a:ext uri="{9D8B030D-6E8A-4147-A177-3AD203B41FA5}">
                          <a16:colId xmlns:a16="http://schemas.microsoft.com/office/drawing/2014/main" val="4270510921"/>
                        </a:ext>
                      </a:extLst>
                    </a:gridCol>
                  </a:tblGrid>
                  <a:tr h="3352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ore-KR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Matrix size</a:t>
                          </a:r>
                          <a:endParaRPr lang="ko-Kore-KR" altLang="en-US" sz="15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ore-KR" sz="16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Qubits</a:t>
                          </a:r>
                          <a:endParaRPr lang="ko-Kore-KR" altLang="en-US" sz="1600" b="0" i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ore-KR" sz="16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# T</a:t>
                          </a:r>
                          <a:endParaRPr lang="ko-Kore-KR" altLang="en-US" sz="16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ore-KR" sz="16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T-depth</a:t>
                          </a:r>
                          <a:endParaRPr lang="ko-Kore-KR" altLang="en-US" sz="16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27084367"/>
                      </a:ext>
                    </a:extLst>
                  </a:tr>
                  <a:tr h="580771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0584" marR="100584" anchor="ctr">
                        <a:blipFill>
                          <a:blip r:embed="rId2"/>
                          <a:stretch>
                            <a:fillRect t="-60870" r="-379817" b="-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3846" t="-60870" r="-218462" b="-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79699" t="-60870" r="-113534" b="-65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1351" t="-60870" r="-2027" b="-65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291469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35FD23B9-8AEA-5A07-05E1-1BADEBED2EB7}"/>
              </a:ext>
            </a:extLst>
          </p:cNvPr>
          <p:cNvSpPr txBox="1"/>
          <p:nvPr/>
        </p:nvSpPr>
        <p:spPr>
          <a:xfrm>
            <a:off x="-50298" y="6657632"/>
            <a:ext cx="443583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" altLang="ko-Kore-KR" sz="800" dirty="0"/>
              <a:t>[*] Jang et al. “Depth Optimized Quantum Circuit of Gauss-Jordan Elimination”, </a:t>
            </a:r>
            <a:r>
              <a:rPr kumimoji="1" lang="en-US" altLang="ko-Kore-KR" sz="800" dirty="0"/>
              <a:t>Applied sciences, 2024.</a:t>
            </a:r>
            <a:endParaRPr kumimoji="1" lang="ko-Kore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2731740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EA6A2-613B-F0A6-B185-3A87628B8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289B47-081E-2900-23A4-EEB24789E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920" y="223931"/>
            <a:ext cx="11368160" cy="762163"/>
          </a:xfrm>
        </p:spPr>
        <p:txBody>
          <a:bodyPr>
            <a:normAutofit/>
          </a:bodyPr>
          <a:lstStyle/>
          <a:p>
            <a:r>
              <a:rPr lang="en-US" altLang="ko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Oracle</a:t>
            </a:r>
            <a:r>
              <a:rPr lang="en-US" altLang="ko-KR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: </a:t>
            </a:r>
            <a:r>
              <a:rPr lang="ko-KR" altLang="en-US" sz="32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해밍</a:t>
            </a:r>
            <a:r>
              <a:rPr lang="ko-KR" altLang="en-US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무게 확인</a:t>
            </a:r>
            <a:endParaRPr kumimoji="1" lang="ko-KR" altLang="en-US" sz="3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16D10F80-589B-5DCF-0838-D9918981809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220958" y="1287458"/>
                <a:ext cx="11369675" cy="5603875"/>
              </a:xfrm>
            </p:spPr>
            <p:txBody>
              <a:bodyPr/>
              <a:lstStyle/>
              <a:p>
                <a:r>
                  <a:rPr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마지막으로 </a:t>
                </a:r>
                <a:r>
                  <a:rPr lang="en-US" altLang="ko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Gauss-Jordan</a:t>
                </a:r>
                <a:r>
                  <a:rPr lang="ko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소거</a:t>
                </a:r>
                <a:r>
                  <a:rPr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후 결과인</a:t>
                </a:r>
                <a:r>
                  <a:rPr lang="ko" altLang="en-US" sz="22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ko-Kore-KR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kumimoji="1" lang="en-US" altLang="ko-Kore-KR" sz="2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ko-Kore-KR" sz="22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kumimoji="1" lang="en-US" altLang="ko-Kore-KR" sz="2200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kumimoji="1" lang="en-US" altLang="ko-Kore-KR" sz="22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ko-Kore-KR" sz="2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ko-Kore-KR" sz="2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kumimoji="1" lang="en-US" altLang="ko-Kore-KR" sz="22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kumimoji="1" lang="en-US" altLang="ko-Kore-KR" sz="22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kumimoji="1" lang="en-US" altLang="ko-Kore-KR" sz="22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kumimoji="1" lang="en-US" altLang="ko-Kore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값의 </a:t>
                </a:r>
                <a:r>
                  <a:rPr kumimoji="1" lang="en-US" altLang="ko-Kore-KR" sz="2200" b="1" dirty="0" err="1">
                    <a:latin typeface="Gmarket Sans TTF Bold" panose="02000000000000000000" pitchFamily="2" charset="-128"/>
                    <a:ea typeface="Gmarket Sans TTF Bold" panose="02000000000000000000" pitchFamily="2" charset="-128"/>
                  </a:rPr>
                  <a:t>해밍</a:t>
                </a:r>
                <a:r>
                  <a:rPr kumimoji="1" lang="en-US" altLang="ko-Kore-KR" sz="2200" b="1" dirty="0">
                    <a:latin typeface="Gmarket Sans TTF Bold" panose="02000000000000000000" pitchFamily="2" charset="-128"/>
                    <a:ea typeface="Gmarket Sans TTF Bold" panose="02000000000000000000" pitchFamily="2" charset="-128"/>
                  </a:rPr>
                  <a:t> </a:t>
                </a:r>
                <a:r>
                  <a:rPr kumimoji="1" lang="en-US" altLang="ko-Kore-KR" sz="2200" b="1" dirty="0" err="1">
                    <a:latin typeface="Gmarket Sans TTF Bold" panose="02000000000000000000" pitchFamily="2" charset="-128"/>
                    <a:ea typeface="Gmarket Sans TTF Bold" panose="02000000000000000000" pitchFamily="2" charset="-128"/>
                  </a:rPr>
                  <a:t>무게</a:t>
                </a:r>
                <a:r>
                  <a:rPr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가                        특정 무게 조건 </a:t>
                </a:r>
                <a14:m>
                  <m:oMath xmlns:m="http://schemas.openxmlformats.org/officeDocument/2006/math">
                    <m:r>
                      <a:rPr lang="en-US" altLang="ko-KR" sz="2200" b="0" i="1" smtClean="0">
                        <a:latin typeface="Cambria Math" panose="02040503050406030204" pitchFamily="18" charset="0"/>
                        <a:ea typeface="Gmarket Sans TTF Medium" panose="02000000000000000000" pitchFamily="2" charset="-128"/>
                      </a:rPr>
                      <m:t>𝑡</m:t>
                    </m:r>
                  </m:oMath>
                </a14:m>
                <a:r>
                  <a:rPr lang="ko-KR" altLang="en-US" sz="2200" dirty="0" err="1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를</a:t>
                </a:r>
                <a:r>
                  <a:rPr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만족하는지 확인</a:t>
                </a:r>
                <a:endParaRPr kumimoji="1" lang="en-US" altLang="ko-KR" sz="18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lvl="1"/>
                <a:endParaRPr kumimoji="1" lang="en-US" altLang="ko-KR" sz="18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lvl="1"/>
                <a:endParaRPr kumimoji="1" lang="en-US" altLang="ko-KR" sz="18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lvl="1"/>
                <a:endParaRPr kumimoji="1" lang="en-US" altLang="ko-KR" sz="18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lvl="1"/>
                <a:endParaRPr kumimoji="1" lang="en-US" altLang="ko-KR" sz="18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lvl="1"/>
                <a:endParaRPr kumimoji="1" lang="en-US" altLang="ko-KR" sz="18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lvl="1"/>
                <a:endParaRPr kumimoji="1" lang="en-US" altLang="ko-KR" sz="18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lvl="1"/>
                <a:endParaRPr kumimoji="1" lang="en-US" altLang="ko-KR" sz="18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lvl="1"/>
                <a:endParaRPr kumimoji="1" lang="en-US" altLang="ko-KR" sz="18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lvl="1"/>
                <a:endParaRPr kumimoji="1" lang="en-US" altLang="ko-KR" sz="18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16D10F80-589B-5DCF-0838-D991898180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20958" y="1287458"/>
                <a:ext cx="11369675" cy="5603875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위쪽 화살표[U] 6">
            <a:extLst>
              <a:ext uri="{FF2B5EF4-FFF2-40B4-BE49-F238E27FC236}">
                <a16:creationId xmlns:a16="http://schemas.microsoft.com/office/drawing/2014/main" id="{0FE5CF70-7FD7-4203-5CBC-44553AF95143}"/>
              </a:ext>
            </a:extLst>
          </p:cNvPr>
          <p:cNvSpPr/>
          <p:nvPr/>
        </p:nvSpPr>
        <p:spPr>
          <a:xfrm rot="5400000">
            <a:off x="5217224" y="3760478"/>
            <a:ext cx="161273" cy="638859"/>
          </a:xfrm>
          <a:prstGeom prst="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2CA700-EA2A-65B0-19C3-F56DB2DFB581}"/>
              </a:ext>
            </a:extLst>
          </p:cNvPr>
          <p:cNvSpPr txBox="1"/>
          <p:nvPr/>
        </p:nvSpPr>
        <p:spPr>
          <a:xfrm>
            <a:off x="4432879" y="4255339"/>
            <a:ext cx="172996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ore-KR" sz="15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Gauss-Jordan</a:t>
            </a:r>
          </a:p>
          <a:p>
            <a:pPr algn="ctr"/>
            <a:r>
              <a:rPr kumimoji="1" lang="en-US" altLang="ko-Kore-KR" sz="15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소거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0806CAF-2D20-4EE4-88FE-B2176CA6EA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920" y="2576778"/>
            <a:ext cx="3988470" cy="25737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9F43763-3A97-750F-5797-973DF746648E}"/>
                  </a:ext>
                </a:extLst>
              </p:cNvPr>
              <p:cNvSpPr txBox="1"/>
              <p:nvPr/>
            </p:nvSpPr>
            <p:spPr>
              <a:xfrm>
                <a:off x="8110389" y="3927265"/>
                <a:ext cx="446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itchFamily="2" charset="2"/>
                        </a:rPr>
                        <m:t>×</m:t>
                      </m:r>
                    </m:oMath>
                  </m:oMathPara>
                </a14:m>
                <a:endParaRPr lang="ko-Kore-KR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9F43763-3A97-750F-5797-973DF74664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0389" y="3927265"/>
                <a:ext cx="44605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양쪽 대괄호 10">
            <a:extLst>
              <a:ext uri="{FF2B5EF4-FFF2-40B4-BE49-F238E27FC236}">
                <a16:creationId xmlns:a16="http://schemas.microsoft.com/office/drawing/2014/main" id="{76418AA6-02D2-447E-C4A8-88DA117794B2}"/>
              </a:ext>
            </a:extLst>
          </p:cNvPr>
          <p:cNvSpPr/>
          <p:nvPr/>
        </p:nvSpPr>
        <p:spPr>
          <a:xfrm>
            <a:off x="8633618" y="2582944"/>
            <a:ext cx="446050" cy="3154028"/>
          </a:xfrm>
          <a:prstGeom prst="bracketPair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540DF44-F0D9-056F-AD10-3AF449246E13}"/>
                  </a:ext>
                </a:extLst>
              </p:cNvPr>
              <p:cNvSpPr txBox="1"/>
              <p:nvPr/>
            </p:nvSpPr>
            <p:spPr>
              <a:xfrm>
                <a:off x="5593512" y="3859625"/>
                <a:ext cx="6556916" cy="477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ko-Kore-KR" altLang="en-US" sz="25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540DF44-F0D9-056F-AD10-3AF449246E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3512" y="3859625"/>
                <a:ext cx="6556916" cy="4770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FB629ED-078C-663B-CCB5-C2C291A769C3}"/>
                  </a:ext>
                </a:extLst>
              </p:cNvPr>
              <p:cNvSpPr txBox="1"/>
              <p:nvPr/>
            </p:nvSpPr>
            <p:spPr>
              <a:xfrm>
                <a:off x="9109812" y="3842297"/>
                <a:ext cx="495649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ore-KR" sz="25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ko-Kore-KR" altLang="en-US" sz="250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FB629ED-078C-663B-CCB5-C2C291A769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9812" y="3842297"/>
                <a:ext cx="495649" cy="4770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양쪽 대괄호 13">
            <a:extLst>
              <a:ext uri="{FF2B5EF4-FFF2-40B4-BE49-F238E27FC236}">
                <a16:creationId xmlns:a16="http://schemas.microsoft.com/office/drawing/2014/main" id="{DC3E9FB9-1CF0-BB1E-0ABD-393DE53B01BF}"/>
              </a:ext>
            </a:extLst>
          </p:cNvPr>
          <p:cNvSpPr/>
          <p:nvPr/>
        </p:nvSpPr>
        <p:spPr>
          <a:xfrm>
            <a:off x="9694787" y="3944934"/>
            <a:ext cx="2335724" cy="311699"/>
          </a:xfrm>
          <a:prstGeom prst="bracketPair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C33C1BC3-5EB4-3673-610C-7236AEDD6878}"/>
              </a:ext>
            </a:extLst>
          </p:cNvPr>
          <p:cNvSpPr/>
          <p:nvPr/>
        </p:nvSpPr>
        <p:spPr>
          <a:xfrm>
            <a:off x="6206790" y="3385793"/>
            <a:ext cx="1732733" cy="1340095"/>
          </a:xfrm>
          <a:prstGeom prst="roundRect">
            <a:avLst/>
          </a:prstGeom>
          <a:noFill/>
          <a:ln w="3175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80323A-63F1-705B-D547-98643D971DED}"/>
              </a:ext>
            </a:extLst>
          </p:cNvPr>
          <p:cNvSpPr txBox="1"/>
          <p:nvPr/>
        </p:nvSpPr>
        <p:spPr>
          <a:xfrm>
            <a:off x="5357545" y="4847855"/>
            <a:ext cx="34588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Information set</a:t>
            </a:r>
            <a:r>
              <a:rPr kumimoji="1" lang="ko-KR" altLang="en-US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endParaRPr kumimoji="1" lang="en-US" altLang="ko-KR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algn="ctr"/>
            <a:r>
              <a:rPr kumimoji="1" lang="ko-KR" altLang="en-US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역행렬</a:t>
            </a:r>
            <a:endParaRPr kumimoji="1" lang="ko-Kore-KR" altLang="en-US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4A4EC44-917D-0A7A-94D3-051B8E98E349}"/>
                  </a:ext>
                </a:extLst>
              </p:cNvPr>
              <p:cNvSpPr txBox="1"/>
              <p:nvPr/>
            </p:nvSpPr>
            <p:spPr>
              <a:xfrm>
                <a:off x="7748930" y="3115278"/>
                <a:ext cx="5677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ore-KR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kumimoji="1" lang="ko-Kore-KR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4A4EC44-917D-0A7A-94D3-051B8E98E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8930" y="3115278"/>
                <a:ext cx="56778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3CB594C6-B26A-7B48-6549-D27D6E1A854F}"/>
              </a:ext>
            </a:extLst>
          </p:cNvPr>
          <p:cNvSpPr txBox="1"/>
          <p:nvPr/>
        </p:nvSpPr>
        <p:spPr>
          <a:xfrm>
            <a:off x="10416732" y="4769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ore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F81A9E-E671-BFCF-4996-E797335466B7}"/>
              </a:ext>
            </a:extLst>
          </p:cNvPr>
          <p:cNvSpPr txBox="1"/>
          <p:nvPr/>
        </p:nvSpPr>
        <p:spPr>
          <a:xfrm>
            <a:off x="9747229" y="3938292"/>
            <a:ext cx="2612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Weight check</a:t>
            </a:r>
            <a:r>
              <a:rPr kumimoji="1" lang="ko-KR" altLang="en-US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kumimoji="1" lang="en-US" altLang="ko-KR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=?</a:t>
            </a:r>
            <a:endParaRPr kumimoji="1" lang="ko-Kore-KR" altLang="en-US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E29EE4-D902-2BCC-E164-DAD21E33EF21}"/>
              </a:ext>
            </a:extLst>
          </p:cNvPr>
          <p:cNvSpPr txBox="1"/>
          <p:nvPr/>
        </p:nvSpPr>
        <p:spPr>
          <a:xfrm>
            <a:off x="9895306" y="4369067"/>
            <a:ext cx="1770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0 0 1 1 0 0 0 0</a:t>
            </a:r>
            <a:endParaRPr kumimoji="1" lang="ko-KR" altLang="en-US" dirty="0"/>
          </a:p>
        </p:txBody>
      </p:sp>
      <p:sp>
        <p:nvSpPr>
          <p:cNvPr id="22" name="위쪽 화살표[U] 21">
            <a:extLst>
              <a:ext uri="{FF2B5EF4-FFF2-40B4-BE49-F238E27FC236}">
                <a16:creationId xmlns:a16="http://schemas.microsoft.com/office/drawing/2014/main" id="{7C4282C0-9C1A-EC15-CD29-2C52A252C789}"/>
              </a:ext>
            </a:extLst>
          </p:cNvPr>
          <p:cNvSpPr/>
          <p:nvPr/>
        </p:nvSpPr>
        <p:spPr>
          <a:xfrm>
            <a:off x="10728623" y="4799842"/>
            <a:ext cx="255203" cy="305723"/>
          </a:xfrm>
          <a:prstGeom prst="up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슬라이드 번호 개체 틀 10">
            <a:extLst>
              <a:ext uri="{FF2B5EF4-FFF2-40B4-BE49-F238E27FC236}">
                <a16:creationId xmlns:a16="http://schemas.microsoft.com/office/drawing/2014/main" id="{8A980F0B-EC71-6E5A-E2AF-390FB3D1B2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8852B28-D290-2A4B-A90A-47EAEF72A8E4}" type="slidenum">
              <a:rPr kumimoji="1" lang="ko-Kore-KR" altLang="en-US" smtClean="0"/>
              <a:t>20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834918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>
          <a:extLst>
            <a:ext uri="{FF2B5EF4-FFF2-40B4-BE49-F238E27FC236}">
              <a16:creationId xmlns:a16="http://schemas.microsoft.com/office/drawing/2014/main" id="{ED8818D1-C8B0-85DF-62F5-F6305318E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1">
            <a:extLst>
              <a:ext uri="{FF2B5EF4-FFF2-40B4-BE49-F238E27FC236}">
                <a16:creationId xmlns:a16="http://schemas.microsoft.com/office/drawing/2014/main" id="{0DB5CB1C-02A8-7EB1-0768-8BA5096C15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1920" y="207747"/>
            <a:ext cx="11368200" cy="7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altLang="ko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Oracle: </a:t>
            </a:r>
            <a:r>
              <a:rPr lang="ko" altLang="en-US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해밍 무게 확인</a:t>
            </a:r>
            <a:endParaRPr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4" name="Google Shape;214;p31">
                <a:extLst>
                  <a:ext uri="{FF2B5EF4-FFF2-40B4-BE49-F238E27FC236}">
                    <a16:creationId xmlns:a16="http://schemas.microsoft.com/office/drawing/2014/main" id="{5AE0DAA2-CC46-DD41-EF75-3B3104C62FA9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-16545" y="1239254"/>
                <a:ext cx="12809999" cy="384441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685800" lvl="1" indent="-266700">
                  <a:lnSpc>
                    <a:spcPct val="100000"/>
                  </a:lnSpc>
                  <a:spcBef>
                    <a:spcPts val="0"/>
                  </a:spcBef>
                  <a:buSzPts val="2400"/>
                </a:pPr>
                <a:endParaRPr lang="en-US" altLang="ko" sz="1000" dirty="0"/>
              </a:p>
              <a:p>
                <a:pPr marL="685800" lvl="1" indent="-266700">
                  <a:lnSpc>
                    <a:spcPct val="100000"/>
                  </a:lnSpc>
                  <a:spcBef>
                    <a:spcPts val="0"/>
                  </a:spcBef>
                  <a:buSzPts val="2400"/>
                </a:pPr>
                <a:r>
                  <a:rPr lang="ko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해밍 무게 확인에는</a:t>
                </a:r>
                <a:r>
                  <a:rPr lang="ko" altLang="en-US" sz="2200" b="1" dirty="0">
                    <a:latin typeface="Gmarket Sans TTF Bold" panose="02000000000000000000" pitchFamily="2" charset="-128"/>
                    <a:ea typeface="Gmarket Sans TTF Bold" panose="02000000000000000000" pitchFamily="2" charset="-128"/>
                  </a:rPr>
                  <a:t> 양자</a:t>
                </a:r>
                <a:r>
                  <a:rPr lang="ko-KR" altLang="en-US" sz="2200" b="1" dirty="0">
                    <a:latin typeface="Gmarket Sans TTF Bold" panose="02000000000000000000" pitchFamily="2" charset="-128"/>
                    <a:ea typeface="Gmarket Sans TTF Bold" panose="02000000000000000000" pitchFamily="2" charset="-128"/>
                  </a:rPr>
                  <a:t> </a:t>
                </a:r>
                <a:r>
                  <a:rPr lang="ko" altLang="en-US" sz="2200" b="1" dirty="0">
                    <a:latin typeface="Gmarket Sans TTF Bold" panose="02000000000000000000" pitchFamily="2" charset="-128"/>
                    <a:ea typeface="Gmarket Sans TTF Bold" panose="02000000000000000000" pitchFamily="2" charset="-128"/>
                  </a:rPr>
                  <a:t>덧셈</a:t>
                </a:r>
                <a:r>
                  <a:rPr lang="ko-KR" altLang="en-US" sz="2200" b="1" dirty="0">
                    <a:latin typeface="Gmarket Sans TTF Bold" panose="02000000000000000000" pitchFamily="2" charset="-128"/>
                    <a:ea typeface="Gmarket Sans TTF Bold" panose="02000000000000000000" pitchFamily="2" charset="-128"/>
                  </a:rPr>
                  <a:t>기가 트리 형식으로 사용 됨</a:t>
                </a:r>
                <a:r>
                  <a:rPr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, </a:t>
                </a:r>
                <a:r>
                  <a:rPr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길이 </a:t>
                </a:r>
                <a14:m>
                  <m:oMath xmlns:m="http://schemas.openxmlformats.org/officeDocument/2006/math">
                    <m:r>
                      <a:rPr lang="en-US" altLang="ko-KR" sz="2200" i="1" dirty="0" smtClean="0">
                        <a:latin typeface="Cambria Math" panose="02040503050406030204" pitchFamily="18" charset="0"/>
                        <a:ea typeface="Gmarket Sans TTF Medium" panose="02000000000000000000" pitchFamily="2" charset="-128"/>
                      </a:rPr>
                      <m:t>𝑛</m:t>
                    </m:r>
                  </m:oMath>
                </a14:m>
                <a:r>
                  <a:rPr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-qubit</a:t>
                </a:r>
                <a:r>
                  <a:rPr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인 벡터에 대해</a:t>
                </a:r>
                <a:endParaRPr lang="en-US" altLang="ko-KR" sz="22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marL="1143000" lvl="2" indent="-266700">
                  <a:lnSpc>
                    <a:spcPct val="100000"/>
                  </a:lnSpc>
                  <a:spcBef>
                    <a:spcPts val="0"/>
                  </a:spcBef>
                  <a:buSzPts val="2400"/>
                </a:pPr>
                <a14:m>
                  <m:oMath xmlns:m="http://schemas.openxmlformats.org/officeDocument/2006/math">
                    <m:r>
                      <a:rPr lang="en-US" altLang="ko-KR" sz="2200" i="1" dirty="0" smtClean="0">
                        <a:latin typeface="Cambria Math" panose="02040503050406030204" pitchFamily="18" charset="0"/>
                        <a:ea typeface="Gmarket Sans TTF Medium" panose="02000000000000000000" pitchFamily="2" charset="-128"/>
                      </a:rPr>
                      <m:t>(</m:t>
                    </m:r>
                    <m:r>
                      <a:rPr lang="en-US" altLang="ko-KR" sz="2200" i="1" dirty="0" smtClean="0">
                        <a:latin typeface="Cambria Math" panose="02040503050406030204" pitchFamily="18" charset="0"/>
                        <a:ea typeface="Gmarket Sans TTF Medium" panose="02000000000000000000" pitchFamily="2" charset="-128"/>
                      </a:rPr>
                      <m:t>𝑛</m:t>
                    </m:r>
                    <m:r>
                      <a:rPr lang="en-US" altLang="ko-KR" sz="2200" i="1" dirty="0" smtClean="0">
                        <a:latin typeface="Cambria Math" panose="02040503050406030204" pitchFamily="18" charset="0"/>
                        <a:ea typeface="Gmarket Sans TTF Medium" panose="02000000000000000000" pitchFamily="2" charset="-128"/>
                      </a:rPr>
                      <m:t>−1)</m:t>
                    </m:r>
                  </m:oMath>
                </a14:m>
                <a:r>
                  <a:rPr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</a:t>
                </a:r>
                <a:r>
                  <a:rPr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번의 양자 덧셈</a:t>
                </a:r>
                <a:endParaRPr lang="en-US" altLang="ko-KR" sz="22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marL="1143000" lvl="2" indent="-266700">
                  <a:lnSpc>
                    <a:spcPct val="100000"/>
                  </a:lnSpc>
                  <a:spcBef>
                    <a:spcPts val="0"/>
                  </a:spcBef>
                  <a:buSzPts val="2400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200" i="1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200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</a:rPr>
                          <m:t>log</m:t>
                        </m:r>
                      </m:e>
                      <m:sub>
                        <m:r>
                          <a:rPr lang="en-US" altLang="ko-KR" sz="2200" i="1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</a:rPr>
                          <m:t>2</m:t>
                        </m:r>
                      </m:sub>
                    </m:sSub>
                    <m:r>
                      <a:rPr lang="en-US" altLang="ko-KR" sz="2200" i="1">
                        <a:latin typeface="Cambria Math" panose="02040503050406030204" pitchFamily="18" charset="0"/>
                        <a:ea typeface="Gmarket Sans TTF Medium" panose="02000000000000000000" pitchFamily="2" charset="-128"/>
                      </a:rPr>
                      <m:t>(</m:t>
                    </m:r>
                    <m:r>
                      <a:rPr lang="en-US" altLang="ko-KR" sz="2200" i="1">
                        <a:latin typeface="Cambria Math" panose="02040503050406030204" pitchFamily="18" charset="0"/>
                        <a:ea typeface="Gmarket Sans TTF Medium" panose="02000000000000000000" pitchFamily="2" charset="-128"/>
                      </a:rPr>
                      <m:t>𝑛</m:t>
                    </m:r>
                    <m:r>
                      <a:rPr lang="en-US" altLang="ko-KR" sz="2200" i="1">
                        <a:latin typeface="Cambria Math" panose="02040503050406030204" pitchFamily="18" charset="0"/>
                        <a:ea typeface="Gmarket Sans TTF Medium" panose="02000000000000000000" pitchFamily="2" charset="-128"/>
                      </a:rPr>
                      <m:t>)</m:t>
                    </m:r>
                  </m:oMath>
                </a14:m>
                <a:r>
                  <a:rPr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의 레이어</a:t>
                </a:r>
                <a:r>
                  <a:rPr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</a:t>
                </a:r>
                <a:r>
                  <a:rPr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뎁스</a:t>
                </a:r>
                <a:endParaRPr lang="en-US" altLang="ko-KR" sz="22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marL="1143000" lvl="2" indent="-266700">
                  <a:lnSpc>
                    <a:spcPct val="100000"/>
                  </a:lnSpc>
                  <a:spcBef>
                    <a:spcPts val="0"/>
                  </a:spcBef>
                  <a:buSzPts val="2400"/>
                </a:pPr>
                <a:endParaRPr lang="en-US" altLang="ko-KR" sz="22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marL="1143000" lvl="2" indent="-266700">
                  <a:lnSpc>
                    <a:spcPct val="100000"/>
                  </a:lnSpc>
                  <a:spcBef>
                    <a:spcPts val="0"/>
                  </a:spcBef>
                  <a:buSzPts val="2400"/>
                </a:pPr>
                <a:endParaRPr lang="en-US" altLang="ko-KR" sz="22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marL="1143000" lvl="2" indent="-266700">
                  <a:lnSpc>
                    <a:spcPct val="100000"/>
                  </a:lnSpc>
                  <a:spcBef>
                    <a:spcPts val="0"/>
                  </a:spcBef>
                  <a:buSzPts val="2400"/>
                </a:pPr>
                <a:endParaRPr lang="en-US" altLang="ko-KR" sz="22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marL="1143000" lvl="2" indent="-266700">
                  <a:lnSpc>
                    <a:spcPct val="100000"/>
                  </a:lnSpc>
                  <a:spcBef>
                    <a:spcPts val="0"/>
                  </a:spcBef>
                  <a:buSzPts val="2400"/>
                </a:pPr>
                <a:endParaRPr lang="en-US" altLang="ko-KR" sz="22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marL="1143000" lvl="2" indent="-266700">
                  <a:lnSpc>
                    <a:spcPct val="100000"/>
                  </a:lnSpc>
                  <a:spcBef>
                    <a:spcPts val="0"/>
                  </a:spcBef>
                  <a:buSzPts val="2400"/>
                </a:pPr>
                <a:endParaRPr lang="en-US" altLang="ko-KR" sz="22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marL="1143000" lvl="2" indent="-266700">
                  <a:lnSpc>
                    <a:spcPct val="100000"/>
                  </a:lnSpc>
                  <a:spcBef>
                    <a:spcPts val="0"/>
                  </a:spcBef>
                  <a:buSzPts val="2400"/>
                </a:pPr>
                <a:endParaRPr lang="en-US" altLang="ko-KR" sz="22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marL="1143000" lvl="2" indent="-266700">
                  <a:lnSpc>
                    <a:spcPct val="100000"/>
                  </a:lnSpc>
                  <a:spcBef>
                    <a:spcPts val="0"/>
                  </a:spcBef>
                  <a:buSzPts val="2400"/>
                </a:pPr>
                <a:endParaRPr lang="en-US" altLang="ko-KR" sz="22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marL="1143000" lvl="2" indent="-266700">
                  <a:lnSpc>
                    <a:spcPct val="100000"/>
                  </a:lnSpc>
                  <a:spcBef>
                    <a:spcPts val="0"/>
                  </a:spcBef>
                  <a:buSzPts val="2400"/>
                </a:pPr>
                <a:endParaRPr lang="en-US" altLang="ko-KR" sz="22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</p:txBody>
          </p:sp>
        </mc:Choice>
        <mc:Fallback xmlns="">
          <p:sp>
            <p:nvSpPr>
              <p:cNvPr id="214" name="Google Shape;214;p31">
                <a:extLst>
                  <a:ext uri="{FF2B5EF4-FFF2-40B4-BE49-F238E27FC236}">
                    <a16:creationId xmlns:a16="http://schemas.microsoft.com/office/drawing/2014/main" id="{5AE0DAA2-CC46-DD41-EF75-3B3104C62FA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-16545" y="1239254"/>
                <a:ext cx="12809999" cy="384441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양쪽 대괄호 20">
            <a:extLst>
              <a:ext uri="{FF2B5EF4-FFF2-40B4-BE49-F238E27FC236}">
                <a16:creationId xmlns:a16="http://schemas.microsoft.com/office/drawing/2014/main" id="{F7951E37-A575-7627-A5CF-28A29F621C4C}"/>
              </a:ext>
            </a:extLst>
          </p:cNvPr>
          <p:cNvSpPr/>
          <p:nvPr/>
        </p:nvSpPr>
        <p:spPr>
          <a:xfrm>
            <a:off x="3334705" y="2790547"/>
            <a:ext cx="2502589" cy="311699"/>
          </a:xfrm>
          <a:prstGeom prst="bracketPair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B62E3F8-2B3D-19B5-DE61-F6BE9373A61A}"/>
                  </a:ext>
                </a:extLst>
              </p:cNvPr>
              <p:cNvSpPr txBox="1"/>
              <p:nvPr/>
            </p:nvSpPr>
            <p:spPr>
              <a:xfrm>
                <a:off x="2421915" y="2695523"/>
                <a:ext cx="997897" cy="477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ko-Kore-KR" altLang="en-US" sz="25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B62E3F8-2B3D-19B5-DE61-F6BE9373A6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1915" y="2695523"/>
                <a:ext cx="997897" cy="4770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3B3A7896-FD1B-6803-C36C-784CF80A789E}"/>
              </a:ext>
            </a:extLst>
          </p:cNvPr>
          <p:cNvSpPr txBox="1"/>
          <p:nvPr/>
        </p:nvSpPr>
        <p:spPr>
          <a:xfrm>
            <a:off x="3377473" y="2743713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2000" dirty="0"/>
              <a:t>1   1   1   0   1   1   </a:t>
            </a:r>
            <a:r>
              <a:rPr kumimoji="1" lang="en-US" altLang="ko-KR" sz="2000" dirty="0"/>
              <a:t>1</a:t>
            </a:r>
            <a:r>
              <a:rPr kumimoji="1" lang="en-US" altLang="ko-Kore-KR" sz="2000" dirty="0"/>
              <a:t>   1</a:t>
            </a:r>
            <a:endParaRPr kumimoji="1" lang="ko-Kore-KR" altLang="en-US" sz="2000" dirty="0"/>
          </a:p>
        </p:txBody>
      </p:sp>
      <p:sp>
        <p:nvSpPr>
          <p:cNvPr id="6" name="오른쪽 대괄호[R] 5">
            <a:extLst>
              <a:ext uri="{FF2B5EF4-FFF2-40B4-BE49-F238E27FC236}">
                <a16:creationId xmlns:a16="http://schemas.microsoft.com/office/drawing/2014/main" id="{7CECF667-D767-5E3B-B616-1EE2013407C5}"/>
              </a:ext>
            </a:extLst>
          </p:cNvPr>
          <p:cNvSpPr/>
          <p:nvPr/>
        </p:nvSpPr>
        <p:spPr>
          <a:xfrm rot="5400000">
            <a:off x="3561912" y="3018743"/>
            <a:ext cx="192139" cy="357051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 sz="2000"/>
          </a:p>
        </p:txBody>
      </p:sp>
      <p:sp>
        <p:nvSpPr>
          <p:cNvPr id="10" name="오른쪽 대괄호[R] 9">
            <a:extLst>
              <a:ext uri="{FF2B5EF4-FFF2-40B4-BE49-F238E27FC236}">
                <a16:creationId xmlns:a16="http://schemas.microsoft.com/office/drawing/2014/main" id="{02FC9379-F5D4-1758-1A4B-3E24DCB5C37C}"/>
              </a:ext>
            </a:extLst>
          </p:cNvPr>
          <p:cNvSpPr/>
          <p:nvPr/>
        </p:nvSpPr>
        <p:spPr>
          <a:xfrm rot="5400000">
            <a:off x="4193283" y="3025942"/>
            <a:ext cx="192139" cy="357051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 sz="2000"/>
          </a:p>
        </p:txBody>
      </p:sp>
      <p:sp>
        <p:nvSpPr>
          <p:cNvPr id="11" name="오른쪽 대괄호[R] 10">
            <a:extLst>
              <a:ext uri="{FF2B5EF4-FFF2-40B4-BE49-F238E27FC236}">
                <a16:creationId xmlns:a16="http://schemas.microsoft.com/office/drawing/2014/main" id="{C265668A-32DD-8699-74F5-E1B54D97BBE5}"/>
              </a:ext>
            </a:extLst>
          </p:cNvPr>
          <p:cNvSpPr/>
          <p:nvPr/>
        </p:nvSpPr>
        <p:spPr>
          <a:xfrm rot="5400000">
            <a:off x="4772405" y="3027250"/>
            <a:ext cx="192139" cy="357051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 sz="2000"/>
          </a:p>
        </p:txBody>
      </p:sp>
      <p:sp>
        <p:nvSpPr>
          <p:cNvPr id="13" name="오른쪽 대괄호[R] 12">
            <a:extLst>
              <a:ext uri="{FF2B5EF4-FFF2-40B4-BE49-F238E27FC236}">
                <a16:creationId xmlns:a16="http://schemas.microsoft.com/office/drawing/2014/main" id="{A43818DE-E671-C14C-F9A7-4A342B521099}"/>
              </a:ext>
            </a:extLst>
          </p:cNvPr>
          <p:cNvSpPr/>
          <p:nvPr/>
        </p:nvSpPr>
        <p:spPr>
          <a:xfrm rot="5400000">
            <a:off x="5388524" y="3033402"/>
            <a:ext cx="192139" cy="357051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 sz="2000"/>
          </a:p>
        </p:txBody>
      </p:sp>
      <p:sp>
        <p:nvSpPr>
          <p:cNvPr id="15" name="오른쪽 대괄호[R] 14">
            <a:extLst>
              <a:ext uri="{FF2B5EF4-FFF2-40B4-BE49-F238E27FC236}">
                <a16:creationId xmlns:a16="http://schemas.microsoft.com/office/drawing/2014/main" id="{E843CD89-9C27-154C-53F4-B28449AC925E}"/>
              </a:ext>
            </a:extLst>
          </p:cNvPr>
          <p:cNvSpPr/>
          <p:nvPr/>
        </p:nvSpPr>
        <p:spPr>
          <a:xfrm rot="5400000">
            <a:off x="3932031" y="3383348"/>
            <a:ext cx="192139" cy="632539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 sz="2000"/>
          </a:p>
        </p:txBody>
      </p:sp>
      <p:sp>
        <p:nvSpPr>
          <p:cNvPr id="16" name="오른쪽 대괄호[R] 15">
            <a:extLst>
              <a:ext uri="{FF2B5EF4-FFF2-40B4-BE49-F238E27FC236}">
                <a16:creationId xmlns:a16="http://schemas.microsoft.com/office/drawing/2014/main" id="{5D404C25-09E0-E545-960B-405A61F5600C}"/>
              </a:ext>
            </a:extLst>
          </p:cNvPr>
          <p:cNvSpPr/>
          <p:nvPr/>
        </p:nvSpPr>
        <p:spPr>
          <a:xfrm rot="5400000">
            <a:off x="5097382" y="3375638"/>
            <a:ext cx="192139" cy="632539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 sz="20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B1B3D9-874E-0DC3-4B87-660E863B3ADC}"/>
              </a:ext>
            </a:extLst>
          </p:cNvPr>
          <p:cNvSpPr txBox="1"/>
          <p:nvPr/>
        </p:nvSpPr>
        <p:spPr>
          <a:xfrm>
            <a:off x="3460612" y="3257946"/>
            <a:ext cx="444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000" dirty="0"/>
              <a:t>10</a:t>
            </a:r>
            <a:endParaRPr kumimoji="1" lang="ko-Kore-KR" altLang="en-US" sz="2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2D1749E-B989-4C5E-5FFB-2C324CF70714}"/>
              </a:ext>
            </a:extLst>
          </p:cNvPr>
          <p:cNvSpPr txBox="1"/>
          <p:nvPr/>
        </p:nvSpPr>
        <p:spPr>
          <a:xfrm>
            <a:off x="4096551" y="3257946"/>
            <a:ext cx="444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000" dirty="0"/>
              <a:t>01</a:t>
            </a:r>
            <a:endParaRPr kumimoji="1" lang="ko-Kore-KR" altLang="en-US" sz="20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C780A93-8702-AB15-207E-C427C4AFE860}"/>
              </a:ext>
            </a:extLst>
          </p:cNvPr>
          <p:cNvSpPr txBox="1"/>
          <p:nvPr/>
        </p:nvSpPr>
        <p:spPr>
          <a:xfrm>
            <a:off x="5271017" y="3256263"/>
            <a:ext cx="444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000" dirty="0"/>
              <a:t>10</a:t>
            </a:r>
            <a:endParaRPr kumimoji="1" lang="ko-Kore-KR" altLang="en-US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BEF239-F6E6-6D44-8AC1-52967EFA6789}"/>
              </a:ext>
            </a:extLst>
          </p:cNvPr>
          <p:cNvSpPr txBox="1"/>
          <p:nvPr/>
        </p:nvSpPr>
        <p:spPr>
          <a:xfrm>
            <a:off x="4698831" y="3260167"/>
            <a:ext cx="444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000" dirty="0"/>
              <a:t>10</a:t>
            </a:r>
            <a:endParaRPr kumimoji="1" lang="ko-Kore-KR" altLang="en-US" sz="2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DCA1A49-8718-8147-C947-ABF63304C116}"/>
              </a:ext>
            </a:extLst>
          </p:cNvPr>
          <p:cNvSpPr txBox="1"/>
          <p:nvPr/>
        </p:nvSpPr>
        <p:spPr>
          <a:xfrm>
            <a:off x="3818748" y="3828785"/>
            <a:ext cx="4443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2000" dirty="0"/>
              <a:t>1</a:t>
            </a:r>
            <a:r>
              <a:rPr kumimoji="1" lang="en-US" altLang="ko-KR" sz="2000" dirty="0"/>
              <a:t>1</a:t>
            </a:r>
            <a:endParaRPr kumimoji="1" lang="ko-Kore-KR" altLang="en-US" sz="2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30F8D34-7ADB-2CA8-79EA-1C4353FE1968}"/>
              </a:ext>
            </a:extLst>
          </p:cNvPr>
          <p:cNvSpPr txBox="1"/>
          <p:nvPr/>
        </p:nvSpPr>
        <p:spPr>
          <a:xfrm>
            <a:off x="4925589" y="3820076"/>
            <a:ext cx="574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2000" dirty="0"/>
              <a:t>1</a:t>
            </a:r>
            <a:r>
              <a:rPr kumimoji="1" lang="en-US" altLang="ko-KR" sz="2000" dirty="0"/>
              <a:t>00</a:t>
            </a:r>
            <a:endParaRPr kumimoji="1" lang="ko-Kore-KR" altLang="en-US" sz="2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C40EF31-2748-2AF8-7454-50233A2A7C59}"/>
              </a:ext>
            </a:extLst>
          </p:cNvPr>
          <p:cNvSpPr txBox="1"/>
          <p:nvPr/>
        </p:nvSpPr>
        <p:spPr>
          <a:xfrm>
            <a:off x="5774055" y="3120336"/>
            <a:ext cx="118173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5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1-qubit</a:t>
            </a:r>
            <a:r>
              <a:rPr kumimoji="1" lang="ko-KR" altLang="en-US" sz="15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덧셈</a:t>
            </a:r>
            <a:endParaRPr kumimoji="1" lang="ko-Kore-KR" altLang="en-US" sz="15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F442BD-4E51-E9EF-22AA-C47C8DB396B4}"/>
              </a:ext>
            </a:extLst>
          </p:cNvPr>
          <p:cNvSpPr txBox="1"/>
          <p:nvPr/>
        </p:nvSpPr>
        <p:spPr>
          <a:xfrm>
            <a:off x="5774055" y="3579339"/>
            <a:ext cx="118173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5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2-qubit</a:t>
            </a:r>
            <a:r>
              <a:rPr kumimoji="1" lang="ko-KR" altLang="en-US" sz="15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덧셈</a:t>
            </a:r>
            <a:endParaRPr kumimoji="1" lang="ko-Kore-KR" altLang="en-US" sz="15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3" name="오른쪽 대괄호[R] 32">
            <a:extLst>
              <a:ext uri="{FF2B5EF4-FFF2-40B4-BE49-F238E27FC236}">
                <a16:creationId xmlns:a16="http://schemas.microsoft.com/office/drawing/2014/main" id="{35CB61DF-4D97-BA62-8841-B3B14D585A47}"/>
              </a:ext>
            </a:extLst>
          </p:cNvPr>
          <p:cNvSpPr/>
          <p:nvPr/>
        </p:nvSpPr>
        <p:spPr>
          <a:xfrm rot="5400000">
            <a:off x="4596399" y="3628394"/>
            <a:ext cx="101724" cy="1230093"/>
          </a:xfrm>
          <a:prstGeom prst="rightBracket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 sz="20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C74D258-B801-BB7C-2F8B-AA2FB9A4DCB5}"/>
              </a:ext>
            </a:extLst>
          </p:cNvPr>
          <p:cNvSpPr txBox="1"/>
          <p:nvPr/>
        </p:nvSpPr>
        <p:spPr>
          <a:xfrm>
            <a:off x="5774055" y="4055100"/>
            <a:ext cx="118173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5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3-qubit</a:t>
            </a:r>
            <a:r>
              <a:rPr kumimoji="1" lang="ko-KR" altLang="en-US" sz="15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덧셈</a:t>
            </a:r>
            <a:endParaRPr kumimoji="1" lang="ko-Kore-KR" altLang="en-US" sz="15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4613DCC-C57F-0862-AC81-6BB8936C2C14}"/>
              </a:ext>
            </a:extLst>
          </p:cNvPr>
          <p:cNvSpPr txBox="1"/>
          <p:nvPr/>
        </p:nvSpPr>
        <p:spPr>
          <a:xfrm>
            <a:off x="3590219" y="4386780"/>
            <a:ext cx="34316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2000" dirty="0"/>
              <a:t>1</a:t>
            </a:r>
            <a:r>
              <a:rPr kumimoji="1" lang="en-US" altLang="ko-KR" sz="2000" dirty="0"/>
              <a:t>11 (weight = 7)</a:t>
            </a:r>
            <a:endParaRPr kumimoji="1" lang="ko-Kore-KR" altLang="en-US" sz="2000" dirty="0"/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F2A3ECA5-832D-87EC-B9F1-FC9E25423C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8852B28-D290-2A4B-A90A-47EAEF72A8E4}" type="slidenum">
              <a:rPr kumimoji="1" lang="ko-Kore-KR" altLang="en-US" smtClean="0"/>
              <a:t>21</a:t>
            </a:fld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1E7232-626F-52C9-C7D8-16D3915FE659}"/>
                  </a:ext>
                </a:extLst>
              </p:cNvPr>
              <p:cNvSpPr txBox="1"/>
              <p:nvPr/>
            </p:nvSpPr>
            <p:spPr>
              <a:xfrm>
                <a:off x="-1112544" y="2704547"/>
                <a:ext cx="6418612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ko-Kore-KR" sz="2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kumimoji="1" lang="en-US" altLang="ko-Kore-KR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ko-Kore-KR" sz="2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kumimoji="1" lang="en-US" altLang="ko-Kore-KR" sz="22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kumimoji="1" lang="en-US" altLang="ko-Kore-KR" sz="22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ko-Kore-KR" sz="2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ko-Kore-KR" sz="2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kumimoji="1" lang="en-US" altLang="ko-Kore-KR" sz="22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kumimoji="1" lang="en-US" altLang="ko-Kore-KR" sz="22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kumimoji="1" lang="en-US" altLang="ko-Kore-KR" sz="2200" i="1"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ko-KR" altLang="en-US" sz="2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1E7232-626F-52C9-C7D8-16D3915FE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12544" y="2704547"/>
                <a:ext cx="6418612" cy="430887"/>
              </a:xfrm>
              <a:prstGeom prst="rect">
                <a:avLst/>
              </a:prstGeom>
              <a:blipFill>
                <a:blip r:embed="rId5"/>
                <a:stretch>
                  <a:fillRect b="-235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8452BB48-EED4-4181-A05D-A4B3E69EBD5A}"/>
              </a:ext>
            </a:extLst>
          </p:cNvPr>
          <p:cNvSpPr txBox="1"/>
          <p:nvPr/>
        </p:nvSpPr>
        <p:spPr>
          <a:xfrm>
            <a:off x="105445" y="5084517"/>
            <a:ext cx="1004191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47700" indent="-342900">
              <a:buSzPts val="2400"/>
              <a:buFont typeface="Arial" panose="020B0604020202020204" pitchFamily="34" charset="0"/>
              <a:buChar char="•"/>
            </a:pPr>
            <a:r>
              <a:rPr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  <a:sym typeface="Wingdings" pitchFamily="2" charset="2"/>
              </a:rPr>
              <a:t>최종적으로</a:t>
            </a:r>
            <a:r>
              <a:rPr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  <a:sym typeface="Wingdings" pitchFamily="2" charset="2"/>
              </a:rPr>
              <a:t>, </a:t>
            </a:r>
            <a:r>
              <a:rPr lang="ko-KR" altLang="en-US" sz="22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  <a:sym typeface="Wingdings" pitchFamily="2" charset="2"/>
              </a:rPr>
              <a:t>해밍</a:t>
            </a:r>
            <a:r>
              <a:rPr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  <a:sym typeface="Wingdings" pitchFamily="2" charset="2"/>
              </a:rPr>
              <a:t> 무게를 만족한다면</a:t>
            </a:r>
            <a:r>
              <a:rPr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  <a:sym typeface="Wingdings" pitchFamily="2" charset="2"/>
              </a:rPr>
              <a:t>, </a:t>
            </a:r>
            <a:r>
              <a:rPr lang="en-US" altLang="ko-KR" sz="2200" b="1" dirty="0">
                <a:latin typeface="Gmarket Sans TTF Bold" panose="02000000000000000000" pitchFamily="2" charset="-128"/>
                <a:ea typeface="Gmarket Sans TTF Bold" panose="02000000000000000000" pitchFamily="2" charset="-128"/>
                <a:sym typeface="Wingdings" pitchFamily="2" charset="2"/>
              </a:rPr>
              <a:t>Oracle</a:t>
            </a:r>
            <a:r>
              <a:rPr lang="ko-KR" altLang="en-US" sz="2200" b="1" dirty="0">
                <a:latin typeface="Gmarket Sans TTF Bold" panose="02000000000000000000" pitchFamily="2" charset="-128"/>
                <a:ea typeface="Gmarket Sans TTF Bold" panose="02000000000000000000" pitchFamily="2" charset="-128"/>
                <a:sym typeface="Wingdings" pitchFamily="2" charset="2"/>
              </a:rPr>
              <a:t>은 솔루션 </a:t>
            </a:r>
            <a:r>
              <a:rPr lang="ko-KR" altLang="en-US" sz="2200" b="1" dirty="0" err="1">
                <a:latin typeface="Gmarket Sans TTF Bold" panose="02000000000000000000" pitchFamily="2" charset="-128"/>
                <a:ea typeface="Gmarket Sans TTF Bold" panose="02000000000000000000" pitchFamily="2" charset="-128"/>
                <a:sym typeface="Wingdings" pitchFamily="2" charset="2"/>
              </a:rPr>
              <a:t>큐빗을</a:t>
            </a:r>
            <a:r>
              <a:rPr lang="ko-KR" altLang="en-US" sz="2200" b="1" dirty="0">
                <a:latin typeface="Gmarket Sans TTF Bold" panose="02000000000000000000" pitchFamily="2" charset="-128"/>
                <a:ea typeface="Gmarket Sans TTF Bold" panose="02000000000000000000" pitchFamily="2" charset="-128"/>
                <a:sym typeface="Wingdings" pitchFamily="2" charset="2"/>
              </a:rPr>
              <a:t> 체크</a:t>
            </a:r>
            <a:endParaRPr lang="en-US" altLang="ko-KR" sz="2200" b="1" dirty="0">
              <a:latin typeface="Gmarket Sans TTF Bold" panose="02000000000000000000" pitchFamily="2" charset="-128"/>
              <a:ea typeface="Gmarket Sans TTF Bold" panose="02000000000000000000" pitchFamily="2" charset="-128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7171970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5C20F-FF55-E3A7-90EA-0FFBCF999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CBAE2D-9269-6F74-9299-AE55A3F1C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Diffusion Operator &amp; Post-processing (Classical)</a:t>
            </a:r>
            <a:endParaRPr kumimoji="1" lang="ko-KR" altLang="en-US" sz="30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0DB14B46-A310-5B05-39EE-091AA6ABAF8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254514" y="1121028"/>
                <a:ext cx="11775997" cy="5603875"/>
              </a:xfrm>
            </p:spPr>
            <p:txBody>
              <a:bodyPr/>
              <a:lstStyle/>
              <a:p>
                <a:pPr marL="304800">
                  <a:buSzPts val="2400"/>
                </a:pPr>
                <a:r>
                  <a:rPr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Diffusion operator</a:t>
                </a:r>
                <a:r>
                  <a:rPr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는 </a:t>
                </a:r>
                <a:r>
                  <a:rPr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Dicke State</a:t>
                </a:r>
                <a:r>
                  <a:rPr lang="ko-KR" altLang="en-US" sz="2200" dirty="0" err="1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를</a:t>
                </a:r>
                <a:r>
                  <a:rPr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 대상으로 동작</a:t>
                </a:r>
                <a:endParaRPr lang="en-US" altLang="ko-KR" sz="2200" dirty="0">
                  <a:latin typeface="Gmarket Sans TTF Medium" panose="02000000000000000000" pitchFamily="2" charset="-128"/>
                  <a:ea typeface="Gmarket Sans TTF Medium" panose="02000000000000000000" pitchFamily="2" charset="-128"/>
                  <a:sym typeface="Wingdings" pitchFamily="2" charset="2"/>
                </a:endParaRPr>
              </a:p>
              <a:p>
                <a:pPr marL="762000" lvl="1">
                  <a:buSzPts val="2400"/>
                </a:pPr>
                <a:r>
                  <a:rPr lang="ko-KR" altLang="en-US" sz="18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최종 반환되는 </a:t>
                </a:r>
                <a:r>
                  <a:rPr lang="en-US" altLang="ko-KR" sz="18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Dicke State</a:t>
                </a:r>
                <a:r>
                  <a:rPr lang="ko-KR" altLang="en-US" sz="18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는 공격 성공에 유효한 </a:t>
                </a:r>
                <a:r>
                  <a:rPr lang="en-US" altLang="ko-KR" sz="18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Information set</a:t>
                </a:r>
                <a:r>
                  <a:rPr lang="ko-KR" altLang="en-US" sz="18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을 알 수 있음</a:t>
                </a:r>
                <a:endParaRPr lang="en-US" altLang="ko-KR" sz="1800" dirty="0">
                  <a:latin typeface="Gmarket Sans TTF Medium" panose="02000000000000000000" pitchFamily="2" charset="-128"/>
                  <a:ea typeface="Gmarket Sans TTF Medium" panose="02000000000000000000" pitchFamily="2" charset="-128"/>
                  <a:sym typeface="Wingdings" pitchFamily="2" charset="2"/>
                </a:endParaRPr>
              </a:p>
              <a:p>
                <a:pPr marL="304800">
                  <a:buSzPts val="2400"/>
                </a:pPr>
                <a:endParaRPr lang="en-US" altLang="ko-KR" sz="1000" dirty="0">
                  <a:latin typeface="Gmarket Sans TTF Medium" panose="02000000000000000000" pitchFamily="2" charset="-128"/>
                  <a:ea typeface="Gmarket Sans TTF Medium" panose="02000000000000000000" pitchFamily="2" charset="-128"/>
                  <a:sym typeface="Wingdings" pitchFamily="2" charset="2"/>
                </a:endParaRPr>
              </a:p>
              <a:p>
                <a:pPr marL="419100" lvl="1" indent="0">
                  <a:buSzPts val="2400"/>
                  <a:buNone/>
                </a:pPr>
                <a:r>
                  <a:rPr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# </a:t>
                </a:r>
                <a:r>
                  <a:rPr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공격 성공 조건</a:t>
                </a:r>
                <a:r>
                  <a:rPr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: </a:t>
                </a:r>
                <a:r>
                  <a:rPr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선택한 </a:t>
                </a:r>
                <a:r>
                  <a:rPr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Information set</a:t>
                </a:r>
                <a:r>
                  <a:rPr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의 </a:t>
                </a:r>
                <a:r>
                  <a:rPr lang="ko-KR" altLang="en-US" sz="2200" dirty="0" err="1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역행렬</a:t>
                </a:r>
                <a:r>
                  <a:rPr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sz="2200"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×</m:t>
                    </m:r>
                  </m:oMath>
                </a14:m>
                <a:r>
                  <a:rPr lang="en-US" altLang="ko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</a:t>
                </a:r>
                <a:r>
                  <a:rPr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신드롬</a:t>
                </a:r>
                <a:r>
                  <a:rPr lang="en-US" altLang="ko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</a:t>
                </a:r>
                <a:r>
                  <a:rPr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(</a:t>
                </a:r>
                <a:r>
                  <a:rPr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암호문</a:t>
                </a:r>
                <a:r>
                  <a:rPr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,</a:t>
                </a:r>
                <a:r>
                  <a:rPr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" sz="22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" sz="22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의 결과 벡터가</a:t>
                </a:r>
                <a:endParaRPr lang="en-US" altLang="ko-KR" sz="22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marL="419100" lvl="1" indent="0">
                  <a:buSzPts val="2400"/>
                  <a:buNone/>
                </a:pPr>
                <a:r>
                  <a:rPr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  </a:t>
                </a:r>
                <a:r>
                  <a:rPr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		          </a:t>
                </a:r>
                <a:r>
                  <a:rPr lang="ko-KR" altLang="en-US" sz="2200" dirty="0" err="1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해밍</a:t>
                </a:r>
                <a:r>
                  <a:rPr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무게를 만족할 경우</a:t>
                </a:r>
                <a:r>
                  <a:rPr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, </a:t>
                </a:r>
                <a:r>
                  <a:rPr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비밀 값 </a:t>
                </a:r>
                <a14:m>
                  <m:oMath xmlns:m="http://schemas.openxmlformats.org/officeDocument/2006/math">
                    <m:r>
                      <a:rPr lang="en-US" altLang="ko-KR" sz="2200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Gmarket Sans TTF Medium" panose="02000000000000000000" pitchFamily="2" charset="-128"/>
                      </a:rPr>
                      <m:t>𝑒</m:t>
                    </m:r>
                  </m:oMath>
                </a14:m>
                <a:r>
                  <a:rPr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</a:t>
                </a:r>
                <a:r>
                  <a:rPr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복구에 성공 </a:t>
                </a:r>
                <a:r>
                  <a:rPr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a:rPr kumimoji="1" lang="en-US" altLang="ko-Kore-KR" sz="2200" i="1">
                        <a:latin typeface="Cambria Math" panose="02040503050406030204" pitchFamily="18" charset="0"/>
                      </a:rPr>
                      <m:t>𝐻</m:t>
                    </m:r>
                    <m:sSup>
                      <m:sSupPr>
                        <m:ctrlPr>
                          <a:rPr kumimoji="1" lang="en-US" altLang="ko-Kore-KR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ore-KR" sz="2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kumimoji="1" lang="en-US" altLang="ko-Kore-KR" sz="22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kumimoji="1" lang="en-US" altLang="ko-KR" sz="22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ko-KR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22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kumimoji="1" lang="en-US" altLang="ko-KR" sz="22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altLang="ko" sz="22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lvl="1"/>
                <a:endParaRPr kumimoji="1" lang="en-US" altLang="ko-KR" sz="18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lvl="1"/>
                <a:endParaRPr kumimoji="1" lang="en-US" altLang="ko-KR" sz="18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lvl="1"/>
                <a:endParaRPr kumimoji="1" lang="en-US" altLang="ko-KR" sz="18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lvl="1"/>
                <a:endParaRPr kumimoji="1" lang="en-US" altLang="ko-KR" sz="18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lvl="1"/>
                <a:endParaRPr kumimoji="1" lang="en-US" altLang="ko-KR" sz="18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lvl="1"/>
                <a:endParaRPr kumimoji="1" lang="en-US" altLang="ko-KR" sz="18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lvl="1"/>
                <a:endParaRPr kumimoji="1" lang="en-US" altLang="ko-KR" sz="18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</p:txBody>
          </p:sp>
        </mc:Choice>
        <mc:Fallback xmlns="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0DB14B46-A310-5B05-39EE-091AA6ABAF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54514" y="1121028"/>
                <a:ext cx="11775997" cy="5603875"/>
              </a:xfrm>
              <a:blipFill>
                <a:blip r:embed="rId3"/>
                <a:stretch>
                  <a:fillRect l="-75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위쪽 화살표[U] 6">
            <a:extLst>
              <a:ext uri="{FF2B5EF4-FFF2-40B4-BE49-F238E27FC236}">
                <a16:creationId xmlns:a16="http://schemas.microsoft.com/office/drawing/2014/main" id="{460E4F34-8AD7-D056-BC6A-0BB9D74C9E83}"/>
              </a:ext>
            </a:extLst>
          </p:cNvPr>
          <p:cNvSpPr/>
          <p:nvPr/>
        </p:nvSpPr>
        <p:spPr>
          <a:xfrm rot="5400000">
            <a:off x="5217224" y="4544462"/>
            <a:ext cx="161273" cy="638859"/>
          </a:xfrm>
          <a:prstGeom prst="up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4A6EF6-867E-65A3-C4BF-789D0A0601ED}"/>
              </a:ext>
            </a:extLst>
          </p:cNvPr>
          <p:cNvSpPr txBox="1"/>
          <p:nvPr/>
        </p:nvSpPr>
        <p:spPr>
          <a:xfrm>
            <a:off x="4432879" y="5039323"/>
            <a:ext cx="172996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ko-Kore-KR" sz="15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Gauss-Jordan</a:t>
            </a:r>
          </a:p>
          <a:p>
            <a:pPr algn="ctr"/>
            <a:r>
              <a:rPr kumimoji="1" lang="en-US" altLang="ko-Kore-KR" sz="15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소거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619585-9518-5DB6-3CEE-30D9E934D6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920" y="3360762"/>
            <a:ext cx="3988470" cy="25737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215279-72C8-3A38-AE6D-8FACE980F006}"/>
                  </a:ext>
                </a:extLst>
              </p:cNvPr>
              <p:cNvSpPr txBox="1"/>
              <p:nvPr/>
            </p:nvSpPr>
            <p:spPr>
              <a:xfrm>
                <a:off x="8110389" y="4711249"/>
                <a:ext cx="446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Wingdings" pitchFamily="2" charset="2"/>
                        </a:rPr>
                        <m:t>×</m:t>
                      </m:r>
                    </m:oMath>
                  </m:oMathPara>
                </a14:m>
                <a:endParaRPr lang="ko-Kore-KR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3215279-72C8-3A38-AE6D-8FACE980F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0389" y="4711249"/>
                <a:ext cx="44605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양쪽 대괄호 10">
            <a:extLst>
              <a:ext uri="{FF2B5EF4-FFF2-40B4-BE49-F238E27FC236}">
                <a16:creationId xmlns:a16="http://schemas.microsoft.com/office/drawing/2014/main" id="{962A48AF-A180-5BD2-3230-350BCC1F5C51}"/>
              </a:ext>
            </a:extLst>
          </p:cNvPr>
          <p:cNvSpPr/>
          <p:nvPr/>
        </p:nvSpPr>
        <p:spPr>
          <a:xfrm>
            <a:off x="8633618" y="3366928"/>
            <a:ext cx="446050" cy="3154028"/>
          </a:xfrm>
          <a:prstGeom prst="bracketPair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8A399C1-6EBB-F400-3D2C-233475B191BB}"/>
                  </a:ext>
                </a:extLst>
              </p:cNvPr>
              <p:cNvSpPr txBox="1"/>
              <p:nvPr/>
            </p:nvSpPr>
            <p:spPr>
              <a:xfrm>
                <a:off x="5585123" y="4635220"/>
                <a:ext cx="6556916" cy="477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5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ko-Kore-KR" altLang="en-US" sz="25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8A399C1-6EBB-F400-3D2C-233475B191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5123" y="4635220"/>
                <a:ext cx="6556916" cy="4770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3CF269C-548C-46B3-A966-7F8FF6F1B825}"/>
                  </a:ext>
                </a:extLst>
              </p:cNvPr>
              <p:cNvSpPr txBox="1"/>
              <p:nvPr/>
            </p:nvSpPr>
            <p:spPr>
              <a:xfrm>
                <a:off x="9109812" y="4626281"/>
                <a:ext cx="495649" cy="4770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ore-KR" sz="25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ko-Kore-KR" altLang="en-US" sz="250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3CF269C-548C-46B3-A966-7F8FF6F1B8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09812" y="4626281"/>
                <a:ext cx="495649" cy="4770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양쪽 대괄호 13">
            <a:extLst>
              <a:ext uri="{FF2B5EF4-FFF2-40B4-BE49-F238E27FC236}">
                <a16:creationId xmlns:a16="http://schemas.microsoft.com/office/drawing/2014/main" id="{F55D580F-D33D-3D77-7E9D-95439314FD52}"/>
              </a:ext>
            </a:extLst>
          </p:cNvPr>
          <p:cNvSpPr/>
          <p:nvPr/>
        </p:nvSpPr>
        <p:spPr>
          <a:xfrm>
            <a:off x="9694787" y="4728918"/>
            <a:ext cx="2335724" cy="311699"/>
          </a:xfrm>
          <a:prstGeom prst="bracketPair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31F1760D-0634-D5B2-97A4-5613F8FE884D}"/>
              </a:ext>
            </a:extLst>
          </p:cNvPr>
          <p:cNvSpPr/>
          <p:nvPr/>
        </p:nvSpPr>
        <p:spPr>
          <a:xfrm>
            <a:off x="6206790" y="4169777"/>
            <a:ext cx="1732733" cy="1340095"/>
          </a:xfrm>
          <a:prstGeom prst="roundRect">
            <a:avLst/>
          </a:prstGeom>
          <a:noFill/>
          <a:ln w="31750">
            <a:solidFill>
              <a:schemeClr val="tx2">
                <a:lumMod val="90000"/>
                <a:lumOff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2EF63E-A0CF-B69B-097B-EFF3FDEEBD9D}"/>
              </a:ext>
            </a:extLst>
          </p:cNvPr>
          <p:cNvSpPr txBox="1"/>
          <p:nvPr/>
        </p:nvSpPr>
        <p:spPr>
          <a:xfrm>
            <a:off x="5357545" y="5631839"/>
            <a:ext cx="34588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Information set</a:t>
            </a:r>
            <a:r>
              <a:rPr kumimoji="1" lang="ko-KR" altLang="en-US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endParaRPr kumimoji="1" lang="en-US" altLang="ko-KR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algn="ctr"/>
            <a:r>
              <a:rPr kumimoji="1" lang="ko-KR" altLang="en-US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역행렬</a:t>
            </a:r>
            <a:endParaRPr kumimoji="1" lang="ko-Kore-KR" altLang="en-US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CBB8A41-E72C-4AF7-C07F-732A19955398}"/>
                  </a:ext>
                </a:extLst>
              </p:cNvPr>
              <p:cNvSpPr txBox="1"/>
              <p:nvPr/>
            </p:nvSpPr>
            <p:spPr>
              <a:xfrm>
                <a:off x="7748930" y="3899262"/>
                <a:ext cx="5677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ko-Kore-KR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kumimoji="1" lang="ko-Kore-KR" altLang="en-US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CBB8A41-E72C-4AF7-C07F-732A199553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48930" y="3899262"/>
                <a:ext cx="56778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AC191613-BE31-6855-AF9C-8E973C0E45F4}"/>
              </a:ext>
            </a:extLst>
          </p:cNvPr>
          <p:cNvSpPr txBox="1"/>
          <p:nvPr/>
        </p:nvSpPr>
        <p:spPr>
          <a:xfrm>
            <a:off x="10416732" y="555358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ore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FF48E4-5528-D9ED-68CF-50DCC887727E}"/>
              </a:ext>
            </a:extLst>
          </p:cNvPr>
          <p:cNvSpPr txBox="1"/>
          <p:nvPr/>
        </p:nvSpPr>
        <p:spPr>
          <a:xfrm>
            <a:off x="9747229" y="4722276"/>
            <a:ext cx="2612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Weight check</a:t>
            </a:r>
            <a:r>
              <a:rPr kumimoji="1" lang="ko-KR" altLang="en-US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kumimoji="1" lang="en-US" altLang="ko-KR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=?</a:t>
            </a:r>
            <a:endParaRPr kumimoji="1" lang="ko-Kore-KR" altLang="en-US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59C2DD-CED0-18C6-7EFD-41E6997238D4}"/>
              </a:ext>
            </a:extLst>
          </p:cNvPr>
          <p:cNvSpPr txBox="1"/>
          <p:nvPr/>
        </p:nvSpPr>
        <p:spPr>
          <a:xfrm>
            <a:off x="9895306" y="5153051"/>
            <a:ext cx="1770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0 0 1 1 0 0 0 0</a:t>
            </a:r>
            <a:endParaRPr kumimoji="1" lang="ko-KR" altLang="en-US" dirty="0"/>
          </a:p>
        </p:txBody>
      </p:sp>
      <p:sp>
        <p:nvSpPr>
          <p:cNvPr id="4" name="슬라이드 번호 개체 틀 10">
            <a:extLst>
              <a:ext uri="{FF2B5EF4-FFF2-40B4-BE49-F238E27FC236}">
                <a16:creationId xmlns:a16="http://schemas.microsoft.com/office/drawing/2014/main" id="{DD1E2BD0-11AB-4A12-3A76-672A21B002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8852B28-D290-2A4B-A90A-47EAEF72A8E4}" type="slidenum">
              <a:rPr kumimoji="1" lang="ko-Kore-KR" altLang="en-US" smtClean="0"/>
              <a:t>22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190183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B702B7-EC20-2922-432E-1BBE9CE3A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Summary</a:t>
            </a:r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65ED6F-6770-494A-787D-F90DA9DBF69F}"/>
              </a:ext>
            </a:extLst>
          </p:cNvPr>
          <p:cNvSpPr txBox="1"/>
          <p:nvPr/>
        </p:nvSpPr>
        <p:spPr>
          <a:xfrm>
            <a:off x="305963" y="1358168"/>
            <a:ext cx="42418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양자</a:t>
            </a:r>
            <a:r>
              <a:rPr kumimoji="1"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ISD </a:t>
            </a: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양자 회로 비용 정리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8" name="표 27">
                <a:extLst>
                  <a:ext uri="{FF2B5EF4-FFF2-40B4-BE49-F238E27FC236}">
                    <a16:creationId xmlns:a16="http://schemas.microsoft.com/office/drawing/2014/main" id="{8473D9ED-3AA9-95AC-14F9-14244DB10A9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0418383"/>
                  </p:ext>
                </p:extLst>
              </p:nvPr>
            </p:nvGraphicFramePr>
            <p:xfrm>
              <a:off x="814301" y="2033146"/>
              <a:ext cx="10755185" cy="392178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22668">
                      <a:extLst>
                        <a:ext uri="{9D8B030D-6E8A-4147-A177-3AD203B41FA5}">
                          <a16:colId xmlns:a16="http://schemas.microsoft.com/office/drawing/2014/main" val="2960314680"/>
                        </a:ext>
                      </a:extLst>
                    </a:gridCol>
                    <a:gridCol w="2965266">
                      <a:extLst>
                        <a:ext uri="{9D8B030D-6E8A-4147-A177-3AD203B41FA5}">
                          <a16:colId xmlns:a16="http://schemas.microsoft.com/office/drawing/2014/main" val="3543870889"/>
                        </a:ext>
                      </a:extLst>
                    </a:gridCol>
                    <a:gridCol w="1364187">
                      <a:extLst>
                        <a:ext uri="{9D8B030D-6E8A-4147-A177-3AD203B41FA5}">
                          <a16:colId xmlns:a16="http://schemas.microsoft.com/office/drawing/2014/main" val="3374579767"/>
                        </a:ext>
                      </a:extLst>
                    </a:gridCol>
                    <a:gridCol w="2857457">
                      <a:extLst>
                        <a:ext uri="{9D8B030D-6E8A-4147-A177-3AD203B41FA5}">
                          <a16:colId xmlns:a16="http://schemas.microsoft.com/office/drawing/2014/main" val="3624024535"/>
                        </a:ext>
                      </a:extLst>
                    </a:gridCol>
                    <a:gridCol w="2245607">
                      <a:extLst>
                        <a:ext uri="{9D8B030D-6E8A-4147-A177-3AD203B41FA5}">
                          <a16:colId xmlns:a16="http://schemas.microsoft.com/office/drawing/2014/main" val="4270510921"/>
                        </a:ext>
                      </a:extLst>
                    </a:gridCol>
                  </a:tblGrid>
                  <a:tr h="3926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QISD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Module</a:t>
                          </a:r>
                          <a:endParaRPr sz="1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ore-KR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Qubits</a:t>
                          </a:r>
                          <a:endParaRPr lang="ko-Kore-KR" altLang="en-US" sz="1500" b="0" i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ore-KR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# T</a:t>
                          </a:r>
                          <a:endParaRPr lang="ko-Kore-KR" altLang="en-US" sz="15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ore-KR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T-depth</a:t>
                          </a:r>
                          <a:endParaRPr lang="ko-Kore-KR" altLang="en-US" sz="1500" b="0" i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27084367"/>
                      </a:ext>
                    </a:extLst>
                  </a:tr>
                  <a:tr h="581025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Input </a:t>
                          </a:r>
                        </a:p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Setting</a:t>
                          </a: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Public Key:</a:t>
                          </a:r>
                          <a:r>
                            <a:rPr lang="en-US" altLang="en-US" sz="1500" b="0" i="0" baseline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ko-KR" sz="1700" i="1" dirty="0" smtClean="0">
                                      <a:latin typeface="Cambria Math" panose="02040503050406030204" pitchFamily="18" charset="0"/>
                                      <a:ea typeface="Gmarket Sans TTF Medium" panose="02000000000000000000" pitchFamily="2" charset="-128"/>
                                      <a:sym typeface="Wingdings" pitchFamily="2" charset="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700" b="0" i="1" dirty="0" smtClean="0">
                                      <a:latin typeface="Cambria Math" panose="02040503050406030204" pitchFamily="18" charset="0"/>
                                      <a:ea typeface="Gmarket Sans TTF Medium" panose="02000000000000000000" pitchFamily="2" charset="-128"/>
                                      <a:sym typeface="Wingdings" pitchFamily="2" charset="2"/>
                                    </a:rPr>
                                    <m:t>𝐻</m:t>
                                  </m:r>
                                </m:e>
                                <m:sub>
                                  <m:d>
                                    <m:dPr>
                                      <m:ctrlPr>
                                        <a:rPr kumimoji="1" lang="en-US" altLang="ko-KR" sz="17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sym typeface="Wingdings" pitchFamily="2" charset="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1" lang="en-US" altLang="ko-KR" sz="17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sym typeface="Wingdings" pitchFamily="2" charset="2"/>
                                        </a:rPr>
                                        <m:t>𝑛</m:t>
                                      </m:r>
                                      <m:r>
                                        <a:rPr kumimoji="1" lang="en-US" altLang="ko-KR" sz="17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sym typeface="Wingdings" pitchFamily="2" charset="2"/>
                                        </a:rPr>
                                        <m:t>−</m:t>
                                      </m:r>
                                      <m:r>
                                        <a:rPr kumimoji="1" lang="en-US" altLang="ko-KR" sz="17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sym typeface="Wingdings" pitchFamily="2" charset="2"/>
                                        </a:rPr>
                                        <m:t>𝑘</m:t>
                                      </m:r>
                                    </m:e>
                                  </m:d>
                                  <m:r>
                                    <a:rPr kumimoji="1" lang="en-US" altLang="ko-KR" sz="17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Wingdings" pitchFamily="2" charset="2"/>
                                    </a:rPr>
                                    <m:t> × </m:t>
                                  </m:r>
                                  <m:r>
                                    <a:rPr kumimoji="1" lang="en-US" altLang="ko-KR" sz="17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sym typeface="Wingdings" pitchFamily="2" charset="2"/>
                                    </a:rPr>
                                    <m:t>𝑛</m:t>
                                  </m:r>
                                </m:sub>
                              </m:sSub>
                            </m:oMath>
                          </a14:m>
                          <a:endParaRPr lang="en-US" altLang="ko-KR" sz="170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  <a:sym typeface="Wingdings" pitchFamily="2" charset="2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Gmarket Sans TTF Medium" panose="02000000000000000000" pitchFamily="2" charset="-128"/>
                                  </a:rPr>
                                  <m:t>𝑛</m:t>
                                </m:r>
                                <m:r>
                                  <a:rPr lang="en-US" alt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Gmarket Sans TTF Medium" panose="02000000000000000000" pitchFamily="2" charset="-128"/>
                                  </a:rPr>
                                  <m:t> × (</m:t>
                                </m:r>
                                <m:r>
                                  <a:rPr lang="en-US" alt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/2)</m:t>
                                </m:r>
                              </m:oMath>
                            </m:oMathPara>
                          </a14:m>
                          <a:endParaRPr lang="ko-Kore-KR" altLang="en-US" sz="1600" b="0" i="0" dirty="0">
                            <a:solidFill>
                              <a:schemeClr val="tx1"/>
                            </a:solidFill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Gmarket Sans TTF Medium" panose="02000000000000000000" pitchFamily="2" charset="-128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ko-Kore-KR" altLang="en-US" sz="1600" b="0" i="0" dirty="0">
                            <a:solidFill>
                              <a:schemeClr val="tx1"/>
                            </a:solidFill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Gmarket Sans TTF Medium" panose="02000000000000000000" pitchFamily="2" charset="-128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ko-Kore-KR" altLang="en-US" sz="1600" b="0" i="0" dirty="0">
                            <a:solidFill>
                              <a:schemeClr val="tx1"/>
                            </a:solidFill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12914695"/>
                      </a:ext>
                    </a:extLst>
                  </a:tr>
                  <a:tr h="581025">
                    <a:tc vMerge="1">
                      <a:txBody>
                        <a:bodyPr/>
                        <a:lstStyle/>
                        <a:p>
                          <a:pPr algn="ctr"/>
                          <a:endParaRPr lang="ko-Kore-KR" altLang="en-US" sz="1600" b="0" i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Dicke State:</a:t>
                          </a:r>
                          <a:r>
                            <a:rPr lang="ko-KR" altLang="en-US" sz="1600" b="1" dirty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</a:rPr>
                            <a:t> </a:t>
                          </a:r>
                          <a:r>
                            <a:rPr lang="en-US" altLang="ko-Kore-KR" sz="1700" dirty="0">
                              <a:solidFill>
                                <a:schemeClr val="tx1"/>
                              </a:solidFill>
                              <a:sym typeface="Wingdings" pitchFamily="2" charset="2"/>
                            </a:rPr>
                            <a:t>I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en-US" altLang="ko-Kore-KR" sz="17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ko-Kore-KR" sz="17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ore-KR" sz="17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altLang="ko-Kore-KR" sz="17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n-US" altLang="ko-Kore-KR" sz="17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  <m:t>𝑛</m:t>
                                      </m:r>
                                    </m:sup>
                                  </m:sSubSup>
                                </m:e>
                              </m:d>
                            </m:oMath>
                          </a14:m>
                          <a:endParaRPr lang="ko-Kore-KR" altLang="en-US" sz="1700" b="0" i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Gmarket Sans TTF Medium" panose="02000000000000000000" pitchFamily="2" charset="-128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ko-Kore-KR" altLang="en-US" sz="1600" b="0" i="0" dirty="0">
                            <a:solidFill>
                              <a:schemeClr val="tx1"/>
                            </a:solidFill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  <m:t>149(</m:t>
                                    </m:r>
                                    <m:r>
                                      <a:rPr lang="en-US" altLang="ko-KR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  <m:t>𝑛</m:t>
                                    </m:r>
                                    <m:r>
                                      <a:rPr lang="en-US" altLang="ko-KR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  <m:t>−1)</m:t>
                                    </m:r>
                                  </m:e>
                                  <m:sup>
                                    <m:r>
                                      <a:rPr lang="en-US" altLang="ko-KR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ore-KR" altLang="en-US" sz="1600" b="0" i="0" dirty="0">
                            <a:solidFill>
                              <a:schemeClr val="tx1"/>
                            </a:solidFill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  <m:t>149(3</m:t>
                                    </m:r>
                                    <m:sSup>
                                      <m:sSupPr>
                                        <m:ctrlPr>
                                          <a:rPr lang="en-US" altLang="en-US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Gmarket Sans TTF Medium" panose="02000000000000000000" pitchFamily="2" charset="-128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en-US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Gmarket Sans TTF Medium" panose="02000000000000000000" pitchFamily="2" charset="-128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altLang="en-US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Gmarket Sans TTF Medium" panose="02000000000000000000" pitchFamily="2" charset="-128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  <m:t>−48</m:t>
                                    </m:r>
                                    <m: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  <m:t>𝑛</m:t>
                                    </m:r>
                                    <m: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  <m:t>+12)</m:t>
                                    </m:r>
                                  </m:num>
                                  <m:den>
                                    <m: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  <m:t>2(</m:t>
                                    </m:r>
                                    <m: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  <m:t>𝑛</m:t>
                                    </m:r>
                                    <m: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  <m:t>−4)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ko-Kore-KR" altLang="en-US" sz="1600" b="0" i="0" dirty="0">
                            <a:solidFill>
                              <a:schemeClr val="tx1"/>
                            </a:solidFill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62631906"/>
                      </a:ext>
                    </a:extLst>
                  </a:tr>
                  <a:tr h="581025"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Oracle</a:t>
                          </a:r>
                          <a:endParaRPr lang="ko-Kore-KR" altLang="en-US" sz="1500" b="0" i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Information</a:t>
                          </a:r>
                          <a:r>
                            <a:rPr lang="en-US" altLang="en-US" sz="1500" b="0" i="0" baseline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 set</a:t>
                          </a:r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en-US" sz="1700" b="0" i="1" smtClean="0">
                                      <a:latin typeface="Cambria Math" panose="02040503050406030204" pitchFamily="18" charset="0"/>
                                      <a:ea typeface="Gmarket Sans TTF Medium" panose="02000000000000000000" pitchFamily="2" charset="-128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700" b="0" i="1" smtClean="0">
                                      <a:latin typeface="Cambria Math" panose="02040503050406030204" pitchFamily="18" charset="0"/>
                                      <a:ea typeface="Gmarket Sans TTF Medium" panose="02000000000000000000" pitchFamily="2" charset="-128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en-US" sz="1700" b="0" i="1" smtClean="0">
                                      <a:latin typeface="Cambria Math" panose="02040503050406030204" pitchFamily="18" charset="0"/>
                                      <a:ea typeface="Gmarket Sans TTF Medium" panose="02000000000000000000" pitchFamily="2" charset="-128"/>
                                    </a:rPr>
                                    <m:t>𝑛</m:t>
                                  </m:r>
                                  <m:r>
                                    <a:rPr lang="en-US" altLang="en-US" sz="1700" b="0" i="1" smtClean="0">
                                      <a:latin typeface="Cambria Math" panose="02040503050406030204" pitchFamily="18" charset="0"/>
                                      <a:ea typeface="Gmarket Sans TTF Medium" panose="02000000000000000000" pitchFamily="2" charset="-128"/>
                                    </a:rPr>
                                    <m:t>−</m:t>
                                  </m:r>
                                  <m:r>
                                    <a:rPr lang="en-US" altLang="en-US" sz="1700" b="0" i="1" smtClean="0">
                                      <a:latin typeface="Cambria Math" panose="02040503050406030204" pitchFamily="18" charset="0"/>
                                      <a:ea typeface="Gmarket Sans TTF Medium" panose="02000000000000000000" pitchFamily="2" charset="-128"/>
                                    </a:rPr>
                                    <m:t>𝑘</m:t>
                                  </m:r>
                                </m:sub>
                              </m:sSub>
                            </m:oMath>
                          </a14:m>
                          <a:endParaRPr lang="ko-Kore-KR" altLang="en-US" sz="1700" b="0" i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Gmarket Sans TTF Medium" panose="02000000000000000000" pitchFamily="2" charset="-128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ko-Kore-KR" altLang="en-US" sz="1600" b="0" i="0" dirty="0">
                            <a:solidFill>
                              <a:schemeClr val="tx1"/>
                            </a:solidFill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Gmarket Sans TTF Medium" panose="02000000000000000000" pitchFamily="2" charset="-128"/>
                                  </a:rPr>
                                  <m:t>7</m:t>
                                </m:r>
                                <m:d>
                                  <m:dPr>
                                    <m:ctrlP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  <m:t>𝑛</m:t>
                                    </m:r>
                                    <m: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  <m:t>−1</m:t>
                                    </m:r>
                                  </m:e>
                                </m:d>
                                <m:sSub>
                                  <m:sSubPr>
                                    <m:ctrlP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en-US" sz="16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Gmarket Sans TTF Medium" panose="02000000000000000000" pitchFamily="2" charset="-128"/>
                                  </a:rPr>
                                  <m:t>(</m:t>
                                </m:r>
                                <m:r>
                                  <a:rPr lang="en-US" alt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Gmarket Sans TTF Medium" panose="02000000000000000000" pitchFamily="2" charset="-128"/>
                                  </a:rPr>
                                  <m:t>𝑛</m:t>
                                </m:r>
                                <m:r>
                                  <a:rPr lang="en-US" alt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Gmarket Sans TTF Medium" panose="02000000000000000000" pitchFamily="2" charset="-128"/>
                                  </a:rPr>
                                  <m:t>)(</m:t>
                                </m:r>
                                <m:sSub>
                                  <m:sSubPr>
                                    <m:ctrlP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en-US" sz="16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  <m:t>𝑛</m:t>
                                    </m:r>
                                  </m:e>
                                </m:d>
                                <m:r>
                                  <a:rPr lang="en-US" alt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Gmarket Sans TTF Medium" panose="02000000000000000000" pitchFamily="2" charset="-128"/>
                                  </a:rPr>
                                  <m:t>−1)</m:t>
                                </m:r>
                              </m:oMath>
                            </m:oMathPara>
                          </a14:m>
                          <a:endParaRPr lang="ko-Kore-KR" altLang="en-US" sz="1600" b="0" i="0" dirty="0">
                            <a:solidFill>
                              <a:schemeClr val="tx1"/>
                            </a:solidFill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Gmarket Sans TTF Medium" panose="02000000000000000000" pitchFamily="2" charset="-128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en-US" sz="16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Gmarket Sans TTF Medium" panose="02000000000000000000" pitchFamily="2" charset="-128"/>
                                  </a:rPr>
                                  <m:t>(</m:t>
                                </m:r>
                                <m:r>
                                  <a:rPr lang="en-US" alt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Gmarket Sans TTF Medium" panose="02000000000000000000" pitchFamily="2" charset="-128"/>
                                  </a:rPr>
                                  <m:t>𝑛</m:t>
                                </m:r>
                                <m:r>
                                  <a:rPr lang="en-US" alt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Gmarket Sans TTF Medium" panose="02000000000000000000" pitchFamily="2" charset="-128"/>
                                  </a:rPr>
                                  <m:t>)(</m:t>
                                </m:r>
                                <m:sSub>
                                  <m:sSubPr>
                                    <m:ctrlP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altLang="en-US" sz="16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  <m:t>𝑛</m:t>
                                    </m:r>
                                  </m:e>
                                </m:d>
                                <m:r>
                                  <a:rPr lang="en-US" alt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Gmarket Sans TTF Medium" panose="02000000000000000000" pitchFamily="2" charset="-128"/>
                                  </a:rPr>
                                  <m:t>+1)</m:t>
                                </m:r>
                              </m:oMath>
                            </m:oMathPara>
                          </a14:m>
                          <a:endParaRPr lang="ko-Kore-KR" altLang="en-US" sz="1600" b="0" i="0" dirty="0">
                            <a:solidFill>
                              <a:schemeClr val="tx1"/>
                            </a:solidFill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12097434"/>
                      </a:ext>
                    </a:extLst>
                  </a:tr>
                  <a:tr h="581025">
                    <a:tc vMerge="1">
                      <a:txBody>
                        <a:bodyPr/>
                        <a:lstStyle/>
                        <a:p>
                          <a:pPr algn="ctr"/>
                          <a:endParaRPr lang="ko-Kore-KR" altLang="en-US" sz="1600" b="0" i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Gauss-Jordan </a:t>
                          </a:r>
                        </a:p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Elimination: </a:t>
                          </a:r>
                          <a14:m>
                            <m:oMath xmlns:m="http://schemas.openxmlformats.org/officeDocument/2006/math">
                              <m:r>
                                <a:rPr lang="en-US" altLang="en-US" sz="1700" b="0" i="0" smtClean="0">
                                  <a:latin typeface="Cambria Math" panose="02040503050406030204" pitchFamily="18" charset="0"/>
                                  <a:ea typeface="Gmarket Sans TTF Medium" panose="02000000000000000000" pitchFamily="2" charset="-128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en-US" sz="1700" b="0" i="1" smtClean="0">
                                      <a:latin typeface="Cambria Math" panose="02040503050406030204" pitchFamily="18" charset="0"/>
                                      <a:ea typeface="Gmarket Sans TTF Medium" panose="02000000000000000000" pitchFamily="2" charset="-128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altLang="en-US" sz="1700" b="0" i="1" smtClean="0">
                                          <a:latin typeface="Cambria Math" panose="02040503050406030204" pitchFamily="18" charset="0"/>
                                          <a:ea typeface="Gmarket Sans TTF Medium" panose="02000000000000000000" pitchFamily="2" charset="-128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1700" b="0" i="1" smtClean="0">
                                          <a:latin typeface="Cambria Math" panose="02040503050406030204" pitchFamily="18" charset="0"/>
                                          <a:ea typeface="Gmarket Sans TTF Medium" panose="02000000000000000000" pitchFamily="2" charset="-128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altLang="en-US" sz="1700" b="0" i="1" smtClean="0">
                                          <a:latin typeface="Cambria Math" panose="02040503050406030204" pitchFamily="18" charset="0"/>
                                          <a:ea typeface="Gmarket Sans TTF Medium" panose="02000000000000000000" pitchFamily="2" charset="-128"/>
                                        </a:rPr>
                                        <m:t>𝑛</m:t>
                                      </m:r>
                                      <m:r>
                                        <a:rPr lang="en-US" altLang="en-US" sz="1700" b="0" i="1" smtClean="0">
                                          <a:latin typeface="Cambria Math" panose="02040503050406030204" pitchFamily="18" charset="0"/>
                                          <a:ea typeface="Gmarket Sans TTF Medium" panose="02000000000000000000" pitchFamily="2" charset="-128"/>
                                        </a:rPr>
                                        <m:t>−</m:t>
                                      </m:r>
                                      <m:r>
                                        <a:rPr lang="en-US" altLang="en-US" sz="1700" b="0" i="1" smtClean="0">
                                          <a:latin typeface="Cambria Math" panose="02040503050406030204" pitchFamily="18" charset="0"/>
                                          <a:ea typeface="Gmarket Sans TTF Medium" panose="02000000000000000000" pitchFamily="2" charset="-128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altLang="en-US" sz="1700" b="0" i="1" smtClean="0">
                                      <a:latin typeface="Cambria Math" panose="02040503050406030204" pitchFamily="18" charset="0"/>
                                      <a:ea typeface="Gmarket Sans TTF Medium" panose="02000000000000000000" pitchFamily="2" charset="-128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en-US" sz="1700" b="0" i="1" smtClean="0">
                                      <a:latin typeface="Cambria Math" panose="02040503050406030204" pitchFamily="18" charset="0"/>
                                      <a:ea typeface="Gmarket Sans TTF Medium" panose="02000000000000000000" pitchFamily="2" charset="-128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altLang="en-US" sz="1700" b="0" i="1" smtClean="0">
                                  <a:latin typeface="Cambria Math" panose="02040503050406030204" pitchFamily="18" charset="0"/>
                                  <a:ea typeface="Gmarket Sans TTF Medium" panose="02000000000000000000" pitchFamily="2" charset="-128"/>
                                </a:rPr>
                                <m:t>𝑠</m:t>
                              </m:r>
                            </m:oMath>
                          </a14:m>
                          <a:endParaRPr lang="ko-Kore-KR" altLang="en-US" sz="1700" b="0" i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ko-Kore-KR" altLang="en-US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Gmarket Sans TTF Medium" panose="02000000000000000000" pitchFamily="2" charset="-128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en-US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Gmarket Sans TTF Medium" panose="02000000000000000000" pitchFamily="2" charset="-128"/>
                                          </a:rPr>
                                          <m:t>7</m:t>
                                        </m:r>
                                        <m:r>
                                          <a:rPr lang="en-US" altLang="en-US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Gmarket Sans TTF Medium" panose="02000000000000000000" pitchFamily="2" charset="-128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altLang="en-US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Gmarket Sans TTF Medium" panose="02000000000000000000" pitchFamily="2" charset="-128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  <m:t>−11</m:t>
                                    </m:r>
                                    <m: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  <m:t>𝑛</m:t>
                                    </m:r>
                                    <m: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  <m:t>+6</m:t>
                                    </m:r>
                                  </m:num>
                                  <m:den>
                                    <m: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ko-Kore-KR" altLang="en-US" sz="1600" b="0" i="0" dirty="0">
                            <a:solidFill>
                              <a:schemeClr val="tx1"/>
                            </a:solidFill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  <m:t>7</m:t>
                                    </m:r>
                                    <m: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  <m:t>𝑛</m:t>
                                    </m:r>
                                    <m: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  <m:t>(</m:t>
                                    </m:r>
                                    <m:sSup>
                                      <m:sSupPr>
                                        <m:ctrlPr>
                                          <a:rPr lang="ko-Kore-KR" altLang="en-US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Gmarket Sans TTF Medium" panose="02000000000000000000" pitchFamily="2" charset="-128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en-US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Gmarket Sans TTF Medium" panose="02000000000000000000" pitchFamily="2" charset="-128"/>
                                          </a:rPr>
                                          <m:t>5</m:t>
                                        </m:r>
                                        <m:r>
                                          <a:rPr lang="en-US" altLang="en-US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Gmarket Sans TTF Medium" panose="02000000000000000000" pitchFamily="2" charset="-128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altLang="en-US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Gmarket Sans TTF Medium" panose="02000000000000000000" pitchFamily="2" charset="-128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  <m:t>+3</m:t>
                                    </m:r>
                                    <m: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  <m:t>𝑛</m:t>
                                    </m:r>
                                    <m: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  <m:t>−8)</m:t>
                                    </m:r>
                                  </m:num>
                                  <m:den>
                                    <m: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  <m:t>6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ko-Kore-KR" altLang="en-US" sz="1600" b="0" i="0" dirty="0">
                            <a:solidFill>
                              <a:schemeClr val="tx1"/>
                            </a:solidFill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ko-Kore-KR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  <m:t>2</m:t>
                                    </m:r>
                                    <m: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Gmarket Sans TTF Medium" panose="02000000000000000000" pitchFamily="2" charset="-128"/>
                                  </a:rPr>
                                  <m:t>+2</m:t>
                                </m:r>
                                <m:r>
                                  <a:rPr lang="en-US" alt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Gmarket Sans TTF Medium" panose="02000000000000000000" pitchFamily="2" charset="-128"/>
                                  </a:rPr>
                                  <m:t>𝑛</m:t>
                                </m:r>
                                <m:r>
                                  <a:rPr lang="en-US" alt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Gmarket Sans TTF Medium" panose="02000000000000000000" pitchFamily="2" charset="-128"/>
                                  </a:rPr>
                                  <m:t>−4</m:t>
                                </m:r>
                              </m:oMath>
                            </m:oMathPara>
                          </a14:m>
                          <a:endParaRPr lang="ko-Kore-KR" altLang="en-US" sz="1600" b="0" i="0" dirty="0">
                            <a:solidFill>
                              <a:schemeClr val="tx1"/>
                            </a:solidFill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57759637"/>
                      </a:ext>
                    </a:extLst>
                  </a:tr>
                  <a:tr h="581025">
                    <a:tc vMerge="1">
                      <a:txBody>
                        <a:bodyPr/>
                        <a:lstStyle/>
                        <a:p>
                          <a:pPr algn="ctr"/>
                          <a:endParaRPr lang="ko-Kore-KR" altLang="en-US" sz="1600" b="0" i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Weight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kumimoji="1" lang="en-US" altLang="ko-Kore-KR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kumimoji="1" lang="en-US" altLang="ko-Kore-KR" sz="16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ko-Kore-KR" sz="1600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kumimoji="1" lang="en-US" altLang="ko-Kore-KR" sz="1600" b="0" i="0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kumimoji="1" lang="en-US" altLang="ko-Kore-KR" sz="1600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kumimoji="1" lang="en-US" altLang="ko-Kore-KR" sz="16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kumimoji="1" lang="en-US" altLang="ko-Kore-KR" sz="16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kumimoji="1" lang="en-US" altLang="ko-Kore-KR" sz="16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kumimoji="1" lang="en-US" altLang="ko-Kore-KR" sz="16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kumimoji="1" lang="en-US" altLang="ko-Kore-KR" sz="16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kumimoji="1" lang="en-US" altLang="ko-Kore-KR" sz="16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oMath>
                          </a14:m>
                          <a:endParaRPr lang="ko-Kore-KR" altLang="en-US" sz="1500" b="0" i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Gmarket Sans TTF Medium" panose="02000000000000000000" pitchFamily="2" charset="-128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ko-Kore-KR" altLang="en-US" sz="1600" b="0" i="0" dirty="0">
                            <a:solidFill>
                              <a:schemeClr val="tx1"/>
                            </a:solidFill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Gmarket Sans TTF Medium" panose="02000000000000000000" pitchFamily="2" charset="-128"/>
                                  </a:rPr>
                                  <m:t>4</m:t>
                                </m:r>
                                <m:sSup>
                                  <m:sSupPr>
                                    <m:ctrlP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⌈"/>
                                        <m:endChr m:val="⌉"/>
                                        <m:ctrlPr>
                                          <a:rPr lang="en-US" altLang="en-US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Gmarket Sans TTF Medium" panose="02000000000000000000" pitchFamily="2" charset="-128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en-US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Gmarket Sans TTF Medium" panose="02000000000000000000" pitchFamily="2" charset="-128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en-US" sz="1600" b="0" i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Gmarket Sans TTF Medium" panose="02000000000000000000" pitchFamily="2" charset="-128"/>
                                              </a:rPr>
                                              <m:t>log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en-US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Gmarket Sans TTF Medium" panose="02000000000000000000" pitchFamily="2" charset="-128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lang="en-US" altLang="en-US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Gmarket Sans TTF Medium" panose="02000000000000000000" pitchFamily="2" charset="-128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en-US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Gmarket Sans TTF Medium" panose="02000000000000000000" pitchFamily="2" charset="-128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n-US" altLang="en-US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Gmarket Sans TTF Medium" panose="02000000000000000000" pitchFamily="2" charset="-128"/>
                                              </a:rPr>
                                              <m:t>/2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ore-KR" altLang="en-US" sz="1600" b="0" i="0" dirty="0">
                            <a:solidFill>
                              <a:schemeClr val="tx1"/>
                            </a:solidFill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Gmarket Sans TTF Medium" panose="02000000000000000000" pitchFamily="2" charset="-128"/>
                                  </a:rPr>
                                  <m:t>10.5</m:t>
                                </m:r>
                                <m:r>
                                  <a:rPr lang="en-US" alt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Gmarket Sans TTF Medium" panose="02000000000000000000" pitchFamily="2" charset="-128"/>
                                  </a:rPr>
                                  <m:t>𝑛</m:t>
                                </m:r>
                                <m:r>
                                  <a:rPr lang="en-US" alt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Gmarket Sans TTF Medium" panose="02000000000000000000" pitchFamily="2" charset="-128"/>
                                  </a:rPr>
                                  <m:t>−7</m:t>
                                </m:r>
                                <m:sSup>
                                  <m:sSupPr>
                                    <m:ctrlP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⌈"/>
                                        <m:endChr m:val="⌉"/>
                                        <m:ctrlPr>
                                          <a:rPr lang="en-US" altLang="en-US" sz="16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Gmarket Sans TTF Medium" panose="02000000000000000000" pitchFamily="2" charset="-128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en-US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Gmarket Sans TTF Medium" panose="02000000000000000000" pitchFamily="2" charset="-128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en-US" sz="1600" b="0" i="0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Gmarket Sans TTF Medium" panose="02000000000000000000" pitchFamily="2" charset="-128"/>
                                              </a:rPr>
                                              <m:t>log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en-US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Gmarket Sans TTF Medium" panose="02000000000000000000" pitchFamily="2" charset="-128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d>
                                          <m:dPr>
                                            <m:ctrlPr>
                                              <a:rPr lang="en-US" altLang="en-US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Gmarket Sans TTF Medium" panose="02000000000000000000" pitchFamily="2" charset="-128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US" altLang="en-US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Gmarket Sans TTF Medium" panose="02000000000000000000" pitchFamily="2" charset="-128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n-US" altLang="en-US" sz="16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Gmarket Sans TTF Medium" panose="02000000000000000000" pitchFamily="2" charset="-128"/>
                                              </a:rPr>
                                              <m:t>/2</m:t>
                                            </m:r>
                                          </m:e>
                                        </m:d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en-US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ore-KR" altLang="en-US" sz="1600" b="0" i="0" dirty="0">
                            <a:solidFill>
                              <a:schemeClr val="tx1"/>
                            </a:solidFill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4055959"/>
                      </a:ext>
                    </a:extLst>
                  </a:tr>
                  <a:tr h="5810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Diffusion </a:t>
                          </a:r>
                        </a:p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Operator</a:t>
                          </a:r>
                          <a:endParaRPr lang="ko-Kore-KR" altLang="en-US" sz="1500" b="0" i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Amplify Dicke state </a:t>
                          </a:r>
                          <a:r>
                            <a:rPr lang="en-US" altLang="ko-Kore-KR" sz="1400" dirty="0">
                              <a:solidFill>
                                <a:schemeClr val="tx1"/>
                              </a:solidFill>
                              <a:sym typeface="Wingdings" pitchFamily="2" charset="2"/>
                            </a:rPr>
                            <a:t>I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"/>
                                  <m:endChr m:val="⟩"/>
                                  <m:ctrlPr>
                                    <a:rPr lang="en-US" altLang="ko-Kore-KR" sz="1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sym typeface="Wingdings" pitchFamily="2" charset="2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altLang="ko-Kore-KR" sz="140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ore-KR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altLang="ko-Kore-KR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n-US" altLang="ko-Kore-KR" sz="1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sym typeface="Wingdings" pitchFamily="2" charset="2"/>
                                        </a:rPr>
                                        <m:t>𝑛</m:t>
                                      </m:r>
                                    </m:sup>
                                  </m:sSubSup>
                                </m:e>
                              </m:d>
                            </m:oMath>
                          </a14:m>
                          <a:endParaRPr lang="ko-Kore-KR" altLang="en-US" sz="1500" b="0" i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Gmarket Sans TTF Medium" panose="02000000000000000000" pitchFamily="2" charset="-128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ko-Kore-KR" altLang="en-US" sz="1600" b="0" i="0" dirty="0">
                            <a:solidFill>
                              <a:schemeClr val="tx1"/>
                            </a:solidFill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Gmarket Sans TTF Medium" panose="02000000000000000000" pitchFamily="2" charset="-128"/>
                                </a:rPr>
                                <m:t>𝑛</m:t>
                              </m:r>
                              <m:r>
                                <a:rPr lang="en-US" altLang="en-US" sz="16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Gmarket Sans TTF Medium" panose="02000000000000000000" pitchFamily="2" charset="-128"/>
                                </a:rPr>
                                <m:t>−</m:t>
                              </m:r>
                            </m:oMath>
                          </a14:m>
                          <a:r>
                            <a:rPr lang="en-US" altLang="en-US" sz="1600" b="0" i="0" dirty="0">
                              <a:solidFill>
                                <a:schemeClr val="tx1"/>
                              </a:solidFill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controlle</a:t>
                          </a:r>
                          <a:r>
                            <a:rPr lang="en-US" altLang="en-US" sz="1600" b="0" i="0" baseline="0" dirty="0">
                              <a:solidFill>
                                <a:schemeClr val="tx1"/>
                              </a:solidFill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d gate</a:t>
                          </a:r>
                          <a:endParaRPr lang="ko-Kore-KR" altLang="en-US" sz="1600" b="0" i="0" dirty="0">
                            <a:solidFill>
                              <a:schemeClr val="tx1"/>
                            </a:solidFill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4306014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8" name="표 27">
                <a:extLst>
                  <a:ext uri="{FF2B5EF4-FFF2-40B4-BE49-F238E27FC236}">
                    <a16:creationId xmlns:a16="http://schemas.microsoft.com/office/drawing/2014/main" id="{8473D9ED-3AA9-95AC-14F9-14244DB10A9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0418383"/>
                  </p:ext>
                </p:extLst>
              </p:nvPr>
            </p:nvGraphicFramePr>
            <p:xfrm>
              <a:off x="814301" y="2033146"/>
              <a:ext cx="10755185" cy="392178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22668">
                      <a:extLst>
                        <a:ext uri="{9D8B030D-6E8A-4147-A177-3AD203B41FA5}">
                          <a16:colId xmlns:a16="http://schemas.microsoft.com/office/drawing/2014/main" val="2960314680"/>
                        </a:ext>
                      </a:extLst>
                    </a:gridCol>
                    <a:gridCol w="2965266">
                      <a:extLst>
                        <a:ext uri="{9D8B030D-6E8A-4147-A177-3AD203B41FA5}">
                          <a16:colId xmlns:a16="http://schemas.microsoft.com/office/drawing/2014/main" val="3543870889"/>
                        </a:ext>
                      </a:extLst>
                    </a:gridCol>
                    <a:gridCol w="1364187">
                      <a:extLst>
                        <a:ext uri="{9D8B030D-6E8A-4147-A177-3AD203B41FA5}">
                          <a16:colId xmlns:a16="http://schemas.microsoft.com/office/drawing/2014/main" val="3374579767"/>
                        </a:ext>
                      </a:extLst>
                    </a:gridCol>
                    <a:gridCol w="2857457">
                      <a:extLst>
                        <a:ext uri="{9D8B030D-6E8A-4147-A177-3AD203B41FA5}">
                          <a16:colId xmlns:a16="http://schemas.microsoft.com/office/drawing/2014/main" val="3624024535"/>
                        </a:ext>
                      </a:extLst>
                    </a:gridCol>
                    <a:gridCol w="2245607">
                      <a:extLst>
                        <a:ext uri="{9D8B030D-6E8A-4147-A177-3AD203B41FA5}">
                          <a16:colId xmlns:a16="http://schemas.microsoft.com/office/drawing/2014/main" val="4270510921"/>
                        </a:ext>
                      </a:extLst>
                    </a:gridCol>
                  </a:tblGrid>
                  <a:tr h="39264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QISD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Module</a:t>
                          </a:r>
                          <a:endParaRPr sz="15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ore-KR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Qubits</a:t>
                          </a:r>
                          <a:endParaRPr lang="ko-Kore-KR" altLang="en-US" sz="1500" b="0" i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ko-Kore-KR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# T</a:t>
                          </a:r>
                          <a:endParaRPr lang="ko-Kore-KR" altLang="en-US" sz="15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ore-KR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T-depth</a:t>
                          </a:r>
                          <a:endParaRPr lang="ko-Kore-KR" altLang="en-US" sz="1500" b="0" i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927084367"/>
                      </a:ext>
                    </a:extLst>
                  </a:tr>
                  <a:tr h="581025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Input </a:t>
                          </a:r>
                        </a:p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Setting</a:t>
                          </a: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0584" marR="100584" anchor="ctr">
                        <a:blipFill>
                          <a:blip r:embed="rId2"/>
                          <a:stretch>
                            <a:fillRect l="-44872" t="-69565" r="-218803" b="-5695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6822" t="-69565" r="-378505" b="-5695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8222" t="-69565" r="-80000" b="-5695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79096" t="-69565" r="-1695" b="-56956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2914695"/>
                      </a:ext>
                    </a:extLst>
                  </a:tr>
                  <a:tr h="624015">
                    <a:tc vMerge="1">
                      <a:txBody>
                        <a:bodyPr/>
                        <a:lstStyle/>
                        <a:p>
                          <a:pPr algn="ctr"/>
                          <a:endParaRPr lang="ko-Kore-KR" altLang="en-US" sz="1600" b="0" i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0584" marR="100584" anchor="ctr">
                        <a:blipFill>
                          <a:blip r:embed="rId2"/>
                          <a:stretch>
                            <a:fillRect l="-44872" t="-159184" r="-218803" b="-4346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6822" t="-159184" r="-378505" b="-4346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8222" t="-159184" r="-80000" b="-4346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79096" t="-159184" r="-1695" b="-4346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631906"/>
                      </a:ext>
                    </a:extLst>
                  </a:tr>
                  <a:tr h="581025"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Oracle</a:t>
                          </a:r>
                          <a:endParaRPr lang="ko-Kore-KR" altLang="en-US" sz="1500" b="0" i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0584" marR="100584" anchor="ctr">
                        <a:blipFill>
                          <a:blip r:embed="rId2"/>
                          <a:stretch>
                            <a:fillRect l="-44872" t="-276087" r="-218803" b="-3630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6822" t="-276087" r="-378505" b="-3630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8222" t="-276087" r="-80000" b="-3630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79096" t="-276087" r="-1695" b="-3630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2097434"/>
                      </a:ext>
                    </a:extLst>
                  </a:tr>
                  <a:tr h="581025">
                    <a:tc vMerge="1">
                      <a:txBody>
                        <a:bodyPr/>
                        <a:lstStyle/>
                        <a:p>
                          <a:pPr algn="ctr"/>
                          <a:endParaRPr lang="ko-Kore-KR" altLang="en-US" sz="1600" b="0" i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0584" marR="100584" anchor="ctr">
                        <a:blipFill>
                          <a:blip r:embed="rId2"/>
                          <a:stretch>
                            <a:fillRect l="-44872" t="-384444" r="-218803" b="-27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6822" t="-384444" r="-378505" b="-27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8222" t="-384444" r="-80000" b="-27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79096" t="-384444" r="-1695" b="-27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57759637"/>
                      </a:ext>
                    </a:extLst>
                  </a:tr>
                  <a:tr h="581025">
                    <a:tc vMerge="1">
                      <a:txBody>
                        <a:bodyPr/>
                        <a:lstStyle/>
                        <a:p>
                          <a:pPr algn="ctr"/>
                          <a:endParaRPr lang="ko-Kore-KR" altLang="en-US" sz="1600" b="0" i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0584" marR="100584" anchor="ctr">
                        <a:blipFill>
                          <a:blip r:embed="rId2"/>
                          <a:stretch>
                            <a:fillRect l="-44872" t="-473913" r="-218803" b="-1652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6822" t="-473913" r="-378505" b="-1652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8222" t="-473913" r="-80000" b="-1652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79096" t="-473913" r="-1695" b="-1652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4055959"/>
                      </a:ext>
                    </a:extLst>
                  </a:tr>
                  <a:tr h="5810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Diffusion </a:t>
                          </a:r>
                        </a:p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Operator</a:t>
                          </a:r>
                          <a:endParaRPr lang="ko-Kore-KR" altLang="en-US" sz="1500" b="0" i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0584" marR="100584" anchor="ctr">
                        <a:blipFill>
                          <a:blip r:embed="rId2"/>
                          <a:stretch>
                            <a:fillRect l="-44872" t="-573913" r="-218803" b="-652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6822" t="-573913" r="-378505" b="-65217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0945" t="-573913" r="-746" b="-6521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4306014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6D47B87-2C01-6B7F-5250-719CFF830826}"/>
                  </a:ext>
                </a:extLst>
              </p:cNvPr>
              <p:cNvSpPr txBox="1"/>
              <p:nvPr/>
            </p:nvSpPr>
            <p:spPr>
              <a:xfrm>
                <a:off x="10349793" y="5954932"/>
                <a:ext cx="12196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ko-KR" dirty="0"/>
                  <a:t># 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alt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alt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/2</m:t>
                    </m:r>
                  </m:oMath>
                </a14:m>
                <a:endParaRPr kumimoji="1" lang="ko-KR" alt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6D47B87-2C01-6B7F-5250-719CFF8308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49793" y="5954932"/>
                <a:ext cx="1219693" cy="369332"/>
              </a:xfrm>
              <a:prstGeom prst="rect">
                <a:avLst/>
              </a:prstGeom>
              <a:blipFill>
                <a:blip r:embed="rId3"/>
                <a:stretch>
                  <a:fillRect l="-5155" t="-6667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슬라이드 번호 개체 틀 10">
            <a:extLst>
              <a:ext uri="{FF2B5EF4-FFF2-40B4-BE49-F238E27FC236}">
                <a16:creationId xmlns:a16="http://schemas.microsoft.com/office/drawing/2014/main" id="{A217D0D4-0F2D-3EDE-7E59-54C484DA2C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8852B28-D290-2A4B-A90A-47EAEF72A8E4}" type="slidenum">
              <a:rPr kumimoji="1" lang="ko-Kore-KR" altLang="en-US" smtClean="0"/>
              <a:t>23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2176682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9">
          <a:extLst>
            <a:ext uri="{FF2B5EF4-FFF2-40B4-BE49-F238E27FC236}">
              <a16:creationId xmlns:a16="http://schemas.microsoft.com/office/drawing/2014/main" id="{FFADE303-9652-07FF-4F80-B2E23C123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80">
            <a:extLst>
              <a:ext uri="{FF2B5EF4-FFF2-40B4-BE49-F238E27FC236}">
                <a16:creationId xmlns:a16="http://schemas.microsoft.com/office/drawing/2014/main" id="{ED5D7C16-1591-28C3-7EF9-5C4B4F940A52}"/>
              </a:ext>
            </a:extLst>
          </p:cNvPr>
          <p:cNvSpPr/>
          <p:nvPr/>
        </p:nvSpPr>
        <p:spPr>
          <a:xfrm>
            <a:off x="304800" y="142875"/>
            <a:ext cx="11639550" cy="104775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80">
            <a:extLst>
              <a:ext uri="{FF2B5EF4-FFF2-40B4-BE49-F238E27FC236}">
                <a16:creationId xmlns:a16="http://schemas.microsoft.com/office/drawing/2014/main" id="{00E70D30-D2A3-B136-9342-F261537FC8B6}"/>
              </a:ext>
            </a:extLst>
          </p:cNvPr>
          <p:cNvSpPr txBox="1"/>
          <p:nvPr/>
        </p:nvSpPr>
        <p:spPr>
          <a:xfrm>
            <a:off x="1027347" y="2998133"/>
            <a:ext cx="10137305" cy="86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lang="ko-KR" altLang="en-US" sz="5000" dirty="0">
                <a:solidFill>
                  <a:schemeClr val="dk1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  <a:cs typeface="Calibri"/>
                <a:sym typeface="Calibri"/>
              </a:rPr>
              <a:t>코드기반암호에 대한 양자 공격 비용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81FCFAC-73FD-2274-A8B2-501F6D324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AB9D3-EAF0-7A44-B522-0A500B1E98A1}" type="slidenum">
              <a:rPr kumimoji="1" lang="ko-Kore-KR" altLang="en-US" smtClean="0"/>
              <a:t>24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664079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82A57-5F75-A668-2A54-72EF5ACEC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54C933-4ABC-E319-0672-74C0F1362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ko-KR" altLang="en-US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코드기반암호에 대한</a:t>
            </a:r>
            <a:r>
              <a:rPr kumimoji="1" lang="en-US" altLang="ko-KR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kumimoji="1" lang="ko-KR" altLang="en-US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양자</a:t>
            </a:r>
            <a:r>
              <a:rPr kumimoji="1" lang="en-US" altLang="ko-KR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ISD </a:t>
            </a:r>
            <a:r>
              <a:rPr kumimoji="1" lang="ko-KR" altLang="en-US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공격 비용 추정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E4FC4DE1-CE1E-C4EB-ADBE-78EC5CE8F99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177514" y="1121028"/>
                <a:ext cx="12008071" cy="5603875"/>
              </a:xfrm>
            </p:spPr>
            <p:txBody>
              <a:bodyPr/>
              <a:lstStyle/>
              <a:p>
                <a:r>
                  <a:rPr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코드기반암호에 대해 </a:t>
                </a:r>
                <a:r>
                  <a:rPr lang="en-US" altLang="ko-KR" sz="2200" b="1" dirty="0">
                    <a:latin typeface="Gmarket Sans TTF Bold" panose="02000000000000000000" pitchFamily="2" charset="-128"/>
                    <a:ea typeface="Gmarket Sans TTF Bold" panose="02000000000000000000" pitchFamily="2" charset="-128"/>
                  </a:rPr>
                  <a:t>Grover </a:t>
                </a:r>
                <a:r>
                  <a:rPr lang="ko-KR" altLang="en-US" sz="2200" b="1" dirty="0">
                    <a:latin typeface="Gmarket Sans TTF Bold" panose="02000000000000000000" pitchFamily="2" charset="-128"/>
                    <a:ea typeface="Gmarket Sans TTF Bold" panose="02000000000000000000" pitchFamily="2" charset="-128"/>
                  </a:rPr>
                  <a:t>알고리즘</a:t>
                </a:r>
                <a:r>
                  <a:rPr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을 사용한 </a:t>
                </a:r>
                <a:r>
                  <a:rPr lang="ko-KR" altLang="en-US" sz="2200" b="1" dirty="0">
                    <a:latin typeface="Gmarket Sans TTF Bold" panose="02000000000000000000" pitchFamily="2" charset="-128"/>
                    <a:ea typeface="Gmarket Sans TTF Bold" panose="02000000000000000000" pitchFamily="2" charset="-128"/>
                  </a:rPr>
                  <a:t>양자</a:t>
                </a:r>
                <a:r>
                  <a:rPr lang="en-US" altLang="ko-KR" sz="2200" b="1" dirty="0">
                    <a:latin typeface="Gmarket Sans TTF Bold" panose="02000000000000000000" pitchFamily="2" charset="-128"/>
                    <a:ea typeface="Gmarket Sans TTF Bold" panose="02000000000000000000" pitchFamily="2" charset="-128"/>
                  </a:rPr>
                  <a:t> ISD </a:t>
                </a:r>
                <a:r>
                  <a:rPr lang="ko-KR" altLang="en-US" sz="2200" b="1" dirty="0">
                    <a:latin typeface="Gmarket Sans TTF Bold" panose="02000000000000000000" pitchFamily="2" charset="-128"/>
                    <a:ea typeface="Gmarket Sans TTF Bold" panose="02000000000000000000" pitchFamily="2" charset="-128"/>
                  </a:rPr>
                  <a:t>공격 비용 추정</a:t>
                </a:r>
                <a:endParaRPr lang="en-US" altLang="ko-KR" sz="2200" b="1" dirty="0">
                  <a:latin typeface="Gmarket Sans TTF Bold" panose="02000000000000000000" pitchFamily="2" charset="-128"/>
                  <a:ea typeface="Gmarket Sans TTF Bold" panose="02000000000000000000" pitchFamily="2" charset="-128"/>
                </a:endParaRPr>
              </a:p>
              <a:p>
                <a:endParaRPr lang="en-US" altLang="ko-KR" sz="1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lvl="1"/>
                <a:r>
                  <a:rPr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Grover </a:t>
                </a:r>
                <a:r>
                  <a:rPr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반복 횟수</a:t>
                </a:r>
                <a:endParaRPr lang="en-US" altLang="ko-KR" sz="22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lvl="2"/>
                <a:r>
                  <a:rPr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Classic McEliece (Level 1):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200" i="1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en-US" altLang="ko-KR" sz="2200" i="1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  <m:t>2</m:t>
                        </m:r>
                      </m:e>
                      <m:sup>
                        <m:r>
                          <a:rPr lang="en-US" altLang="ko-KR" sz="2200" b="0" i="1" smtClean="0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  <m:t>72</m:t>
                        </m:r>
                      </m:sup>
                    </m:sSup>
                  </m:oMath>
                </a14:m>
                <a:r>
                  <a:rPr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 </a:t>
                </a:r>
                <a:endParaRPr lang="en-US" altLang="ko-KR" sz="22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lvl="2"/>
                <a:r>
                  <a:rPr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Classic McEliece (Level 3):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200" i="1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en-US" altLang="ko-KR" sz="2200" i="1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  <m:t>2</m:t>
                        </m:r>
                      </m:e>
                      <m:sup>
                        <m:r>
                          <a:rPr lang="en-US" altLang="ko-KR" sz="2200" b="0" i="1" smtClean="0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  <m:t>93</m:t>
                        </m:r>
                        <m:r>
                          <a:rPr lang="en-US" altLang="ko-KR" sz="2200" i="1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 </a:t>
                </a:r>
              </a:p>
              <a:p>
                <a:pPr lvl="2"/>
                <a:r>
                  <a:rPr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Classic McEliece (Level 5):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200" i="1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en-US" altLang="ko-KR" sz="2200" i="1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  <m:t>2</m:t>
                        </m:r>
                      </m:e>
                      <m:sup>
                        <m:r>
                          <a:rPr lang="en-US" altLang="ko-KR" sz="2200" b="0" i="1" smtClean="0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  <m:t>131</m:t>
                        </m:r>
                        <m:r>
                          <a:rPr lang="en-US" altLang="ko-KR" sz="2200" i="1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  <m:t> </m:t>
                        </m:r>
                      </m:sup>
                    </m:sSup>
                  </m:oMath>
                </a14:m>
                <a:r>
                  <a:rPr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 </a:t>
                </a:r>
              </a:p>
              <a:p>
                <a:pPr lvl="2"/>
                <a:endParaRPr lang="en-US" altLang="ko-KR" sz="22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lvl="2"/>
                <a:r>
                  <a:rPr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HQC (Level 1)</a:t>
                </a:r>
                <a:r>
                  <a:rPr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200" i="1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en-US" altLang="ko-KR" sz="2200" b="0" i="1" smtClean="0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  <m:t> </m:t>
                        </m:r>
                        <m:r>
                          <a:rPr lang="en-US" altLang="ko-KR" sz="2200" i="1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  <m:t>2</m:t>
                        </m:r>
                      </m:e>
                      <m:sup>
                        <m:r>
                          <a:rPr lang="en-US" altLang="ko-KR" sz="2200" i="1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  <m:t>59 </m:t>
                        </m:r>
                      </m:sup>
                    </m:sSup>
                  </m:oMath>
                </a14:m>
                <a:r>
                  <a:rPr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 </a:t>
                </a:r>
              </a:p>
              <a:p>
                <a:pPr lvl="2"/>
                <a:r>
                  <a:rPr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HQC (Level 3)</a:t>
                </a:r>
                <a:r>
                  <a:rPr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:</a:t>
                </a:r>
                <a:r>
                  <a:rPr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200" i="1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en-US" altLang="ko-KR" sz="2200" i="1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  <m:t>2</m:t>
                        </m:r>
                      </m:e>
                      <m:sup>
                        <m:r>
                          <a:rPr lang="en-US" altLang="ko-KR" sz="2200" b="0" i="1" smtClean="0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  <m:t>93</m:t>
                        </m:r>
                        <m:r>
                          <a:rPr lang="en-US" altLang="ko-KR" sz="2200" i="1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  <m:t> </m:t>
                        </m:r>
                      </m:sup>
                    </m:sSup>
                  </m:oMath>
                </a14:m>
                <a:endParaRPr lang="en-US" altLang="ko-KR" sz="2200" dirty="0">
                  <a:latin typeface="Gmarket Sans TTF Medium" panose="02000000000000000000" pitchFamily="2" charset="-128"/>
                  <a:ea typeface="Gmarket Sans TTF Medium" panose="02000000000000000000" pitchFamily="2" charset="-128"/>
                  <a:sym typeface="Wingdings" pitchFamily="2" charset="2"/>
                </a:endParaRPr>
              </a:p>
              <a:p>
                <a:pPr lvl="2"/>
                <a:r>
                  <a:rPr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HQC (Level 5)</a:t>
                </a:r>
                <a:r>
                  <a:rPr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: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sz="2200" dirty="0">
                        <a:latin typeface="Gmarket Sans TTF Medium" panose="02000000000000000000" pitchFamily="2" charset="-128"/>
                        <a:ea typeface="Gmarket Sans TTF Medium" panose="02000000000000000000" pitchFamily="2" charset="-128"/>
                        <a:sym typeface="Wingdings" pitchFamily="2" charset="2"/>
                      </a:rPr>
                      <m:t> </m:t>
                    </m:r>
                    <m:sSup>
                      <m:sSupPr>
                        <m:ctrlPr>
                          <a:rPr lang="en-US" altLang="ko-KR" sz="2200" i="1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en-US" altLang="ko-KR" sz="2200" i="1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  <m:t>2</m:t>
                        </m:r>
                      </m:e>
                      <m:sup>
                        <m:r>
                          <a:rPr lang="en-US" altLang="ko-KR" sz="2200" b="0" i="1" smtClean="0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  <m:t>123</m:t>
                        </m:r>
                        <m:r>
                          <a:rPr lang="en-US" altLang="ko-KR" sz="2200" i="1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  <m:t> </m:t>
                        </m:r>
                      </m:sup>
                    </m:sSup>
                  </m:oMath>
                </a14:m>
                <a:endParaRPr lang="en-US" altLang="ko-KR" sz="2200" dirty="0">
                  <a:latin typeface="Gmarket Sans TTF Medium" panose="02000000000000000000" pitchFamily="2" charset="-128"/>
                  <a:ea typeface="Gmarket Sans TTF Medium" panose="02000000000000000000" pitchFamily="2" charset="-128"/>
                  <a:sym typeface="Wingdings" pitchFamily="2" charset="2"/>
                </a:endParaRPr>
              </a:p>
              <a:p>
                <a:pPr lvl="1"/>
                <a:endParaRPr lang="en-US" altLang="ko-KR" sz="22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lvl="2"/>
                <a:r>
                  <a:rPr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BIKE (Level 5)</a:t>
                </a:r>
                <a:r>
                  <a:rPr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: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sz="2200" dirty="0">
                        <a:latin typeface="Gmarket Sans TTF Medium" panose="02000000000000000000" pitchFamily="2" charset="-128"/>
                        <a:ea typeface="Gmarket Sans TTF Medium" panose="02000000000000000000" pitchFamily="2" charset="-128"/>
                        <a:sym typeface="Wingdings" pitchFamily="2" charset="2"/>
                      </a:rPr>
                      <m:t> </m:t>
                    </m:r>
                    <m:sSup>
                      <m:sSupPr>
                        <m:ctrlPr>
                          <a:rPr lang="en-US" altLang="ko-KR" sz="2200" i="1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en-US" altLang="ko-KR" sz="2200" i="1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  <m:t>2</m:t>
                        </m:r>
                      </m:e>
                      <m:sup>
                        <m:r>
                          <a:rPr lang="en-US" altLang="ko-KR" sz="2200" b="0" i="1" smtClean="0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  <m:t>61</m:t>
                        </m:r>
                        <m:r>
                          <a:rPr lang="en-US" altLang="ko-KR" sz="2200" i="1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  <m:t> </m:t>
                        </m:r>
                      </m:sup>
                    </m:sSup>
                  </m:oMath>
                </a14:m>
                <a:endParaRPr lang="en-US" altLang="ko-KR" sz="22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lvl="2"/>
                <a:r>
                  <a:rPr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BIKE (Level 5)</a:t>
                </a:r>
                <a:r>
                  <a:rPr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: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sz="2200" dirty="0">
                        <a:latin typeface="Gmarket Sans TTF Medium" panose="02000000000000000000" pitchFamily="2" charset="-128"/>
                        <a:ea typeface="Gmarket Sans TTF Medium" panose="02000000000000000000" pitchFamily="2" charset="-128"/>
                        <a:sym typeface="Wingdings" pitchFamily="2" charset="2"/>
                      </a:rPr>
                      <m:t> </m:t>
                    </m:r>
                    <m:sSup>
                      <m:sSupPr>
                        <m:ctrlPr>
                          <a:rPr lang="en-US" altLang="ko-KR" sz="2200" i="1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en-US" altLang="ko-KR" sz="2200" i="1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  <m:t>2</m:t>
                        </m:r>
                      </m:e>
                      <m:sup>
                        <m:r>
                          <a:rPr lang="en-US" altLang="ko-KR" sz="2200" b="0" i="1" smtClean="0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  <m:t>9</m:t>
                        </m:r>
                        <m:r>
                          <a:rPr lang="en-US" altLang="ko-KR" sz="2200" i="1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  <m:t>3 </m:t>
                        </m:r>
                      </m:sup>
                    </m:sSup>
                  </m:oMath>
                </a14:m>
                <a:endParaRPr lang="en-US" altLang="ko-KR" sz="22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lvl="2"/>
                <a:r>
                  <a:rPr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BIKE (Level 5)</a:t>
                </a:r>
                <a:r>
                  <a:rPr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: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ko-KR" sz="2200" dirty="0">
                        <a:latin typeface="Gmarket Sans TTF Medium" panose="02000000000000000000" pitchFamily="2" charset="-128"/>
                        <a:ea typeface="Gmarket Sans TTF Medium" panose="02000000000000000000" pitchFamily="2" charset="-128"/>
                        <a:sym typeface="Wingdings" pitchFamily="2" charset="2"/>
                      </a:rPr>
                      <m:t> </m:t>
                    </m:r>
                    <m:sSup>
                      <m:sSupPr>
                        <m:ctrlPr>
                          <a:rPr lang="en-US" altLang="ko-KR" sz="2200" i="1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</m:ctrlPr>
                      </m:sSupPr>
                      <m:e>
                        <m:r>
                          <a:rPr lang="en-US" altLang="ko-KR" sz="2200" i="1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  <m:t>2</m:t>
                        </m:r>
                      </m:e>
                      <m:sup>
                        <m:r>
                          <a:rPr lang="en-US" altLang="ko-KR" sz="2200" b="0" i="1" smtClean="0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  <m:t>125</m:t>
                        </m:r>
                        <m:r>
                          <a:rPr lang="en-US" altLang="ko-KR" sz="2200" i="1">
                            <a:latin typeface="Cambria Math" panose="02040503050406030204" pitchFamily="18" charset="0"/>
                            <a:ea typeface="Gmarket Sans TTF Medium" panose="02000000000000000000" pitchFamily="2" charset="-128"/>
                            <a:sym typeface="Wingdings" pitchFamily="2" charset="2"/>
                          </a:rPr>
                          <m:t> </m:t>
                        </m:r>
                      </m:sup>
                    </m:sSup>
                  </m:oMath>
                </a14:m>
                <a:endParaRPr lang="en-US" altLang="ko-KR" sz="2200" dirty="0">
                  <a:latin typeface="Gmarket Sans TTF Medium" panose="02000000000000000000" pitchFamily="2" charset="-128"/>
                  <a:ea typeface="Gmarket Sans TTF Medium" panose="02000000000000000000" pitchFamily="2" charset="-128"/>
                  <a:sym typeface="Wingdings" pitchFamily="2" charset="2"/>
                </a:endParaRPr>
              </a:p>
              <a:p>
                <a:pPr lvl="1"/>
                <a:endParaRPr lang="en-US" altLang="ko-KR" sz="18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lvl="1"/>
                <a:endParaRPr lang="en-US" altLang="ko-KR" sz="22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lvl="1"/>
                <a:endParaRPr lang="en-US" altLang="ko-KR" sz="22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lvl="1"/>
                <a:endParaRPr lang="en-US" altLang="ko-KR" sz="22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marL="571500" lvl="1" indent="0">
                  <a:buNone/>
                </a:pPr>
                <a:endParaRPr lang="en-US" altLang="ko-KR" sz="22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marL="571500" lvl="1" indent="0">
                  <a:buNone/>
                </a:pPr>
                <a:endParaRPr lang="en-US" altLang="ko-KR" sz="10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lvl="1"/>
                <a:endParaRPr lang="ko-KR" altLang="en-US" sz="18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endParaRPr kumimoji="1" lang="ko-KR" altLang="en-US" dirty="0"/>
              </a:p>
            </p:txBody>
          </p:sp>
        </mc:Choice>
        <mc:Fallback>
          <p:sp>
            <p:nvSpPr>
              <p:cNvPr id="3" name="텍스트 개체 틀 2">
                <a:extLst>
                  <a:ext uri="{FF2B5EF4-FFF2-40B4-BE49-F238E27FC236}">
                    <a16:creationId xmlns:a16="http://schemas.microsoft.com/office/drawing/2014/main" id="{E4FC4DE1-CE1E-C4EB-ADBE-78EC5CE8F9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77514" y="1121028"/>
                <a:ext cx="12008071" cy="5603875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슬라이드 번호 개체 틀 10">
            <a:extLst>
              <a:ext uri="{FF2B5EF4-FFF2-40B4-BE49-F238E27FC236}">
                <a16:creationId xmlns:a16="http://schemas.microsoft.com/office/drawing/2014/main" id="{96431873-189E-4E41-5EF3-F52963BB65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8852B28-D290-2A4B-A90A-47EAEF72A8E4}" type="slidenum">
              <a:rPr kumimoji="1" lang="ko-Kore-KR" altLang="en-US" smtClean="0"/>
              <a:t>25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484897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B5060-7047-47D4-BF57-33DB5717E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175066-B54F-488B-3A65-4D2560EC2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ko-KR" altLang="en-US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코드기반암호에 대한 양자</a:t>
            </a:r>
            <a:r>
              <a:rPr kumimoji="1" lang="en-US" altLang="ko-KR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ISD </a:t>
            </a:r>
            <a:r>
              <a:rPr kumimoji="1" lang="ko-KR" altLang="en-US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공격 비용 추정</a:t>
            </a:r>
            <a:r>
              <a:rPr kumimoji="1" lang="en-US" altLang="ko-KR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:</a:t>
            </a:r>
            <a:r>
              <a:rPr kumimoji="1" lang="ko-KR" altLang="en-US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kumimoji="1" lang="en-US" altLang="ko-KR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HQC</a:t>
            </a:r>
            <a:endParaRPr kumimoji="1" lang="ko-KR" altLang="en-US" sz="3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8E989A-417B-64F5-D400-26A5725CE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4514" y="1121028"/>
            <a:ext cx="11369675" cy="5603875"/>
          </a:xfrm>
        </p:spPr>
        <p:txBody>
          <a:bodyPr/>
          <a:lstStyle/>
          <a:p>
            <a:r>
              <a:rPr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HQC</a:t>
            </a:r>
            <a:r>
              <a:rPr lang="ko-KR" altLang="en-US" sz="22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에</a:t>
            </a:r>
            <a:r>
              <a:rPr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대한 </a:t>
            </a:r>
            <a:r>
              <a:rPr lang="ko-KR" altLang="en-US" sz="2200" b="1" dirty="0"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양자</a:t>
            </a:r>
            <a:r>
              <a:rPr lang="en-US" altLang="ko-KR" sz="2200" b="1" dirty="0"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 ISD</a:t>
            </a:r>
            <a:r>
              <a:rPr lang="ko-KR" altLang="en-US" sz="2200" b="1" dirty="0"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 회로 비용</a:t>
            </a:r>
            <a:endParaRPr lang="en-US" altLang="ko-KR" sz="2200" b="1" dirty="0">
              <a:latin typeface="Gmarket Sans TTF Bold" panose="02000000000000000000" pitchFamily="2" charset="-128"/>
              <a:ea typeface="Gmarket Sans TTF Bold" panose="02000000000000000000" pitchFamily="2" charset="-128"/>
            </a:endParaRPr>
          </a:p>
          <a:p>
            <a:endParaRPr lang="en-US" altLang="ko-KR" sz="2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endParaRPr lang="en-US" altLang="ko-KR" sz="2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endParaRPr lang="en-US" altLang="ko-KR" sz="2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endParaRPr lang="en-US" altLang="ko-KR" sz="2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marL="114300" indent="0">
              <a:buNone/>
            </a:pPr>
            <a:endParaRPr lang="en-US" altLang="ko-KR" sz="2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endParaRPr lang="en-US" altLang="ko-KR" sz="2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r>
              <a:rPr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HQC</a:t>
            </a:r>
            <a:r>
              <a:rPr lang="ko-KR" altLang="en-US" sz="22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에</a:t>
            </a:r>
            <a:r>
              <a:rPr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대한 </a:t>
            </a:r>
            <a:r>
              <a:rPr lang="en-US" altLang="ko-KR" sz="2200" b="1" dirty="0"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Grover </a:t>
            </a:r>
            <a:r>
              <a:rPr lang="ko-KR" altLang="en-US" sz="2200" b="1" dirty="0"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양자 </a:t>
            </a:r>
            <a:r>
              <a:rPr lang="en-US" altLang="ko-KR" sz="2200" b="1" dirty="0"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ISD </a:t>
            </a:r>
            <a:r>
              <a:rPr lang="ko-KR" altLang="en-US" sz="2200" b="1" dirty="0"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공격 비용</a:t>
            </a:r>
            <a:r>
              <a:rPr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(+ AES</a:t>
            </a:r>
            <a:r>
              <a:rPr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와 비교</a:t>
            </a:r>
            <a:r>
              <a:rPr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 )</a:t>
            </a:r>
          </a:p>
          <a:p>
            <a:endParaRPr lang="en-US" altLang="ko-KR" sz="2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endParaRPr lang="ko-KR" altLang="en-US" sz="2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endParaRPr kumimoji="1"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표 3">
                <a:extLst>
                  <a:ext uri="{FF2B5EF4-FFF2-40B4-BE49-F238E27FC236}">
                    <a16:creationId xmlns:a16="http://schemas.microsoft.com/office/drawing/2014/main" id="{BF69B82E-1B8B-1A20-7360-20CE2BD765A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84859467"/>
                  </p:ext>
                </p:extLst>
              </p:nvPr>
            </p:nvGraphicFramePr>
            <p:xfrm>
              <a:off x="891301" y="1744389"/>
              <a:ext cx="10809890" cy="217767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80212">
                      <a:extLst>
                        <a:ext uri="{9D8B030D-6E8A-4147-A177-3AD203B41FA5}">
                          <a16:colId xmlns:a16="http://schemas.microsoft.com/office/drawing/2014/main" val="2960314680"/>
                        </a:ext>
                      </a:extLst>
                    </a:gridCol>
                    <a:gridCol w="1529632">
                      <a:extLst>
                        <a:ext uri="{9D8B030D-6E8A-4147-A177-3AD203B41FA5}">
                          <a16:colId xmlns:a16="http://schemas.microsoft.com/office/drawing/2014/main" val="3543870889"/>
                        </a:ext>
                      </a:extLst>
                    </a:gridCol>
                    <a:gridCol w="1529632">
                      <a:extLst>
                        <a:ext uri="{9D8B030D-6E8A-4147-A177-3AD203B41FA5}">
                          <a16:colId xmlns:a16="http://schemas.microsoft.com/office/drawing/2014/main" val="2881027656"/>
                        </a:ext>
                      </a:extLst>
                    </a:gridCol>
                    <a:gridCol w="1458228">
                      <a:extLst>
                        <a:ext uri="{9D8B030D-6E8A-4147-A177-3AD203B41FA5}">
                          <a16:colId xmlns:a16="http://schemas.microsoft.com/office/drawing/2014/main" val="3374579767"/>
                        </a:ext>
                      </a:extLst>
                    </a:gridCol>
                    <a:gridCol w="1458228">
                      <a:extLst>
                        <a:ext uri="{9D8B030D-6E8A-4147-A177-3AD203B41FA5}">
                          <a16:colId xmlns:a16="http://schemas.microsoft.com/office/drawing/2014/main" val="264425009"/>
                        </a:ext>
                      </a:extLst>
                    </a:gridCol>
                    <a:gridCol w="1576979">
                      <a:extLst>
                        <a:ext uri="{9D8B030D-6E8A-4147-A177-3AD203B41FA5}">
                          <a16:colId xmlns:a16="http://schemas.microsoft.com/office/drawing/2014/main" val="3624024535"/>
                        </a:ext>
                      </a:extLst>
                    </a:gridCol>
                    <a:gridCol w="1576979">
                      <a:extLst>
                        <a:ext uri="{9D8B030D-6E8A-4147-A177-3AD203B41FA5}">
                          <a16:colId xmlns:a16="http://schemas.microsoft.com/office/drawing/2014/main" val="1159740756"/>
                        </a:ext>
                      </a:extLst>
                    </a:gridCol>
                  </a:tblGrid>
                  <a:tr h="41201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HQC</a:t>
                          </a: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Information</a:t>
                          </a:r>
                          <a:r>
                            <a:rPr lang="en-US" altLang="en-US" sz="1500" b="0" i="0" baseline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 set</a:t>
                          </a:r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en-US" sz="1500" b="0" i="1" smtClean="0">
                                      <a:latin typeface="Cambria Math" panose="02040503050406030204" pitchFamily="18" charset="0"/>
                                      <a:ea typeface="Gmarket Sans TTF Medium" panose="02000000000000000000" pitchFamily="2" charset="-128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en-US" sz="1500" b="0" i="1" smtClean="0">
                                      <a:latin typeface="Cambria Math" panose="02040503050406030204" pitchFamily="18" charset="0"/>
                                      <a:ea typeface="Gmarket Sans TTF Medium" panose="02000000000000000000" pitchFamily="2" charset="-128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en-US" sz="1500" b="0" i="1" smtClean="0">
                                      <a:latin typeface="Cambria Math" panose="02040503050406030204" pitchFamily="18" charset="0"/>
                                      <a:ea typeface="Gmarket Sans TTF Medium" panose="02000000000000000000" pitchFamily="2" charset="-128"/>
                                    </a:rPr>
                                    <m:t>𝑛</m:t>
                                  </m:r>
                                  <m:r>
                                    <a:rPr lang="en-US" altLang="en-US" sz="1500" b="0" i="1" smtClean="0">
                                      <a:latin typeface="Cambria Math" panose="02040503050406030204" pitchFamily="18" charset="0"/>
                                      <a:ea typeface="Gmarket Sans TTF Medium" panose="02000000000000000000" pitchFamily="2" charset="-128"/>
                                    </a:rPr>
                                    <m:t>−</m:t>
                                  </m:r>
                                  <m:r>
                                    <a:rPr lang="en-US" altLang="en-US" sz="1500" b="0" i="1" smtClean="0">
                                      <a:latin typeface="Cambria Math" panose="02040503050406030204" pitchFamily="18" charset="0"/>
                                      <a:ea typeface="Gmarket Sans TTF Medium" panose="02000000000000000000" pitchFamily="2" charset="-128"/>
                                    </a:rPr>
                                    <m:t>𝑘</m:t>
                                  </m:r>
                                </m:sub>
                              </m:sSub>
                            </m:oMath>
                          </a14:m>
                          <a:endParaRPr lang="ko-Kore-KR" altLang="en-US" sz="1500" b="0" i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Gauss-Jordan </a:t>
                          </a:r>
                        </a:p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Elimination: </a:t>
                          </a:r>
                          <a14:m>
                            <m:oMath xmlns:m="http://schemas.openxmlformats.org/officeDocument/2006/math">
                              <m:r>
                                <a:rPr lang="en-US" altLang="en-US" sz="1500" b="0" i="0" smtClean="0">
                                  <a:latin typeface="Cambria Math" panose="02040503050406030204" pitchFamily="18" charset="0"/>
                                  <a:ea typeface="Gmarket Sans TTF Medium" panose="02000000000000000000" pitchFamily="2" charset="-128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en-US" sz="1500" b="0" i="1" smtClean="0">
                                      <a:latin typeface="Cambria Math" panose="02040503050406030204" pitchFamily="18" charset="0"/>
                                      <a:ea typeface="Gmarket Sans TTF Medium" panose="02000000000000000000" pitchFamily="2" charset="-128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altLang="en-US" sz="1500" b="0" i="1" smtClean="0">
                                          <a:latin typeface="Cambria Math" panose="02040503050406030204" pitchFamily="18" charset="0"/>
                                          <a:ea typeface="Gmarket Sans TTF Medium" panose="02000000000000000000" pitchFamily="2" charset="-128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en-US" sz="1500" b="0" i="1" smtClean="0">
                                          <a:latin typeface="Cambria Math" panose="02040503050406030204" pitchFamily="18" charset="0"/>
                                          <a:ea typeface="Gmarket Sans TTF Medium" panose="02000000000000000000" pitchFamily="2" charset="-128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lang="en-US" altLang="en-US" sz="1500" b="0" i="1" smtClean="0">
                                          <a:latin typeface="Cambria Math" panose="02040503050406030204" pitchFamily="18" charset="0"/>
                                          <a:ea typeface="Gmarket Sans TTF Medium" panose="02000000000000000000" pitchFamily="2" charset="-128"/>
                                        </a:rPr>
                                        <m:t>𝑛</m:t>
                                      </m:r>
                                      <m:r>
                                        <a:rPr lang="en-US" altLang="en-US" sz="1500" b="0" i="1" smtClean="0">
                                          <a:latin typeface="Cambria Math" panose="02040503050406030204" pitchFamily="18" charset="0"/>
                                          <a:ea typeface="Gmarket Sans TTF Medium" panose="02000000000000000000" pitchFamily="2" charset="-128"/>
                                        </a:rPr>
                                        <m:t>−</m:t>
                                      </m:r>
                                      <m:r>
                                        <a:rPr lang="en-US" altLang="en-US" sz="1500" b="0" i="1" smtClean="0">
                                          <a:latin typeface="Cambria Math" panose="02040503050406030204" pitchFamily="18" charset="0"/>
                                          <a:ea typeface="Gmarket Sans TTF Medium" panose="02000000000000000000" pitchFamily="2" charset="-128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en-US" altLang="en-US" sz="1500" b="0" i="1" smtClean="0">
                                      <a:latin typeface="Cambria Math" panose="02040503050406030204" pitchFamily="18" charset="0"/>
                                      <a:ea typeface="Gmarket Sans TTF Medium" panose="02000000000000000000" pitchFamily="2" charset="-128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en-US" sz="1500" b="0" i="1" smtClean="0">
                                      <a:latin typeface="Cambria Math" panose="02040503050406030204" pitchFamily="18" charset="0"/>
                                      <a:ea typeface="Gmarket Sans TTF Medium" panose="02000000000000000000" pitchFamily="2" charset="-128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altLang="en-US" sz="1500" b="0" i="1" smtClean="0">
                                  <a:latin typeface="Cambria Math" panose="02040503050406030204" pitchFamily="18" charset="0"/>
                                  <a:ea typeface="Gmarket Sans TTF Medium" panose="02000000000000000000" pitchFamily="2" charset="-128"/>
                                </a:rPr>
                                <m:t>𝑠</m:t>
                              </m:r>
                            </m:oMath>
                          </a14:m>
                          <a:endParaRPr lang="ko-Kore-KR" altLang="en-US" sz="1500" b="0" i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marL="100584" marR="100584" anchor="ctr"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Weight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kumimoji="1" lang="en-US" altLang="ko-Kore-KR" sz="15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kumimoji="1" lang="en-US" altLang="ko-Kore-KR" sz="15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en-US" altLang="ko-Kore-KR" sz="1500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kumimoji="1" lang="en-US" altLang="ko-Kore-KR" sz="1500" b="0" i="0" smtClean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kumimoji="1" lang="en-US" altLang="ko-Kore-KR" sz="1500" i="1">
                                          <a:latin typeface="Cambria Math" panose="02040503050406030204" pitchFamily="18" charset="0"/>
                                        </a:rPr>
                                        <m:t>𝐻</m:t>
                                      </m:r>
                                    </m:e>
                                    <m:sub>
                                      <m:r>
                                        <a:rPr kumimoji="1" lang="en-US" altLang="ko-Kore-KR" sz="15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kumimoji="1" lang="en-US" altLang="ko-Kore-KR" sz="15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kumimoji="1" lang="en-US" altLang="ko-Kore-KR" sz="15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kumimoji="1" lang="en-US" altLang="ko-Kore-KR" sz="15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kumimoji="1" lang="en-US" altLang="ko-Kore-KR" sz="15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kumimoji="1" lang="en-US" altLang="ko-Kore-KR" sz="15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oMath>
                          </a14:m>
                          <a:endParaRPr lang="ko-Kore-KR" altLang="en-US" sz="1500" b="0" i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marL="100584" marR="100584" anchor="ctr"/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27084367"/>
                      </a:ext>
                    </a:extLst>
                  </a:tr>
                  <a:tr h="240339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T gates</a:t>
                          </a:r>
                          <a:endParaRPr lang="ko-Kore-KR" altLang="en-US" sz="1500" b="0" i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T-depth</a:t>
                          </a:r>
                          <a:endParaRPr lang="ko-Kore-KR" altLang="en-US" sz="1500" b="0" i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T gates</a:t>
                          </a:r>
                          <a:endParaRPr lang="ko-Kore-KR" altLang="en-US" sz="1500" b="0" i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T-depth</a:t>
                          </a:r>
                          <a:endParaRPr lang="ko-Kore-KR" altLang="en-US" sz="1500" b="0" i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T gates</a:t>
                          </a:r>
                          <a:endParaRPr lang="ko-Kore-KR" altLang="en-US" sz="1500" b="0" i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T-depth</a:t>
                          </a:r>
                          <a:endParaRPr lang="ko-Kore-KR" altLang="en-US" sz="1500" b="0" i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marL="100584" marR="100584" anchor="ctr"/>
                    </a:tc>
                    <a:extLst>
                      <a:ext uri="{0D108BD9-81ED-4DB2-BD59-A6C34878D82A}">
                        <a16:rowId xmlns:a16="http://schemas.microsoft.com/office/drawing/2014/main" val="646044777"/>
                      </a:ext>
                    </a:extLst>
                  </a:tr>
                  <a:tr h="4363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-1</a:t>
                          </a: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50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37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50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  <a:sym typeface="Wingdings" pitchFamily="2" charset="2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26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50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  <a:sym typeface="Wingdings" pitchFamily="2" charset="2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50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44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50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  <a:sym typeface="Wingdings" pitchFamily="2" charset="2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29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50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  <a:sym typeface="Wingdings" pitchFamily="2" charset="2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50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18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50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  <a:sym typeface="Wingdings" pitchFamily="2" charset="2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9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50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  <a:sym typeface="Wingdings" pitchFamily="2" charset="2"/>
                          </a:endParaRPr>
                        </a:p>
                      </a:txBody>
                      <a:tcPr marL="100584" marR="100584" anchor="ctr"/>
                    </a:tc>
                    <a:extLst>
                      <a:ext uri="{0D108BD9-81ED-4DB2-BD59-A6C34878D82A}">
                        <a16:rowId xmlns:a16="http://schemas.microsoft.com/office/drawing/2014/main" val="3612914695"/>
                      </a:ext>
                    </a:extLst>
                  </a:tr>
                  <a:tr h="4363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-3</a:t>
                          </a: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50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39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50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  <a:sym typeface="Wingdings" pitchFamily="2" charset="2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27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50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  <a:sym typeface="Wingdings" pitchFamily="2" charset="2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50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47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50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  <a:sym typeface="Wingdings" pitchFamily="2" charset="2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31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50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  <a:sym typeface="Wingdings" pitchFamily="2" charset="2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50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19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50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  <a:sym typeface="Wingdings" pitchFamily="2" charset="2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10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50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  <a:sym typeface="Wingdings" pitchFamily="2" charset="2"/>
                          </a:endParaRPr>
                        </a:p>
                      </a:txBody>
                      <a:tcPr marL="100584" marR="100584" anchor="ctr"/>
                    </a:tc>
                    <a:extLst>
                      <a:ext uri="{0D108BD9-81ED-4DB2-BD59-A6C34878D82A}">
                        <a16:rowId xmlns:a16="http://schemas.microsoft.com/office/drawing/2014/main" val="62631906"/>
                      </a:ext>
                    </a:extLst>
                  </a:tr>
                  <a:tr h="4363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-5</a:t>
                          </a: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50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40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50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  <a:sym typeface="Wingdings" pitchFamily="2" charset="2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27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50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  <a:sym typeface="Wingdings" pitchFamily="2" charset="2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50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49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50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  <a:sym typeface="Wingdings" pitchFamily="2" charset="2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32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50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  <a:sym typeface="Wingdings" pitchFamily="2" charset="2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50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20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50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  <a:sym typeface="Wingdings" pitchFamily="2" charset="2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10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50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  <a:sym typeface="Wingdings" pitchFamily="2" charset="2"/>
                          </a:endParaRPr>
                        </a:p>
                      </a:txBody>
                      <a:tcPr marL="100584" marR="100584" anchor="ctr"/>
                    </a:tc>
                    <a:extLst>
                      <a:ext uri="{0D108BD9-81ED-4DB2-BD59-A6C34878D82A}">
                        <a16:rowId xmlns:a16="http://schemas.microsoft.com/office/drawing/2014/main" val="23660523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표 3">
                <a:extLst>
                  <a:ext uri="{FF2B5EF4-FFF2-40B4-BE49-F238E27FC236}">
                    <a16:creationId xmlns:a16="http://schemas.microsoft.com/office/drawing/2014/main" id="{BF69B82E-1B8B-1A20-7360-20CE2BD765A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84859467"/>
                  </p:ext>
                </p:extLst>
              </p:nvPr>
            </p:nvGraphicFramePr>
            <p:xfrm>
              <a:off x="891301" y="1744389"/>
              <a:ext cx="10809890" cy="217767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80212">
                      <a:extLst>
                        <a:ext uri="{9D8B030D-6E8A-4147-A177-3AD203B41FA5}">
                          <a16:colId xmlns:a16="http://schemas.microsoft.com/office/drawing/2014/main" val="2960314680"/>
                        </a:ext>
                      </a:extLst>
                    </a:gridCol>
                    <a:gridCol w="1529632">
                      <a:extLst>
                        <a:ext uri="{9D8B030D-6E8A-4147-A177-3AD203B41FA5}">
                          <a16:colId xmlns:a16="http://schemas.microsoft.com/office/drawing/2014/main" val="3543870889"/>
                        </a:ext>
                      </a:extLst>
                    </a:gridCol>
                    <a:gridCol w="1529632">
                      <a:extLst>
                        <a:ext uri="{9D8B030D-6E8A-4147-A177-3AD203B41FA5}">
                          <a16:colId xmlns:a16="http://schemas.microsoft.com/office/drawing/2014/main" val="2881027656"/>
                        </a:ext>
                      </a:extLst>
                    </a:gridCol>
                    <a:gridCol w="1458228">
                      <a:extLst>
                        <a:ext uri="{9D8B030D-6E8A-4147-A177-3AD203B41FA5}">
                          <a16:colId xmlns:a16="http://schemas.microsoft.com/office/drawing/2014/main" val="3374579767"/>
                        </a:ext>
                      </a:extLst>
                    </a:gridCol>
                    <a:gridCol w="1458228">
                      <a:extLst>
                        <a:ext uri="{9D8B030D-6E8A-4147-A177-3AD203B41FA5}">
                          <a16:colId xmlns:a16="http://schemas.microsoft.com/office/drawing/2014/main" val="264425009"/>
                        </a:ext>
                      </a:extLst>
                    </a:gridCol>
                    <a:gridCol w="1576979">
                      <a:extLst>
                        <a:ext uri="{9D8B030D-6E8A-4147-A177-3AD203B41FA5}">
                          <a16:colId xmlns:a16="http://schemas.microsoft.com/office/drawing/2014/main" val="3624024535"/>
                        </a:ext>
                      </a:extLst>
                    </a:gridCol>
                    <a:gridCol w="1576979">
                      <a:extLst>
                        <a:ext uri="{9D8B030D-6E8A-4147-A177-3AD203B41FA5}">
                          <a16:colId xmlns:a16="http://schemas.microsoft.com/office/drawing/2014/main" val="1159740756"/>
                        </a:ext>
                      </a:extLst>
                    </a:gridCol>
                  </a:tblGrid>
                  <a:tr h="548640">
                    <a:tc rowSpan="2"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HQC</a:t>
                          </a:r>
                        </a:p>
                      </a:txBody>
                      <a:tcPr anchor="ctr"/>
                    </a:tc>
                    <a:tc grid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4959" t="-2326" r="-198347" b="-30465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0584" marR="100584" anchor="ctr">
                        <a:blipFill>
                          <a:blip r:embed="rId3"/>
                          <a:stretch>
                            <a:fillRect l="-163755" t="-2326" r="-109607" b="-30465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0584" marR="100584" anchor="ctr">
                        <a:blipFill>
                          <a:blip r:embed="rId3"/>
                          <a:stretch>
                            <a:fillRect l="-242570" t="-2326" r="-803" b="-30465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27084367"/>
                      </a:ext>
                    </a:extLst>
                  </a:tr>
                  <a:tr h="320040">
                    <a:tc vMerge="1">
                      <a:txBody>
                        <a:bodyPr/>
                        <a:lstStyle/>
                        <a:p>
                          <a:pPr latinLnBrk="1"/>
                          <a:endParaRPr lang="ko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T gates</a:t>
                          </a:r>
                          <a:endParaRPr lang="ko-Kore-KR" altLang="en-US" sz="1500" b="0" i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T-depth</a:t>
                          </a:r>
                          <a:endParaRPr lang="ko-Kore-KR" altLang="en-US" sz="1500" b="0" i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T gates</a:t>
                          </a:r>
                          <a:endParaRPr lang="ko-Kore-KR" altLang="en-US" sz="1500" b="0" i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T-depth</a:t>
                          </a:r>
                          <a:endParaRPr lang="ko-Kore-KR" altLang="en-US" sz="1500" b="0" i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T gates</a:t>
                          </a:r>
                          <a:endParaRPr lang="ko-Kore-KR" altLang="en-US" sz="1500" b="0" i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T-depth</a:t>
                          </a:r>
                          <a:endParaRPr lang="ko-Kore-KR" altLang="en-US" sz="1500" b="0" i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marL="100584" marR="100584" anchor="ctr"/>
                    </a:tc>
                    <a:extLst>
                      <a:ext uri="{0D108BD9-81ED-4DB2-BD59-A6C34878D82A}">
                        <a16:rowId xmlns:a16="http://schemas.microsoft.com/office/drawing/2014/main" val="646044777"/>
                      </a:ext>
                    </a:extLst>
                  </a:tr>
                  <a:tr h="4363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-1</a:t>
                          </a: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0584" marR="100584" anchor="ctr">
                        <a:blipFill>
                          <a:blip r:embed="rId3"/>
                          <a:stretch>
                            <a:fillRect l="-109917" t="-205882" r="-496694" b="-2088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0584" marR="100584" anchor="ctr">
                        <a:blipFill>
                          <a:blip r:embed="rId3"/>
                          <a:stretch>
                            <a:fillRect l="-209917" t="-205882" r="-396694" b="-2088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0584" marR="100584" anchor="ctr">
                        <a:blipFill>
                          <a:blip r:embed="rId3"/>
                          <a:stretch>
                            <a:fillRect l="-328947" t="-205882" r="-321053" b="-2088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0584" marR="100584" anchor="ctr">
                        <a:blipFill>
                          <a:blip r:embed="rId3"/>
                          <a:stretch>
                            <a:fillRect l="-425217" t="-205882" r="-218261" b="-2088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0584" marR="100584" anchor="ctr">
                        <a:blipFill>
                          <a:blip r:embed="rId3"/>
                          <a:stretch>
                            <a:fillRect l="-483200" t="-205882" r="-100800" b="-2088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0584" marR="100584" anchor="ctr">
                        <a:blipFill>
                          <a:blip r:embed="rId3"/>
                          <a:stretch>
                            <a:fillRect l="-587903" t="-205882" r="-1613" b="-2088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2914695"/>
                      </a:ext>
                    </a:extLst>
                  </a:tr>
                  <a:tr h="4363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-3</a:t>
                          </a: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0584" marR="100584" anchor="ctr">
                        <a:blipFill>
                          <a:blip r:embed="rId3"/>
                          <a:stretch>
                            <a:fillRect l="-109917" t="-297143" r="-496694" b="-1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0584" marR="100584" anchor="ctr">
                        <a:blipFill>
                          <a:blip r:embed="rId3"/>
                          <a:stretch>
                            <a:fillRect l="-209917" t="-297143" r="-396694" b="-1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0584" marR="100584" anchor="ctr">
                        <a:blipFill>
                          <a:blip r:embed="rId3"/>
                          <a:stretch>
                            <a:fillRect l="-328947" t="-297143" r="-321053" b="-1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0584" marR="100584" anchor="ctr">
                        <a:blipFill>
                          <a:blip r:embed="rId3"/>
                          <a:stretch>
                            <a:fillRect l="-425217" t="-297143" r="-218261" b="-1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0584" marR="100584" anchor="ctr">
                        <a:blipFill>
                          <a:blip r:embed="rId3"/>
                          <a:stretch>
                            <a:fillRect l="-483200" t="-297143" r="-100800" b="-102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0584" marR="100584" anchor="ctr">
                        <a:blipFill>
                          <a:blip r:embed="rId3"/>
                          <a:stretch>
                            <a:fillRect l="-587903" t="-297143" r="-1613" b="-10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631906"/>
                      </a:ext>
                    </a:extLst>
                  </a:tr>
                  <a:tr h="43633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-5</a:t>
                          </a: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0584" marR="100584" anchor="ctr">
                        <a:blipFill>
                          <a:blip r:embed="rId3"/>
                          <a:stretch>
                            <a:fillRect l="-109917" t="-408824" r="-496694" b="-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0584" marR="100584" anchor="ctr">
                        <a:blipFill>
                          <a:blip r:embed="rId3"/>
                          <a:stretch>
                            <a:fillRect l="-209917" t="-408824" r="-396694" b="-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0584" marR="100584" anchor="ctr">
                        <a:blipFill>
                          <a:blip r:embed="rId3"/>
                          <a:stretch>
                            <a:fillRect l="-328947" t="-408824" r="-321053" b="-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0584" marR="100584" anchor="ctr">
                        <a:blipFill>
                          <a:blip r:embed="rId3"/>
                          <a:stretch>
                            <a:fillRect l="-425217" t="-408824" r="-218261" b="-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0584" marR="100584" anchor="ctr">
                        <a:blipFill>
                          <a:blip r:embed="rId3"/>
                          <a:stretch>
                            <a:fillRect l="-483200" t="-408824" r="-100800" b="-58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0584" marR="100584" anchor="ctr">
                        <a:blipFill>
                          <a:blip r:embed="rId3"/>
                          <a:stretch>
                            <a:fillRect l="-587903" t="-408824" r="-1613" b="-58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6605232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D4C8AB25-3E72-F256-544C-23B2147306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8714070"/>
                  </p:ext>
                </p:extLst>
              </p:nvPr>
            </p:nvGraphicFramePr>
            <p:xfrm>
              <a:off x="891301" y="4871535"/>
              <a:ext cx="4790002" cy="14050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98580">
                      <a:extLst>
                        <a:ext uri="{9D8B030D-6E8A-4147-A177-3AD203B41FA5}">
                          <a16:colId xmlns:a16="http://schemas.microsoft.com/office/drawing/2014/main" val="2302383556"/>
                        </a:ext>
                      </a:extLst>
                    </a:gridCol>
                    <a:gridCol w="1182203">
                      <a:extLst>
                        <a:ext uri="{9D8B030D-6E8A-4147-A177-3AD203B41FA5}">
                          <a16:colId xmlns:a16="http://schemas.microsoft.com/office/drawing/2014/main" val="2807945178"/>
                        </a:ext>
                      </a:extLst>
                    </a:gridCol>
                    <a:gridCol w="1182203">
                      <a:extLst>
                        <a:ext uri="{9D8B030D-6E8A-4147-A177-3AD203B41FA5}">
                          <a16:colId xmlns:a16="http://schemas.microsoft.com/office/drawing/2014/main" val="4071364760"/>
                        </a:ext>
                      </a:extLst>
                    </a:gridCol>
                    <a:gridCol w="1127016">
                      <a:extLst>
                        <a:ext uri="{9D8B030D-6E8A-4147-A177-3AD203B41FA5}">
                          <a16:colId xmlns:a16="http://schemas.microsoft.com/office/drawing/2014/main" val="2308912253"/>
                        </a:ext>
                      </a:extLst>
                    </a:gridCol>
                  </a:tblGrid>
                  <a:tr h="19922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HQC</a:t>
                          </a:r>
                          <a:endParaRPr lang="ko-KR" altLang="en-US" sz="15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Qubits</a:t>
                          </a:r>
                          <a:endParaRPr lang="ko-Kore-KR" altLang="en-US" sz="1500" b="0" i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T gates</a:t>
                          </a:r>
                          <a:endParaRPr lang="ko-Kore-KR" altLang="en-US" sz="1500" b="0" i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T-depth</a:t>
                          </a:r>
                          <a:endParaRPr lang="ko-Kore-KR" altLang="en-US" sz="1500" b="0" i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marL="100584" marR="100584" anchor="ctr"/>
                    </a:tc>
                    <a:extLst>
                      <a:ext uri="{0D108BD9-81ED-4DB2-BD59-A6C34878D82A}">
                        <a16:rowId xmlns:a16="http://schemas.microsoft.com/office/drawing/2014/main" val="787182055"/>
                      </a:ext>
                    </a:extLst>
                  </a:tr>
                  <a:tr h="3616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-1</a:t>
                          </a: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500" b="0" i="0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500" b="0" i="0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30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5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  <a:sym typeface="Wingdings" pitchFamily="2" charset="2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500" b="0" i="0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500" b="0" i="0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104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5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  <a:sym typeface="Wingdings" pitchFamily="2" charset="2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500" b="0" i="0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500" b="0" i="0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89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5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  <a:sym typeface="Wingdings" pitchFamily="2" charset="2"/>
                          </a:endParaRPr>
                        </a:p>
                      </a:txBody>
                      <a:tcPr marL="100584" marR="100584" anchor="ctr"/>
                    </a:tc>
                    <a:extLst>
                      <a:ext uri="{0D108BD9-81ED-4DB2-BD59-A6C34878D82A}">
                        <a16:rowId xmlns:a16="http://schemas.microsoft.com/office/drawing/2014/main" val="1168926977"/>
                      </a:ext>
                    </a:extLst>
                  </a:tr>
                  <a:tr h="3616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-3</a:t>
                          </a: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500" b="0" i="0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500" b="0" i="0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32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5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  <a:sym typeface="Wingdings" pitchFamily="2" charset="2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500" b="0" i="0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500" b="0" i="0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141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5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  <a:sym typeface="Wingdings" pitchFamily="2" charset="2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500" b="0" i="0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500" b="0" i="0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125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5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  <a:sym typeface="Wingdings" pitchFamily="2" charset="2"/>
                          </a:endParaRPr>
                        </a:p>
                      </a:txBody>
                      <a:tcPr marL="100584" marR="100584" anchor="ctr"/>
                    </a:tc>
                    <a:extLst>
                      <a:ext uri="{0D108BD9-81ED-4DB2-BD59-A6C34878D82A}">
                        <a16:rowId xmlns:a16="http://schemas.microsoft.com/office/drawing/2014/main" val="1038493996"/>
                      </a:ext>
                    </a:extLst>
                  </a:tr>
                  <a:tr h="3616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-5</a:t>
                          </a: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500" b="0" i="0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500" b="0" i="0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34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5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  <a:sym typeface="Wingdings" pitchFamily="2" charset="2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500" b="0" i="0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500" b="0" i="0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173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5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  <a:sym typeface="Wingdings" pitchFamily="2" charset="2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500" b="0" i="0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500" b="0" i="0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156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5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  <a:sym typeface="Wingdings" pitchFamily="2" charset="2"/>
                          </a:endParaRPr>
                        </a:p>
                      </a:txBody>
                      <a:tcPr marL="100584" marR="100584" anchor="ctr"/>
                    </a:tc>
                    <a:extLst>
                      <a:ext uri="{0D108BD9-81ED-4DB2-BD59-A6C34878D82A}">
                        <a16:rowId xmlns:a16="http://schemas.microsoft.com/office/drawing/2014/main" val="788478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표 4">
                <a:extLst>
                  <a:ext uri="{FF2B5EF4-FFF2-40B4-BE49-F238E27FC236}">
                    <a16:creationId xmlns:a16="http://schemas.microsoft.com/office/drawing/2014/main" id="{D4C8AB25-3E72-F256-544C-23B2147306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8714070"/>
                  </p:ext>
                </p:extLst>
              </p:nvPr>
            </p:nvGraphicFramePr>
            <p:xfrm>
              <a:off x="891301" y="4871535"/>
              <a:ext cx="4790002" cy="14050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98580">
                      <a:extLst>
                        <a:ext uri="{9D8B030D-6E8A-4147-A177-3AD203B41FA5}">
                          <a16:colId xmlns:a16="http://schemas.microsoft.com/office/drawing/2014/main" val="2302383556"/>
                        </a:ext>
                      </a:extLst>
                    </a:gridCol>
                    <a:gridCol w="1182203">
                      <a:extLst>
                        <a:ext uri="{9D8B030D-6E8A-4147-A177-3AD203B41FA5}">
                          <a16:colId xmlns:a16="http://schemas.microsoft.com/office/drawing/2014/main" val="2807945178"/>
                        </a:ext>
                      </a:extLst>
                    </a:gridCol>
                    <a:gridCol w="1182203">
                      <a:extLst>
                        <a:ext uri="{9D8B030D-6E8A-4147-A177-3AD203B41FA5}">
                          <a16:colId xmlns:a16="http://schemas.microsoft.com/office/drawing/2014/main" val="4071364760"/>
                        </a:ext>
                      </a:extLst>
                    </a:gridCol>
                    <a:gridCol w="1127016">
                      <a:extLst>
                        <a:ext uri="{9D8B030D-6E8A-4147-A177-3AD203B41FA5}">
                          <a16:colId xmlns:a16="http://schemas.microsoft.com/office/drawing/2014/main" val="2308912253"/>
                        </a:ext>
                      </a:extLst>
                    </a:gridCol>
                  </a:tblGrid>
                  <a:tr h="3200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HQC</a:t>
                          </a:r>
                          <a:endParaRPr lang="ko-KR" altLang="en-US" sz="15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Qubits</a:t>
                          </a:r>
                          <a:endParaRPr lang="ko-Kore-KR" altLang="en-US" sz="1500" b="0" i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T gates</a:t>
                          </a:r>
                          <a:endParaRPr lang="ko-Kore-KR" altLang="en-US" sz="1500" b="0" i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T-depth</a:t>
                          </a:r>
                          <a:endParaRPr lang="ko-Kore-KR" altLang="en-US" sz="1500" b="0" i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marL="100584" marR="100584" anchor="ctr"/>
                    </a:tc>
                    <a:extLst>
                      <a:ext uri="{0D108BD9-81ED-4DB2-BD59-A6C34878D82A}">
                        <a16:rowId xmlns:a16="http://schemas.microsoft.com/office/drawing/2014/main" val="787182055"/>
                      </a:ext>
                    </a:extLst>
                  </a:tr>
                  <a:tr h="3616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-1</a:t>
                          </a: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0584" marR="100584" anchor="ctr">
                        <a:blipFill>
                          <a:blip r:embed="rId4"/>
                          <a:stretch>
                            <a:fillRect l="-109574" t="-96429" r="-195745" b="-22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0584" marR="100584" anchor="ctr">
                        <a:blipFill>
                          <a:blip r:embed="rId4"/>
                          <a:stretch>
                            <a:fillRect l="-211828" t="-96429" r="-97849" b="-22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0584" marR="100584" anchor="ctr">
                        <a:blipFill>
                          <a:blip r:embed="rId4"/>
                          <a:stretch>
                            <a:fillRect l="-325843" t="-96429" r="-2247" b="-22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8926977"/>
                      </a:ext>
                    </a:extLst>
                  </a:tr>
                  <a:tr h="3616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-3</a:t>
                          </a: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0584" marR="100584" anchor="ctr">
                        <a:blipFill>
                          <a:blip r:embed="rId4"/>
                          <a:stretch>
                            <a:fillRect l="-109574" t="-189655" r="-195745" b="-1137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0584" marR="100584" anchor="ctr">
                        <a:blipFill>
                          <a:blip r:embed="rId4"/>
                          <a:stretch>
                            <a:fillRect l="-211828" t="-189655" r="-97849" b="-1137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0584" marR="100584" anchor="ctr">
                        <a:blipFill>
                          <a:blip r:embed="rId4"/>
                          <a:stretch>
                            <a:fillRect l="-325843" t="-189655" r="-2247" b="-1137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8493996"/>
                      </a:ext>
                    </a:extLst>
                  </a:tr>
                  <a:tr h="3616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-5</a:t>
                          </a: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0584" marR="100584" anchor="ctr">
                        <a:blipFill>
                          <a:blip r:embed="rId4"/>
                          <a:stretch>
                            <a:fillRect l="-109574" t="-289655" r="-195745" b="-137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0584" marR="100584" anchor="ctr">
                        <a:blipFill>
                          <a:blip r:embed="rId4"/>
                          <a:stretch>
                            <a:fillRect l="-211828" t="-289655" r="-97849" b="-137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0584" marR="100584" anchor="ctr">
                        <a:blipFill>
                          <a:blip r:embed="rId4"/>
                          <a:stretch>
                            <a:fillRect l="-325843" t="-289655" r="-2247" b="-137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84783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3DF0127A-91B8-E0E8-C9E2-3A3CFF4B640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3685957"/>
                  </p:ext>
                </p:extLst>
              </p:nvPr>
            </p:nvGraphicFramePr>
            <p:xfrm>
              <a:off x="6685864" y="4871535"/>
              <a:ext cx="4790002" cy="14240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98580">
                      <a:extLst>
                        <a:ext uri="{9D8B030D-6E8A-4147-A177-3AD203B41FA5}">
                          <a16:colId xmlns:a16="http://schemas.microsoft.com/office/drawing/2014/main" val="2302383556"/>
                        </a:ext>
                      </a:extLst>
                    </a:gridCol>
                    <a:gridCol w="1182203">
                      <a:extLst>
                        <a:ext uri="{9D8B030D-6E8A-4147-A177-3AD203B41FA5}">
                          <a16:colId xmlns:a16="http://schemas.microsoft.com/office/drawing/2014/main" val="2807945178"/>
                        </a:ext>
                      </a:extLst>
                    </a:gridCol>
                    <a:gridCol w="1182203">
                      <a:extLst>
                        <a:ext uri="{9D8B030D-6E8A-4147-A177-3AD203B41FA5}">
                          <a16:colId xmlns:a16="http://schemas.microsoft.com/office/drawing/2014/main" val="4071364760"/>
                        </a:ext>
                      </a:extLst>
                    </a:gridCol>
                    <a:gridCol w="1127016">
                      <a:extLst>
                        <a:ext uri="{9D8B030D-6E8A-4147-A177-3AD203B41FA5}">
                          <a16:colId xmlns:a16="http://schemas.microsoft.com/office/drawing/2014/main" val="2308912253"/>
                        </a:ext>
                      </a:extLst>
                    </a:gridCol>
                  </a:tblGrid>
                  <a:tr h="19922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AES</a:t>
                          </a:r>
                          <a:endParaRPr lang="ko-KR" altLang="en-US" sz="15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Qubits</a:t>
                          </a:r>
                          <a:endParaRPr lang="ko-Kore-KR" altLang="en-US" sz="1500" b="0" i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T gates</a:t>
                          </a:r>
                          <a:endParaRPr lang="ko-Kore-KR" altLang="en-US" sz="1500" b="0" i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T-depth</a:t>
                          </a:r>
                          <a:endParaRPr lang="ko-Kore-KR" altLang="en-US" sz="1500" b="0" i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marL="100584" marR="100584" anchor="ctr"/>
                    </a:tc>
                    <a:extLst>
                      <a:ext uri="{0D108BD9-81ED-4DB2-BD59-A6C34878D82A}">
                        <a16:rowId xmlns:a16="http://schemas.microsoft.com/office/drawing/2014/main" val="787182055"/>
                      </a:ext>
                    </a:extLst>
                  </a:tr>
                  <a:tr h="3616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-128</a:t>
                          </a: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500" b="0" i="0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500" b="0" i="0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11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5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  <a:sym typeface="Wingdings" pitchFamily="2" charset="2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500" b="0" i="0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500" b="0" i="0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81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5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  <a:sym typeface="Wingdings" pitchFamily="2" charset="2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500" b="0" i="0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500" b="0" i="0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71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5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  <a:sym typeface="Wingdings" pitchFamily="2" charset="2"/>
                          </a:endParaRPr>
                        </a:p>
                      </a:txBody>
                      <a:tcPr marL="100584" marR="100584" anchor="ctr"/>
                    </a:tc>
                    <a:extLst>
                      <a:ext uri="{0D108BD9-81ED-4DB2-BD59-A6C34878D82A}">
                        <a16:rowId xmlns:a16="http://schemas.microsoft.com/office/drawing/2014/main" val="1168926977"/>
                      </a:ext>
                    </a:extLst>
                  </a:tr>
                  <a:tr h="3616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-192</a:t>
                          </a: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500" b="0" i="0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500" b="0" i="0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11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5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  <a:sym typeface="Wingdings" pitchFamily="2" charset="2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500" b="0" i="0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500" b="0" i="0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113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5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  <a:sym typeface="Wingdings" pitchFamily="2" charset="2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500" b="0" i="0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500" b="0" i="0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104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5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  <a:sym typeface="Wingdings" pitchFamily="2" charset="2"/>
                          </a:endParaRPr>
                        </a:p>
                      </a:txBody>
                      <a:tcPr marL="100584" marR="100584" anchor="ctr"/>
                    </a:tc>
                    <a:extLst>
                      <a:ext uri="{0D108BD9-81ED-4DB2-BD59-A6C34878D82A}">
                        <a16:rowId xmlns:a16="http://schemas.microsoft.com/office/drawing/2014/main" val="1038493996"/>
                      </a:ext>
                    </a:extLst>
                  </a:tr>
                  <a:tr h="3806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-256</a:t>
                          </a: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500" b="0" i="0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500" b="0" i="0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12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5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  <a:sym typeface="Wingdings" pitchFamily="2" charset="2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500" b="0" i="0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500" b="0" i="0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145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5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  <a:sym typeface="Wingdings" pitchFamily="2" charset="2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altLang="ko-KR" sz="1500" b="0" i="1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500" b="0" i="0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500" b="0" i="0" smtClean="0"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sym typeface="Wingdings" pitchFamily="2" charset="2"/>
                                      </a:rPr>
                                      <m:t>136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5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  <a:sym typeface="Wingdings" pitchFamily="2" charset="2"/>
                          </a:endParaRPr>
                        </a:p>
                      </a:txBody>
                      <a:tcPr marL="100584" marR="100584" anchor="ctr"/>
                    </a:tc>
                    <a:extLst>
                      <a:ext uri="{0D108BD9-81ED-4DB2-BD59-A6C34878D82A}">
                        <a16:rowId xmlns:a16="http://schemas.microsoft.com/office/drawing/2014/main" val="788478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표 6">
                <a:extLst>
                  <a:ext uri="{FF2B5EF4-FFF2-40B4-BE49-F238E27FC236}">
                    <a16:creationId xmlns:a16="http://schemas.microsoft.com/office/drawing/2014/main" id="{3DF0127A-91B8-E0E8-C9E2-3A3CFF4B640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03685957"/>
                  </p:ext>
                </p:extLst>
              </p:nvPr>
            </p:nvGraphicFramePr>
            <p:xfrm>
              <a:off x="6685864" y="4871535"/>
              <a:ext cx="4790002" cy="142406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98580">
                      <a:extLst>
                        <a:ext uri="{9D8B030D-6E8A-4147-A177-3AD203B41FA5}">
                          <a16:colId xmlns:a16="http://schemas.microsoft.com/office/drawing/2014/main" val="2302383556"/>
                        </a:ext>
                      </a:extLst>
                    </a:gridCol>
                    <a:gridCol w="1182203">
                      <a:extLst>
                        <a:ext uri="{9D8B030D-6E8A-4147-A177-3AD203B41FA5}">
                          <a16:colId xmlns:a16="http://schemas.microsoft.com/office/drawing/2014/main" val="2807945178"/>
                        </a:ext>
                      </a:extLst>
                    </a:gridCol>
                    <a:gridCol w="1182203">
                      <a:extLst>
                        <a:ext uri="{9D8B030D-6E8A-4147-A177-3AD203B41FA5}">
                          <a16:colId xmlns:a16="http://schemas.microsoft.com/office/drawing/2014/main" val="4071364760"/>
                        </a:ext>
                      </a:extLst>
                    </a:gridCol>
                    <a:gridCol w="1127016">
                      <a:extLst>
                        <a:ext uri="{9D8B030D-6E8A-4147-A177-3AD203B41FA5}">
                          <a16:colId xmlns:a16="http://schemas.microsoft.com/office/drawing/2014/main" val="2308912253"/>
                        </a:ext>
                      </a:extLst>
                    </a:gridCol>
                  </a:tblGrid>
                  <a:tr h="32004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AES</a:t>
                          </a:r>
                          <a:endParaRPr lang="ko-KR" altLang="en-US" sz="15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Qubits</a:t>
                          </a:r>
                          <a:endParaRPr lang="ko-Kore-KR" altLang="en-US" sz="1500" b="0" i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T gates</a:t>
                          </a:r>
                          <a:endParaRPr lang="ko-Kore-KR" altLang="en-US" sz="1500" b="0" i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T-depth</a:t>
                          </a:r>
                          <a:endParaRPr lang="ko-Kore-KR" altLang="en-US" sz="1500" b="0" i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marL="100584" marR="100584" anchor="ctr"/>
                    </a:tc>
                    <a:extLst>
                      <a:ext uri="{0D108BD9-81ED-4DB2-BD59-A6C34878D82A}">
                        <a16:rowId xmlns:a16="http://schemas.microsoft.com/office/drawing/2014/main" val="787182055"/>
                      </a:ext>
                    </a:extLst>
                  </a:tr>
                  <a:tr h="3616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-128</a:t>
                          </a: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0584" marR="100584" anchor="ctr">
                        <a:blipFill>
                          <a:blip r:embed="rId5"/>
                          <a:stretch>
                            <a:fillRect l="-109574" t="-89655" r="-195745" b="-2172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0584" marR="100584" anchor="ctr">
                        <a:blipFill>
                          <a:blip r:embed="rId5"/>
                          <a:stretch>
                            <a:fillRect l="-211828" t="-89655" r="-97849" b="-2172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0584" marR="100584" anchor="ctr">
                        <a:blipFill>
                          <a:blip r:embed="rId5"/>
                          <a:stretch>
                            <a:fillRect l="-325843" t="-89655" r="-2247" b="-2172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8926977"/>
                      </a:ext>
                    </a:extLst>
                  </a:tr>
                  <a:tr h="3616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-192</a:t>
                          </a: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0584" marR="100584" anchor="ctr">
                        <a:blipFill>
                          <a:blip r:embed="rId5"/>
                          <a:stretch>
                            <a:fillRect l="-109574" t="-189655" r="-195745" b="-1172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0584" marR="100584" anchor="ctr">
                        <a:blipFill>
                          <a:blip r:embed="rId5"/>
                          <a:stretch>
                            <a:fillRect l="-211828" t="-189655" r="-97849" b="-1172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0584" marR="100584" anchor="ctr">
                        <a:blipFill>
                          <a:blip r:embed="rId5"/>
                          <a:stretch>
                            <a:fillRect l="-325843" t="-189655" r="-2247" b="-1172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8493996"/>
                      </a:ext>
                    </a:extLst>
                  </a:tr>
                  <a:tr h="38066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-256</a:t>
                          </a: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0584" marR="100584" anchor="ctr">
                        <a:blipFill>
                          <a:blip r:embed="rId5"/>
                          <a:stretch>
                            <a:fillRect l="-109574" t="-280000" r="-195745" b="-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0584" marR="100584" anchor="ctr">
                        <a:blipFill>
                          <a:blip r:embed="rId5"/>
                          <a:stretch>
                            <a:fillRect l="-211828" t="-280000" r="-97849" b="-1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0584" marR="100584" anchor="ctr">
                        <a:blipFill>
                          <a:blip r:embed="rId5"/>
                          <a:stretch>
                            <a:fillRect l="-325843" t="-280000" r="-2247" b="-1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84783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A4BB7F0A-A48E-9451-E051-6BEA9F114245}"/>
              </a:ext>
            </a:extLst>
          </p:cNvPr>
          <p:cNvSpPr txBox="1"/>
          <p:nvPr/>
        </p:nvSpPr>
        <p:spPr>
          <a:xfrm>
            <a:off x="76112" y="6571740"/>
            <a:ext cx="1080989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[*] </a:t>
            </a:r>
            <a:r>
              <a:rPr lang="ko-KR" altLang="en-US" sz="1000" dirty="0" err="1"/>
              <a:t>Jang</a:t>
            </a:r>
            <a:r>
              <a:rPr lang="ko-KR" altLang="en-US" sz="1000" dirty="0"/>
              <a:t>, K., </a:t>
            </a:r>
            <a:r>
              <a:rPr lang="ko-KR" altLang="en-US" sz="1000" dirty="0" err="1"/>
              <a:t>Baksi</a:t>
            </a:r>
            <a:r>
              <a:rPr lang="ko-KR" altLang="en-US" sz="1000" dirty="0"/>
              <a:t>, </a:t>
            </a:r>
            <a:r>
              <a:rPr lang="ko-KR" altLang="en-US" sz="1000" dirty="0" err="1"/>
              <a:t>A</a:t>
            </a:r>
            <a:r>
              <a:rPr lang="ko-KR" altLang="en-US" sz="1000" dirty="0"/>
              <a:t>., </a:t>
            </a:r>
            <a:r>
              <a:rPr lang="ko-KR" altLang="en-US" sz="1000" dirty="0" err="1"/>
              <a:t>Kim</a:t>
            </a:r>
            <a:r>
              <a:rPr lang="ko-KR" altLang="en-US" sz="1000" dirty="0"/>
              <a:t>, </a:t>
            </a:r>
            <a:r>
              <a:rPr lang="ko-KR" altLang="en-US" sz="1000" dirty="0" err="1"/>
              <a:t>H</a:t>
            </a:r>
            <a:r>
              <a:rPr lang="ko-KR" altLang="en-US" sz="1000" dirty="0"/>
              <a:t>., </a:t>
            </a:r>
            <a:r>
              <a:rPr lang="ko-KR" altLang="en-US" sz="1000" dirty="0" err="1"/>
              <a:t>Song</a:t>
            </a:r>
            <a:r>
              <a:rPr lang="ko-KR" altLang="en-US" sz="1000" dirty="0"/>
              <a:t>, </a:t>
            </a:r>
            <a:r>
              <a:rPr lang="ko-KR" altLang="en-US" sz="1000" dirty="0" err="1"/>
              <a:t>G</a:t>
            </a:r>
            <a:r>
              <a:rPr lang="ko-KR" altLang="en-US" sz="1000" dirty="0"/>
              <a:t>., </a:t>
            </a:r>
            <a:r>
              <a:rPr lang="ko-KR" altLang="en-US" sz="1000" dirty="0" err="1"/>
              <a:t>Seo</a:t>
            </a:r>
            <a:r>
              <a:rPr lang="ko-KR" altLang="en-US" sz="1000" dirty="0"/>
              <a:t>, </a:t>
            </a:r>
            <a:r>
              <a:rPr lang="ko-KR" altLang="en-US" sz="1000" dirty="0" err="1"/>
              <a:t>H</a:t>
            </a:r>
            <a:r>
              <a:rPr lang="ko-KR" altLang="en-US" sz="1000" dirty="0"/>
              <a:t>., &amp; </a:t>
            </a:r>
            <a:r>
              <a:rPr lang="ko-KR" altLang="en-US" sz="1000" dirty="0" err="1"/>
              <a:t>Chattopadhyay</a:t>
            </a:r>
            <a:r>
              <a:rPr lang="ko-KR" altLang="en-US" sz="1000" dirty="0"/>
              <a:t>, </a:t>
            </a:r>
            <a:r>
              <a:rPr lang="ko-KR" altLang="en-US" sz="1000" dirty="0" err="1"/>
              <a:t>A</a:t>
            </a:r>
            <a:r>
              <a:rPr lang="ko-KR" altLang="en-US" sz="1000" dirty="0"/>
              <a:t>. </a:t>
            </a:r>
            <a:r>
              <a:rPr lang="ko-KR" altLang="en-US" sz="1000" dirty="0" err="1"/>
              <a:t>Quantum</a:t>
            </a:r>
            <a:r>
              <a:rPr lang="ko-KR" altLang="en-US" sz="1000" dirty="0"/>
              <a:t> </a:t>
            </a:r>
            <a:r>
              <a:rPr lang="ko-KR" altLang="en-US" sz="1000" dirty="0" err="1"/>
              <a:t>Analysis</a:t>
            </a:r>
            <a:r>
              <a:rPr lang="ko-KR" altLang="en-US" sz="1000" dirty="0"/>
              <a:t> of AES. IACR Communications </a:t>
            </a:r>
            <a:r>
              <a:rPr lang="ko-KR" altLang="en-US" sz="1000" dirty="0" err="1"/>
              <a:t>in</a:t>
            </a:r>
            <a:r>
              <a:rPr lang="ko-KR" altLang="en-US" sz="1000" dirty="0"/>
              <a:t> </a:t>
            </a:r>
            <a:r>
              <a:rPr lang="ko-KR" altLang="en-US" sz="1000" dirty="0" err="1"/>
              <a:t>Cryptology</a:t>
            </a:r>
            <a:r>
              <a:rPr lang="ko-KR" altLang="en-US" sz="1000" dirty="0"/>
              <a:t>,</a:t>
            </a:r>
            <a:r>
              <a:rPr lang="en-US" altLang="ko-KR" sz="1000" dirty="0"/>
              <a:t> 2025.</a:t>
            </a:r>
            <a:endParaRPr lang="ko-KR" altLang="en-US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CEB5A7-BF20-6269-7A86-C372DE79C9C5}"/>
              </a:ext>
            </a:extLst>
          </p:cNvPr>
          <p:cNvSpPr txBox="1"/>
          <p:nvPr/>
        </p:nvSpPr>
        <p:spPr>
          <a:xfrm>
            <a:off x="7922103" y="4097453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*</a:t>
            </a:r>
            <a:endParaRPr kumimoji="1" lang="ko-KR" altLang="en-US" dirty="0"/>
          </a:p>
        </p:txBody>
      </p:sp>
      <p:cxnSp>
        <p:nvCxnSpPr>
          <p:cNvPr id="14" name="직선 연결선[R] 13">
            <a:extLst>
              <a:ext uri="{FF2B5EF4-FFF2-40B4-BE49-F238E27FC236}">
                <a16:creationId xmlns:a16="http://schemas.microsoft.com/office/drawing/2014/main" id="{97E87198-6B02-5160-35A6-266F210D9E72}"/>
              </a:ext>
            </a:extLst>
          </p:cNvPr>
          <p:cNvCxnSpPr>
            <a:cxnSpLocks/>
          </p:cNvCxnSpPr>
          <p:nvPr/>
        </p:nvCxnSpPr>
        <p:spPr>
          <a:xfrm>
            <a:off x="6011047" y="5407817"/>
            <a:ext cx="388418" cy="137110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[R] 14">
            <a:extLst>
              <a:ext uri="{FF2B5EF4-FFF2-40B4-BE49-F238E27FC236}">
                <a16:creationId xmlns:a16="http://schemas.microsoft.com/office/drawing/2014/main" id="{E268603F-C2C0-E98C-3F46-759C2053E19D}"/>
              </a:ext>
            </a:extLst>
          </p:cNvPr>
          <p:cNvCxnSpPr>
            <a:cxnSpLocks/>
          </p:cNvCxnSpPr>
          <p:nvPr/>
        </p:nvCxnSpPr>
        <p:spPr>
          <a:xfrm flipV="1">
            <a:off x="6012382" y="5565699"/>
            <a:ext cx="396510" cy="163181"/>
          </a:xfrm>
          <a:prstGeom prst="line">
            <a:avLst/>
          </a:prstGeom>
          <a:ln w="762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4753657-8801-EBD4-ED71-349BF969AB7D}"/>
              </a:ext>
            </a:extLst>
          </p:cNvPr>
          <p:cNvSpPr/>
          <p:nvPr/>
        </p:nvSpPr>
        <p:spPr>
          <a:xfrm rot="17755346">
            <a:off x="6382689" y="5529432"/>
            <a:ext cx="53197" cy="50291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" name="슬라이드 번호 개체 틀 10">
            <a:extLst>
              <a:ext uri="{FF2B5EF4-FFF2-40B4-BE49-F238E27FC236}">
                <a16:creationId xmlns:a16="http://schemas.microsoft.com/office/drawing/2014/main" id="{F2D87570-98C4-4455-BAF3-2D4149144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8852B28-D290-2A4B-A90A-47EAEF72A8E4}" type="slidenum">
              <a:rPr kumimoji="1" lang="ko-Kore-KR" altLang="en-US" smtClean="0"/>
              <a:t>26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8524951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9">
          <a:extLst>
            <a:ext uri="{FF2B5EF4-FFF2-40B4-BE49-F238E27FC236}">
              <a16:creationId xmlns:a16="http://schemas.microsoft.com/office/drawing/2014/main" id="{AF32CC5C-BCCF-9D10-14FC-258BFBCC6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80">
            <a:extLst>
              <a:ext uri="{FF2B5EF4-FFF2-40B4-BE49-F238E27FC236}">
                <a16:creationId xmlns:a16="http://schemas.microsoft.com/office/drawing/2014/main" id="{C09DB56D-C434-C78C-16F2-A10046D9D370}"/>
              </a:ext>
            </a:extLst>
          </p:cNvPr>
          <p:cNvSpPr/>
          <p:nvPr/>
        </p:nvSpPr>
        <p:spPr>
          <a:xfrm>
            <a:off x="304800" y="142875"/>
            <a:ext cx="11639550" cy="104775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80">
            <a:extLst>
              <a:ext uri="{FF2B5EF4-FFF2-40B4-BE49-F238E27FC236}">
                <a16:creationId xmlns:a16="http://schemas.microsoft.com/office/drawing/2014/main" id="{6FFC0010-CCC0-77DB-8186-34DC610F7327}"/>
              </a:ext>
            </a:extLst>
          </p:cNvPr>
          <p:cNvSpPr txBox="1"/>
          <p:nvPr/>
        </p:nvSpPr>
        <p:spPr>
          <a:xfrm>
            <a:off x="1027347" y="3075077"/>
            <a:ext cx="10137305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ko-KR" altLang="en-US" sz="4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실제 </a:t>
            </a:r>
            <a:r>
              <a:rPr lang="en-US" altLang="ko-KR" sz="4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Runtime </a:t>
            </a:r>
            <a:r>
              <a:rPr lang="ko-KR" altLang="en-US" sz="4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및 </a:t>
            </a:r>
            <a:r>
              <a:rPr lang="en-US" altLang="ko-KR" sz="4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Physical </a:t>
            </a:r>
            <a:r>
              <a:rPr lang="ko-KR" altLang="en-US" sz="40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큐빗</a:t>
            </a:r>
            <a:r>
              <a:rPr lang="ko-KR" altLang="en-US" sz="4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비용 분석</a:t>
            </a:r>
            <a:endParaRPr lang="en-US" altLang="ko-KR" sz="40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8CA6CA7-C9D7-CD16-4797-CD7863AEB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AB9D3-EAF0-7A44-B522-0A500B1E98A1}" type="slidenum">
              <a:rPr kumimoji="1" lang="ko-Kore-KR" altLang="en-US" smtClean="0"/>
              <a:t>27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438674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CF6F9-BD88-0D37-160A-F56F27B4C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07FCBC4-A02E-DBFF-A4D6-78F33B2B3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732" y="367291"/>
            <a:ext cx="4220285" cy="53828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BDEA0D8-F798-1E4B-0B18-943B6B9704AB}"/>
              </a:ext>
            </a:extLst>
          </p:cNvPr>
          <p:cNvSpPr txBox="1"/>
          <p:nvPr/>
        </p:nvSpPr>
        <p:spPr>
          <a:xfrm>
            <a:off x="448384" y="5955844"/>
            <a:ext cx="117436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ko-KR" sz="18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D. Sarah and C. Peter, “</a:t>
            </a:r>
            <a:r>
              <a:rPr kumimoji="1" lang="en-US" altLang="ko-Kore-KR" sz="18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On the Practical Cost of Grover for AES Key Recovery</a:t>
            </a:r>
            <a:r>
              <a:rPr kumimoji="1" lang="en-US" altLang="ko-KR" sz="18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”</a:t>
            </a:r>
          </a:p>
          <a:p>
            <a:pPr algn="ctr"/>
            <a:r>
              <a:rPr kumimoji="1" lang="en-US" altLang="ko-KR" sz="18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5</a:t>
            </a:r>
            <a:r>
              <a:rPr kumimoji="1" lang="en-US" altLang="ko-KR" sz="1800" baseline="300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th </a:t>
            </a:r>
            <a:r>
              <a:rPr kumimoji="1" lang="en-US" altLang="ko-KR" sz="18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NIST PQC Standardization Conference, 2024.</a:t>
            </a:r>
          </a:p>
        </p:txBody>
      </p:sp>
      <p:sp>
        <p:nvSpPr>
          <p:cNvPr id="2" name="슬라이드 번호 개체 틀 10">
            <a:extLst>
              <a:ext uri="{FF2B5EF4-FFF2-40B4-BE49-F238E27FC236}">
                <a16:creationId xmlns:a16="http://schemas.microsoft.com/office/drawing/2014/main" id="{212B4BAF-6B79-2943-1FA3-61F6527D8157}"/>
              </a:ext>
            </a:extLst>
          </p:cNvPr>
          <p:cNvSpPr txBox="1">
            <a:spLocks/>
          </p:cNvSpPr>
          <p:nvPr/>
        </p:nvSpPr>
        <p:spPr>
          <a:xfrm>
            <a:off x="11075505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8852B28-D290-2A4B-A90A-47EAEF72A8E4}" type="slidenum">
              <a:rPr kumimoji="1" lang="ko-Kore-KR" altLang="en-US" sz="14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/>
              <a:t>28</a:t>
            </a:fld>
            <a:endParaRPr kumimoji="1" lang="ko-Kore-KR" altLang="en-US" sz="14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11220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47AE9-1CAB-3E5A-0AB3-A9F20B5E7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1">
            <a:extLst>
              <a:ext uri="{FF2B5EF4-FFF2-40B4-BE49-F238E27FC236}">
                <a16:creationId xmlns:a16="http://schemas.microsoft.com/office/drawing/2014/main" id="{7175B51C-37EF-4829-19A3-0ADC646FF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920" y="207747"/>
            <a:ext cx="11368160" cy="762163"/>
          </a:xfrm>
        </p:spPr>
        <p:txBody>
          <a:bodyPr>
            <a:normAutofit/>
          </a:bodyPr>
          <a:lstStyle/>
          <a:p>
            <a:r>
              <a:rPr kumimoji="1" lang="en-US" altLang="ko-Kore-KR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AES </a:t>
            </a:r>
            <a:r>
              <a:rPr kumimoji="1" lang="en-US" altLang="ko-Kore-KR" sz="32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양자</a:t>
            </a:r>
            <a:r>
              <a:rPr kumimoji="1" lang="en-US" altLang="ko-Kore-KR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kumimoji="1" lang="en-US" altLang="ko-Kore-KR" sz="32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공격</a:t>
            </a:r>
            <a:r>
              <a:rPr kumimoji="1" lang="en-US" altLang="ko-Kore-KR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kumimoji="1" lang="en-US" altLang="ko-Kore-KR" sz="32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분석</a:t>
            </a:r>
            <a:r>
              <a:rPr kumimoji="1" lang="en-US" altLang="ko-Kore-KR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</a:t>
            </a:r>
            <a:r>
              <a:rPr kumimoji="1" lang="en-US" altLang="ko-Kore-KR" sz="32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연구</a:t>
            </a:r>
            <a:r>
              <a:rPr kumimoji="1" lang="en-US" altLang="ko-KR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: </a:t>
            </a:r>
            <a:r>
              <a:rPr kumimoji="1" lang="en-US" altLang="ko-Kore-KR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NIST </a:t>
            </a:r>
            <a:r>
              <a:rPr kumimoji="1" lang="en-US" altLang="ko-Kore-KR" sz="32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컨퍼런스</a:t>
            </a:r>
            <a:endParaRPr kumimoji="1" lang="ko-Kore-KR" altLang="en-US" sz="3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A61C64A-84EC-9E0D-1857-4698A4D1EF76}"/>
                  </a:ext>
                </a:extLst>
              </p:cNvPr>
              <p:cNvSpPr txBox="1"/>
              <p:nvPr/>
            </p:nvSpPr>
            <p:spPr>
              <a:xfrm>
                <a:off x="125506" y="1267893"/>
                <a:ext cx="11974688" cy="39078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1"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NIST </a:t>
                </a:r>
                <a:r>
                  <a:rPr kumimoji="1"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컨퍼런스에서 발표된 </a:t>
                </a:r>
                <a:r>
                  <a:rPr kumimoji="1" lang="en-US" altLang="ko-Kore-KR" sz="2200" b="1" dirty="0">
                    <a:latin typeface="Gmarket Sans TTF Bold" panose="02000000000000000000" pitchFamily="2" charset="-128"/>
                    <a:ea typeface="Gmarket Sans TTF Bold" panose="02000000000000000000" pitchFamily="2" charset="-128"/>
                  </a:rPr>
                  <a:t>AES</a:t>
                </a:r>
                <a:r>
                  <a:rPr kumimoji="1" lang="ko-KR" altLang="en-US" sz="2200" b="1" dirty="0" err="1">
                    <a:latin typeface="Gmarket Sans TTF Bold" panose="02000000000000000000" pitchFamily="2" charset="-128"/>
                    <a:ea typeface="Gmarket Sans TTF Bold" panose="02000000000000000000" pitchFamily="2" charset="-128"/>
                  </a:rPr>
                  <a:t>에</a:t>
                </a:r>
                <a:r>
                  <a:rPr kumimoji="1" lang="ko-KR" altLang="en-US" sz="2200" b="1" dirty="0">
                    <a:latin typeface="Gmarket Sans TTF Bold" panose="02000000000000000000" pitchFamily="2" charset="-128"/>
                    <a:ea typeface="Gmarket Sans TTF Bold" panose="02000000000000000000" pitchFamily="2" charset="-128"/>
                  </a:rPr>
                  <a:t> 대한</a:t>
                </a:r>
                <a:r>
                  <a:rPr kumimoji="1" lang="en-US" altLang="ko-KR" sz="2200" b="1" dirty="0">
                    <a:latin typeface="Gmarket Sans TTF Bold" panose="02000000000000000000" pitchFamily="2" charset="-128"/>
                    <a:ea typeface="Gmarket Sans TTF Bold" panose="02000000000000000000" pitchFamily="2" charset="-128"/>
                  </a:rPr>
                  <a:t> </a:t>
                </a:r>
                <a:r>
                  <a:rPr kumimoji="1" lang="ko-KR" altLang="en-US" sz="2200" b="1" dirty="0">
                    <a:latin typeface="Gmarket Sans TTF Bold" panose="02000000000000000000" pitchFamily="2" charset="-128"/>
                    <a:ea typeface="Gmarket Sans TTF Bold" panose="02000000000000000000" pitchFamily="2" charset="-128"/>
                  </a:rPr>
                  <a:t>양자 공격 분석</a:t>
                </a:r>
                <a:r>
                  <a:rPr kumimoji="1" lang="en-US" altLang="ko-KR" sz="2200" b="1" dirty="0">
                    <a:latin typeface="Gmarket Sans TTF Bold" panose="02000000000000000000" pitchFamily="2" charset="-128"/>
                    <a:ea typeface="Gmarket Sans TTF Bold" panose="02000000000000000000" pitchFamily="2" charset="-128"/>
                  </a:rPr>
                  <a:t> </a:t>
                </a:r>
                <a:r>
                  <a:rPr kumimoji="1" lang="ko-KR" altLang="en-US" sz="2200" b="1" dirty="0">
                    <a:latin typeface="Gmarket Sans TTF Bold" panose="02000000000000000000" pitchFamily="2" charset="-128"/>
                    <a:ea typeface="Gmarket Sans TTF Bold" panose="02000000000000000000" pitchFamily="2" charset="-128"/>
                  </a:rPr>
                  <a:t>연구 </a:t>
                </a:r>
                <a:r>
                  <a:rPr kumimoji="1"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(</a:t>
                </a:r>
                <a:r>
                  <a:rPr kumimoji="1"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다양한 현실적 측면을 고려한</a:t>
                </a:r>
                <a:r>
                  <a:rPr kumimoji="1"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kumimoji="1"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효율적인 </a:t>
                </a:r>
                <a:r>
                  <a:rPr kumimoji="1"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AES </a:t>
                </a:r>
                <a:r>
                  <a:rPr kumimoji="1"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양자 회로</a:t>
                </a:r>
                <a:r>
                  <a:rPr kumimoji="1"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, </a:t>
                </a:r>
                <a:r>
                  <a:rPr kumimoji="1"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양자 오류 정정 코드에 대한 기존 연구들을 기반으로</a:t>
                </a:r>
                <a:endParaRPr kumimoji="1" lang="en-US" altLang="ko-KR" sz="22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r>
                  <a:rPr kumimoji="1"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      </a:t>
                </a:r>
                <a:r>
                  <a:rPr kumimoji="1"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    </a:t>
                </a:r>
                <a:r>
                  <a:rPr kumimoji="1"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AES</a:t>
                </a:r>
                <a:r>
                  <a:rPr kumimoji="1" lang="ko-KR" altLang="en-US" sz="2200" dirty="0" err="1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를</a:t>
                </a:r>
                <a:r>
                  <a:rPr kumimoji="1"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양자 컴퓨터로 해독하는 데 필요한 물리적 자원들을 추정 </a:t>
                </a:r>
                <a:r>
                  <a:rPr kumimoji="1"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(Physical)</a:t>
                </a:r>
              </a:p>
              <a:p>
                <a:endParaRPr kumimoji="1" lang="en-US" altLang="ko-KR" sz="22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kumimoji="1"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다음 </a:t>
                </a:r>
                <a:r>
                  <a:rPr kumimoji="1"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Physical </a:t>
                </a:r>
                <a:r>
                  <a:rPr kumimoji="1"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파라미터들을 고려하였음</a:t>
                </a:r>
                <a:endParaRPr kumimoji="1" lang="en-US" altLang="ko-KR" sz="5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kumimoji="1"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양자 컴퓨터의 오류 수정 </a:t>
                </a:r>
                <a:r>
                  <a:rPr kumimoji="1"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Cycle time: </a:t>
                </a:r>
                <a14:m>
                  <m:oMath xmlns:m="http://schemas.openxmlformats.org/officeDocument/2006/math">
                    <m:r>
                      <a:rPr kumimoji="1" lang="en-US" altLang="ko-KR" sz="2200" b="1" i="0" dirty="0" smtClean="0">
                        <a:latin typeface="Cambria Math" panose="02040503050406030204" pitchFamily="18" charset="0"/>
                      </a:rPr>
                      <m:t>𝟐𝟎𝟎</m:t>
                    </m:r>
                  </m:oMath>
                </a14:m>
                <a:r>
                  <a:rPr kumimoji="1" lang="en-US" altLang="ko-KR" sz="2200" b="1" dirty="0">
                    <a:latin typeface="Gmarket Sans TTF Bold" panose="02000000000000000000" pitchFamily="2" charset="-128"/>
                    <a:ea typeface="Gmarket Sans TTF Bold" panose="02000000000000000000" pitchFamily="2" charset="-128"/>
                  </a:rPr>
                  <a:t> ns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kumimoji="1"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양자 컴퓨터 </a:t>
                </a:r>
                <a:r>
                  <a:rPr kumimoji="1" lang="ko-KR" altLang="en-US" sz="2200" dirty="0" err="1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오류율</a:t>
                </a:r>
                <a:r>
                  <a:rPr kumimoji="1"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:</a:t>
                </a:r>
                <a:r>
                  <a:rPr kumimoji="1"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ko-KR" sz="2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2200" b="1" i="0" smtClean="0"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kumimoji="1" lang="en-US" altLang="ko-KR" sz="2200" b="1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ko-KR" sz="2200" b="1" i="0" smtClean="0">
                            <a:latin typeface="Cambria Math" panose="02040503050406030204" pitchFamily="18" charset="0"/>
                          </a:rPr>
                          <m:t>𝟒</m:t>
                        </m:r>
                      </m:sup>
                    </m:sSup>
                  </m:oMath>
                </a14:m>
                <a:endParaRPr kumimoji="1" lang="en-US" altLang="ko-KR" sz="2200" b="1" dirty="0">
                  <a:latin typeface="Gmarket Sans TTF Bold" panose="02000000000000000000" pitchFamily="2" charset="-128"/>
                  <a:ea typeface="Gmarket Sans TTF Bold" panose="02000000000000000000" pitchFamily="2" charset="-128"/>
                </a:endParaRP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:endParaRPr kumimoji="1" lang="en-US" altLang="ko-KR" sz="22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r>
                  <a:rPr kumimoji="1" lang="en-US" altLang="ko-KR" sz="2200" b="1" dirty="0">
                    <a:latin typeface="Gmarket Sans TTF Bold" panose="02000000000000000000" pitchFamily="2" charset="-128"/>
                    <a:ea typeface="Gmarket Sans TTF Bold" panose="02000000000000000000" pitchFamily="2" charset="-128"/>
                  </a:rPr>
                  <a:t>Note: </a:t>
                </a:r>
                <a:r>
                  <a:rPr kumimoji="1"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현재 초전도 양자 컴퓨터의 오류율은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ko-KR" sz="2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2200" b="1" i="0" smtClean="0"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kumimoji="1" lang="en-US" altLang="ko-KR" sz="2200" b="1" i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ko-KR" sz="2200" b="1" i="0" smtClean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r>
                  <a:rPr kumimoji="1" lang="en-US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, Cycle time</a:t>
                </a:r>
                <a:r>
                  <a:rPr kumimoji="1"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은 </a:t>
                </a:r>
                <a:r>
                  <a:rPr lang="en" altLang="ko-KR" sz="2200" b="1" dirty="0"/>
                  <a:t>1</a:t>
                </a:r>
                <a:r>
                  <a:rPr lang="el-GR" altLang="ko-KR" sz="2200" b="1" dirty="0"/>
                  <a:t>μ</a:t>
                </a:r>
                <a:r>
                  <a:rPr lang="en" altLang="ko-KR" sz="2200" b="1" dirty="0"/>
                  <a:t>s</a:t>
                </a:r>
                <a:r>
                  <a:rPr lang="en" altLang="ko-KR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(microsecond)</a:t>
                </a:r>
                <a:endParaRPr kumimoji="1" lang="en-US" altLang="ko-KR" sz="22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endParaRPr kumimoji="1" lang="en-US" altLang="ko-KR" sz="22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marL="1257300" lvl="2" indent="-342900">
                  <a:buFont typeface="Arial" panose="020B0604020202020204" pitchFamily="34" charset="0"/>
                  <a:buChar char="•"/>
                </a:pPr>
                <a:endParaRPr kumimoji="1" lang="en-US" altLang="ko-KR" sz="5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endParaRPr kumimoji="1" lang="en-US" altLang="ko-KR" sz="2200" dirty="0">
                  <a:solidFill>
                    <a:schemeClr val="accent1">
                      <a:lumMod val="75000"/>
                    </a:schemeClr>
                  </a:solidFill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A61C64A-84EC-9E0D-1857-4698A4D1EF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506" y="1267893"/>
                <a:ext cx="11974688" cy="3907865"/>
              </a:xfrm>
              <a:prstGeom prst="rect">
                <a:avLst/>
              </a:prstGeom>
              <a:blipFill>
                <a:blip r:embed="rId2"/>
                <a:stretch>
                  <a:fillRect l="-742" t="-12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슬라이드 번호 개체 틀 10">
            <a:extLst>
              <a:ext uri="{FF2B5EF4-FFF2-40B4-BE49-F238E27FC236}">
                <a16:creationId xmlns:a16="http://schemas.microsoft.com/office/drawing/2014/main" id="{44925D15-85E5-E824-AC47-C305F347BAB6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852B28-D290-2A4B-A90A-47EAEF72A8E4}" type="slidenum">
              <a:rPr kumimoji="1" lang="ko-Kore-KR" altLang="en-US" sz="12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29</a:t>
            </a:fld>
            <a:endParaRPr kumimoji="1" lang="ko-Kore-KR" alt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21527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FFA07-FF4B-3281-4B3C-B4D482853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6A0DB9-0B87-40B9-2D12-719B103FD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ko-KR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Physical </a:t>
            </a:r>
            <a:r>
              <a:rPr kumimoji="1" lang="ko-KR" altLang="en-US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비용 추정</a:t>
            </a:r>
            <a:r>
              <a:rPr kumimoji="1" lang="en-US" altLang="ko-KR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: Fault-Tolerant</a:t>
            </a:r>
            <a:endParaRPr kumimoji="1" lang="ko-Kore-KR" altLang="en-US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20F16A3-8DE5-FAD8-3942-71422329B20A}"/>
                  </a:ext>
                </a:extLst>
              </p:cNvPr>
              <p:cNvSpPr txBox="1"/>
              <p:nvPr/>
            </p:nvSpPr>
            <p:spPr>
              <a:xfrm>
                <a:off x="188925" y="1288128"/>
                <a:ext cx="8901796" cy="14266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ko-KR" altLang="en-US" sz="2200" b="1" dirty="0">
                    <a:latin typeface="Gmarket Sans TTF Bold" panose="02000000000000000000" pitchFamily="2" charset="-128"/>
                    <a:ea typeface="Gmarket Sans TTF Bold" panose="02000000000000000000" pitchFamily="2" charset="-128"/>
                  </a:rPr>
                  <a:t>해당 논문의  조건으로 </a:t>
                </a:r>
                <a:r>
                  <a:rPr lang="ko-KR" altLang="en-US" sz="2200" b="1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코드기반암호 실제 </a:t>
                </a:r>
                <a:r>
                  <a:rPr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해킹 런타임 및 </a:t>
                </a:r>
                <a:r>
                  <a:rPr lang="ko-KR" altLang="en-US" sz="2200" dirty="0" err="1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큐빗</a:t>
                </a:r>
                <a:r>
                  <a:rPr lang="ko-KR" altLang="en-US" sz="22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수 추정</a:t>
                </a:r>
                <a:endParaRPr kumimoji="1" lang="en-US" altLang="ko-KR" sz="1400" b="1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kumimoji="1" lang="en-US" altLang="ko-KR" sz="21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Magic state injection error rate</a:t>
                </a:r>
                <a:r>
                  <a:rPr kumimoji="1" lang="en-US" altLang="ko-KR" sz="21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1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kumimoji="1" lang="en-US" altLang="ko-KR" sz="2100" i="1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kumimoji="1" lang="en-US" altLang="ko-KR" sz="2100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ko-KR" sz="21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2100" b="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kumimoji="1" lang="en-US" altLang="ko-KR" sz="2100" b="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ko-KR" sz="21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kumimoji="1" lang="en-US" altLang="ko-KR" sz="21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kumimoji="1" lang="en-US" altLang="ko-KR" sz="21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Per-gate error rate</a:t>
                </a:r>
                <a:r>
                  <a:rPr kumimoji="1" lang="en-US" altLang="ko-KR" sz="21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ko-KR" sz="21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ko-KR" sz="21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kumimoji="1" lang="en-US" altLang="ko-KR" sz="2100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kumimoji="1" lang="en-US" altLang="ko-KR" sz="21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ko-KR" sz="2100" dirty="0"/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ko-KR" sz="21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ko-KR" sz="2100" b="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kumimoji="1" lang="en-US" altLang="ko-KR" sz="2100" b="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ko-KR" sz="21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endParaRPr kumimoji="1" lang="en-US" altLang="ko-KR" sz="2100" dirty="0"/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altLang="ko-KR" sz="21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Surface code</a:t>
                </a:r>
                <a:r>
                  <a:rPr lang="ko-KR" altLang="en-US" sz="21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 </a:t>
                </a:r>
                <a:r>
                  <a:rPr lang="en-US" altLang="ko-KR" sz="21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</a:rPr>
                  <a:t>cycle</a:t>
                </a:r>
                <a:r>
                  <a:rPr lang="en-US" altLang="ko-KR" sz="2100" dirty="0"/>
                  <a:t>: </a:t>
                </a:r>
                <a:r>
                  <a:rPr lang="en-US" altLang="ko-KR" sz="2100" dirty="0">
                    <a:sym typeface="Wingdings" pitchFamily="2" charset="2"/>
                  </a:rPr>
                  <a:t>200</a:t>
                </a:r>
                <a:r>
                  <a:rPr lang="en-US" altLang="ko-KR" sz="2100" b="1" dirty="0">
                    <a:sym typeface="Wingdings" pitchFamily="2" charset="2"/>
                  </a:rPr>
                  <a:t> </a:t>
                </a:r>
                <a:r>
                  <a:rPr lang="en-US" altLang="ko-KR" sz="2100" dirty="0">
                    <a:latin typeface="Gmarket Sans TTF Medium" panose="02000000000000000000" pitchFamily="2" charset="-128"/>
                    <a:ea typeface="Gmarket Sans TTF Medium" panose="02000000000000000000" pitchFamily="2" charset="-128"/>
                    <a:sym typeface="Wingdings" pitchFamily="2" charset="2"/>
                  </a:rPr>
                  <a:t>ns (nanoseconds)</a:t>
                </a:r>
                <a:endParaRPr kumimoji="1" lang="en-US" altLang="ko-KR" sz="2100" dirty="0">
                  <a:latin typeface="Gmarket Sans TTF Medium" panose="02000000000000000000" pitchFamily="2" charset="-128"/>
                  <a:ea typeface="Gmarket Sans TTF Medium" panose="02000000000000000000" pitchFamily="2" charset="-128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20F16A3-8DE5-FAD8-3942-71422329B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925" y="1288128"/>
                <a:ext cx="8901796" cy="1426609"/>
              </a:xfrm>
              <a:prstGeom prst="rect">
                <a:avLst/>
              </a:prstGeom>
              <a:blipFill>
                <a:blip r:embed="rId2"/>
                <a:stretch>
                  <a:fillRect l="-712" t="-3540" r="-712" b="-7965"/>
                </a:stretch>
              </a:blipFill>
            </p:spPr>
            <p:txBody>
              <a:bodyPr/>
              <a:lstStyle/>
              <a:p>
                <a:r>
                  <a:rPr lang="ko-Kore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8BD4CA57-0795-B483-4B1C-470D5C13757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0968282"/>
                  </p:ext>
                </p:extLst>
              </p:nvPr>
            </p:nvGraphicFramePr>
            <p:xfrm>
              <a:off x="922553" y="2897211"/>
              <a:ext cx="10809889" cy="35276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72395">
                      <a:extLst>
                        <a:ext uri="{9D8B030D-6E8A-4147-A177-3AD203B41FA5}">
                          <a16:colId xmlns:a16="http://schemas.microsoft.com/office/drawing/2014/main" val="2302383556"/>
                        </a:ext>
                      </a:extLst>
                    </a:gridCol>
                    <a:gridCol w="1668938">
                      <a:extLst>
                        <a:ext uri="{9D8B030D-6E8A-4147-A177-3AD203B41FA5}">
                          <a16:colId xmlns:a16="http://schemas.microsoft.com/office/drawing/2014/main" val="2807945178"/>
                        </a:ext>
                      </a:extLst>
                    </a:gridCol>
                    <a:gridCol w="2341266">
                      <a:extLst>
                        <a:ext uri="{9D8B030D-6E8A-4147-A177-3AD203B41FA5}">
                          <a16:colId xmlns:a16="http://schemas.microsoft.com/office/drawing/2014/main" val="4071364760"/>
                        </a:ext>
                      </a:extLst>
                    </a:gridCol>
                    <a:gridCol w="2368327">
                      <a:extLst>
                        <a:ext uri="{9D8B030D-6E8A-4147-A177-3AD203B41FA5}">
                          <a16:colId xmlns:a16="http://schemas.microsoft.com/office/drawing/2014/main" val="2308912253"/>
                        </a:ext>
                      </a:extLst>
                    </a:gridCol>
                    <a:gridCol w="2058963">
                      <a:extLst>
                        <a:ext uri="{9D8B030D-6E8A-4147-A177-3AD203B41FA5}">
                          <a16:colId xmlns:a16="http://schemas.microsoft.com/office/drawing/2014/main" val="1149238369"/>
                        </a:ext>
                      </a:extLst>
                    </a:gridCol>
                  </a:tblGrid>
                  <a:tr h="3525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Cipher</a:t>
                          </a:r>
                          <a:endParaRPr lang="ko-KR" altLang="en-US" sz="15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Security level</a:t>
                          </a:r>
                          <a:endParaRPr lang="ko-Kore-KR" altLang="en-US" sz="15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Physical qubits</a:t>
                          </a:r>
                          <a:endParaRPr lang="ko-Kore-KR" altLang="en-US" sz="15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Surface code cycles</a:t>
                          </a:r>
                          <a:endParaRPr lang="ko-Kore-KR" altLang="en-US" sz="15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Runtime</a:t>
                          </a:r>
                          <a:endParaRPr lang="ko-Kore-KR" altLang="en-US" sz="15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marL="100584" marR="100584" anchor="ctr"/>
                    </a:tc>
                    <a:extLst>
                      <a:ext uri="{0D108BD9-81ED-4DB2-BD59-A6C34878D82A}">
                        <a16:rowId xmlns:a16="http://schemas.microsoft.com/office/drawing/2014/main" val="787182055"/>
                      </a:ext>
                    </a:extLst>
                  </a:tr>
                  <a:tr h="285406"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Classic McEliece</a:t>
                          </a: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  <a:sym typeface="Wingdings" pitchFamily="2" charset="2"/>
                            </a:rPr>
                            <a:t>Level-1</a:t>
                          </a: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en-US" altLang="ko-KR" sz="17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cs typeface="+mn-cs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ko-KR" sz="17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cs typeface="+mn-cs"/>
                                        <a:sym typeface="Wingdings" pitchFamily="2" charset="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altLang="ko-KR" sz="17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cs typeface="+mn-cs"/>
                                        <a:sym typeface="Wingdings" pitchFamily="2" charset="2"/>
                                      </a:rPr>
                                      <m:t>33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7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  <a:sym typeface="Wingdings" pitchFamily="2" charset="2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en-US" altLang="ko-KR" sz="17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cs typeface="+mn-cs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ko-KR" sz="17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cs typeface="+mn-cs"/>
                                        <a:sym typeface="Wingdings" pitchFamily="2" charset="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altLang="ko-KR" sz="17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cs typeface="+mn-cs"/>
                                        <a:sym typeface="Wingdings" pitchFamily="2" charset="2"/>
                                      </a:rPr>
                                      <m:t>104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7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  <a:sym typeface="Wingdings" pitchFamily="2" charset="2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kumimoji="0" lang="en-US" altLang="ko-KR" sz="17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Gmarket Sans TTF Medium" panose="02000000000000000000" pitchFamily="2" charset="-128"/>
                                      <a:cs typeface="+mn-cs"/>
                                      <a:sym typeface="Wingdings" pitchFamily="2" charset="2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altLang="ko-KR" sz="17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Gmarket Sans TTF Medium" panose="02000000000000000000" pitchFamily="2" charset="-128"/>
                                      <a:cs typeface="+mn-cs"/>
                                      <a:sym typeface="Wingdings" pitchFamily="2" charset="2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kumimoji="0" lang="en-US" altLang="ko-KR" sz="17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Gmarket Sans TTF Medium" panose="02000000000000000000" pitchFamily="2" charset="-128"/>
                                      <a:cs typeface="+mn-cs"/>
                                      <a:sym typeface="Wingdings" pitchFamily="2" charset="2"/>
                                    </a:rPr>
                                    <m:t>17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ko-KR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  <a:sym typeface="Wingdings" pitchFamily="2" charset="2"/>
                            </a:rPr>
                            <a:t> years</a:t>
                          </a:r>
                        </a:p>
                      </a:txBody>
                      <a:tcPr marL="100584" marR="100584" anchor="ctr"/>
                    </a:tc>
                    <a:extLst>
                      <a:ext uri="{0D108BD9-81ED-4DB2-BD59-A6C34878D82A}">
                        <a16:rowId xmlns:a16="http://schemas.microsoft.com/office/drawing/2014/main" val="1168926977"/>
                      </a:ext>
                    </a:extLst>
                  </a:tr>
                  <a:tr h="285405">
                    <a:tc vMerge="1">
                      <a:txBody>
                        <a:bodyPr/>
                        <a:lstStyle/>
                        <a:p>
                          <a:endParaRPr lang="ko-Kore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  <a:sym typeface="Wingdings" pitchFamily="2" charset="2"/>
                            </a:rPr>
                            <a:t>Level-3</a:t>
                          </a: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en-US" altLang="ko-KR" sz="17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cs typeface="+mn-cs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ko-KR" sz="17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cs typeface="+mn-cs"/>
                                        <a:sym typeface="Wingdings" pitchFamily="2" charset="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altLang="ko-KR" sz="17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cs typeface="+mn-cs"/>
                                        <a:sym typeface="Wingdings" pitchFamily="2" charset="2"/>
                                      </a:rPr>
                                      <m:t>35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7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  <a:sym typeface="Wingdings" pitchFamily="2" charset="2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en-US" altLang="ko-KR" sz="17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cs typeface="+mn-cs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ko-KR" sz="17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cs typeface="+mn-cs"/>
                                        <a:sym typeface="Wingdings" pitchFamily="2" charset="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altLang="ko-KR" sz="17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cs typeface="+mn-cs"/>
                                        <a:sym typeface="Wingdings" pitchFamily="2" charset="2"/>
                                      </a:rPr>
                                      <m:t>125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7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  <a:sym typeface="Wingdings" pitchFamily="2" charset="2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kumimoji="0" lang="en-US" altLang="ko-KR" sz="17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Gmarket Sans TTF Medium" panose="02000000000000000000" pitchFamily="2" charset="-128"/>
                                      <a:cs typeface="+mn-cs"/>
                                      <a:sym typeface="Wingdings" pitchFamily="2" charset="2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altLang="ko-KR" sz="17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Gmarket Sans TTF Medium" panose="02000000000000000000" pitchFamily="2" charset="-128"/>
                                      <a:cs typeface="+mn-cs"/>
                                      <a:sym typeface="Wingdings" pitchFamily="2" charset="2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kumimoji="0" lang="en-US" altLang="ko-KR" sz="17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Gmarket Sans TTF Medium" panose="02000000000000000000" pitchFamily="2" charset="-128"/>
                                      <a:cs typeface="+mn-cs"/>
                                      <a:sym typeface="Wingdings" pitchFamily="2" charset="2"/>
                                    </a:rPr>
                                    <m:t>23</m:t>
                                  </m:r>
                                </m:sup>
                              </m:sSup>
                            </m:oMath>
                          </a14:m>
                          <a:r>
                            <a:rPr kumimoji="0" lang="en-US" altLang="ko-KR" sz="15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  <a:cs typeface="+mn-cs"/>
                              <a:sym typeface="Wingdings" pitchFamily="2" charset="2"/>
                            </a:rPr>
                            <a:t> years</a:t>
                          </a:r>
                        </a:p>
                      </a:txBody>
                      <a:tcPr marL="100584" marR="100584" anchor="ctr"/>
                    </a:tc>
                    <a:extLst>
                      <a:ext uri="{0D108BD9-81ED-4DB2-BD59-A6C34878D82A}">
                        <a16:rowId xmlns:a16="http://schemas.microsoft.com/office/drawing/2014/main" val="306024786"/>
                      </a:ext>
                    </a:extLst>
                  </a:tr>
                  <a:tr h="285406">
                    <a:tc vMerge="1">
                      <a:txBody>
                        <a:bodyPr/>
                        <a:lstStyle/>
                        <a:p>
                          <a:endParaRPr lang="ko-Kore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  <a:sym typeface="Wingdings" pitchFamily="2" charset="2"/>
                            </a:rPr>
                            <a:t>Level-5</a:t>
                          </a: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en-US" altLang="ko-KR" sz="17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cs typeface="+mn-cs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ko-KR" sz="17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cs typeface="+mn-cs"/>
                                        <a:sym typeface="Wingdings" pitchFamily="2" charset="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altLang="ko-KR" sz="17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cs typeface="+mn-cs"/>
                                        <a:sym typeface="Wingdings" pitchFamily="2" charset="2"/>
                                      </a:rPr>
                                      <m:t>36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7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  <a:sym typeface="Wingdings" pitchFamily="2" charset="2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en-US" altLang="ko-KR" sz="17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cs typeface="+mn-cs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ko-KR" sz="17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cs typeface="+mn-cs"/>
                                        <a:sym typeface="Wingdings" pitchFamily="2" charset="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altLang="ko-KR" sz="17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cs typeface="+mn-cs"/>
                                        <a:sym typeface="Wingdings" pitchFamily="2" charset="2"/>
                                      </a:rPr>
                                      <m:t>165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7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  <a:sym typeface="Wingdings" pitchFamily="2" charset="2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kumimoji="0" lang="en-US" altLang="ko-KR" sz="17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Gmarket Sans TTF Medium" panose="02000000000000000000" pitchFamily="2" charset="-128"/>
                                      <a:cs typeface="+mn-cs"/>
                                      <a:sym typeface="Wingdings" pitchFamily="2" charset="2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altLang="ko-KR" sz="17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Gmarket Sans TTF Medium" panose="02000000000000000000" pitchFamily="2" charset="-128"/>
                                      <a:cs typeface="+mn-cs"/>
                                      <a:sym typeface="Wingdings" pitchFamily="2" charset="2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kumimoji="0" lang="en-US" altLang="ko-KR" sz="17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Gmarket Sans TTF Medium" panose="02000000000000000000" pitchFamily="2" charset="-128"/>
                                      <a:cs typeface="+mn-cs"/>
                                      <a:sym typeface="Wingdings" pitchFamily="2" charset="2"/>
                                    </a:rPr>
                                    <m:t>35</m:t>
                                  </m:r>
                                </m:sup>
                              </m:sSup>
                            </m:oMath>
                          </a14:m>
                          <a:r>
                            <a:rPr kumimoji="0" lang="en-US" altLang="ko-KR" sz="15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  <a:cs typeface="+mn-cs"/>
                              <a:sym typeface="Wingdings" pitchFamily="2" charset="2"/>
                            </a:rPr>
                            <a:t> years</a:t>
                          </a:r>
                        </a:p>
                      </a:txBody>
                      <a:tcPr marL="100584" marR="100584" anchor="ctr"/>
                    </a:tc>
                    <a:extLst>
                      <a:ext uri="{0D108BD9-81ED-4DB2-BD59-A6C34878D82A}">
                        <a16:rowId xmlns:a16="http://schemas.microsoft.com/office/drawing/2014/main" val="1795673507"/>
                      </a:ext>
                    </a:extLst>
                  </a:tr>
                  <a:tr h="201463"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HQC</a:t>
                          </a: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  <a:sym typeface="Wingdings" pitchFamily="2" charset="2"/>
                            </a:rPr>
                            <a:t>Level-1</a:t>
                          </a: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en-US" altLang="ko-KR" sz="17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cs typeface="+mn-cs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ko-KR" sz="17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cs typeface="+mn-cs"/>
                                        <a:sym typeface="Wingdings" pitchFamily="2" charset="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altLang="ko-KR" sz="17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cs typeface="+mn-cs"/>
                                        <a:sym typeface="Wingdings" pitchFamily="2" charset="2"/>
                                      </a:rPr>
                                      <m:t>41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7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  <a:sym typeface="Wingdings" pitchFamily="2" charset="2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en-US" altLang="ko-KR" sz="17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cs typeface="+mn-cs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ko-KR" sz="17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cs typeface="+mn-cs"/>
                                        <a:sym typeface="Wingdings" pitchFamily="2" charset="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altLang="ko-KR" sz="17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cs typeface="+mn-cs"/>
                                        <a:sym typeface="Wingdings" pitchFamily="2" charset="2"/>
                                      </a:rPr>
                                      <m:t>97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7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  <a:sym typeface="Wingdings" pitchFamily="2" charset="2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kumimoji="0" lang="en-US" altLang="ko-KR" sz="17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Gmarket Sans TTF Medium" panose="02000000000000000000" pitchFamily="2" charset="-128"/>
                                      <a:cs typeface="+mn-cs"/>
                                      <a:sym typeface="Wingdings" pitchFamily="2" charset="2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altLang="ko-KR" sz="17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Gmarket Sans TTF Medium" panose="02000000000000000000" pitchFamily="2" charset="-128"/>
                                      <a:cs typeface="+mn-cs"/>
                                      <a:sym typeface="Wingdings" pitchFamily="2" charset="2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kumimoji="0" lang="en-US" altLang="ko-KR" sz="17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Gmarket Sans TTF Medium" panose="02000000000000000000" pitchFamily="2" charset="-128"/>
                                      <a:cs typeface="+mn-cs"/>
                                      <a:sym typeface="Wingdings" pitchFamily="2" charset="2"/>
                                    </a:rPr>
                                    <m:t>15</m:t>
                                  </m:r>
                                </m:sup>
                              </m:sSup>
                            </m:oMath>
                          </a14:m>
                          <a:r>
                            <a:rPr kumimoji="0" lang="en-US" altLang="ko-KR" sz="15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  <a:cs typeface="+mn-cs"/>
                              <a:sym typeface="Wingdings" pitchFamily="2" charset="2"/>
                            </a:rPr>
                            <a:t> years</a:t>
                          </a:r>
                        </a:p>
                      </a:txBody>
                      <a:tcPr marL="100584" marR="100584" anchor="ctr"/>
                    </a:tc>
                    <a:extLst>
                      <a:ext uri="{0D108BD9-81ED-4DB2-BD59-A6C34878D82A}">
                        <a16:rowId xmlns:a16="http://schemas.microsoft.com/office/drawing/2014/main" val="1038493996"/>
                      </a:ext>
                    </a:extLst>
                  </a:tr>
                  <a:tr h="201462">
                    <a:tc vMerge="1">
                      <a:txBody>
                        <a:bodyPr/>
                        <a:lstStyle/>
                        <a:p>
                          <a:endParaRPr lang="ko-Kore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  <a:sym typeface="Wingdings" pitchFamily="2" charset="2"/>
                            </a:rPr>
                            <a:t>Level-3</a:t>
                          </a: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en-US" altLang="ko-KR" sz="17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cs typeface="+mn-cs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ko-KR" sz="17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cs typeface="+mn-cs"/>
                                        <a:sym typeface="Wingdings" pitchFamily="2" charset="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altLang="ko-KR" sz="17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cs typeface="+mn-cs"/>
                                        <a:sym typeface="Wingdings" pitchFamily="2" charset="2"/>
                                      </a:rPr>
                                      <m:t>44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7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  <a:sym typeface="Wingdings" pitchFamily="2" charset="2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en-US" altLang="ko-KR" sz="17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cs typeface="+mn-cs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ko-KR" sz="17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cs typeface="+mn-cs"/>
                                        <a:sym typeface="Wingdings" pitchFamily="2" charset="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altLang="ko-KR" sz="17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cs typeface="+mn-cs"/>
                                        <a:sym typeface="Wingdings" pitchFamily="2" charset="2"/>
                                      </a:rPr>
                                      <m:t>133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7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  <a:sym typeface="Wingdings" pitchFamily="2" charset="2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kumimoji="0" lang="en-US" altLang="ko-KR" sz="17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Gmarket Sans TTF Medium" panose="02000000000000000000" pitchFamily="2" charset="-128"/>
                                      <a:cs typeface="+mn-cs"/>
                                      <a:sym typeface="Wingdings" pitchFamily="2" charset="2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altLang="ko-KR" sz="17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Gmarket Sans TTF Medium" panose="02000000000000000000" pitchFamily="2" charset="-128"/>
                                      <a:cs typeface="+mn-cs"/>
                                      <a:sym typeface="Wingdings" pitchFamily="2" charset="2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kumimoji="0" lang="en-US" altLang="ko-KR" sz="17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Gmarket Sans TTF Medium" panose="02000000000000000000" pitchFamily="2" charset="-128"/>
                                      <a:cs typeface="+mn-cs"/>
                                      <a:sym typeface="Wingdings" pitchFamily="2" charset="2"/>
                                    </a:rPr>
                                    <m:t>26</m:t>
                                  </m:r>
                                </m:sup>
                              </m:sSup>
                            </m:oMath>
                          </a14:m>
                          <a:r>
                            <a:rPr kumimoji="0" lang="en-US" altLang="ko-KR" sz="15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  <a:cs typeface="+mn-cs"/>
                              <a:sym typeface="Wingdings" pitchFamily="2" charset="2"/>
                            </a:rPr>
                            <a:t> years</a:t>
                          </a:r>
                        </a:p>
                      </a:txBody>
                      <a:tcPr marL="100584" marR="100584" anchor="ctr"/>
                    </a:tc>
                    <a:extLst>
                      <a:ext uri="{0D108BD9-81ED-4DB2-BD59-A6C34878D82A}">
                        <a16:rowId xmlns:a16="http://schemas.microsoft.com/office/drawing/2014/main" val="1477609543"/>
                      </a:ext>
                    </a:extLst>
                  </a:tr>
                  <a:tr h="201463">
                    <a:tc vMerge="1">
                      <a:txBody>
                        <a:bodyPr/>
                        <a:lstStyle/>
                        <a:p>
                          <a:endParaRPr lang="ko-Kore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  <a:sym typeface="Wingdings" pitchFamily="2" charset="2"/>
                            </a:rPr>
                            <a:t>Level-5</a:t>
                          </a: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en-US" altLang="ko-KR" sz="17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cs typeface="+mn-cs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ko-KR" sz="17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cs typeface="+mn-cs"/>
                                        <a:sym typeface="Wingdings" pitchFamily="2" charset="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altLang="ko-KR" sz="17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cs typeface="+mn-cs"/>
                                        <a:sym typeface="Wingdings" pitchFamily="2" charset="2"/>
                                      </a:rPr>
                                      <m:t>46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7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  <a:sym typeface="Wingdings" pitchFamily="2" charset="2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en-US" altLang="ko-KR" sz="17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cs typeface="+mn-cs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ko-KR" sz="17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cs typeface="+mn-cs"/>
                                        <a:sym typeface="Wingdings" pitchFamily="2" charset="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altLang="ko-KR" sz="17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cs typeface="+mn-cs"/>
                                        <a:sym typeface="Wingdings" pitchFamily="2" charset="2"/>
                                      </a:rPr>
                                      <m:t>165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7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  <a:sym typeface="Wingdings" pitchFamily="2" charset="2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kumimoji="0" lang="en-US" altLang="ko-KR" sz="17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Gmarket Sans TTF Medium" panose="02000000000000000000" pitchFamily="2" charset="-128"/>
                                      <a:cs typeface="+mn-cs"/>
                                      <a:sym typeface="Wingdings" pitchFamily="2" charset="2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altLang="ko-KR" sz="17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Gmarket Sans TTF Medium" panose="02000000000000000000" pitchFamily="2" charset="-128"/>
                                      <a:cs typeface="+mn-cs"/>
                                      <a:sym typeface="Wingdings" pitchFamily="2" charset="2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kumimoji="0" lang="en-US" altLang="ko-KR" sz="17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Gmarket Sans TTF Medium" panose="02000000000000000000" pitchFamily="2" charset="-128"/>
                                      <a:cs typeface="+mn-cs"/>
                                      <a:sym typeface="Wingdings" pitchFamily="2" charset="2"/>
                                    </a:rPr>
                                    <m:t>35</m:t>
                                  </m:r>
                                </m:sup>
                              </m:sSup>
                            </m:oMath>
                          </a14:m>
                          <a:r>
                            <a:rPr kumimoji="0" lang="en-US" altLang="ko-KR" sz="15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  <a:cs typeface="+mn-cs"/>
                              <a:sym typeface="Wingdings" pitchFamily="2" charset="2"/>
                            </a:rPr>
                            <a:t> years</a:t>
                          </a:r>
                        </a:p>
                      </a:txBody>
                      <a:tcPr marL="100584" marR="100584" anchor="ctr"/>
                    </a:tc>
                    <a:extLst>
                      <a:ext uri="{0D108BD9-81ED-4DB2-BD59-A6C34878D82A}">
                        <a16:rowId xmlns:a16="http://schemas.microsoft.com/office/drawing/2014/main" val="3354077464"/>
                      </a:ext>
                    </a:extLst>
                  </a:tr>
                  <a:tr h="285406"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BIKE</a:t>
                          </a: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  <a:sym typeface="Wingdings" pitchFamily="2" charset="2"/>
                            </a:rPr>
                            <a:t>Level-1</a:t>
                          </a: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en-US" altLang="ko-KR" sz="17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cs typeface="+mn-cs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ko-KR" sz="17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cs typeface="+mn-cs"/>
                                        <a:sym typeface="Wingdings" pitchFamily="2" charset="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altLang="ko-KR" sz="17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cs typeface="+mn-cs"/>
                                        <a:sym typeface="Wingdings" pitchFamily="2" charset="2"/>
                                      </a:rPr>
                                      <m:t>40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5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  <a:sym typeface="Wingdings" pitchFamily="2" charset="2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en-US" altLang="ko-KR" sz="17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cs typeface="+mn-cs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ko-KR" sz="17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cs typeface="+mn-cs"/>
                                        <a:sym typeface="Wingdings" pitchFamily="2" charset="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altLang="ko-KR" sz="17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cs typeface="+mn-cs"/>
                                        <a:sym typeface="Wingdings" pitchFamily="2" charset="2"/>
                                      </a:rPr>
                                      <m:t>98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5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  <a:sym typeface="Wingdings" pitchFamily="2" charset="2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kumimoji="0" lang="en-US" altLang="ko-KR" sz="17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Gmarket Sans TTF Medium" panose="02000000000000000000" pitchFamily="2" charset="-128"/>
                                      <a:cs typeface="+mn-cs"/>
                                      <a:sym typeface="Wingdings" pitchFamily="2" charset="2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altLang="ko-KR" sz="17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Gmarket Sans TTF Medium" panose="02000000000000000000" pitchFamily="2" charset="-128"/>
                                      <a:cs typeface="+mn-cs"/>
                                      <a:sym typeface="Wingdings" pitchFamily="2" charset="2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kumimoji="0" lang="en-US" altLang="ko-KR" sz="17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Gmarket Sans TTF Medium" panose="02000000000000000000" pitchFamily="2" charset="-128"/>
                                      <a:cs typeface="+mn-cs"/>
                                      <a:sym typeface="Wingdings" pitchFamily="2" charset="2"/>
                                    </a:rPr>
                                    <m:t>15</m:t>
                                  </m:r>
                                </m:sup>
                              </m:sSup>
                            </m:oMath>
                          </a14:m>
                          <a:r>
                            <a:rPr kumimoji="0" lang="en-US" altLang="ko-KR" sz="15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  <a:cs typeface="+mn-cs"/>
                              <a:sym typeface="Wingdings" pitchFamily="2" charset="2"/>
                            </a:rPr>
                            <a:t> years</a:t>
                          </a:r>
                        </a:p>
                      </a:txBody>
                      <a:tcPr marL="100584" marR="100584" anchor="ctr"/>
                    </a:tc>
                    <a:extLst>
                      <a:ext uri="{0D108BD9-81ED-4DB2-BD59-A6C34878D82A}">
                        <a16:rowId xmlns:a16="http://schemas.microsoft.com/office/drawing/2014/main" val="78847833"/>
                      </a:ext>
                    </a:extLst>
                  </a:tr>
                  <a:tr h="285405">
                    <a:tc vMerge="1">
                      <a:txBody>
                        <a:bodyPr/>
                        <a:lstStyle/>
                        <a:p>
                          <a:endParaRPr lang="ko-Kore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  <a:sym typeface="Wingdings" pitchFamily="2" charset="2"/>
                            </a:rPr>
                            <a:t>Level-3</a:t>
                          </a: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en-US" altLang="ko-KR" sz="17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cs typeface="+mn-cs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ko-KR" sz="17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cs typeface="+mn-cs"/>
                                        <a:sym typeface="Wingdings" pitchFamily="2" charset="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altLang="ko-KR" sz="17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cs typeface="+mn-cs"/>
                                        <a:sym typeface="Wingdings" pitchFamily="2" charset="2"/>
                                      </a:rPr>
                                      <m:t>43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5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  <a:sym typeface="Wingdings" pitchFamily="2" charset="2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en-US" altLang="ko-KR" sz="17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cs typeface="+mn-cs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ko-KR" sz="17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cs typeface="+mn-cs"/>
                                        <a:sym typeface="Wingdings" pitchFamily="2" charset="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altLang="ko-KR" sz="17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cs typeface="+mn-cs"/>
                                        <a:sym typeface="Wingdings" pitchFamily="2" charset="2"/>
                                      </a:rPr>
                                      <m:t>132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5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  <a:sym typeface="Wingdings" pitchFamily="2" charset="2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kumimoji="0" lang="en-US" altLang="ko-KR" sz="17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Gmarket Sans TTF Medium" panose="02000000000000000000" pitchFamily="2" charset="-128"/>
                                      <a:cs typeface="+mn-cs"/>
                                      <a:sym typeface="Wingdings" pitchFamily="2" charset="2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altLang="ko-KR" sz="17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Gmarket Sans TTF Medium" panose="02000000000000000000" pitchFamily="2" charset="-128"/>
                                      <a:cs typeface="+mn-cs"/>
                                      <a:sym typeface="Wingdings" pitchFamily="2" charset="2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kumimoji="0" lang="en-US" altLang="ko-KR" sz="17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Gmarket Sans TTF Medium" panose="02000000000000000000" pitchFamily="2" charset="-128"/>
                                      <a:cs typeface="+mn-cs"/>
                                      <a:sym typeface="Wingdings" pitchFamily="2" charset="2"/>
                                    </a:rPr>
                                    <m:t>25</m:t>
                                  </m:r>
                                </m:sup>
                              </m:sSup>
                            </m:oMath>
                          </a14:m>
                          <a:r>
                            <a:rPr kumimoji="0" lang="en-US" altLang="ko-KR" sz="15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  <a:cs typeface="+mn-cs"/>
                              <a:sym typeface="Wingdings" pitchFamily="2" charset="2"/>
                            </a:rPr>
                            <a:t> years</a:t>
                          </a:r>
                        </a:p>
                      </a:txBody>
                      <a:tcPr marL="100584" marR="100584" anchor="ctr"/>
                    </a:tc>
                    <a:extLst>
                      <a:ext uri="{0D108BD9-81ED-4DB2-BD59-A6C34878D82A}">
                        <a16:rowId xmlns:a16="http://schemas.microsoft.com/office/drawing/2014/main" val="3694775875"/>
                      </a:ext>
                    </a:extLst>
                  </a:tr>
                  <a:tr h="285406">
                    <a:tc vMerge="1">
                      <a:txBody>
                        <a:bodyPr/>
                        <a:lstStyle/>
                        <a:p>
                          <a:endParaRPr lang="ko-Kore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  <a:sym typeface="Wingdings" pitchFamily="2" charset="2"/>
                            </a:rPr>
                            <a:t>Level-5</a:t>
                          </a: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en-US" altLang="ko-KR" sz="17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cs typeface="+mn-cs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ko-KR" sz="17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cs typeface="+mn-cs"/>
                                        <a:sym typeface="Wingdings" pitchFamily="2" charset="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altLang="ko-KR" sz="17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cs typeface="+mn-cs"/>
                                        <a:sym typeface="Wingdings" pitchFamily="2" charset="2"/>
                                      </a:rPr>
                                      <m:t>45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5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  <a:sym typeface="Wingdings" pitchFamily="2" charset="2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kumimoji="0" lang="en-US" altLang="ko-KR" sz="17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cs typeface="+mn-cs"/>
                                        <a:sym typeface="Wingdings" pitchFamily="2" charset="2"/>
                                      </a:rPr>
                                    </m:ctrlPr>
                                  </m:sSupPr>
                                  <m:e>
                                    <m:r>
                                      <a:rPr kumimoji="0" lang="en-US" altLang="ko-KR" sz="17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cs typeface="+mn-cs"/>
                                        <a:sym typeface="Wingdings" pitchFamily="2" charset="2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kumimoji="0" lang="en-US" altLang="ko-KR" sz="17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Gmarket Sans TTF Medium" panose="02000000000000000000" pitchFamily="2" charset="-128"/>
                                        <a:cs typeface="+mn-cs"/>
                                        <a:sym typeface="Wingdings" pitchFamily="2" charset="2"/>
                                      </a:rPr>
                                      <m:t>166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altLang="ko-KR" sz="15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  <a:sym typeface="Wingdings" pitchFamily="2" charset="2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kumimoji="0" lang="en-US" altLang="ko-KR" sz="17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Gmarket Sans TTF Medium" panose="02000000000000000000" pitchFamily="2" charset="-128"/>
                                      <a:cs typeface="+mn-cs"/>
                                      <a:sym typeface="Wingdings" pitchFamily="2" charset="2"/>
                                    </a:rPr>
                                  </m:ctrlPr>
                                </m:sSupPr>
                                <m:e>
                                  <m:r>
                                    <a:rPr kumimoji="0" lang="en-US" altLang="ko-KR" sz="17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Gmarket Sans TTF Medium" panose="02000000000000000000" pitchFamily="2" charset="-128"/>
                                      <a:cs typeface="+mn-cs"/>
                                      <a:sym typeface="Wingdings" pitchFamily="2" charset="2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kumimoji="0" lang="en-US" altLang="ko-KR" sz="17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Gmarket Sans TTF Medium" panose="02000000000000000000" pitchFamily="2" charset="-128"/>
                                      <a:cs typeface="+mn-cs"/>
                                      <a:sym typeface="Wingdings" pitchFamily="2" charset="2"/>
                                    </a:rPr>
                                    <m:t>35</m:t>
                                  </m:r>
                                </m:sup>
                              </m:sSup>
                            </m:oMath>
                          </a14:m>
                          <a:r>
                            <a:rPr kumimoji="0" lang="en-US" altLang="ko-KR" sz="15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  <a:cs typeface="+mn-cs"/>
                              <a:sym typeface="Wingdings" pitchFamily="2" charset="2"/>
                            </a:rPr>
                            <a:t> years</a:t>
                          </a:r>
                        </a:p>
                      </a:txBody>
                      <a:tcPr marL="100584" marR="100584" anchor="ctr"/>
                    </a:tc>
                    <a:extLst>
                      <a:ext uri="{0D108BD9-81ED-4DB2-BD59-A6C34878D82A}">
                        <a16:rowId xmlns:a16="http://schemas.microsoft.com/office/drawing/2014/main" val="402037344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8BD4CA57-0795-B483-4B1C-470D5C13757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0968282"/>
                  </p:ext>
                </p:extLst>
              </p:nvPr>
            </p:nvGraphicFramePr>
            <p:xfrm>
              <a:off x="922553" y="2897211"/>
              <a:ext cx="10809889" cy="35276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72395">
                      <a:extLst>
                        <a:ext uri="{9D8B030D-6E8A-4147-A177-3AD203B41FA5}">
                          <a16:colId xmlns:a16="http://schemas.microsoft.com/office/drawing/2014/main" val="2302383556"/>
                        </a:ext>
                      </a:extLst>
                    </a:gridCol>
                    <a:gridCol w="1668938">
                      <a:extLst>
                        <a:ext uri="{9D8B030D-6E8A-4147-A177-3AD203B41FA5}">
                          <a16:colId xmlns:a16="http://schemas.microsoft.com/office/drawing/2014/main" val="2807945178"/>
                        </a:ext>
                      </a:extLst>
                    </a:gridCol>
                    <a:gridCol w="2341266">
                      <a:extLst>
                        <a:ext uri="{9D8B030D-6E8A-4147-A177-3AD203B41FA5}">
                          <a16:colId xmlns:a16="http://schemas.microsoft.com/office/drawing/2014/main" val="4071364760"/>
                        </a:ext>
                      </a:extLst>
                    </a:gridCol>
                    <a:gridCol w="2368327">
                      <a:extLst>
                        <a:ext uri="{9D8B030D-6E8A-4147-A177-3AD203B41FA5}">
                          <a16:colId xmlns:a16="http://schemas.microsoft.com/office/drawing/2014/main" val="2308912253"/>
                        </a:ext>
                      </a:extLst>
                    </a:gridCol>
                    <a:gridCol w="2058963">
                      <a:extLst>
                        <a:ext uri="{9D8B030D-6E8A-4147-A177-3AD203B41FA5}">
                          <a16:colId xmlns:a16="http://schemas.microsoft.com/office/drawing/2014/main" val="1149238369"/>
                        </a:ext>
                      </a:extLst>
                    </a:gridCol>
                  </a:tblGrid>
                  <a:tr h="3525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Cipher</a:t>
                          </a:r>
                          <a:endParaRPr lang="ko-KR" altLang="en-US" sz="15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Security level</a:t>
                          </a:r>
                          <a:endParaRPr lang="ko-Kore-KR" altLang="en-US" sz="15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Physical qubits</a:t>
                          </a:r>
                          <a:endParaRPr lang="ko-Kore-KR" altLang="en-US" sz="15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Surface code cycles</a:t>
                          </a:r>
                          <a:endParaRPr lang="ko-Kore-KR" altLang="en-US" sz="15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Runtime</a:t>
                          </a:r>
                          <a:endParaRPr lang="ko-Kore-KR" altLang="en-US" sz="1500" b="0" i="0" dirty="0">
                            <a:latin typeface="Gmarket Sans TTF Medium" panose="02000000000000000000" pitchFamily="2" charset="-128"/>
                            <a:ea typeface="Gmarket Sans TTF Medium" panose="02000000000000000000" pitchFamily="2" charset="-128"/>
                          </a:endParaRPr>
                        </a:p>
                      </a:txBody>
                      <a:tcPr marL="100584" marR="100584" anchor="ctr"/>
                    </a:tc>
                    <a:extLst>
                      <a:ext uri="{0D108BD9-81ED-4DB2-BD59-A6C34878D82A}">
                        <a16:rowId xmlns:a16="http://schemas.microsoft.com/office/drawing/2014/main" val="787182055"/>
                      </a:ext>
                    </a:extLst>
                  </a:tr>
                  <a:tr h="350520"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Classic McEliece</a:t>
                          </a: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  <a:sym typeface="Wingdings" pitchFamily="2" charset="2"/>
                            </a:rPr>
                            <a:t>Level-1</a:t>
                          </a: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endParaRPr lang="ko-Kore-KR"/>
                        </a:p>
                      </a:txBody>
                      <a:tcPr marL="100584" marR="100584" anchor="ctr">
                        <a:blipFill>
                          <a:blip r:embed="rId3"/>
                          <a:stretch>
                            <a:fillRect l="-173370" t="-107407" r="-190761" b="-848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ore-KR"/>
                        </a:p>
                      </a:txBody>
                      <a:tcPr marL="100584" marR="100584" anchor="ctr">
                        <a:blipFill>
                          <a:blip r:embed="rId3"/>
                          <a:stretch>
                            <a:fillRect l="-268984" t="-107407" r="-87701" b="-848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ore-KR"/>
                        </a:p>
                      </a:txBody>
                      <a:tcPr marL="100584" marR="100584" anchor="ctr">
                        <a:blipFill>
                          <a:blip r:embed="rId3"/>
                          <a:stretch>
                            <a:fillRect l="-425926" t="-107407" r="-1235" b="-8481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8926977"/>
                      </a:ext>
                    </a:extLst>
                  </a:tr>
                  <a:tr h="353441">
                    <a:tc vMerge="1">
                      <a:txBody>
                        <a:bodyPr/>
                        <a:lstStyle/>
                        <a:p>
                          <a:endParaRPr lang="ko-Kore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  <a:sym typeface="Wingdings" pitchFamily="2" charset="2"/>
                            </a:rPr>
                            <a:t>Level-3</a:t>
                          </a: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endParaRPr lang="ko-Kore-KR"/>
                        </a:p>
                      </a:txBody>
                      <a:tcPr marL="100584" marR="100584" anchor="ctr">
                        <a:blipFill>
                          <a:blip r:embed="rId3"/>
                          <a:stretch>
                            <a:fillRect l="-173370" t="-200000" r="-190761" b="-717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ore-KR"/>
                        </a:p>
                      </a:txBody>
                      <a:tcPr marL="100584" marR="100584" anchor="ctr">
                        <a:blipFill>
                          <a:blip r:embed="rId3"/>
                          <a:stretch>
                            <a:fillRect l="-268984" t="-200000" r="-87701" b="-717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ore-KR"/>
                        </a:p>
                      </a:txBody>
                      <a:tcPr marL="100584" marR="100584" anchor="ctr">
                        <a:blipFill>
                          <a:blip r:embed="rId3"/>
                          <a:stretch>
                            <a:fillRect l="-425926" t="-200000" r="-1235" b="-717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024786"/>
                      </a:ext>
                    </a:extLst>
                  </a:tr>
                  <a:tr h="353441">
                    <a:tc vMerge="1">
                      <a:txBody>
                        <a:bodyPr/>
                        <a:lstStyle/>
                        <a:p>
                          <a:endParaRPr lang="ko-Kore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  <a:sym typeface="Wingdings" pitchFamily="2" charset="2"/>
                            </a:rPr>
                            <a:t>Level-5</a:t>
                          </a: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endParaRPr lang="ko-Kore-KR"/>
                        </a:p>
                      </a:txBody>
                      <a:tcPr marL="100584" marR="100584" anchor="ctr">
                        <a:blipFill>
                          <a:blip r:embed="rId3"/>
                          <a:stretch>
                            <a:fillRect l="-173370" t="-300000" r="-190761" b="-617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ore-KR"/>
                        </a:p>
                      </a:txBody>
                      <a:tcPr marL="100584" marR="100584" anchor="ctr">
                        <a:blipFill>
                          <a:blip r:embed="rId3"/>
                          <a:stretch>
                            <a:fillRect l="-268984" t="-300000" r="-87701" b="-617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ore-KR"/>
                        </a:p>
                      </a:txBody>
                      <a:tcPr marL="100584" marR="100584" anchor="ctr">
                        <a:blipFill>
                          <a:blip r:embed="rId3"/>
                          <a:stretch>
                            <a:fillRect l="-425926" t="-300000" r="-1235" b="-617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5673507"/>
                      </a:ext>
                    </a:extLst>
                  </a:tr>
                  <a:tr h="353441"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HQC</a:t>
                          </a: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  <a:sym typeface="Wingdings" pitchFamily="2" charset="2"/>
                            </a:rPr>
                            <a:t>Level-1</a:t>
                          </a: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endParaRPr lang="ko-Kore-KR"/>
                        </a:p>
                      </a:txBody>
                      <a:tcPr marL="100584" marR="100584" anchor="ctr">
                        <a:blipFill>
                          <a:blip r:embed="rId3"/>
                          <a:stretch>
                            <a:fillRect l="-173370" t="-400000" r="-190761" b="-517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ore-KR"/>
                        </a:p>
                      </a:txBody>
                      <a:tcPr marL="100584" marR="100584" anchor="ctr">
                        <a:blipFill>
                          <a:blip r:embed="rId3"/>
                          <a:stretch>
                            <a:fillRect l="-268984" t="-400000" r="-87701" b="-517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ore-KR"/>
                        </a:p>
                      </a:txBody>
                      <a:tcPr marL="100584" marR="100584" anchor="ctr">
                        <a:blipFill>
                          <a:blip r:embed="rId3"/>
                          <a:stretch>
                            <a:fillRect l="-425926" t="-400000" r="-1235" b="-517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8493996"/>
                      </a:ext>
                    </a:extLst>
                  </a:tr>
                  <a:tr h="350520">
                    <a:tc vMerge="1">
                      <a:txBody>
                        <a:bodyPr/>
                        <a:lstStyle/>
                        <a:p>
                          <a:endParaRPr lang="ko-Kore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  <a:sym typeface="Wingdings" pitchFamily="2" charset="2"/>
                            </a:rPr>
                            <a:t>Level-3</a:t>
                          </a: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endParaRPr lang="ko-Kore-KR"/>
                        </a:p>
                      </a:txBody>
                      <a:tcPr marL="100584" marR="100584" anchor="ctr">
                        <a:blipFill>
                          <a:blip r:embed="rId3"/>
                          <a:stretch>
                            <a:fillRect l="-173370" t="-500000" r="-190761" b="-417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ore-KR"/>
                        </a:p>
                      </a:txBody>
                      <a:tcPr marL="100584" marR="100584" anchor="ctr">
                        <a:blipFill>
                          <a:blip r:embed="rId3"/>
                          <a:stretch>
                            <a:fillRect l="-268984" t="-500000" r="-87701" b="-4178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ore-KR"/>
                        </a:p>
                      </a:txBody>
                      <a:tcPr marL="100584" marR="100584" anchor="ctr">
                        <a:blipFill>
                          <a:blip r:embed="rId3"/>
                          <a:stretch>
                            <a:fillRect l="-425926" t="-500000" r="-1235" b="-417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77609543"/>
                      </a:ext>
                    </a:extLst>
                  </a:tr>
                  <a:tr h="353441">
                    <a:tc vMerge="1">
                      <a:txBody>
                        <a:bodyPr/>
                        <a:lstStyle/>
                        <a:p>
                          <a:endParaRPr lang="ko-Kore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  <a:sym typeface="Wingdings" pitchFamily="2" charset="2"/>
                            </a:rPr>
                            <a:t>Level-5</a:t>
                          </a: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endParaRPr lang="ko-Kore-KR"/>
                        </a:p>
                      </a:txBody>
                      <a:tcPr marL="100584" marR="100584" anchor="ctr">
                        <a:blipFill>
                          <a:blip r:embed="rId3"/>
                          <a:stretch>
                            <a:fillRect l="-173370" t="-622222" r="-190761" b="-3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ore-KR"/>
                        </a:p>
                      </a:txBody>
                      <a:tcPr marL="100584" marR="100584" anchor="ctr">
                        <a:blipFill>
                          <a:blip r:embed="rId3"/>
                          <a:stretch>
                            <a:fillRect l="-268984" t="-622222" r="-87701" b="-3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ore-KR"/>
                        </a:p>
                      </a:txBody>
                      <a:tcPr marL="100584" marR="100584" anchor="ctr">
                        <a:blipFill>
                          <a:blip r:embed="rId3"/>
                          <a:stretch>
                            <a:fillRect l="-425926" t="-622222" r="-1235" b="-33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54077464"/>
                      </a:ext>
                    </a:extLst>
                  </a:tr>
                  <a:tr h="353441">
                    <a:tc rowSpan="3">
                      <a:txBody>
                        <a:bodyPr/>
                        <a:lstStyle/>
                        <a:p>
                          <a:pPr algn="ctr"/>
                          <a:r>
                            <a:rPr lang="en-US" altLang="en-US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</a:rPr>
                            <a:t>BIKE</a:t>
                          </a: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  <a:sym typeface="Wingdings" pitchFamily="2" charset="2"/>
                            </a:rPr>
                            <a:t>Level-1</a:t>
                          </a: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endParaRPr lang="ko-Kore-KR"/>
                        </a:p>
                      </a:txBody>
                      <a:tcPr marL="100584" marR="100584" anchor="ctr">
                        <a:blipFill>
                          <a:blip r:embed="rId3"/>
                          <a:stretch>
                            <a:fillRect l="-173370" t="-696429" r="-190761" b="-22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ore-KR"/>
                        </a:p>
                      </a:txBody>
                      <a:tcPr marL="100584" marR="100584" anchor="ctr">
                        <a:blipFill>
                          <a:blip r:embed="rId3"/>
                          <a:stretch>
                            <a:fillRect l="-268984" t="-696429" r="-87701" b="-22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ore-KR"/>
                        </a:p>
                      </a:txBody>
                      <a:tcPr marL="100584" marR="100584" anchor="ctr">
                        <a:blipFill>
                          <a:blip r:embed="rId3"/>
                          <a:stretch>
                            <a:fillRect l="-425926" t="-696429" r="-1235" b="-22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847833"/>
                      </a:ext>
                    </a:extLst>
                  </a:tr>
                  <a:tr h="353441">
                    <a:tc vMerge="1">
                      <a:txBody>
                        <a:bodyPr/>
                        <a:lstStyle/>
                        <a:p>
                          <a:endParaRPr lang="ko-Kore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  <a:sym typeface="Wingdings" pitchFamily="2" charset="2"/>
                            </a:rPr>
                            <a:t>Level-3</a:t>
                          </a: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endParaRPr lang="ko-Kore-KR"/>
                        </a:p>
                      </a:txBody>
                      <a:tcPr marL="100584" marR="100584" anchor="ctr">
                        <a:blipFill>
                          <a:blip r:embed="rId3"/>
                          <a:stretch>
                            <a:fillRect l="-173370" t="-796429" r="-190761" b="-12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ore-KR"/>
                        </a:p>
                      </a:txBody>
                      <a:tcPr marL="100584" marR="100584" anchor="ctr">
                        <a:blipFill>
                          <a:blip r:embed="rId3"/>
                          <a:stretch>
                            <a:fillRect l="-268984" t="-796429" r="-87701" b="-12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ore-KR"/>
                        </a:p>
                      </a:txBody>
                      <a:tcPr marL="100584" marR="100584" anchor="ctr">
                        <a:blipFill>
                          <a:blip r:embed="rId3"/>
                          <a:stretch>
                            <a:fillRect l="-425926" t="-796429" r="-1235" b="-12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4775875"/>
                      </a:ext>
                    </a:extLst>
                  </a:tr>
                  <a:tr h="353441">
                    <a:tc vMerge="1">
                      <a:txBody>
                        <a:bodyPr/>
                        <a:lstStyle/>
                        <a:p>
                          <a:endParaRPr lang="ko-Kore-KR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500" b="0" i="0" dirty="0">
                              <a:latin typeface="Gmarket Sans TTF Medium" panose="02000000000000000000" pitchFamily="2" charset="-128"/>
                              <a:ea typeface="Gmarket Sans TTF Medium" panose="02000000000000000000" pitchFamily="2" charset="-128"/>
                              <a:sym typeface="Wingdings" pitchFamily="2" charset="2"/>
                            </a:rPr>
                            <a:t>Level-5</a:t>
                          </a:r>
                        </a:p>
                      </a:txBody>
                      <a:tcPr marL="100584" marR="100584" anchor="ctr"/>
                    </a:tc>
                    <a:tc>
                      <a:txBody>
                        <a:bodyPr/>
                        <a:lstStyle/>
                        <a:p>
                          <a:endParaRPr lang="ko-Kore-KR"/>
                        </a:p>
                      </a:txBody>
                      <a:tcPr marL="100584" marR="100584" anchor="ctr">
                        <a:blipFill>
                          <a:blip r:embed="rId3"/>
                          <a:stretch>
                            <a:fillRect l="-173370" t="-896429" r="-190761" b="-2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ore-KR"/>
                        </a:p>
                      </a:txBody>
                      <a:tcPr marL="100584" marR="100584" anchor="ctr">
                        <a:blipFill>
                          <a:blip r:embed="rId3"/>
                          <a:stretch>
                            <a:fillRect l="-268984" t="-896429" r="-87701" b="-2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ore-KR"/>
                        </a:p>
                      </a:txBody>
                      <a:tcPr marL="100584" marR="100584" anchor="ctr">
                        <a:blipFill>
                          <a:blip r:embed="rId3"/>
                          <a:stretch>
                            <a:fillRect l="-425926" t="-896429" r="-1235" b="-2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2037344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슬라이드 번호 개체 틀 10">
            <a:extLst>
              <a:ext uri="{FF2B5EF4-FFF2-40B4-BE49-F238E27FC236}">
                <a16:creationId xmlns:a16="http://schemas.microsoft.com/office/drawing/2014/main" id="{2BE03170-340A-8C85-E625-85CADB42A72E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852B28-D290-2A4B-A90A-47EAEF72A8E4}" type="slidenum">
              <a:rPr kumimoji="1" lang="ko-Kore-KR" altLang="en-US" sz="12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30</a:t>
            </a:fld>
            <a:endParaRPr kumimoji="1" lang="ko-Kore-KR" alt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05448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611C0-06EB-9930-D3F2-7090AFBD8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AD407D-10BA-065D-F6BC-D01AE545A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ko-KR" altLang="en-US" sz="3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요약 및 결론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048176-E6D7-F243-AC7A-64457902A9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229849"/>
            <a:ext cx="12340354" cy="5603875"/>
          </a:xfrm>
        </p:spPr>
        <p:txBody>
          <a:bodyPr/>
          <a:lstStyle/>
          <a:p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코드기반 암호에 대한 가장 강력한 분석 기법은 </a:t>
            </a:r>
            <a:r>
              <a:rPr kumimoji="1" lang="en-US" altLang="ko-KR" sz="2200" b="1" dirty="0"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Information Set Decoding </a:t>
            </a:r>
            <a:r>
              <a:rPr kumimoji="1" lang="ko-KR" altLang="en-US" sz="2200" b="1" dirty="0"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알고리즘</a:t>
            </a:r>
            <a:endParaRPr kumimoji="1" lang="en-US" altLang="ko-KR" sz="2200" b="1" dirty="0">
              <a:latin typeface="Gmarket Sans TTF Bold" panose="02000000000000000000" pitchFamily="2" charset="-128"/>
              <a:ea typeface="Gmarket Sans TTF Bold" panose="02000000000000000000" pitchFamily="2" charset="-128"/>
            </a:endParaRPr>
          </a:p>
          <a:p>
            <a:endParaRPr kumimoji="1" lang="en-US" altLang="ko-KR" sz="10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다양한 </a:t>
            </a:r>
            <a:r>
              <a:rPr kumimoji="1"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ISD </a:t>
            </a: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버전이 존재하지만</a:t>
            </a:r>
            <a:r>
              <a:rPr kumimoji="1"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, Classical </a:t>
            </a: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의 성능이 </a:t>
            </a:r>
            <a:r>
              <a:rPr kumimoji="1"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Quantum </a:t>
            </a: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에서도 동일하진 않음</a:t>
            </a:r>
            <a:endParaRPr kumimoji="1" lang="en-US" altLang="ko-KR" sz="2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lvl="1"/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본 연구에서는 </a:t>
            </a:r>
            <a:r>
              <a:rPr kumimoji="1" lang="ko-KR" altLang="en-US" sz="2200" b="1" dirty="0"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기본 버전의 </a:t>
            </a:r>
            <a:r>
              <a:rPr kumimoji="1" lang="en-US" altLang="ko-KR" sz="2200" b="1" dirty="0"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ISD</a:t>
            </a:r>
            <a:r>
              <a:rPr kumimoji="1" lang="ko-KR" altLang="en-US" sz="2200" b="1" dirty="0"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 양자 회로 구현 </a:t>
            </a:r>
            <a:r>
              <a:rPr kumimoji="1"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(Prange ISD)</a:t>
            </a:r>
          </a:p>
          <a:p>
            <a:endParaRPr kumimoji="1" lang="en-US" altLang="ko-KR" sz="10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r>
              <a:rPr kumimoji="1"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NIST</a:t>
            </a: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표준화 공모전 코드기반암호 </a:t>
            </a:r>
            <a:r>
              <a:rPr kumimoji="1" lang="en-US" altLang="ko-KR" sz="2200" b="1" dirty="0"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3</a:t>
            </a:r>
            <a:r>
              <a:rPr kumimoji="1" lang="ko-KR" altLang="en-US" sz="2200" b="1" dirty="0"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종을 대상으로 양자 암호 분석</a:t>
            </a:r>
            <a:r>
              <a:rPr kumimoji="1" lang="en-US" altLang="ko-KR" sz="2200" b="1" dirty="0"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 </a:t>
            </a:r>
            <a:r>
              <a:rPr kumimoji="1" lang="ko-KR" altLang="en-US" sz="2200" b="1" dirty="0"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수행</a:t>
            </a:r>
            <a:endParaRPr kumimoji="1" lang="en-US" altLang="ko-KR" sz="2200" b="1" dirty="0">
              <a:latin typeface="Gmarket Sans TTF Bold" panose="02000000000000000000" pitchFamily="2" charset="-128"/>
              <a:ea typeface="Gmarket Sans TTF Bold" panose="02000000000000000000" pitchFamily="2" charset="-128"/>
            </a:endParaRPr>
          </a:p>
          <a:p>
            <a:pPr lvl="1"/>
            <a:r>
              <a:rPr kumimoji="1"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Grover </a:t>
            </a: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알고리즘 </a:t>
            </a:r>
            <a:r>
              <a:rPr kumimoji="1"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+ </a:t>
            </a: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양자 </a:t>
            </a:r>
            <a:r>
              <a:rPr kumimoji="1"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ISD </a:t>
            </a: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회로</a:t>
            </a:r>
            <a:endParaRPr kumimoji="1" lang="en-US" altLang="ko-KR" sz="2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lvl="1"/>
            <a:endParaRPr kumimoji="1" lang="en-US" altLang="ko-KR" sz="1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lvl="1"/>
            <a:r>
              <a:rPr kumimoji="1" lang="ko-KR" altLang="en-US" sz="2200" b="1" dirty="0"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기초적으로 높은 큐빗과 회로 뎁스</a:t>
            </a: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가 요구 됨</a:t>
            </a:r>
            <a:endParaRPr kumimoji="1" lang="en-US" altLang="ko-KR" sz="1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lvl="2"/>
            <a:r>
              <a:rPr kumimoji="1"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AES</a:t>
            </a: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보다 높은 양자 공격 비용 필요</a:t>
            </a:r>
            <a:endParaRPr kumimoji="1" lang="en-US" altLang="ko-KR" sz="2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lvl="1"/>
            <a:endParaRPr kumimoji="1" lang="en-US" altLang="ko-KR" sz="1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lvl="1"/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실제 양자 하드웨어 환경을 고려하여 </a:t>
            </a:r>
            <a:r>
              <a:rPr kumimoji="1"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Physical </a:t>
            </a: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비용 추정 </a:t>
            </a:r>
            <a:r>
              <a:rPr kumimoji="1"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(Runtime, Physical </a:t>
            </a:r>
            <a:r>
              <a:rPr kumimoji="1" lang="ko-KR" altLang="en-US" sz="2200" dirty="0" err="1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큐빗</a:t>
            </a:r>
            <a:r>
              <a:rPr kumimoji="1"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)</a:t>
            </a:r>
          </a:p>
          <a:p>
            <a:pPr lvl="2"/>
            <a:r>
              <a:rPr kumimoji="1" lang="ko-KR" altLang="en-US" sz="2200" b="1" dirty="0">
                <a:solidFill>
                  <a:srgbClr val="C00000"/>
                </a:solidFill>
                <a:latin typeface="Gmarket Sans TTF Bold" panose="02000000000000000000" pitchFamily="2" charset="-128"/>
                <a:ea typeface="Gmarket Sans TTF Bold" panose="02000000000000000000" pitchFamily="2" charset="-128"/>
              </a:rPr>
              <a:t>현실적으로 공격 불가 </a:t>
            </a:r>
            <a:r>
              <a:rPr kumimoji="1"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(</a:t>
            </a: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우주나이 보다 많음</a:t>
            </a:r>
            <a:r>
              <a:rPr kumimoji="1" lang="en-US" altLang="ko-KR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)</a:t>
            </a:r>
          </a:p>
          <a:p>
            <a:pPr lvl="2"/>
            <a:endParaRPr kumimoji="1" lang="en-US" altLang="ko-KR" sz="100" dirty="0">
              <a:solidFill>
                <a:srgbClr val="C00000"/>
              </a:solidFill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lvl="1"/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새로운 공격 알고리즘 및 기법이 나오지 않는 이상 코드기반암호는 양자 컴퓨터의 </a:t>
            </a:r>
            <a:endParaRPr kumimoji="1" lang="en-US" altLang="ko-KR" sz="2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marL="571500" lvl="1" indent="0">
              <a:buNone/>
            </a:pPr>
            <a:r>
              <a:rPr kumimoji="1" lang="ko-KR" altLang="en-US" sz="2200" dirty="0">
                <a:latin typeface="Gmarket Sans TTF Medium" panose="02000000000000000000" pitchFamily="2" charset="-128"/>
                <a:ea typeface="Gmarket Sans TTF Medium" panose="02000000000000000000" pitchFamily="2" charset="-128"/>
              </a:rPr>
              <a:t>     공격으로부터 매우 안전</a:t>
            </a:r>
            <a:endParaRPr kumimoji="1" lang="en-US" altLang="ko-KR" sz="2200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endParaRPr kumimoji="1" lang="en-US" altLang="ko-KR" sz="3000" dirty="0">
              <a:solidFill>
                <a:srgbClr val="C00000"/>
              </a:solidFill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  <a:p>
            <a:pPr lvl="1"/>
            <a:endParaRPr kumimoji="1" lang="ko-KR" altLang="en-US" dirty="0">
              <a:latin typeface="Gmarket Sans TTF Medium" panose="02000000000000000000" pitchFamily="2" charset="-128"/>
              <a:ea typeface="Gmarket Sans TTF Medium" panose="02000000000000000000" pitchFamily="2" charset="-128"/>
            </a:endParaRPr>
          </a:p>
        </p:txBody>
      </p:sp>
      <p:sp>
        <p:nvSpPr>
          <p:cNvPr id="4" name="슬라이드 번호 개체 틀 10">
            <a:extLst>
              <a:ext uri="{FF2B5EF4-FFF2-40B4-BE49-F238E27FC236}">
                <a16:creationId xmlns:a16="http://schemas.microsoft.com/office/drawing/2014/main" id="{E2BF9950-BCCA-9451-D35A-462C9ECC23D9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852B28-D290-2A4B-A90A-47EAEF72A8E4}" type="slidenum">
              <a:rPr kumimoji="1" lang="ko-Kore-KR" altLang="en-US" sz="12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31</a:t>
            </a:fld>
            <a:endParaRPr kumimoji="1" lang="ko-Kore-KR" altLang="en-US" sz="12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136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9">
          <a:extLst>
            <a:ext uri="{FF2B5EF4-FFF2-40B4-BE49-F238E27FC236}">
              <a16:creationId xmlns:a16="http://schemas.microsoft.com/office/drawing/2014/main" id="{A9028BEB-C0BD-3D03-4928-C3A5318AE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80">
            <a:extLst>
              <a:ext uri="{FF2B5EF4-FFF2-40B4-BE49-F238E27FC236}">
                <a16:creationId xmlns:a16="http://schemas.microsoft.com/office/drawing/2014/main" id="{A2BF40BC-1257-C968-1A4D-AE82C2EE0F16}"/>
              </a:ext>
            </a:extLst>
          </p:cNvPr>
          <p:cNvSpPr/>
          <p:nvPr/>
        </p:nvSpPr>
        <p:spPr>
          <a:xfrm>
            <a:off x="304800" y="142875"/>
            <a:ext cx="11639550" cy="104775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E3A98BA-0DEB-C1A4-9A0A-3332794E8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AB9D3-EAF0-7A44-B522-0A500B1E98A1}" type="slidenum">
              <a:rPr kumimoji="1" lang="ko-Kore-KR" altLang="en-US" smtClean="0"/>
              <a:t>32</a:t>
            </a:fld>
            <a:endParaRPr kumimoji="1" lang="ko-Kore-KR" altLang="en-US"/>
          </a:p>
        </p:txBody>
      </p:sp>
      <p:sp>
        <p:nvSpPr>
          <p:cNvPr id="2" name="Google Shape;831;p80">
            <a:extLst>
              <a:ext uri="{FF2B5EF4-FFF2-40B4-BE49-F238E27FC236}">
                <a16:creationId xmlns:a16="http://schemas.microsoft.com/office/drawing/2014/main" id="{4ABFA5C3-DCA8-8CE1-5811-095CB3A51476}"/>
              </a:ext>
            </a:extLst>
          </p:cNvPr>
          <p:cNvSpPr txBox="1"/>
          <p:nvPr/>
        </p:nvSpPr>
        <p:spPr>
          <a:xfrm>
            <a:off x="1337913" y="2998133"/>
            <a:ext cx="987552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lang="ko-KR" altLang="en-US" sz="6000" dirty="0">
                <a:solidFill>
                  <a:schemeClr val="dk1"/>
                </a:solidFill>
                <a:latin typeface="Gmarket Sans TTF Medium" panose="02000000000000000000" pitchFamily="2" charset="-128"/>
                <a:ea typeface="Gmarket Sans TTF Medium" panose="02000000000000000000" pitchFamily="2" charset="-128"/>
                <a:cs typeface="Calibri"/>
                <a:sym typeface="Calibri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332113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3652</TotalTime>
  <Words>2172</Words>
  <Application>Microsoft Macintosh PowerPoint</Application>
  <PresentationFormat>와이드스크린</PresentationFormat>
  <Paragraphs>656</Paragraphs>
  <Slides>32</Slides>
  <Notes>24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40" baseType="lpstr">
      <vt:lpstr>Gmarket Sans TTF Bold</vt:lpstr>
      <vt:lpstr>Gmarket Sans TTF Medium</vt:lpstr>
      <vt:lpstr>맑은 고딕</vt:lpstr>
      <vt:lpstr>Arial</vt:lpstr>
      <vt:lpstr>Calibri</vt:lpstr>
      <vt:lpstr>Cambria Math</vt:lpstr>
      <vt:lpstr>Wingdings</vt:lpstr>
      <vt:lpstr>Office 테마</vt:lpstr>
      <vt:lpstr>코드기반암호에 대한 양자 공격 비용 분석</vt:lpstr>
      <vt:lpstr>NIST PQC 공모전 Round 4</vt:lpstr>
      <vt:lpstr>HQC가 선정된 이유</vt:lpstr>
      <vt:lpstr>코드기반암호 안전성: 신드롬 디코딩 문제</vt:lpstr>
      <vt:lpstr>분석 알고리즘: Information Set Decoding (ISD)</vt:lpstr>
      <vt:lpstr>Quantum Information Set Decoding (QISD)</vt:lpstr>
      <vt:lpstr>Overview: 대칭키 암호 vs 코드기반 암호</vt:lpstr>
      <vt:lpstr>Overview: 대칭키 암호 vs 코드기반 암호</vt:lpstr>
      <vt:lpstr>Overview: 대칭키 암호 vs 코드기반 암호</vt:lpstr>
      <vt:lpstr>Overview: 대칭키 암호 vs 코드기반 암호</vt:lpstr>
      <vt:lpstr>PowerPoint 프레젠테이션</vt:lpstr>
      <vt:lpstr>Input Setting (1/2)</vt:lpstr>
      <vt:lpstr>Input Setting (1/2)</vt:lpstr>
      <vt:lpstr>Input Setting (2/2)</vt:lpstr>
      <vt:lpstr>Oracle: Gauss-Jordan Elimination</vt:lpstr>
      <vt:lpstr>Oracle: Gauss-Jordan Elimination</vt:lpstr>
      <vt:lpstr>Oracle: Gauss-Jordan Elimination</vt:lpstr>
      <vt:lpstr>Oracle: Gauss-Jordan Elimination</vt:lpstr>
      <vt:lpstr>Oracle: Gauss-Jordan Elimination</vt:lpstr>
      <vt:lpstr>Oracle: 해밍 무게 확인</vt:lpstr>
      <vt:lpstr>Oracle: 해밍 무게 확인</vt:lpstr>
      <vt:lpstr>Diffusion Operator &amp; Post-processing (Classical)</vt:lpstr>
      <vt:lpstr>Summary</vt:lpstr>
      <vt:lpstr>PowerPoint 프레젠테이션</vt:lpstr>
      <vt:lpstr>코드기반암호에 대한 양자 ISD 공격 비용 추정</vt:lpstr>
      <vt:lpstr>코드기반암호에 대한 양자 ISD 공격 비용 추정: HQC</vt:lpstr>
      <vt:lpstr>PowerPoint 프레젠테이션</vt:lpstr>
      <vt:lpstr>PowerPoint 프레젠테이션</vt:lpstr>
      <vt:lpstr>AES 양자 공격 분석 연구: NIST 컨퍼런스</vt:lpstr>
      <vt:lpstr>Physical 비용 추정: Fault-Tolerant</vt:lpstr>
      <vt:lpstr>요약 및 결론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장경배</dc:creator>
  <cp:lastModifiedBy>장경배</cp:lastModifiedBy>
  <cp:revision>134</cp:revision>
  <dcterms:created xsi:type="dcterms:W3CDTF">2025-10-10T03:23:45Z</dcterms:created>
  <dcterms:modified xsi:type="dcterms:W3CDTF">2025-11-26T12:03:08Z</dcterms:modified>
</cp:coreProperties>
</file>