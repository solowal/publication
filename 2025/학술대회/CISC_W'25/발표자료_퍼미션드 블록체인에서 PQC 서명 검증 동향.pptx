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AAD6"/>
    <a:srgbClr val="9437FF"/>
    <a:srgbClr val="1B4367"/>
    <a:srgbClr val="B6D2EC"/>
    <a:srgbClr val="996633"/>
    <a:srgbClr val="663300"/>
    <a:srgbClr val="F6DCAC"/>
    <a:srgbClr val="F8E3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67" autoAdjust="0"/>
    <p:restoredTop sz="94660"/>
  </p:normalViewPr>
  <p:slideViewPr>
    <p:cSldViewPr snapToGrid="0">
      <p:cViewPr varScale="1">
        <p:scale>
          <a:sx n="19" d="100"/>
          <a:sy n="19" d="100"/>
        </p:scale>
        <p:origin x="354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9242-00DD-4C54-A747-B139066CE34A}" type="datetimeFigureOut">
              <a:rPr lang="ko-KR" altLang="en-US" smtClean="0"/>
              <a:t>2025. 12. 2.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1A8A1-A029-4BFA-AAEE-2EAE7C58A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32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9242-00DD-4C54-A747-B139066CE34A}" type="datetimeFigureOut">
              <a:rPr lang="ko-KR" altLang="en-US" smtClean="0"/>
              <a:t>2025. 12. 2.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1A8A1-A029-4BFA-AAEE-2EAE7C58A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823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9242-00DD-4C54-A747-B139066CE34A}" type="datetimeFigureOut">
              <a:rPr lang="ko-KR" altLang="en-US" smtClean="0"/>
              <a:t>2025. 12. 2.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1A8A1-A029-4BFA-AAEE-2EAE7C58A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776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9242-00DD-4C54-A747-B139066CE34A}" type="datetimeFigureOut">
              <a:rPr lang="ko-KR" altLang="en-US" smtClean="0"/>
              <a:t>2025. 12. 2.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1A8A1-A029-4BFA-AAEE-2EAE7C58A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59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9242-00DD-4C54-A747-B139066CE34A}" type="datetimeFigureOut">
              <a:rPr lang="ko-KR" altLang="en-US" smtClean="0"/>
              <a:t>2025. 12. 2.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1A8A1-A029-4BFA-AAEE-2EAE7C58A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491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9242-00DD-4C54-A747-B139066CE34A}" type="datetimeFigureOut">
              <a:rPr lang="ko-KR" altLang="en-US" smtClean="0"/>
              <a:t>2025. 12. 2.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1A8A1-A029-4BFA-AAEE-2EAE7C58A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283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9242-00DD-4C54-A747-B139066CE34A}" type="datetimeFigureOut">
              <a:rPr lang="ko-KR" altLang="en-US" smtClean="0"/>
              <a:t>2025. 12. 2.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1A8A1-A029-4BFA-AAEE-2EAE7C58A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816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9242-00DD-4C54-A747-B139066CE34A}" type="datetimeFigureOut">
              <a:rPr lang="ko-KR" altLang="en-US" smtClean="0"/>
              <a:t>2025. 12. 2.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1A8A1-A029-4BFA-AAEE-2EAE7C58A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855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9242-00DD-4C54-A747-B139066CE34A}" type="datetimeFigureOut">
              <a:rPr lang="ko-KR" altLang="en-US" smtClean="0"/>
              <a:t>2025. 12. 2.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1A8A1-A029-4BFA-AAEE-2EAE7C58A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25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9242-00DD-4C54-A747-B139066CE34A}" type="datetimeFigureOut">
              <a:rPr lang="ko-KR" altLang="en-US" smtClean="0"/>
              <a:t>2025. 12. 2.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1A8A1-A029-4BFA-AAEE-2EAE7C58A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013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9242-00DD-4C54-A747-B139066CE34A}" type="datetimeFigureOut">
              <a:rPr lang="ko-KR" altLang="en-US" smtClean="0"/>
              <a:t>2025. 12. 2.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1A8A1-A029-4BFA-AAEE-2EAE7C58A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79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99242-00DD-4C54-A747-B139066CE34A}" type="datetimeFigureOut">
              <a:rPr lang="ko-KR" altLang="en-US" smtClean="0"/>
              <a:t>2025. 12. 2.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1A8A1-A029-4BFA-AAEE-2EAE7C58A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567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487" rtl="0" eaLnBrk="1" latinLnBrk="1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1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5000">
              <a:srgbClr val="78AAD6"/>
            </a:gs>
            <a:gs pos="79000">
              <a:schemeClr val="accent1">
                <a:lumMod val="95000"/>
                <a:lumOff val="5000"/>
              </a:schemeClr>
            </a:gs>
            <a:gs pos="9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A1CE35C-F695-7D10-140B-78153DFB609B}"/>
              </a:ext>
            </a:extLst>
          </p:cNvPr>
          <p:cNvSpPr/>
          <p:nvPr/>
        </p:nvSpPr>
        <p:spPr>
          <a:xfrm>
            <a:off x="448059" y="6564000"/>
            <a:ext cx="14278593" cy="35131767"/>
          </a:xfrm>
          <a:prstGeom prst="roundRect">
            <a:avLst>
              <a:gd name="adj" fmla="val 55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42816" y="4551524"/>
            <a:ext cx="23189580" cy="1310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959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김현준</a:t>
            </a:r>
            <a:r>
              <a:rPr lang="en-US" altLang="ko-KR" sz="3959" baseline="30000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*</a:t>
            </a:r>
            <a:r>
              <a:rPr lang="en-US" altLang="ko-KR" sz="3959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,</a:t>
            </a:r>
            <a:r>
              <a:rPr lang="ko-KR" altLang="en-US" sz="3959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3959" dirty="0" err="1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서화정</a:t>
            </a:r>
            <a:r>
              <a:rPr lang="en-US" altLang="ko-KR" sz="3959" baseline="30000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**†</a:t>
            </a:r>
            <a:endParaRPr lang="en-US" altLang="ko-KR" sz="3959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3959" baseline="30000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* </a:t>
            </a:r>
            <a:r>
              <a:rPr lang="ko-KR" altLang="en-US" sz="3959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한성대학교 대학원 정보컴퓨터공학</a:t>
            </a:r>
            <a:r>
              <a:rPr lang="en-US" altLang="ko-KR" sz="3959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,</a:t>
            </a:r>
            <a:r>
              <a:rPr lang="ko-KR" altLang="en-US" sz="3959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3959" baseline="30000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**</a:t>
            </a:r>
            <a:r>
              <a:rPr lang="ko-KR" altLang="en-US" sz="3959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한성대학교 대학원 융합보안공학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220946" y="42102161"/>
            <a:ext cx="19833320" cy="701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959" dirty="0">
                <a:solidFill>
                  <a:schemeClr val="bg1"/>
                </a:solidFill>
              </a:rPr>
              <a:t>https://crypto.modoo.at/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5342E8D7-3C65-94B8-7BE3-E9DE422F2315}"/>
              </a:ext>
            </a:extLst>
          </p:cNvPr>
          <p:cNvSpPr/>
          <p:nvPr/>
        </p:nvSpPr>
        <p:spPr>
          <a:xfrm>
            <a:off x="15548560" y="6564000"/>
            <a:ext cx="14278594" cy="35131767"/>
          </a:xfrm>
          <a:prstGeom prst="roundRect">
            <a:avLst>
              <a:gd name="adj" fmla="val 55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508AEF-A6AD-FB6C-2DD1-DF7F0E5C78AB}"/>
              </a:ext>
            </a:extLst>
          </p:cNvPr>
          <p:cNvSpPr txBox="1"/>
          <p:nvPr/>
        </p:nvSpPr>
        <p:spPr>
          <a:xfrm>
            <a:off x="17450429" y="41710490"/>
            <a:ext cx="125968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한성대학교</a:t>
            </a:r>
            <a:r>
              <a:rPr lang="en-US" altLang="ko-KR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CryptoCraft</a:t>
            </a:r>
            <a:r>
              <a:rPr lang="en-US" altLang="ko-KR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LAB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234816-1A73-63E5-376F-5A88BDC9196D}"/>
              </a:ext>
            </a:extLst>
          </p:cNvPr>
          <p:cNvSpPr/>
          <p:nvPr/>
        </p:nvSpPr>
        <p:spPr>
          <a:xfrm>
            <a:off x="448060" y="605166"/>
            <a:ext cx="29379094" cy="3651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600" dirty="0" err="1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퍼미션드</a:t>
            </a:r>
            <a:r>
              <a:rPr kumimoji="1" lang="ko-KR" altLang="en-US" sz="9600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블록체인에서 </a:t>
            </a:r>
            <a:r>
              <a:rPr kumimoji="1" lang="en-US" altLang="ko-KR" sz="9600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PQC </a:t>
            </a:r>
            <a:r>
              <a:rPr kumimoji="1" lang="ko-KR" altLang="en-US" sz="9600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서명 검증 동향</a:t>
            </a:r>
            <a:br>
              <a:rPr kumimoji="1" lang="en-US" altLang="ko-KR" sz="9600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kumimoji="1" lang="en-US" altLang="ko-Kore-KR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Review of Post-Quantum Signature Verification for Permissioned Blockchains</a:t>
            </a:r>
            <a:endParaRPr kumimoji="1" lang="ko-Kore-KR" altLang="en-US" sz="5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1D58E0B-D240-730C-80A2-A814095D86BB}"/>
              </a:ext>
            </a:extLst>
          </p:cNvPr>
          <p:cNvSpPr/>
          <p:nvPr/>
        </p:nvSpPr>
        <p:spPr>
          <a:xfrm>
            <a:off x="729356" y="6926825"/>
            <a:ext cx="13716000" cy="1007281"/>
          </a:xfrm>
          <a:prstGeom prst="rect">
            <a:avLst/>
          </a:prstGeom>
          <a:solidFill>
            <a:srgbClr val="78A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400" dirty="0"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ABSTRACT</a:t>
            </a:r>
            <a:endParaRPr kumimoji="1" lang="ko-Kore-KR" altLang="en-US" sz="4400" dirty="0">
              <a:latin typeface="Batang" panose="02030600000101010101" pitchFamily="18" charset="-127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74ABC5B-4E24-D166-5920-2C914CBEC8F8}"/>
              </a:ext>
            </a:extLst>
          </p:cNvPr>
          <p:cNvSpPr/>
          <p:nvPr/>
        </p:nvSpPr>
        <p:spPr>
          <a:xfrm>
            <a:off x="448059" y="32689302"/>
            <a:ext cx="13716000" cy="42382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indent="127000" algn="just" fontAlgn="base" latinLnBrk="1">
              <a:lnSpc>
                <a:spcPct val="160000"/>
              </a:lnSpc>
              <a:spcBef>
                <a:spcPts val="280"/>
              </a:spcBef>
              <a:spcAft>
                <a:spcPts val="280"/>
              </a:spcAft>
            </a:pPr>
            <a:endParaRPr kumimoji="1" lang="ko-KR" altLang="en-US" sz="3200" dirty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6066DAE-CB70-7033-B85D-BB978E96A8B3}"/>
              </a:ext>
            </a:extLst>
          </p:cNvPr>
          <p:cNvSpPr/>
          <p:nvPr/>
        </p:nvSpPr>
        <p:spPr>
          <a:xfrm>
            <a:off x="15713725" y="25423533"/>
            <a:ext cx="13716000" cy="1007281"/>
          </a:xfrm>
          <a:prstGeom prst="rect">
            <a:avLst/>
          </a:prstGeom>
          <a:solidFill>
            <a:srgbClr val="78A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400" dirty="0"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Conclusion</a:t>
            </a:r>
            <a:endParaRPr kumimoji="1" lang="ko-Kore-KR" altLang="en-US" sz="4400" dirty="0">
              <a:latin typeface="Batang" panose="02030600000101010101" pitchFamily="18" charset="-127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95C03B-0CCD-86B4-E6F9-CF13CA113213}"/>
              </a:ext>
            </a:extLst>
          </p:cNvPr>
          <p:cNvSpPr/>
          <p:nvPr/>
        </p:nvSpPr>
        <p:spPr>
          <a:xfrm>
            <a:off x="729354" y="8499343"/>
            <a:ext cx="13716000" cy="79350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838200" marR="0" indent="-457200" algn="just" fontAlgn="base" latinLnBrk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양자 컴퓨팅의 발전으로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RSA, ECDSA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기반 전자서명의 장기 안전성에 대한 우려가 커지고 있다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pPr marL="838200" marR="0" indent="-457200" algn="just" fontAlgn="base" latinLnBrk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1" lang="en-US" altLang="ko-KR" sz="3200" dirty="0">
              <a:solidFill>
                <a:schemeClr val="tx1"/>
              </a:solidFill>
              <a:latin typeface="+mn-ea"/>
            </a:endParaRPr>
          </a:p>
          <a:p>
            <a:pPr marL="838200" marR="0" indent="-457200" algn="just" fontAlgn="base" latinLnBrk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퍼미션드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 블록체인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특히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Hyperledger Fabric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은 규제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감사 대응과 장기 원장 보존을 전제로 하므로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양자내성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 암호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(PQC)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기반 서명 체계로의 전환이 요구된다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pPr marL="838200" marR="0" indent="-457200" algn="just" fontAlgn="base" latinLnBrk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1" lang="en-US" altLang="ko-KR" sz="3200" dirty="0">
              <a:solidFill>
                <a:schemeClr val="tx1"/>
              </a:solidFill>
              <a:latin typeface="+mn-ea"/>
            </a:endParaRPr>
          </a:p>
          <a:p>
            <a:pPr marL="838200" marR="0" indent="-457200" algn="just" fontAlgn="base" latinLnBrk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PQC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서명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(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예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: ML-DSA)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은 공개키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서명 바이트 크기가 커서 트랜잭션 전파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해싱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블록화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저장 등 데이터 경로 전체 비용 증가와 직결된다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pPr marL="838200" marR="0" indent="-457200" algn="just" fontAlgn="base" latinLnBrk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1" lang="en-US" altLang="ko-KR" sz="3200" dirty="0">
              <a:solidFill>
                <a:schemeClr val="tx1"/>
              </a:solidFill>
              <a:latin typeface="+mn-ea"/>
            </a:endParaRPr>
          </a:p>
          <a:p>
            <a:pPr marL="838200" marR="0" indent="-457200" algn="just" fontAlgn="base" latinLnBrk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본 연구는 이러한 전환 상황에서 서명 검증을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Endorse/Validate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어디에 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배치할지와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서명을 참조형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/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포함형 중 어떤 방식으로 온체인에 저장할지를 구조적으로 정리한다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</a:t>
            </a:r>
            <a:endParaRPr kumimoji="1" lang="ko-Kore-KR" altLang="en-US" sz="3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719F04E-7CF2-305C-0661-B6F6D54FC4C1}"/>
              </a:ext>
            </a:extLst>
          </p:cNvPr>
          <p:cNvSpPr/>
          <p:nvPr/>
        </p:nvSpPr>
        <p:spPr>
          <a:xfrm>
            <a:off x="15675625" y="29219328"/>
            <a:ext cx="13716000" cy="12033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indent="127000" algn="just" fontAlgn="base" latinLnBrk="1">
              <a:spcBef>
                <a:spcPts val="280"/>
              </a:spcBef>
              <a:spcAft>
                <a:spcPts val="280"/>
              </a:spcAft>
            </a:pP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Hyperledger Fabric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의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EOVC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를 기준으로 서명 검증 배치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(Endorse/Validate)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와 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온체인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 저장 방식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(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참조형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/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포함형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)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두 축을 정의하고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기존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PQC-Fabric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관련 연구를 이 설계 공간 위에 개념적으로 재배열하였다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indent="127000" algn="just" fontAlgn="base" latinLnBrk="1">
              <a:spcBef>
                <a:spcPts val="280"/>
              </a:spcBef>
              <a:spcAft>
                <a:spcPts val="280"/>
              </a:spcAft>
            </a:pP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문헌 교차 검토 결과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다음과 같은 세 관찰이 반복적으로 확인되었다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indent="127000" algn="just" fontAlgn="base" latinLnBrk="1">
              <a:spcBef>
                <a:spcPts val="280"/>
              </a:spcBef>
              <a:spcAft>
                <a:spcPts val="280"/>
              </a:spcAft>
            </a:pP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(1) ML-DSA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에 기인한 바이트 규모 증가는 전파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해싱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블록화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저장 등 데이터 경로 전반의 비용을 증가시키는 요인으로 작용한다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indent="127000" algn="just" fontAlgn="base" latinLnBrk="1">
              <a:spcBef>
                <a:spcPts val="280"/>
              </a:spcBef>
              <a:spcAft>
                <a:spcPts val="280"/>
              </a:spcAft>
            </a:pP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(2)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배치 차이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(Endorse vs Validate)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는 지연이 형성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분해되는 단계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(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앞단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vs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후단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)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와 양상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(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큐잉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vs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파이프라인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)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을 가르는 역할을 한다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indent="127000" algn="just" fontAlgn="base" latinLnBrk="1">
              <a:spcBef>
                <a:spcPts val="280"/>
              </a:spcBef>
              <a:spcAft>
                <a:spcPts val="280"/>
              </a:spcAft>
            </a:pP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(3)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저장 선택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(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참조형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vs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포함형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)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은 지연 분포의 꼬리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(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상위 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분위수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)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와 블록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·I/O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경로의 민감도에 직접적으로 연결된다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indent="127000" algn="just" fontAlgn="base" latinLnBrk="1">
              <a:spcBef>
                <a:spcPts val="280"/>
              </a:spcBef>
              <a:spcAft>
                <a:spcPts val="280"/>
              </a:spcAft>
            </a:pPr>
            <a:endParaRPr kumimoji="1" lang="en-US" altLang="ko-KR" sz="3200" dirty="0">
              <a:solidFill>
                <a:schemeClr val="tx1"/>
              </a:solidFill>
              <a:latin typeface="+mn-ea"/>
            </a:endParaRPr>
          </a:p>
          <a:p>
            <a:pPr indent="127000" algn="just" fontAlgn="base" latinLnBrk="1">
              <a:spcBef>
                <a:spcPts val="280"/>
              </a:spcBef>
              <a:spcAft>
                <a:spcPts val="280"/>
              </a:spcAft>
            </a:pP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이 세 관찰은 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상호작용적이며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동일한 서명 알고리즘을 사용하더라도 배치와 저장 조합에 따라 관측 지표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(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지연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처리율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데이터 발자국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)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가 달라질 수 있음을 시사한다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indent="127000" algn="just" fontAlgn="base" latinLnBrk="1">
              <a:spcBef>
                <a:spcPts val="280"/>
              </a:spcBef>
              <a:spcAft>
                <a:spcPts val="280"/>
              </a:spcAft>
            </a:pPr>
            <a:endParaRPr kumimoji="1" lang="en-US" altLang="ko-KR" sz="3200" dirty="0">
              <a:solidFill>
                <a:schemeClr val="tx1"/>
              </a:solidFill>
              <a:latin typeface="+mn-ea"/>
            </a:endParaRPr>
          </a:p>
          <a:p>
            <a:pPr indent="127000" algn="just" fontAlgn="base" latinLnBrk="1">
              <a:spcBef>
                <a:spcPts val="280"/>
              </a:spcBef>
              <a:spcAft>
                <a:spcPts val="280"/>
              </a:spcAft>
            </a:pP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향후 연구에서는 동일 체인코드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정책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블록 파라미터를 고정한 상태에서 네 가지 구성을 동일 조건으로 교차 비교하는 정량 실험을 수행할 예정이다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이를 통해 본 리뷰에서 제시한 관찰을 검증하고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퍼미션드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 블록체인에서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PQC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서명 검증 배치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저장 설계에 대한 실무적 가이드라인을 도출하는 것을 목표로 한다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E37C3E0-50DA-9E52-2A76-325DF18ACF9D}"/>
              </a:ext>
            </a:extLst>
          </p:cNvPr>
          <p:cNvSpPr/>
          <p:nvPr/>
        </p:nvSpPr>
        <p:spPr>
          <a:xfrm>
            <a:off x="15784536" y="6972218"/>
            <a:ext cx="13716000" cy="1096045"/>
          </a:xfrm>
          <a:prstGeom prst="rect">
            <a:avLst/>
          </a:prstGeom>
          <a:solidFill>
            <a:srgbClr val="78A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4790" indent="-224790" algn="just" fontAlgn="base" latinLnBrk="1">
              <a:lnSpc>
                <a:spcPct val="160000"/>
              </a:lnSpc>
              <a:spcBef>
                <a:spcPts val="280"/>
              </a:spcBef>
              <a:spcAft>
                <a:spcPts val="280"/>
              </a:spcAft>
            </a:pPr>
            <a:endParaRPr kumimoji="1" lang="en-US" altLang="ko-KR" sz="3200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D0ADD04-DF97-1B00-CA6C-85789D872332}"/>
              </a:ext>
            </a:extLst>
          </p:cNvPr>
          <p:cNvSpPr/>
          <p:nvPr/>
        </p:nvSpPr>
        <p:spPr>
          <a:xfrm>
            <a:off x="15675625" y="17478960"/>
            <a:ext cx="13716000" cy="3138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 algn="just" fontAlgn="base" latinLnBrk="1">
              <a:spcBef>
                <a:spcPts val="280"/>
              </a:spcBef>
              <a:spcAft>
                <a:spcPts val="280"/>
              </a:spcAft>
              <a:buFont typeface="Arial" panose="020B0604020202020204" pitchFamily="34" charset="0"/>
              <a:buChar char="•"/>
            </a:pP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Endorse–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참조형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/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포함형은 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앞단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(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체인코드 실행 경로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)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에서 검증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서명 바이트 처리를 집중시키는 구성으로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엔도서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큐잉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 지연과 응답 페이로드 크기가 핵심 변수이다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 Validate–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참조형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/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포함형은 후단 블록 단위 파이프라인에서 검증과 저장을 처리하는 구성으로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VSCC·MVCC·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커밋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 최적화와 블록 크기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·I/O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민감도가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tail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지연을 결정하는 주요 요인이다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</a:t>
            </a:r>
            <a:endParaRPr kumimoji="1" lang="ko-KR" altLang="en-US" sz="3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FF5564-55F2-1928-08E2-7722C3854624}"/>
              </a:ext>
            </a:extLst>
          </p:cNvPr>
          <p:cNvSpPr txBox="1"/>
          <p:nvPr/>
        </p:nvSpPr>
        <p:spPr>
          <a:xfrm>
            <a:off x="15784535" y="7160655"/>
            <a:ext cx="13244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4790" indent="-224790" algn="ctr" fontAlgn="base" latinLnBrk="1">
              <a:spcBef>
                <a:spcPts val="280"/>
              </a:spcBef>
              <a:spcAft>
                <a:spcPts val="280"/>
              </a:spcAft>
            </a:pPr>
            <a:r>
              <a:rPr kumimoji="1" lang="en-US" altLang="ko-KR" sz="3600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E86510D-2171-1CFD-BE2D-ED3D83C96831}"/>
              </a:ext>
            </a:extLst>
          </p:cNvPr>
          <p:cNvSpPr/>
          <p:nvPr/>
        </p:nvSpPr>
        <p:spPr>
          <a:xfrm>
            <a:off x="883589" y="16772578"/>
            <a:ext cx="13716000" cy="1096045"/>
          </a:xfrm>
          <a:prstGeom prst="rect">
            <a:avLst/>
          </a:prstGeom>
          <a:solidFill>
            <a:srgbClr val="78A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4790" indent="-224790" algn="just" fontAlgn="base" latinLnBrk="1">
              <a:lnSpc>
                <a:spcPct val="160000"/>
              </a:lnSpc>
              <a:spcBef>
                <a:spcPts val="280"/>
              </a:spcBef>
              <a:spcAft>
                <a:spcPts val="280"/>
              </a:spcAft>
            </a:pPr>
            <a:endParaRPr kumimoji="1" lang="en-US" altLang="ko-KR" sz="3200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52473EB-2211-489A-EF20-20B6A70AFA4F}"/>
              </a:ext>
            </a:extLst>
          </p:cNvPr>
          <p:cNvSpPr/>
          <p:nvPr/>
        </p:nvSpPr>
        <p:spPr>
          <a:xfrm>
            <a:off x="908965" y="18386997"/>
            <a:ext cx="13716000" cy="12493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indent="127000" fontAlgn="base" latinLnBrk="1">
              <a:lnSpc>
                <a:spcPct val="160000"/>
              </a:lnSpc>
              <a:spcBef>
                <a:spcPts val="280"/>
              </a:spcBef>
              <a:spcAft>
                <a:spcPts val="280"/>
              </a:spcAft>
            </a:pPr>
            <a:r>
              <a:rPr kumimoji="1" lang="en-US" altLang="ko-KR" sz="3200" b="1" dirty="0" err="1">
                <a:solidFill>
                  <a:schemeClr val="tx1"/>
                </a:solidFill>
                <a:latin typeface="+mn-ea"/>
              </a:rPr>
              <a:t>PQFabric</a:t>
            </a:r>
            <a:r>
              <a:rPr kumimoji="1" lang="en-US" altLang="ko-KR" sz="3200" b="1" dirty="0">
                <a:solidFill>
                  <a:schemeClr val="tx1"/>
                </a:solidFill>
                <a:latin typeface="+mn-ea"/>
              </a:rPr>
              <a:t> – </a:t>
            </a:r>
            <a:r>
              <a:rPr kumimoji="1" lang="ko-KR" altLang="en-US" sz="3200" b="1" dirty="0">
                <a:solidFill>
                  <a:schemeClr val="tx1"/>
                </a:solidFill>
                <a:latin typeface="+mn-ea"/>
              </a:rPr>
              <a:t>하이브리드 서명 통합과 </a:t>
            </a:r>
            <a:r>
              <a:rPr kumimoji="1" lang="ko-KR" altLang="en-US" sz="3200" b="1" dirty="0" err="1">
                <a:solidFill>
                  <a:schemeClr val="tx1"/>
                </a:solidFill>
                <a:latin typeface="+mn-ea"/>
              </a:rPr>
              <a:t>해싱</a:t>
            </a:r>
            <a:r>
              <a:rPr kumimoji="1" lang="ko-KR" altLang="en-US" sz="3200" b="1" dirty="0">
                <a:solidFill>
                  <a:schemeClr val="tx1"/>
                </a:solidFill>
                <a:latin typeface="+mn-ea"/>
              </a:rPr>
              <a:t> 병목</a:t>
            </a:r>
            <a:endParaRPr kumimoji="1" lang="en-US" altLang="ko-KR" sz="3200" b="1" dirty="0">
              <a:solidFill>
                <a:schemeClr val="tx1"/>
              </a:solidFill>
              <a:latin typeface="+mn-ea"/>
            </a:endParaRPr>
          </a:p>
          <a:p>
            <a:pPr marL="457200" indent="-457200" fontAlgn="base" latinLnBrk="1">
              <a:spcBef>
                <a:spcPts val="280"/>
              </a:spcBef>
              <a:spcAft>
                <a:spcPts val="280"/>
              </a:spcAft>
              <a:buFont typeface="Arial" panose="020B0604020202020204" pitchFamily="34" charset="0"/>
              <a:buChar char="•"/>
            </a:pP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MSP/BCCSP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를 확장해 기존 서명과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PQC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서명을 결합한 하이브리드 서명을 구현하고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Open Quantum Safe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를 연계해 성능을 평가하였다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457200" indent="-457200" fontAlgn="base" latinLnBrk="1">
              <a:spcBef>
                <a:spcPts val="280"/>
              </a:spcBef>
              <a:spcAft>
                <a:spcPts val="280"/>
              </a:spcAft>
              <a:buFont typeface="Arial" panose="020B0604020202020204" pitchFamily="34" charset="0"/>
              <a:buChar char="•"/>
            </a:pP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공개키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서명 길이가 커지면서 데이터 경로 비용이 증가하고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그 결과 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해싱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 시간이 서명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검증 시간과 비슷한 수준까지 커질 수 있음을 보고한다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457200" indent="-457200" fontAlgn="base" latinLnBrk="1">
              <a:lnSpc>
                <a:spcPct val="160000"/>
              </a:lnSpc>
              <a:spcBef>
                <a:spcPts val="280"/>
              </a:spcBef>
              <a:spcAft>
                <a:spcPts val="280"/>
              </a:spcAft>
              <a:buFont typeface="Arial" panose="020B0604020202020204" pitchFamily="34" charset="0"/>
              <a:buChar char="•"/>
            </a:pPr>
            <a:endParaRPr kumimoji="1" lang="en-US" altLang="ko-KR" sz="3200" dirty="0">
              <a:solidFill>
                <a:schemeClr val="tx1"/>
              </a:solidFill>
              <a:latin typeface="+mn-ea"/>
            </a:endParaRPr>
          </a:p>
          <a:p>
            <a:pPr fontAlgn="base" latinLnBrk="1">
              <a:lnSpc>
                <a:spcPct val="160000"/>
              </a:lnSpc>
              <a:spcBef>
                <a:spcPts val="280"/>
              </a:spcBef>
              <a:spcAft>
                <a:spcPts val="280"/>
              </a:spcAft>
            </a:pPr>
            <a:r>
              <a:rPr kumimoji="1" lang="en-US" altLang="ko-KR" sz="3200" b="1" dirty="0" err="1">
                <a:solidFill>
                  <a:schemeClr val="tx1"/>
                </a:solidFill>
                <a:latin typeface="+mn-ea"/>
              </a:rPr>
              <a:t>Michelagnoli</a:t>
            </a:r>
            <a:r>
              <a:rPr kumimoji="1" lang="en-US" altLang="ko-KR" sz="3200" b="1" dirty="0">
                <a:solidFill>
                  <a:schemeClr val="tx1"/>
                </a:solidFill>
                <a:latin typeface="+mn-ea"/>
              </a:rPr>
              <a:t> – </a:t>
            </a:r>
            <a:r>
              <a:rPr kumimoji="1" lang="ko-KR" altLang="en-US" sz="3200" b="1" dirty="0">
                <a:solidFill>
                  <a:schemeClr val="tx1"/>
                </a:solidFill>
                <a:latin typeface="+mn-ea"/>
              </a:rPr>
              <a:t>소규모 테스트넷 관측</a:t>
            </a:r>
            <a:endParaRPr kumimoji="1" lang="en-US" altLang="ko-KR" sz="3200" b="1" dirty="0">
              <a:solidFill>
                <a:schemeClr val="tx1"/>
              </a:solidFill>
              <a:latin typeface="+mn-ea"/>
            </a:endParaRPr>
          </a:p>
          <a:p>
            <a:pPr marL="457200" indent="-457200" fontAlgn="base" latinLnBrk="1">
              <a:spcBef>
                <a:spcPts val="280"/>
              </a:spcBef>
              <a:spcAft>
                <a:spcPts val="280"/>
              </a:spcAft>
              <a:buFont typeface="Arial" panose="020B0604020202020204" pitchFamily="34" charset="0"/>
              <a:buChar char="•"/>
            </a:pP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2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개 조직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조직당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1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피어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단일 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오더러로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 구성된 소규모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Fabric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네트워크에서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Dilithium5·Falcon1024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를 적용한 결과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ECDSA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와 근접한 성능이 관찰되었다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pPr marL="457200" indent="-457200" fontAlgn="base" latinLnBrk="1">
              <a:spcBef>
                <a:spcPts val="280"/>
              </a:spcBef>
              <a:spcAft>
                <a:spcPts val="280"/>
              </a:spcAft>
              <a:buFont typeface="Arial" panose="020B0604020202020204" pitchFamily="34" charset="0"/>
              <a:buChar char="•"/>
            </a:pP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다만 네트워크 규모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정책 복잡도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블록 파라미터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배치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저장 조합을 다양화했을 때의 민감도는 추가 검증 과제로 남는다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457200" indent="-457200" fontAlgn="base" latinLnBrk="1">
              <a:lnSpc>
                <a:spcPct val="160000"/>
              </a:lnSpc>
              <a:spcBef>
                <a:spcPts val="280"/>
              </a:spcBef>
              <a:spcAft>
                <a:spcPts val="280"/>
              </a:spcAft>
              <a:buFont typeface="Arial" panose="020B0604020202020204" pitchFamily="34" charset="0"/>
              <a:buChar char="•"/>
            </a:pPr>
            <a:endParaRPr kumimoji="1" lang="en-US" altLang="ko-KR" sz="3200" dirty="0">
              <a:solidFill>
                <a:schemeClr val="tx1"/>
              </a:solidFill>
              <a:latin typeface="+mn-ea"/>
            </a:endParaRPr>
          </a:p>
          <a:p>
            <a:pPr fontAlgn="base" latinLnBrk="1">
              <a:lnSpc>
                <a:spcPct val="160000"/>
              </a:lnSpc>
              <a:spcBef>
                <a:spcPts val="280"/>
              </a:spcBef>
              <a:spcAft>
                <a:spcPts val="280"/>
              </a:spcAft>
            </a:pPr>
            <a:r>
              <a:rPr kumimoji="1" lang="en-US" altLang="ko-KR" sz="3200" b="1" dirty="0">
                <a:solidFill>
                  <a:schemeClr val="tx1"/>
                </a:solidFill>
                <a:latin typeface="+mn-ea"/>
              </a:rPr>
              <a:t>FRUCT’37 – BCCSP </a:t>
            </a:r>
            <a:r>
              <a:rPr kumimoji="1" lang="ko-KR" altLang="en-US" sz="3200" b="1" dirty="0">
                <a:solidFill>
                  <a:schemeClr val="tx1"/>
                </a:solidFill>
                <a:latin typeface="+mn-ea"/>
              </a:rPr>
              <a:t>확장과 지연 증분</a:t>
            </a:r>
            <a:endParaRPr kumimoji="1" lang="ko-KR" altLang="en-US" sz="3200" dirty="0">
              <a:solidFill>
                <a:schemeClr val="tx1"/>
              </a:solidFill>
              <a:latin typeface="+mn-ea"/>
            </a:endParaRPr>
          </a:p>
          <a:p>
            <a:pPr marL="457200" indent="-457200" fontAlgn="base" latinLnBrk="1">
              <a:spcBef>
                <a:spcPts val="280"/>
              </a:spcBef>
              <a:spcAft>
                <a:spcPts val="280"/>
              </a:spcAft>
              <a:buFont typeface="Arial" panose="020B0604020202020204" pitchFamily="34" charset="0"/>
              <a:buChar char="•"/>
            </a:pP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BCCSP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를 확장해 경량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PQC(L-PQC)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와 국가암호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(SM2/3/4)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를 플러그인으로 탑재한 결과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트랜잭션 지연이 약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1.8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배 증가하고 동적 인증서 생성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네트워크 시작 시간도 소폭 늘어나는 것으로 보고되었다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457200" indent="-457200" fontAlgn="base" latinLnBrk="1">
              <a:spcBef>
                <a:spcPts val="280"/>
              </a:spcBef>
              <a:spcAft>
                <a:spcPts val="280"/>
              </a:spcAft>
              <a:buFont typeface="Arial" panose="020B0604020202020204" pitchFamily="34" charset="0"/>
              <a:buChar char="•"/>
            </a:pP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이는 플랫폼 계층 변경이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VSCC/MVCC/</a:t>
            </a:r>
            <a:r>
              <a:rPr kumimoji="1" lang="ko-KR" altLang="en-US" sz="3200" dirty="0" err="1">
                <a:solidFill>
                  <a:schemeClr val="tx1"/>
                </a:solidFill>
                <a:latin typeface="+mn-ea"/>
              </a:rPr>
              <a:t>커밋으로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 이어지는 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Validate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파이프라인과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특히 포함형 저장 구성에서 블록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전송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kumimoji="1" lang="ko-KR" altLang="en-US" sz="3200" dirty="0">
                <a:solidFill>
                  <a:schemeClr val="tx1"/>
                </a:solidFill>
                <a:latin typeface="+mn-ea"/>
              </a:rPr>
              <a:t>저장 경로까지 영향을 줄 수 있음을 시사한다</a:t>
            </a:r>
            <a:r>
              <a:rPr kumimoji="1" lang="en-US" altLang="ko-KR" sz="3200" dirty="0">
                <a:solidFill>
                  <a:schemeClr val="tx1"/>
                </a:solidFill>
                <a:latin typeface="+mn-ea"/>
              </a:rPr>
              <a:t>.</a:t>
            </a:r>
            <a:endParaRPr kumimoji="1" lang="ko-KR" altLang="en-US" sz="3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214B1F-8132-D86A-ED60-B6134D57BDE5}"/>
              </a:ext>
            </a:extLst>
          </p:cNvPr>
          <p:cNvSpPr txBox="1"/>
          <p:nvPr/>
        </p:nvSpPr>
        <p:spPr>
          <a:xfrm>
            <a:off x="883588" y="16961015"/>
            <a:ext cx="13244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4790" indent="-224790" algn="ctr" fontAlgn="base" latinLnBrk="1">
              <a:spcBef>
                <a:spcPts val="280"/>
              </a:spcBef>
              <a:spcAft>
                <a:spcPts val="280"/>
              </a:spcAft>
            </a:pPr>
            <a:r>
              <a:rPr kumimoji="1" lang="en-US" altLang="ko-KR" sz="3600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Previous research</a:t>
            </a: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026B433E-9372-3D31-3158-F6CCC232D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248744"/>
              </p:ext>
            </p:extLst>
          </p:nvPr>
        </p:nvGraphicFramePr>
        <p:xfrm>
          <a:off x="15829858" y="12276901"/>
          <a:ext cx="13716001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565">
                  <a:extLst>
                    <a:ext uri="{9D8B030D-6E8A-4147-A177-3AD203B41FA5}">
                      <a16:colId xmlns:a16="http://schemas.microsoft.com/office/drawing/2014/main" val="401452596"/>
                    </a:ext>
                  </a:extLst>
                </a:gridCol>
                <a:gridCol w="1703825">
                  <a:extLst>
                    <a:ext uri="{9D8B030D-6E8A-4147-A177-3AD203B41FA5}">
                      <a16:colId xmlns:a16="http://schemas.microsoft.com/office/drawing/2014/main" val="2350078440"/>
                    </a:ext>
                  </a:extLst>
                </a:gridCol>
                <a:gridCol w="10289611">
                  <a:extLst>
                    <a:ext uri="{9D8B030D-6E8A-4147-A177-3AD203B41FA5}">
                      <a16:colId xmlns:a16="http://schemas.microsoft.com/office/drawing/2014/main" val="27464646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latin typeface="+mn-ea"/>
                          <a:ea typeface="+mn-ea"/>
                        </a:rPr>
                        <a:t>배치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latin typeface="+mn-ea"/>
                          <a:ea typeface="+mn-ea"/>
                        </a:rPr>
                        <a:t>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latin typeface="+mn-ea"/>
                          <a:ea typeface="+mn-ea"/>
                        </a:rPr>
                        <a:t>포인트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629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latin typeface="+mn-ea"/>
                          <a:ea typeface="+mn-ea"/>
                        </a:rPr>
                        <a:t>Endorse</a:t>
                      </a:r>
                      <a:endParaRPr lang="ko-KR" altLang="en-US" sz="3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latin typeface="+mn-ea"/>
                          <a:ea typeface="+mn-ea"/>
                        </a:rPr>
                        <a:t>참조형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800" dirty="0" err="1">
                          <a:latin typeface="+mn-ea"/>
                          <a:ea typeface="+mn-ea"/>
                        </a:rPr>
                        <a:t>앞단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 검증 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메타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해시만 </a:t>
                      </a:r>
                      <a:r>
                        <a:rPr lang="ko-KR" altLang="en-US" sz="2800" dirty="0" err="1">
                          <a:latin typeface="+mn-ea"/>
                          <a:ea typeface="+mn-ea"/>
                        </a:rPr>
                        <a:t>온체인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페이로드 작음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정책 복잡도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검증 비용이 </a:t>
                      </a:r>
                      <a:r>
                        <a:rPr lang="ko-KR" altLang="en-US" sz="2800" dirty="0" err="1">
                          <a:latin typeface="+mn-ea"/>
                          <a:ea typeface="+mn-ea"/>
                        </a:rPr>
                        <a:t>엔도서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2800" dirty="0" err="1">
                          <a:latin typeface="+mn-ea"/>
                          <a:ea typeface="+mn-ea"/>
                        </a:rPr>
                        <a:t>큐잉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 지연에 민감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812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latin typeface="+mn-ea"/>
                          <a:ea typeface="+mn-ea"/>
                        </a:rPr>
                        <a:t>Endorse</a:t>
                      </a:r>
                      <a:endParaRPr lang="ko-KR" altLang="en-US" sz="3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latin typeface="+mn-ea"/>
                          <a:ea typeface="+mn-ea"/>
                        </a:rPr>
                        <a:t>포함형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800" dirty="0" err="1">
                          <a:latin typeface="+mn-ea"/>
                          <a:ea typeface="+mn-ea"/>
                        </a:rPr>
                        <a:t>앞단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 검증 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서명 바이트 </a:t>
                      </a:r>
                      <a:r>
                        <a:rPr lang="ko-KR" altLang="en-US" sz="2800" dirty="0" err="1">
                          <a:latin typeface="+mn-ea"/>
                          <a:ea typeface="+mn-ea"/>
                        </a:rPr>
                        <a:t>온체인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 포함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, Endorse 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응답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2800" dirty="0" err="1">
                          <a:latin typeface="+mn-ea"/>
                          <a:ea typeface="+mn-ea"/>
                        </a:rPr>
                        <a:t>해싱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전파 비용이 </a:t>
                      </a:r>
                      <a:r>
                        <a:rPr lang="ko-KR" altLang="en-US" sz="2800" dirty="0" err="1">
                          <a:latin typeface="+mn-ea"/>
                          <a:ea typeface="+mn-ea"/>
                        </a:rPr>
                        <a:t>앞단에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 집중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579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latin typeface="+mn-ea"/>
                          <a:ea typeface="+mn-ea"/>
                        </a:rPr>
                        <a:t>Validate</a:t>
                      </a:r>
                      <a:endParaRPr lang="ko-KR" altLang="en-US" sz="3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latin typeface="+mn-ea"/>
                          <a:ea typeface="+mn-ea"/>
                        </a:rPr>
                        <a:t>참조형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후단 블록 단위 검증 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메타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해시 기록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, VSCC·MVCC·</a:t>
                      </a:r>
                      <a:r>
                        <a:rPr lang="ko-KR" altLang="en-US" sz="2800" dirty="0" err="1">
                          <a:latin typeface="+mn-ea"/>
                          <a:ea typeface="+mn-ea"/>
                        </a:rPr>
                        <a:t>커밋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 파이프라인 최적화 효과 관찰에 유리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780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latin typeface="+mn-ea"/>
                          <a:ea typeface="+mn-ea"/>
                        </a:rPr>
                        <a:t>Validate</a:t>
                      </a:r>
                      <a:endParaRPr lang="ko-KR" altLang="en-US" sz="3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latin typeface="+mn-ea"/>
                          <a:ea typeface="+mn-ea"/>
                        </a:rPr>
                        <a:t>포함형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후단 검증 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서명 바이트 </a:t>
                      </a:r>
                      <a:r>
                        <a:rPr lang="ko-KR" altLang="en-US" sz="2800" dirty="0" err="1">
                          <a:latin typeface="+mn-ea"/>
                          <a:ea typeface="+mn-ea"/>
                        </a:rPr>
                        <a:t>온체인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 포함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블록 전파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2800" dirty="0" err="1">
                          <a:latin typeface="+mn-ea"/>
                          <a:ea typeface="+mn-ea"/>
                        </a:rPr>
                        <a:t>해싱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디스크 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I/O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에 가장 민감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, tail 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지연 확대 가능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009597"/>
                  </a:ext>
                </a:extLst>
              </a:tr>
            </a:tbl>
          </a:graphicData>
        </a:graphic>
      </p:graphicFrame>
      <p:sp>
        <p:nvSpPr>
          <p:cNvPr id="43" name="직사각형 42">
            <a:extLst>
              <a:ext uri="{FF2B5EF4-FFF2-40B4-BE49-F238E27FC236}">
                <a16:creationId xmlns:a16="http://schemas.microsoft.com/office/drawing/2014/main" id="{D20DF8AD-BF99-0C44-2112-20AFA21186C9}"/>
              </a:ext>
            </a:extLst>
          </p:cNvPr>
          <p:cNvSpPr/>
          <p:nvPr/>
        </p:nvSpPr>
        <p:spPr>
          <a:xfrm>
            <a:off x="2145804" y="32347545"/>
            <a:ext cx="1838633" cy="1007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/>
              <a:t>Client</a:t>
            </a:r>
            <a:endParaRPr lang="ko-KR" altLang="en-US" sz="36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38DB2F4-FBD8-A870-E7EE-908CE1B772A6}"/>
              </a:ext>
            </a:extLst>
          </p:cNvPr>
          <p:cNvSpPr/>
          <p:nvPr/>
        </p:nvSpPr>
        <p:spPr>
          <a:xfrm>
            <a:off x="7351339" y="32344082"/>
            <a:ext cx="1838633" cy="1007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/>
              <a:t>Order</a:t>
            </a:r>
            <a:endParaRPr lang="ko-KR" altLang="en-US" sz="360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F547549-ABC3-40E6-AC55-782614A86CE7}"/>
              </a:ext>
            </a:extLst>
          </p:cNvPr>
          <p:cNvSpPr/>
          <p:nvPr/>
        </p:nvSpPr>
        <p:spPr>
          <a:xfrm>
            <a:off x="10076644" y="32344082"/>
            <a:ext cx="1838633" cy="1007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/>
              <a:t>Validate</a:t>
            </a:r>
            <a:endParaRPr lang="ko-KR" altLang="en-US" sz="36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E5B362B-05C7-3F4F-648A-C575DBAEE5F7}"/>
              </a:ext>
            </a:extLst>
          </p:cNvPr>
          <p:cNvSpPr/>
          <p:nvPr/>
        </p:nvSpPr>
        <p:spPr>
          <a:xfrm>
            <a:off x="4737638" y="32344082"/>
            <a:ext cx="1838633" cy="1007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/>
              <a:t>Endorse</a:t>
            </a:r>
            <a:endParaRPr lang="ko-KR" altLang="en-US" sz="3600" dirty="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CABB8F64-01AD-3ED3-3184-0B4F253FC722}"/>
              </a:ext>
            </a:extLst>
          </p:cNvPr>
          <p:cNvCxnSpPr>
            <a:cxnSpLocks/>
          </p:cNvCxnSpPr>
          <p:nvPr/>
        </p:nvCxnSpPr>
        <p:spPr>
          <a:xfrm>
            <a:off x="4025461" y="32851186"/>
            <a:ext cx="581870" cy="412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CDC9AEB-CF3E-9386-8BAC-E236E2892188}"/>
              </a:ext>
            </a:extLst>
          </p:cNvPr>
          <p:cNvCxnSpPr>
            <a:cxnSpLocks/>
          </p:cNvCxnSpPr>
          <p:nvPr/>
        </p:nvCxnSpPr>
        <p:spPr>
          <a:xfrm>
            <a:off x="6648238" y="32885795"/>
            <a:ext cx="581870" cy="412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62D83D8-FB2B-E77C-D562-D7A5F9B42E49}"/>
              </a:ext>
            </a:extLst>
          </p:cNvPr>
          <p:cNvCxnSpPr>
            <a:cxnSpLocks/>
          </p:cNvCxnSpPr>
          <p:nvPr/>
        </p:nvCxnSpPr>
        <p:spPr>
          <a:xfrm>
            <a:off x="9271347" y="32843595"/>
            <a:ext cx="581870" cy="412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AB90B52-161D-BC00-76E2-AB9C388B4E00}"/>
              </a:ext>
            </a:extLst>
          </p:cNvPr>
          <p:cNvSpPr/>
          <p:nvPr/>
        </p:nvSpPr>
        <p:spPr>
          <a:xfrm>
            <a:off x="1561940" y="34509597"/>
            <a:ext cx="5656282" cy="28493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B99D199-B1A9-41C0-63D2-FF609BC759D8}"/>
              </a:ext>
            </a:extLst>
          </p:cNvPr>
          <p:cNvSpPr/>
          <p:nvPr/>
        </p:nvSpPr>
        <p:spPr>
          <a:xfrm>
            <a:off x="2836982" y="34728203"/>
            <a:ext cx="3106197" cy="10049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/>
              <a:t>Ledger </a:t>
            </a:r>
            <a:r>
              <a:rPr lang="ko-KR" altLang="en-US" sz="3600"/>
              <a:t>참조형</a:t>
            </a:r>
            <a:endParaRPr lang="ko-KR" altLang="en-US" sz="36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9CEBD24-3374-2830-CC74-A5AFE0E2CF2B}"/>
              </a:ext>
            </a:extLst>
          </p:cNvPr>
          <p:cNvCxnSpPr>
            <a:cxnSpLocks/>
          </p:cNvCxnSpPr>
          <p:nvPr/>
        </p:nvCxnSpPr>
        <p:spPr>
          <a:xfrm>
            <a:off x="4401205" y="33868295"/>
            <a:ext cx="0" cy="64130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45E1522-6FF3-3C7C-BA3A-08B7C035025C}"/>
              </a:ext>
            </a:extLst>
          </p:cNvPr>
          <p:cNvSpPr txBox="1"/>
          <p:nvPr/>
        </p:nvSpPr>
        <p:spPr>
          <a:xfrm>
            <a:off x="2122176" y="35905621"/>
            <a:ext cx="45358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>
                <a:latin typeface="+mn-ea"/>
              </a:rPr>
              <a:t>- tx </a:t>
            </a:r>
            <a:r>
              <a:rPr lang="ko-KR" altLang="en-US" sz="3200">
                <a:latin typeface="+mn-ea"/>
              </a:rPr>
              <a:t>데이터</a:t>
            </a:r>
            <a:endParaRPr lang="ko-KR" altLang="en-US" sz="3200" dirty="0">
              <a:latin typeface="+mn-ea"/>
            </a:endParaRPr>
          </a:p>
          <a:p>
            <a:pPr algn="ctr"/>
            <a:r>
              <a:rPr lang="en-US" altLang="ko-KR" sz="3200">
                <a:latin typeface="+mn-ea"/>
              </a:rPr>
              <a:t>- Sig_ID / Sig_Hash</a:t>
            </a:r>
            <a:endParaRPr lang="en-US" altLang="ko-KR" sz="3200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4DF91E9-7D8F-F113-89FD-35701B14F353}"/>
              </a:ext>
            </a:extLst>
          </p:cNvPr>
          <p:cNvSpPr/>
          <p:nvPr/>
        </p:nvSpPr>
        <p:spPr>
          <a:xfrm>
            <a:off x="8065447" y="35241694"/>
            <a:ext cx="5656282" cy="32057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8E26CEB-5397-1CBF-1D11-B4B01FE39707}"/>
              </a:ext>
            </a:extLst>
          </p:cNvPr>
          <p:cNvSpPr/>
          <p:nvPr/>
        </p:nvSpPr>
        <p:spPr>
          <a:xfrm>
            <a:off x="9272793" y="35410218"/>
            <a:ext cx="3241589" cy="955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Ledger </a:t>
            </a:r>
            <a:r>
              <a:rPr lang="ko-KR" altLang="en-US" sz="3600" dirty="0"/>
              <a:t>포함형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569FB81-F7F0-4696-D4FA-FCE151EDEE88}"/>
              </a:ext>
            </a:extLst>
          </p:cNvPr>
          <p:cNvCxnSpPr>
            <a:cxnSpLocks/>
          </p:cNvCxnSpPr>
          <p:nvPr/>
        </p:nvCxnSpPr>
        <p:spPr>
          <a:xfrm>
            <a:off x="11141971" y="33868295"/>
            <a:ext cx="0" cy="112223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891D450-D02F-E0D4-D3A5-FE924C024E40}"/>
              </a:ext>
            </a:extLst>
          </p:cNvPr>
          <p:cNvSpPr txBox="1"/>
          <p:nvPr/>
        </p:nvSpPr>
        <p:spPr>
          <a:xfrm>
            <a:off x="8272457" y="36840190"/>
            <a:ext cx="521411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>
                <a:latin typeface="+mn-ea"/>
              </a:rPr>
              <a:t>- tx </a:t>
            </a:r>
            <a:r>
              <a:rPr lang="ko-KR" altLang="en-US" sz="3200">
                <a:latin typeface="+mn-ea"/>
              </a:rPr>
              <a:t>데이터</a:t>
            </a:r>
            <a:endParaRPr lang="ko-KR" altLang="en-US" sz="3200" dirty="0">
              <a:latin typeface="+mn-ea"/>
            </a:endParaRPr>
          </a:p>
          <a:p>
            <a:pPr algn="ctr"/>
            <a:r>
              <a:rPr lang="en-US" altLang="ko-KR" sz="3200">
                <a:latin typeface="+mn-ea"/>
              </a:rPr>
              <a:t>- sig_Bytes (PQC </a:t>
            </a:r>
            <a:r>
              <a:rPr lang="ko-KR" altLang="en-US" sz="3200">
                <a:latin typeface="+mn-ea"/>
              </a:rPr>
              <a:t>서명 </a:t>
            </a:r>
            <a:r>
              <a:rPr lang="ko-KR" altLang="en-US" sz="3200" dirty="0">
                <a:latin typeface="+mn-ea"/>
              </a:rPr>
              <a:t>전체</a:t>
            </a:r>
            <a:r>
              <a:rPr lang="en-US" altLang="ko-KR" sz="3200">
                <a:latin typeface="+mn-ea"/>
              </a:rPr>
              <a:t>)</a:t>
            </a:r>
            <a:endParaRPr lang="en-US" altLang="ko-KR" sz="3200" dirty="0">
              <a:latin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9C55BB1-A0B4-9B51-07DA-6A9A523EDFA0}"/>
              </a:ext>
            </a:extLst>
          </p:cNvPr>
          <p:cNvSpPr/>
          <p:nvPr/>
        </p:nvSpPr>
        <p:spPr>
          <a:xfrm>
            <a:off x="1617170" y="37553277"/>
            <a:ext cx="5656282" cy="18800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259F130-6C05-E9F9-E82F-45BCC76BD5FA}"/>
              </a:ext>
            </a:extLst>
          </p:cNvPr>
          <p:cNvCxnSpPr>
            <a:cxnSpLocks/>
          </p:cNvCxnSpPr>
          <p:nvPr/>
        </p:nvCxnSpPr>
        <p:spPr>
          <a:xfrm>
            <a:off x="4390080" y="37035271"/>
            <a:ext cx="0" cy="64130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6D862FB-4227-5F18-D387-A77FC484080F}"/>
              </a:ext>
            </a:extLst>
          </p:cNvPr>
          <p:cNvSpPr txBox="1"/>
          <p:nvPr/>
        </p:nvSpPr>
        <p:spPr>
          <a:xfrm>
            <a:off x="1731524" y="37765379"/>
            <a:ext cx="5656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>
                <a:latin typeface="+mn-ea"/>
              </a:rPr>
              <a:t>Off-chain Sig Store</a:t>
            </a:r>
          </a:p>
          <a:p>
            <a:pPr algn="ctr"/>
            <a:r>
              <a:rPr lang="en-US" altLang="ko-KR" sz="3200">
                <a:latin typeface="+mn-ea"/>
              </a:rPr>
              <a:t>- Sig_ID / </a:t>
            </a:r>
            <a:br>
              <a:rPr lang="en-US" altLang="ko-KR" sz="3200">
                <a:latin typeface="+mn-ea"/>
              </a:rPr>
            </a:br>
            <a:r>
              <a:rPr lang="ko-KR" altLang="en-US" sz="3200">
                <a:latin typeface="+mn-ea"/>
              </a:rPr>
              <a:t>실제 </a:t>
            </a:r>
            <a:r>
              <a:rPr lang="en-US" altLang="ko-KR" sz="3200">
                <a:latin typeface="+mn-ea"/>
              </a:rPr>
              <a:t>PQC </a:t>
            </a:r>
            <a:r>
              <a:rPr lang="ko-KR" altLang="en-US" sz="3200">
                <a:latin typeface="+mn-ea"/>
              </a:rPr>
              <a:t>서명 </a:t>
            </a:r>
            <a:r>
              <a:rPr lang="ko-KR" altLang="en-US" sz="3200" dirty="0">
                <a:latin typeface="+mn-ea"/>
              </a:rPr>
              <a:t>바이트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2BB07788-4F98-8B7E-CE63-5CC979CDFB28}"/>
              </a:ext>
            </a:extLst>
          </p:cNvPr>
          <p:cNvCxnSpPr>
            <a:cxnSpLocks/>
          </p:cNvCxnSpPr>
          <p:nvPr/>
        </p:nvCxnSpPr>
        <p:spPr>
          <a:xfrm>
            <a:off x="4390080" y="33868295"/>
            <a:ext cx="672239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4F2EC3D2-A404-5B96-C960-3A1BDF2A1DDF}"/>
              </a:ext>
            </a:extLst>
          </p:cNvPr>
          <p:cNvCxnSpPr>
            <a:cxnSpLocks/>
          </p:cNvCxnSpPr>
          <p:nvPr/>
        </p:nvCxnSpPr>
        <p:spPr>
          <a:xfrm>
            <a:off x="11136480" y="33292453"/>
            <a:ext cx="0" cy="72824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799F95D-8F75-42D4-E488-BB0BBD41A733}"/>
              </a:ext>
            </a:extLst>
          </p:cNvPr>
          <p:cNvSpPr/>
          <p:nvPr/>
        </p:nvSpPr>
        <p:spPr>
          <a:xfrm>
            <a:off x="15675625" y="20108743"/>
            <a:ext cx="13716000" cy="42382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3200" b="1" dirty="0">
              <a:solidFill>
                <a:schemeClr val="tx1"/>
              </a:solidFill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b="1" dirty="0">
                <a:solidFill>
                  <a:schemeClr val="tx1"/>
                </a:solidFill>
                <a:latin typeface="+mn-ea"/>
              </a:rPr>
              <a:t>참조형 저장</a:t>
            </a: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3200" dirty="0">
                <a:solidFill>
                  <a:schemeClr val="tx1"/>
                </a:solidFill>
                <a:latin typeface="+mn-ea"/>
              </a:rPr>
              <a:t>서명 자체는 오프체인에 두고</a:t>
            </a: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n-ea"/>
              </a:rPr>
              <a:t>메타데이터</a:t>
            </a: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3200" dirty="0">
                <a:solidFill>
                  <a:schemeClr val="tx1"/>
                </a:solidFill>
                <a:latin typeface="+mn-ea"/>
              </a:rPr>
              <a:t>해시만 온체인에 기록하는 방식이다</a:t>
            </a: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3200" dirty="0" err="1">
                <a:solidFill>
                  <a:schemeClr val="tx1"/>
                </a:solidFill>
                <a:latin typeface="+mn-ea"/>
              </a:rPr>
              <a:t>퍼미션드</a:t>
            </a:r>
            <a:r>
              <a:rPr lang="ko-KR" altLang="en-US" sz="3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Fabric</a:t>
            </a:r>
            <a:r>
              <a:rPr lang="ko-KR" altLang="en-US" sz="3200" dirty="0">
                <a:solidFill>
                  <a:schemeClr val="tx1"/>
                </a:solidFill>
                <a:latin typeface="+mn-ea"/>
              </a:rPr>
              <a:t>에서는 공개키는 </a:t>
            </a: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MSP/X.509 </a:t>
            </a:r>
            <a:r>
              <a:rPr lang="ko-KR" altLang="en-US" sz="3200" dirty="0">
                <a:solidFill>
                  <a:schemeClr val="tx1"/>
                </a:solidFill>
                <a:latin typeface="+mn-ea"/>
              </a:rPr>
              <a:t>경로로 처리되므로</a:t>
            </a: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n-ea"/>
              </a:rPr>
              <a:t>공개키 바이트를 온체인에 넣을지는 별도의 설계 선택으로 본다</a:t>
            </a: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b="1" dirty="0">
                <a:solidFill>
                  <a:schemeClr val="tx1"/>
                </a:solidFill>
                <a:latin typeface="+mn-ea"/>
              </a:rPr>
              <a:t>포함형 저장</a:t>
            </a: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3200" dirty="0">
                <a:solidFill>
                  <a:schemeClr val="tx1"/>
                </a:solidFill>
                <a:latin typeface="+mn-ea"/>
              </a:rPr>
              <a:t>서명 바이트를 트랜잭션</a:t>
            </a: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3200" dirty="0">
                <a:solidFill>
                  <a:schemeClr val="tx1"/>
                </a:solidFill>
                <a:latin typeface="+mn-ea"/>
              </a:rPr>
              <a:t>블록에 직접 포함해 온체인에 저장하는 방식이다</a:t>
            </a: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n-ea"/>
              </a:rPr>
              <a:t>서명 크기가 클수록 블록 크기</a:t>
            </a: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3200" dirty="0">
                <a:solidFill>
                  <a:schemeClr val="tx1"/>
                </a:solidFill>
                <a:latin typeface="+mn-ea"/>
              </a:rPr>
              <a:t>전파</a:t>
            </a: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3200" dirty="0">
                <a:solidFill>
                  <a:schemeClr val="tx1"/>
                </a:solidFill>
                <a:latin typeface="+mn-ea"/>
              </a:rPr>
              <a:t>저장 부담이 함께 증가한다</a:t>
            </a: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CBAA1D4-AE0A-CB44-728B-247D54E45183}"/>
              </a:ext>
            </a:extLst>
          </p:cNvPr>
          <p:cNvSpPr txBox="1"/>
          <p:nvPr/>
        </p:nvSpPr>
        <p:spPr>
          <a:xfrm>
            <a:off x="15675625" y="8232432"/>
            <a:ext cx="13550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dirty="0" err="1"/>
              <a:t>PQFabric</a:t>
            </a:r>
            <a:r>
              <a:rPr lang="ko-KR" altLang="en-US" sz="3200" dirty="0"/>
              <a:t>, </a:t>
            </a:r>
            <a:r>
              <a:rPr lang="ko-KR" altLang="en-US" sz="3200" dirty="0" err="1"/>
              <a:t>Michelagnoli</a:t>
            </a:r>
            <a:r>
              <a:rPr lang="ko-KR" altLang="en-US" sz="3200" dirty="0"/>
              <a:t>, FRUCT’37을 종합하면, PQC 통합 자체는 가능하지만 서명 연산보다 데이터 경로와 </a:t>
            </a:r>
            <a:r>
              <a:rPr lang="ko-KR" altLang="en-US" sz="3200" dirty="0" err="1"/>
              <a:t>배치·저장</a:t>
            </a:r>
            <a:r>
              <a:rPr lang="ko-KR" altLang="en-US" sz="3200" dirty="0"/>
              <a:t> 조합이 지연 양상을 좌우한다는 공통점이 드러난다.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ko-KR" alt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dirty="0"/>
              <a:t>아직 </a:t>
            </a:r>
            <a:r>
              <a:rPr lang="ko-KR" altLang="en-US" sz="3200" dirty="0" err="1"/>
              <a:t>Endorse</a:t>
            </a:r>
            <a:r>
              <a:rPr lang="ko-KR" altLang="en-US" sz="3200" dirty="0"/>
              <a:t>/</a:t>
            </a:r>
            <a:r>
              <a:rPr lang="ko-KR" altLang="en-US" sz="3200" dirty="0" err="1"/>
              <a:t>Validate</a:t>
            </a:r>
            <a:r>
              <a:rPr lang="ko-KR" altLang="en-US" sz="3200" dirty="0"/>
              <a:t> × 참조형/포함형 네 구성을 동일 조건으로 비교한 정량 결과가 부족하므로, 본 연구는 이 설계 공간을 정리하고 향후 실험 설계를 위한 출발점을 제공한다.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07C84E7-2A62-43CB-8393-48349D4E088F}"/>
              </a:ext>
            </a:extLst>
          </p:cNvPr>
          <p:cNvSpPr txBox="1"/>
          <p:nvPr/>
        </p:nvSpPr>
        <p:spPr>
          <a:xfrm>
            <a:off x="15815413" y="26935853"/>
            <a:ext cx="1355083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/>
              <a:t>동일한 PQC 서명을 쓰더라도, </a:t>
            </a:r>
            <a:r>
              <a:rPr lang="ko-KR" altLang="en-US" sz="3200" dirty="0" err="1"/>
              <a:t>Endorse</a:t>
            </a:r>
            <a:r>
              <a:rPr lang="ko-KR" altLang="en-US" sz="3200" dirty="0"/>
              <a:t>/</a:t>
            </a:r>
            <a:r>
              <a:rPr lang="ko-KR" altLang="en-US" sz="3200" dirty="0" err="1"/>
              <a:t>Validate</a:t>
            </a:r>
            <a:r>
              <a:rPr lang="ko-KR" altLang="en-US" sz="3200" dirty="0"/>
              <a:t> 배치와 참조형/포함형 저장 조합에 따라 </a:t>
            </a:r>
            <a:r>
              <a:rPr lang="ko-KR" altLang="en-US" sz="3200" dirty="0" err="1"/>
              <a:t>지연·처리율·데이터</a:t>
            </a:r>
            <a:r>
              <a:rPr lang="ko-KR" altLang="en-US" sz="3200" dirty="0"/>
              <a:t> 발자국이 크게 달라질 수 있음을 문헌 기반으로 정리하였다.</a:t>
            </a:r>
          </a:p>
        </p:txBody>
      </p:sp>
    </p:spTree>
    <p:extLst>
      <p:ext uri="{BB962C8B-B14F-4D97-AF65-F5344CB8AC3E}">
        <p14:creationId xmlns:p14="http://schemas.microsoft.com/office/powerpoint/2010/main" val="2730266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797</TotalTime>
  <Words>887</Words>
  <Application>Microsoft Macintosh PowerPoint</Application>
  <PresentationFormat>사용자 지정</PresentationFormat>
  <Paragraphs>71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Batang</vt:lpstr>
      <vt:lpstr>Arial</vt:lpstr>
      <vt:lpstr>Calibri</vt:lpstr>
      <vt:lpstr>Calibri Light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김현준</cp:lastModifiedBy>
  <cp:revision>55</cp:revision>
  <dcterms:created xsi:type="dcterms:W3CDTF">2017-09-25T14:51:22Z</dcterms:created>
  <dcterms:modified xsi:type="dcterms:W3CDTF">2025-12-02T07:35:14Z</dcterms:modified>
</cp:coreProperties>
</file>