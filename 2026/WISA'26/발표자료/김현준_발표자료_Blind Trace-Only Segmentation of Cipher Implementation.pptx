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6ac7cb19f046a8" /><Relationship Type="http://schemas.openxmlformats.org/officeDocument/2006/relationships/extended-properties" Target="/docProps/app.xml" Id="R9c62af29cba346dd" /><Relationship Type="http://schemas.openxmlformats.org/officeDocument/2006/relationships/officeDocument" Target="/ppt/presentation.xml" Id="R0d4af07cdb5a4beb" /></Relationships>
</file>

<file path=ppt/presentation.xml><?xml version="1.0" encoding="utf-8"?>
<p:presentation xmlns:p="http://schemas.openxmlformats.org/presentationml/2006/main">
  <p:sldMasterIdLst>
    <p:sldMasterId xmlns:r="http://schemas.openxmlformats.org/officeDocument/2006/relationships" id="2147483648" r:id="R8a771c10c577455b"/>
  </p:sldMasterIdLst>
  <p:notesMasterIdLst>
    <p:notesMasterId xmlns:r="http://schemas.openxmlformats.org/officeDocument/2006/relationships" r:id="R5cfa1ec4b06c4994"/>
  </p:notesMasterIdLst>
  <p:sldIdLst>
    <p:sldId xmlns:r="http://schemas.openxmlformats.org/officeDocument/2006/relationships" id="256" r:id="Rf72f525d31844014"/>
    <p:sldId xmlns:r="http://schemas.openxmlformats.org/officeDocument/2006/relationships" id="257" r:id="Rd2fdf885542940e3"/>
    <p:sldId xmlns:r="http://schemas.openxmlformats.org/officeDocument/2006/relationships" id="258" r:id="Re3959e8d66de4368"/>
    <p:sldId xmlns:r="http://schemas.openxmlformats.org/officeDocument/2006/relationships" id="259" r:id="Raae87769ae584583"/>
    <p:sldId xmlns:r="http://schemas.openxmlformats.org/officeDocument/2006/relationships" id="260" r:id="R612d378178304112"/>
    <p:sldId xmlns:r="http://schemas.openxmlformats.org/officeDocument/2006/relationships" id="261" r:id="Rf61275f72b964d97"/>
    <p:sldId xmlns:r="http://schemas.openxmlformats.org/officeDocument/2006/relationships" id="262" r:id="R80b7d47b7db54694"/>
    <p:sldId xmlns:r="http://schemas.openxmlformats.org/officeDocument/2006/relationships" id="263" r:id="Rd0625d07b31c42b4"/>
    <p:sldId xmlns:r="http://schemas.openxmlformats.org/officeDocument/2006/relationships" id="264" r:id="Rb3c2d7ce63454b43"/>
    <p:sldId xmlns:r="http://schemas.openxmlformats.org/officeDocument/2006/relationships" id="265" r:id="Rc6d4b8760d9d4143"/>
    <p:sldId xmlns:r="http://schemas.openxmlformats.org/officeDocument/2006/relationships" id="266" r:id="Rab98234f68224399"/>
    <p:sldId xmlns:r="http://schemas.openxmlformats.org/officeDocument/2006/relationships" id="267" r:id="R904a998014434a17"/>
    <p:sldId xmlns:r="http://schemas.openxmlformats.org/officeDocument/2006/relationships" id="268" r:id="Re237614f224a4fca"/>
    <p:sldId xmlns:r="http://schemas.openxmlformats.org/officeDocument/2006/relationships" id="269" r:id="R55d324894c294c58"/>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f3470debe294626" /><Relationship Type="http://schemas.openxmlformats.org/officeDocument/2006/relationships/slideMaster" Target="/ppt/slideMasters/slideMaster1.xml" Id="R8a771c10c577455b" /><Relationship Type="http://schemas.openxmlformats.org/officeDocument/2006/relationships/notesMaster" Target="/ppt/notesMasters/notesMaster1.xml" Id="R5cfa1ec4b06c4994" /><Relationship Type="http://schemas.openxmlformats.org/officeDocument/2006/relationships/presProps" Target="/ppt/presProps.xml" Id="R7b346cfe49fb4224" /><Relationship Type="http://schemas.openxmlformats.org/officeDocument/2006/relationships/viewProps" Target="/ppt/viewProps.xml" Id="Re52c8def01f54473" /><Relationship Type="http://schemas.openxmlformats.org/officeDocument/2006/relationships/tableStyles" Target="/ppt/tableStyles.xml" Id="R7da9ef7c9c34420b" /><Relationship Type="http://schemas.openxmlformats.org/officeDocument/2006/relationships/slide" Target="/ppt/slides/slide1.xml" Id="Rf72f525d31844014" /><Relationship Type="http://schemas.openxmlformats.org/officeDocument/2006/relationships/slide" Target="/ppt/slides/slide2.xml" Id="Rd2fdf885542940e3" /><Relationship Type="http://schemas.openxmlformats.org/officeDocument/2006/relationships/slide" Target="/ppt/slides/slide3.xml" Id="Re3959e8d66de4368" /><Relationship Type="http://schemas.openxmlformats.org/officeDocument/2006/relationships/slide" Target="/ppt/slides/slide4.xml" Id="Raae87769ae584583" /><Relationship Type="http://schemas.openxmlformats.org/officeDocument/2006/relationships/slide" Target="/ppt/slides/slide5.xml" Id="R612d378178304112" /><Relationship Type="http://schemas.openxmlformats.org/officeDocument/2006/relationships/slide" Target="/ppt/slides/slide6.xml" Id="Rf61275f72b964d97" /><Relationship Type="http://schemas.openxmlformats.org/officeDocument/2006/relationships/slide" Target="/ppt/slides/slide7.xml" Id="R80b7d47b7db54694" /><Relationship Type="http://schemas.openxmlformats.org/officeDocument/2006/relationships/slide" Target="/ppt/slides/slide8.xml" Id="Rd0625d07b31c42b4" /><Relationship Type="http://schemas.openxmlformats.org/officeDocument/2006/relationships/slide" Target="/ppt/slides/slide9.xml" Id="Rb3c2d7ce63454b43" /><Relationship Type="http://schemas.openxmlformats.org/officeDocument/2006/relationships/slide" Target="/ppt/slides/slide10.xml" Id="Rc6d4b8760d9d4143" /><Relationship Type="http://schemas.openxmlformats.org/officeDocument/2006/relationships/slide" Target="/ppt/slides/slide11.xml" Id="Rab98234f68224399" /><Relationship Type="http://schemas.openxmlformats.org/officeDocument/2006/relationships/slide" Target="/ppt/slides/slide12.xml" Id="R904a998014434a17" /><Relationship Type="http://schemas.openxmlformats.org/officeDocument/2006/relationships/slide" Target="/ppt/slides/slide13.xml" Id="Re237614f224a4fca" /><Relationship Type="http://schemas.openxmlformats.org/officeDocument/2006/relationships/slide" Target="/ppt/slides/slide14.xml" Id="R55d324894c294c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6dd45d881e42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3f344c092744ae" /><Relationship Type="http://schemas.openxmlformats.org/officeDocument/2006/relationships/notesMaster" Target="/ppt/notesMasters/notesMaster1.xml" Id="R38e5f6e874cd47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06e4c5ba074be0" /><Relationship Type="http://schemas.openxmlformats.org/officeDocument/2006/relationships/notesMaster" Target="/ppt/notesMasters/notesMaster1.xml" Id="Re7d6299ee4ee4b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198a63ce274bfa" /><Relationship Type="http://schemas.openxmlformats.org/officeDocument/2006/relationships/notesMaster" Target="/ppt/notesMasters/notesMaster1.xml" Id="R799da695c4bd48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ffa5fb4db74782" /><Relationship Type="http://schemas.openxmlformats.org/officeDocument/2006/relationships/notesMaster" Target="/ppt/notesMasters/notesMaster1.xml" Id="R524f173d0dbb41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268241a4434fde" /><Relationship Type="http://schemas.openxmlformats.org/officeDocument/2006/relationships/notesMaster" Target="/ppt/notesMasters/notesMaster1.xml" Id="R37fbce2b746841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155bef31b44386" /><Relationship Type="http://schemas.openxmlformats.org/officeDocument/2006/relationships/notesMaster" Target="/ppt/notesMasters/notesMaster1.xml" Id="R9f5bbf9365f644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b835ea364e499a" /><Relationship Type="http://schemas.openxmlformats.org/officeDocument/2006/relationships/notesMaster" Target="/ppt/notesMasters/notesMaster1.xml" Id="Rac57bd6486e542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9579f6f8194e8a" /><Relationship Type="http://schemas.openxmlformats.org/officeDocument/2006/relationships/notesMaster" Target="/ppt/notesMasters/notesMaster1.xml" Id="R51245c10bb3c46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708fff57544553" /><Relationship Type="http://schemas.openxmlformats.org/officeDocument/2006/relationships/notesMaster" Target="/ppt/notesMasters/notesMaster1.xml" Id="R4fea7681501043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22642575d44fbd" /><Relationship Type="http://schemas.openxmlformats.org/officeDocument/2006/relationships/notesMaster" Target="/ppt/notesMasters/notesMaster1.xml" Id="R88e8e1d2780847e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0b6997c81e44bd" /><Relationship Type="http://schemas.openxmlformats.org/officeDocument/2006/relationships/notesMaster" Target="/ppt/notesMasters/notesMaster1.xml" Id="Rc7da7b015f3e46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e2d79697274a33" /><Relationship Type="http://schemas.openxmlformats.org/officeDocument/2006/relationships/notesMaster" Target="/ppt/notesMasters/notesMaster1.xml" Id="R9d78f46e089e48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3fbded0d284d01" /><Relationship Type="http://schemas.openxmlformats.org/officeDocument/2006/relationships/notesMaster" Target="/ppt/notesMasters/notesMaster1.xml" Id="Rb05d0e5d6bc9459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a889c6454c442c" /><Relationship Type="http://schemas.openxmlformats.org/officeDocument/2006/relationships/notesMaster" Target="/ppt/notesMasters/notesMaster1.xml" Id="R1b59ad2672eb4f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The title of this paper is ‘Blind Trace-Only Segmentation of Cipher Implementations Without Algorithm Metadata.’</a:t>
            </a:r>
            <a:endParaRPr/>
          </a:p>
          <a:p xmlns:a="http://schemas.openxmlformats.org/drawingml/2006/main">
            <a:r>
              <a:t/>
            </a:r>
            <a:endParaRPr/>
          </a:p>
          <a:p xmlns:a="http://schemas.openxmlformats.org/drawingml/2006/main">
            <a:r>
              <a:t>This work studies how to identify repeated structure and candidate analysis regions using only measured power traces, without prior knowledge of the algorithm or its implementation.</a:t>
            </a:r>
            <a:endParaRPr/>
          </a:p>
          <a:p xmlns:a="http://schemas.openxmlformats.org/drawingml/2006/main">
            <a:r>
              <a:t/>
            </a:r>
            <a:endParaRPr/>
          </a:p>
          <a:p xmlns:a="http://schemas.openxmlformats.org/drawingml/2006/main">
            <a:r>
              <a:t>Side-channel analysis often assumes that round boundaries or likely leakage locations are already known. When that information is unavailable, however, we must first organize a long trace and determine where later analysis should begin. This paper addresses that upstream problem.</a:t>
            </a:r>
            <a:endParaRPr/>
          </a:p>
          <a:p xmlns:a="http://schemas.openxmlformats.org/drawingml/2006/main">
            <a:r>
              <a:t/>
            </a:r>
            <a:endParaRPr/>
          </a:p>
          <a:p xmlns:a="http://schemas.openxmlformats.org/drawingml/2006/main">
            <a:r>
              <a:t>[한국어 스크립트]</a:t>
            </a:r>
            <a:endParaRPr/>
          </a:p>
          <a:p xmlns:a="http://schemas.openxmlformats.org/drawingml/2006/main">
            <a:r>
              <a:t/>
            </a:r>
            <a:endParaRPr/>
          </a:p>
          <a:p xmlns:a="http://schemas.openxmlformats.org/drawingml/2006/main">
            <a:r>
              <a:t>안녕하세요. 오늘 발표드릴 논문의 제목은 ‘Blind Trace-Only Segmentation of Cipher Implementations Without Algorithm Metadata’입니다.</a:t>
            </a:r>
            <a:endParaRPr/>
          </a:p>
          <a:p xmlns:a="http://schemas.openxmlformats.org/drawingml/2006/main">
            <a:r>
              <a:t/>
            </a:r>
            <a:endParaRPr/>
          </a:p>
          <a:p xmlns:a="http://schemas.openxmlformats.org/drawingml/2006/main">
            <a:r>
              <a:t>이 논문은 알고리즘이나 구현에 대한 사전 정보 없이, 측정된 전력 트레이스만으로 암호 연산의 반복 구조와 그 안의 분석 후보 구간을 찾는 방법을 다룹니다.</a:t>
            </a:r>
            <a:endParaRPr/>
          </a:p>
          <a:p xmlns:a="http://schemas.openxmlformats.org/drawingml/2006/main">
            <a:r>
              <a:t/>
            </a:r>
            <a:endParaRPr/>
          </a:p>
          <a:p xmlns:a="http://schemas.openxmlformats.org/drawingml/2006/main">
            <a:r>
              <a:t>부채널 분석에서는 보통 라운드 경계나 누설이 발생하는 위치를 어느 정도 알고 있다고 가정합니다. 하지만 그런 정보가 전혀 없다면, 키를 추론하기 전에 먼저 긴 트레이스에서 반복 구조와 분석할 구간을 찾아야 합니다. 저희는 바로 이 선행 문제를 다루었습니다.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me first position this work relative to existing blind side-channel analysis.</a:t>
            </a:r>
            <a:endParaRPr/>
          </a:p>
          <a:p xmlns:a="http://schemas.openxmlformats.org/drawingml/2006/main">
            <a:r>
              <a:t/>
            </a:r>
            <a:endParaRPr/>
          </a:p>
          <a:p xmlns:a="http://schemas.openxmlformats.org/drawingml/2006/main">
            <a:r>
              <a:t>Blind SCA can estimate labels or recover keys without plaintext or ciphertext. However, it usually assumes that the relevant trace region is already localized: where the cipher execution occurs, where repeated operations lie, and where the search for points of interest should begin.</a:t>
            </a:r>
            <a:endParaRPr/>
          </a:p>
          <a:p xmlns:a="http://schemas.openxmlformats.org/drawingml/2006/main">
            <a:r>
              <a:t/>
            </a:r>
            <a:endParaRPr/>
          </a:p>
          <a:p xmlns:a="http://schemas.openxmlformats.org/drawingml/2006/main">
            <a:r>
              <a:t>Blind labeling and key inference have received substantial attention. The earlier step—trace structuring and localization—still often relies on manual inspection or implementation knowledge. This work focuses on that missing upstream step.</a:t>
            </a:r>
            <a:endParaRPr/>
          </a:p>
          <a:p xmlns:a="http://schemas.openxmlformats.org/drawingml/2006/main">
            <a:r>
              <a:t/>
            </a:r>
            <a:endParaRPr/>
          </a:p>
          <a:p xmlns:a="http://schemas.openxmlformats.org/drawingml/2006/main">
            <a:r>
              <a:t>[한국어 스크립트]</a:t>
            </a:r>
            <a:endParaRPr/>
          </a:p>
          <a:p xmlns:a="http://schemas.openxmlformats.org/drawingml/2006/main">
            <a:r>
              <a:t/>
            </a:r>
            <a:endParaRPr/>
          </a:p>
          <a:p xmlns:a="http://schemas.openxmlformats.org/drawingml/2006/main">
            <a:r>
              <a:t>먼저 이 연구가 기존 blind side-channel analysis와 어떤 차이가 있는지 말씀드리겠습니다.</a:t>
            </a:r>
            <a:endParaRPr/>
          </a:p>
          <a:p xmlns:a="http://schemas.openxmlformats.org/drawingml/2006/main">
            <a:r>
              <a:t/>
            </a:r>
            <a:endParaRPr/>
          </a:p>
          <a:p xmlns:a="http://schemas.openxmlformats.org/drawingml/2006/main">
            <a:r>
              <a:t>기존 연구는 평문이나 암호문을 모르는 상황에서도 라벨을 추정하거나 키를 복원하는 방향으로 발전해 왔습니다. 하지만 실제 분석 과정을 앞에서부터 보면, 그보다 먼저 해결해야 하는 단계가 있습니다. 어느 시간 구간에 암호 연산이 존재하는지, 반복 연산이 어디에 놓여 있는지, 어떤 구간부터 POI를 찾아야 하는지가 이미 정해져 있다고 가정하는 경우가 많습니다.</a:t>
            </a:r>
            <a:endParaRPr/>
          </a:p>
          <a:p xmlns:a="http://schemas.openxmlformats.org/drawingml/2006/main">
            <a:r>
              <a:t/>
            </a:r>
            <a:endParaRPr/>
          </a:p>
          <a:p xmlns:a="http://schemas.openxmlformats.org/drawingml/2006/main">
            <a:r>
              <a:t>즉, 오른쪽의 blind labeling이나 key inference는 많이 연구됐지만, 그 입력을 만들어 주는 trace structuring과 localization은 여전히 수작업이나 구현 정보에 의존합니다. 이 발표에서는 바로 이 비어 있는 앞단을 다룹니다.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input traces are aligned only at the level of the complete cipher invocation. We know approximately where the cipher starts and ends, but we do not know the structure inside that interval.</a:t>
            </a:r>
            <a:endParaRPr/>
          </a:p>
          <a:p xmlns:a="http://schemas.openxmlformats.org/drawingml/2006/main">
            <a:r>
              <a:t/>
            </a:r>
            <a:endParaRPr/>
          </a:p>
          <a:p xmlns:a="http://schemas.openxmlformats.org/drawingml/2006/main">
            <a:r>
              <a:t>For example, we do not know the boundaries or count of repeated operations, or which part of each repetition should be analyzed first. The question marks represent this missing information.</a:t>
            </a:r>
            <a:endParaRPr/>
          </a:p>
          <a:p xmlns:a="http://schemas.openxmlformats.org/drawingml/2006/main">
            <a:r>
              <a:t/>
            </a:r>
            <a:endParaRPr/>
          </a:p>
          <a:p xmlns:a="http://schemas.openxmlformats.org/drawingml/2006/main">
            <a:r>
              <a:t>The goal is to identify repeated regions and align them to a common reference. We can then compare the same relative position across different repetitions.</a:t>
            </a:r>
            <a:endParaRPr/>
          </a:p>
          <a:p xmlns:a="http://schemas.openxmlformats.org/drawingml/2006/main">
            <a:r>
              <a:t/>
            </a:r>
            <a:endParaRPr/>
          </a:p>
          <a:p xmlns:a="http://schemas.openxmlformats.org/drawingml/2006/main">
            <a:r>
              <a:t>[한국어 스크립트]</a:t>
            </a:r>
            <a:endParaRPr/>
          </a:p>
          <a:p xmlns:a="http://schemas.openxmlformats.org/drawingml/2006/main">
            <a:r>
              <a:t/>
            </a:r>
            <a:endParaRPr/>
          </a:p>
          <a:p xmlns:a="http://schemas.openxmlformats.org/drawingml/2006/main">
            <a:r>
              <a:t>문제를 조금 더 구체적으로 보겠습니다. 저희가 가정하는 입력은 암호 연산 전체의 시작과 끝 정도만 맞춰진 트레이스입니다. 따라서 화면의 양쪽 경계처럼 암호 호출 구간은 알 수 있지만, 그 안쪽 구조는 모릅니다.</a:t>
            </a:r>
            <a:endParaRPr/>
          </a:p>
          <a:p xmlns:a="http://schemas.openxmlformats.org/drawingml/2006/main">
            <a:r>
              <a:t/>
            </a:r>
            <a:endParaRPr/>
          </a:p>
          <a:p xmlns:a="http://schemas.openxmlformats.org/drawingml/2006/main">
            <a:r>
              <a:t>예를 들어 반복되는 연산의 경계가 어디인지, 몇 번 반복되는지, 그리고 각 반복 안에서 어느 구간을 먼저 분석해야 하는지는 알 수 없습니다. 그림의 물음표들이 바로 이 부분입니다.</a:t>
            </a:r>
            <a:endParaRPr/>
          </a:p>
          <a:p xmlns:a="http://schemas.openxmlformats.org/drawingml/2006/main">
            <a:r>
              <a:t/>
            </a:r>
            <a:endParaRPr/>
          </a:p>
          <a:p xmlns:a="http://schemas.openxmlformats.org/drawingml/2006/main">
            <a:r>
              <a:t>따라서 이 단계의 목표는 긴 트레이스 안에서 반복되는 구간을 찾고, 각 반복을 같은 기준에 맞춰 나란히 정렬하는 것입니다. 이렇게 정렬해 두면 이후 분석에서 서로 다른 반복의 같은 위치끼리 비교할 수 있습니다.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address the problem with a two-stage pipeline.</a:t>
            </a:r>
            <a:endParaRPr/>
          </a:p>
          <a:p xmlns:a="http://schemas.openxmlformats.org/drawingml/2006/main">
            <a:r>
              <a:t/>
            </a:r>
            <a:endParaRPr/>
          </a:p>
          <a:p xmlns:a="http://schemas.openxmlformats.org/drawingml/2006/main">
            <a:r>
              <a:t>Stage 1 recovers the repetition structure. It ranks candidate repetition scales using four statistical views, estimates where to cut the trace, and retains stable, aligned windows. The trace can then be represented on a shared relative axis.</a:t>
            </a:r>
            <a:endParaRPr/>
          </a:p>
          <a:p xmlns:a="http://schemas.openxmlformats.org/drawingml/2006/main">
            <a:r>
              <a:t/>
            </a:r>
            <a:endParaRPr/>
          </a:p>
          <a:p xmlns:a="http://schemas.openxmlformats.org/drawingml/2006/main">
            <a:r>
              <a:t>Stage 2 segments a representative repetition. We stack the stable windows, compute an activity profile, and divide the repetition into high-score and low-score candidate regions.</a:t>
            </a:r>
            <a:endParaRPr/>
          </a:p>
          <a:p xmlns:a="http://schemas.openxmlformats.org/drawingml/2006/main">
            <a:r>
              <a:t/>
            </a:r>
            <a:endParaRPr/>
          </a:p>
          <a:p xmlns:a="http://schemas.openxmlformats.org/drawingml/2006/main">
            <a:r>
              <a:t>In short, Stage 1 constructs the repetition-level structure, and Stage 2 identifies where subsequent analysis should begin within it.</a:t>
            </a:r>
            <a:endParaRPr/>
          </a:p>
          <a:p xmlns:a="http://schemas.openxmlformats.org/drawingml/2006/main">
            <a:r>
              <a:t/>
            </a:r>
            <a:endParaRPr/>
          </a:p>
          <a:p xmlns:a="http://schemas.openxmlformats.org/drawingml/2006/main">
            <a:r>
              <a:t>[한국어 스크립트]</a:t>
            </a:r>
            <a:endParaRPr/>
          </a:p>
          <a:p xmlns:a="http://schemas.openxmlformats.org/drawingml/2006/main">
            <a:r>
              <a:t/>
            </a:r>
            <a:endParaRPr/>
          </a:p>
          <a:p xmlns:a="http://schemas.openxmlformats.org/drawingml/2006/main">
            <a:r>
              <a:t>이를 위해 전체 방법을 두 단계로 구성했습니다.</a:t>
            </a:r>
            <a:endParaRPr/>
          </a:p>
          <a:p xmlns:a="http://schemas.openxmlformats.org/drawingml/2006/main">
            <a:r>
              <a:t/>
            </a:r>
            <a:endParaRPr/>
          </a:p>
          <a:p xmlns:a="http://schemas.openxmlformats.org/drawingml/2006/main">
            <a:r>
              <a:t>첫 번째 단계는 repetition structure를 복원하는 과정입니다. 네 가지 통계적 관점에서 반복 주기 후보를 찾고, 후보들을 순위화한 뒤, 가장 유력한 주기에 대해 시작 위상과 안정적으로 반복되는 구간을 결정합니다. 이 단계가 끝나면 트레이스를 반복 단위로 잘라 같은 상대축에 놓을 수 있습니다.</a:t>
            </a:r>
            <a:endParaRPr/>
          </a:p>
          <a:p xmlns:a="http://schemas.openxmlformats.org/drawingml/2006/main">
            <a:r>
              <a:t/>
            </a:r>
            <a:endParaRPr/>
          </a:p>
          <a:p xmlns:a="http://schemas.openxmlformats.org/drawingml/2006/main">
            <a:r>
              <a:t>두 번째 단계는 각 반복 내부를 분할하는 과정입니다. 안정적인 반복 창들을 쌓아 대표 반복을 만들고, 내부의 상대적인 활동도를 계산해 high-score와 low-score 후보 구간으로 나눕니다.</a:t>
            </a:r>
            <a:endParaRPr/>
          </a:p>
          <a:p xmlns:a="http://schemas.openxmlformats.org/drawingml/2006/main">
            <a:r>
              <a:t/>
            </a:r>
            <a:endParaRPr/>
          </a:p>
          <a:p xmlns:a="http://schemas.openxmlformats.org/drawingml/2006/main">
            <a:r>
              <a:t>정리하면 첫 단계는 반복 수준의 좌표를 만들고, 두 번째 단계는 그 좌표 안에서 이후 분석이 시작될 후보 영역을 만드는 과정입니다.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first explain how we rank repetition scales. Across traces, we compute the sample-wise mean and standard deviation. The mean captures shared waveform components, while the standard deviation reflects input-dependent variation. Because repetition may be clearer in one statistic than another, we use four views: the standard deviation, the absolute mean, and the absolute changes of both.</a:t>
            </a:r>
            <a:endParaRPr/>
          </a:p>
          <a:p xmlns:a="http://schemas.openxmlformats.org/drawingml/2006/main">
            <a:r>
              <a:t/>
            </a:r>
            <a:endParaRPr/>
          </a:p>
          <a:p xmlns:a="http://schemas.openxmlformats.org/drawingml/2006/main">
            <a:r>
              <a:t>For each candidate lag, we shift a view by that lag and compare it with the original. A matching lag makes similar patterns overlap, producing a high self-similarity score.</a:t>
            </a:r>
            <a:endParaRPr/>
          </a:p>
          <a:p xmlns:a="http://schemas.openxmlformats.org/drawingml/2006/main">
            <a:r>
              <a:t/>
            </a:r>
            <a:endParaRPr/>
          </a:p>
          <a:p xmlns:a="http://schemas.openxmlformats.org/drawingml/2006/main">
            <a:r>
              <a:t>The four views have different numerical scales, so we convert candidate lags to percentile ranks within each view and average the ranks. The final candidate is therefore supported by several views rather than dominated by one channel.</a:t>
            </a:r>
            <a:endParaRPr/>
          </a:p>
          <a:p xmlns:a="http://schemas.openxmlformats.org/drawingml/2006/main">
            <a:r>
              <a:t/>
            </a:r>
            <a:endParaRPr/>
          </a:p>
          <a:p xmlns:a="http://schemas.openxmlformats.org/drawingml/2006/main">
            <a:r>
              <a:t>[한국어 스크립트]</a:t>
            </a:r>
            <a:endParaRPr/>
          </a:p>
          <a:p xmlns:a="http://schemas.openxmlformats.org/drawingml/2006/main">
            <a:r>
              <a:t/>
            </a:r>
            <a:endParaRPr/>
          </a:p>
          <a:p xmlns:a="http://schemas.openxmlformats.org/drawingml/2006/main">
            <a:r>
              <a:t>먼저 반복 주기를 찾는 과정을 설명드리겠습니다. 여러 트레이스의 같은 시점에서 평균과 표준편차를 계산합니다. 평균은 여러 트레이스에 공통으로 나타나는 파형을 보여 주고, 표준편차는 입력에 따라 신호가 얼마나 달라지는지를 보여 줍니다. 반복 구조가 어느 한 통계량에서만 선명하게 보인다고 가정할 수 없기 때문에, 화면의 표준편차, 평균의 절댓값, 그리고 두 값의 변화량까지 네 가지 통계 특징을 함께 사용합니다.</a:t>
            </a:r>
            <a:endParaRPr/>
          </a:p>
          <a:p xmlns:a="http://schemas.openxmlformats.org/drawingml/2006/main">
            <a:r>
              <a:t/>
            </a:r>
            <a:endParaRPr/>
          </a:p>
          <a:p xmlns:a="http://schemas.openxmlformats.org/drawingml/2006/main">
            <a:r>
              <a:t>어떤 길이가 실제 반복 주기인지 확인하려면, 각 특징을 후보 길이만큼 옆으로 이동시킨 뒤 원래 신호와 비교합니다. 후보 길이가 반복 주기와 맞으면 비슷한 패턴이 다시 겹치기 때문에 유사도 점수가 높아집니다. 이 과정을 여러 길이에 대해 반복하면 각 특징에서 반복 주기 후보의 순위를 얻을 수 있습니다.</a:t>
            </a:r>
            <a:endParaRPr/>
          </a:p>
          <a:p xmlns:a="http://schemas.openxmlformats.org/drawingml/2006/main">
            <a:r>
              <a:t/>
            </a:r>
            <a:endParaRPr/>
          </a:p>
          <a:p xmlns:a="http://schemas.openxmlformats.org/drawingml/2006/main">
            <a:r>
              <a:t>다만 네 특징의 값의 크기는 서로 다르므로 점수를 그대로 더하면 값이 큰 특징이 결과를 지배할 수 있습니다. 그래서 각 특징 안에서 후보들을 순위로 바꾼 뒤, 네 순위를 평균합니다. 슬라이드의 percentile rank는 점수 대신 각 특징 안에서의 상대 순위를 사용한다는 뜻입니다. 즉, 여러 특징이 공통으로 높게 평가한 길이를 최종 반복 주기 후보로 선택합니다.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estimating the repetition length, we still do not know where an individual repetition begins. A fixed cut may fall in the middle of the repeated operation.</a:t>
            </a:r>
            <a:endParaRPr/>
          </a:p>
          <a:p xmlns:a="http://schemas.openxmlformats.org/drawingml/2006/main">
            <a:r>
              <a:t/>
            </a:r>
            <a:endParaRPr/>
          </a:p>
          <a:p xmlns:a="http://schemas.openxmlformats.org/drawingml/2006/main">
            <a:r>
              <a:t>We therefore scan possible starting positions and select the one that makes the windows most consistent. This is illustrated by moving the blue line on the left. With the selected position, corresponding parts align vertically, as shown in the center.</a:t>
            </a:r>
            <a:endParaRPr/>
          </a:p>
          <a:p xmlns:a="http://schemas.openxmlformats.org/drawingml/2006/main">
            <a:r>
              <a:t/>
            </a:r>
            <a:endParaRPr/>
          </a:p>
          <a:p xmlns:a="http://schemas.openxmlformats.org/drawingml/2006/main">
            <a:r>
              <a:t>Not every aligned window is reliable. Other code may appear near the boundaries, or the pattern may be interrupted. We identify a recurring internal anchor and keep the longest consecutive run of windows that supports it. This is the stable core on the right.</a:t>
            </a:r>
            <a:endParaRPr/>
          </a:p>
          <a:p xmlns:a="http://schemas.openxmlformats.org/drawingml/2006/main">
            <a:r>
              <a:t/>
            </a:r>
            <a:endParaRPr/>
          </a:p>
          <a:p xmlns:a="http://schemas.openxmlformats.org/drawingml/2006/main">
            <a:r>
              <a:t>[한국어 스크립트]</a:t>
            </a:r>
            <a:endParaRPr/>
          </a:p>
          <a:p xmlns:a="http://schemas.openxmlformats.org/drawingml/2006/main">
            <a:r>
              <a:t/>
            </a:r>
            <a:endParaRPr/>
          </a:p>
          <a:p xmlns:a="http://schemas.openxmlformats.org/drawingml/2006/main">
            <a:r>
              <a:t>이제 반복 주기의 길이는 찾았지만, 한 반복이 정확히 어디에서 시작하는지는 아직 모릅니다. 따라서 찾은 주기 길이만큼 트레이스를 나누더라도, 절단 위치가 반복의 중간에 놓일 수 있습니다.</a:t>
            </a:r>
            <a:endParaRPr/>
          </a:p>
          <a:p xmlns:a="http://schemas.openxmlformats.org/drawingml/2006/main">
            <a:r>
              <a:t/>
            </a:r>
            <a:endParaRPr/>
          </a:p>
          <a:p xmlns:a="http://schemas.openxmlformats.org/drawingml/2006/main">
            <a:r>
              <a:t>그래서 절단 시작점을 조금씩 옮겨 보면서, 잘라낸 반복 창들이 가장 안정적으로 겹치는 시작 위치를 찾습니다. 왼쪽에서 파란 선을 옮겨 보는 과정이 이것이고, 선택된 위치를 기준으로 자르면 가운데처럼 각 반복의 같은 부분이 세로로 정렬됩니다.</a:t>
            </a:r>
            <a:endParaRPr/>
          </a:p>
          <a:p xmlns:a="http://schemas.openxmlformats.org/drawingml/2006/main">
            <a:r>
              <a:t/>
            </a:r>
            <a:endParaRPr/>
          </a:p>
          <a:p xmlns:a="http://schemas.openxmlformats.org/drawingml/2006/main">
            <a:r>
              <a:t>정렬된 창이 모두 안정적인 것은 아닙니다. 반복 구간의 앞뒤에는 다른 코드가 섞이거나, 중간에 반복 패턴이 깨질 수 있습니다. 그래서 각 창 안에서 공통으로 반복되는 특징점을 기준점으로 잡고, 이 기준점이 연속해서 확인되는 가장 긴 구간만 남깁니다. 이것이 오른쪽의 stable core입니다.</a:t>
            </a:r>
            <a:endParaRPr/>
          </a:p>
          <a:p xmlns:a="http://schemas.openxmlformats.org/drawingml/2006/main">
            <a:r>
              <a:t/>
            </a:r>
            <a:endParaRPr/>
          </a:p>
          <a:p xmlns:a="http://schemas.openxmlformats.org/drawingml/2006/main">
            <a:r>
              <a:t>정리하면 이 단계에서 반복 주기, 반복이 시작되는 위치, 정렬의 기준점, 그리고 안정적으로 유지되는 반복 창들을 얻습니다.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Stage 2, the stable windows are stacked on a common relative axis. The same column now represents the same relative execution position across all retained windows.</a:t>
            </a:r>
            <a:endParaRPr/>
          </a:p>
          <a:p xmlns:a="http://schemas.openxmlformats.org/drawingml/2006/main">
            <a:r>
              <a:t/>
            </a:r>
            <a:endParaRPr/>
          </a:p>
          <a:p xmlns:a="http://schemas.openxmlformats.org/drawingml/2006/main">
            <a:r>
              <a:t>We summarize them with a median repetition and combine the four statistical views into an activity profile. High activity indicates pronounced changes across several views, while low activity indicates weaker variation.</a:t>
            </a:r>
            <a:endParaRPr/>
          </a:p>
          <a:p xmlns:a="http://schemas.openxmlformats.org/drawingml/2006/main">
            <a:r>
              <a:t/>
            </a:r>
            <a:endParaRPr/>
          </a:p>
          <a:p xmlns:a="http://schemas.openxmlformats.org/drawingml/2006/main">
            <a:r>
              <a:t>We smooth the profile, apply Otsu thresholding, and merge fragments that are too short. This produces high-score and low-score regions. The high-score regions are not ground-truth leakage locations. They are a priority map showing where a later CPA or blind side-channel analysis should begin.</a:t>
            </a:r>
            <a:endParaRPr/>
          </a:p>
          <a:p xmlns:a="http://schemas.openxmlformats.org/drawingml/2006/main">
            <a:r>
              <a:t/>
            </a:r>
            <a:endParaRPr/>
          </a:p>
          <a:p xmlns:a="http://schemas.openxmlformats.org/drawingml/2006/main">
            <a:r>
              <a:t>[한국어 스크립트]</a:t>
            </a:r>
            <a:endParaRPr/>
          </a:p>
          <a:p xmlns:a="http://schemas.openxmlformats.org/drawingml/2006/main">
            <a:r>
              <a:t/>
            </a:r>
            <a:endParaRPr/>
          </a:p>
          <a:p xmlns:a="http://schemas.openxmlformats.org/drawingml/2006/main">
            <a:r>
              <a:t>이제 Stage 1에서 얻은 안정적인 창들을 공통 상대축에 쌓습니다. 왼쪽처럼 각 창의 같은 열은 같은 상대 실행 위치를 의미하게 됩니다.</a:t>
            </a:r>
            <a:endParaRPr/>
          </a:p>
          <a:p xmlns:a="http://schemas.openxmlformats.org/drawingml/2006/main">
            <a:r>
              <a:t/>
            </a:r>
            <a:endParaRPr/>
          </a:p>
          <a:p xmlns:a="http://schemas.openxmlformats.org/drawingml/2006/main">
            <a:r>
              <a:t>이 창들의 중앙값을 이용해 오른쪽의 대표 반복을 만들고, 앞서 사용한 네 통계 채널을 결합해 차원이 없는 activity profile을 계산합니다. Activity가 높은 위치는 여러 통계 관점에서 변화가 두드러지는 구간이고, 낮은 위치는 상대적으로 변화가 작은 구간입니다.</a:t>
            </a:r>
            <a:endParaRPr/>
          </a:p>
          <a:p xmlns:a="http://schemas.openxmlformats.org/drawingml/2006/main">
            <a:r>
              <a:t/>
            </a:r>
            <a:endParaRPr/>
          </a:p>
          <a:p xmlns:a="http://schemas.openxmlformats.org/drawingml/2006/main">
            <a:r>
              <a:t>마지막으로 smoothing과 Otsu thresholding을 적용하고, 지나치게 짧은 조각들을 병합해 high-score와 low-score 구간을 얻습니다. 여기서 high-score 구간을 누설 위치의 정답이라고 주장하는 것은 아닙니다. 이후 CPA나 BSCA를 수행할 때 먼저 확인할 영역을 정해 주는 우선순위 정보로 사용합니다.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evaluated sixteen implementations: eight block ciphers—AES, GIFT, HIGHT, PRESENT, RECTANGLE, SIMON, SM4, and SPECK—on two embedded platforms. We used one thousand traces for each target.</a:t>
            </a:r>
          </a:p>
          <a:p xmlns:a="http://schemas.openxmlformats.org/drawingml/2006/main">
            <a:r>
              <a:t/>
            </a:r>
          </a:p>
          <a:p xmlns:a="http://schemas.openxmlformats.org/drawingml/2006/main">
            <a:r>
              <a:t>Importantly, we did not tune the parameters separately for each implementation. The same configuration was applied to all targets, using only coarse invocation alignment and the sample-wise mean and standard deviation.</a:t>
            </a:r>
          </a:p>
          <a:p xmlns:a="http://schemas.openxmlformats.org/drawingml/2006/main">
            <a:r>
              <a:t/>
            </a:r>
          </a:p>
          <a:p xmlns:a="http://schemas.openxmlformats.org/drawingml/2006/main">
            <a:r>
              <a:t>Algorithm names, source code, assembly, plaintext, ciphertext, keys, and CPA results were not used during discovery. We consulted them only after all trace-only outputs had been fixed, in order to interpret what the selected structures corresponded to in the implementations.</a:t>
            </a:r>
          </a:p>
          <a:p xmlns:a="http://schemas.openxmlformats.org/drawingml/2006/main">
            <a:r>
              <a:t/>
            </a:r>
          </a:p>
          <a:p xmlns:a="http://schemas.openxmlformats.org/drawingml/2006/main">
            <a:r>
              <a:t>[한국어 스크립트]</a:t>
            </a:r>
          </a:p>
          <a:p xmlns:a="http://schemas.openxmlformats.org/drawingml/2006/main">
            <a:r>
              <a:t/>
            </a:r>
          </a:p>
          <a:p xmlns:a="http://schemas.openxmlformats.org/drawingml/2006/main">
            <a:r>
              <a:t>평가는 AES, GIFT, HIGHT, PRESENT, RECTANGLE, SIMON, SM4, SPECK의 여덟 개 블록 암호를 두 임베디드 플랫폼에서 실행한 총 열여섯 개 구현을 대상으로 했습니다. 각 대상에는 1,000개의 트레이스를 사용했습니다.</a:t>
            </a:r>
          </a:p>
          <a:p xmlns:a="http://schemas.openxmlformats.org/drawingml/2006/main">
            <a:r>
              <a:t/>
            </a:r>
          </a:p>
          <a:p xmlns:a="http://schemas.openxmlformats.org/drawingml/2006/main">
            <a:r>
              <a:t>중요한 점은 구현마다 잘 맞도록 파라미터를 다시 조정하지 않았다는 것입니다. 모든 대상에 동일한 설정을 적용했고, 입력으로는 암호 호출 전체에 대한 coarse alignment와 샘플별 평균 및 표준편차만 사용했습니다.</a:t>
            </a:r>
          </a:p>
          <a:p xmlns:a="http://schemas.openxmlformats.org/drawingml/2006/main">
            <a:r>
              <a:t/>
            </a:r>
          </a:p>
          <a:p xmlns:a="http://schemas.openxmlformats.org/drawingml/2006/main">
            <a:r>
              <a:t>알고리즘 이름, 소스 코드, 어셈블리, 평문과 암호문, 키, CPA 결과는 탐색 과정에서 사용하지 않았습니다. 이 정보들은 trace-only 결과를 모두 확정한 뒤, 선택된 구조가 실제 구현의 어느 부분에 대응하는지 해석하는 데만 사용했습니다.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the sixteen implementations, the median waveform consistency score, B, was 0.989. Twelve targets achieved at least 0.97, and twelve produced a continuous stable core. These were not exactly the same targets, so both measures are necessary.</a:t>
            </a:r>
          </a:p>
          <a:p xmlns:a="http://schemas.openxmlformats.org/drawingml/2006/main">
            <a:r>
              <a:t/>
            </a:r>
          </a:p>
          <a:p xmlns:a="http://schemas.openxmlformats.org/drawingml/2006/main">
            <a:r>
              <a:t>The four examples show different outcomes. AES on XMEGA is the cleanest case, with the expected window count and high consistency. GIFT on XMEGA keeps all windows, but its low B value reveals weak waveform consistency. RECTANGLE on XMEGA produces many candidates, while only thirteen form a reliable consecutive run. PRESENT on F303 has high consistency, but the selected period is an instruction-level microperiod rather than the larger cipher structure.</a:t>
            </a:r>
          </a:p>
          <a:p xmlns:a="http://schemas.openxmlformats.org/drawingml/2006/main">
            <a:r>
              <a:t/>
            </a:r>
          </a:p>
          <a:p xmlns:a="http://schemas.openxmlformats.org/drawingml/2006/main">
            <a:r>
              <a:t>A single success rate is therefore not enough. We report both consistency and stable-core length, then interpret which implementation layer was selected.</a:t>
            </a:r>
          </a:p>
          <a:p xmlns:a="http://schemas.openxmlformats.org/drawingml/2006/main">
            <a:r>
              <a:t/>
            </a:r>
          </a:p>
          <a:p xmlns:a="http://schemas.openxmlformats.org/drawingml/2006/main">
            <a:r>
              <a:t>[한국어 스크립트]</a:t>
            </a:r>
          </a:p>
          <a:p xmlns:a="http://schemas.openxmlformats.org/drawingml/2006/main">
            <a:r>
              <a:t/>
            </a:r>
          </a:p>
          <a:p xmlns:a="http://schemas.openxmlformats.org/drawingml/2006/main">
            <a:r>
              <a:t>전체 결과를 먼저 요약하면, 열여섯 개 구현에서 반복 창 사이의 파형 일관성 B의 중앙값은 0.989였습니다. 열두 개 대상이 0.97 이상의 높은 일관성을 보였고, 열두 개 대상에서는 선택된 창들이 끊기지 않는 연속 stable core를 형성했습니다. 다만 이 두 조건을 만족한 대상이 완전히 동일한 것은 아닙니다.</a:t>
            </a:r>
          </a:p>
          <a:p xmlns:a="http://schemas.openxmlformats.org/drawingml/2006/main">
            <a:r>
              <a:t/>
            </a:r>
          </a:p>
          <a:p xmlns:a="http://schemas.openxmlformats.org/drawingml/2006/main">
            <a:r>
              <a:t>이 차이를 보여 주기 위해 네 가지 사례를 제시했습니다. 왼쪽 위 AES/XMEGA는 선택된 창의 개수와 실제 반복 개수가 일치하고 파형 일관성도 높은 가장 안정적인 사례입니다. 오른쪽 위 GIFT/XMEGA는 모든 창이 유지되지만 B가 낮습니다. 반복 개수만 보면 성공처럼 보이지만, 실제 파형은 충분히 일치하지 않는 경우입니다.</a:t>
            </a:r>
          </a:p>
          <a:p xmlns:a="http://schemas.openxmlformats.org/drawingml/2006/main">
            <a:r>
              <a:t/>
            </a:r>
          </a:p>
          <a:p xmlns:a="http://schemas.openxmlformats.org/drawingml/2006/main">
            <a:r>
              <a:t>왼쪽 아래 RECTANGLE/XMEGA는 많은 후보 창을 만들었지만 연속적으로 신뢰할 수 있는 창은 열세 개뿐입니다. 반대로 오른쪽 아래 PRESENT/F303은 일관성 자체는 높지만 암호의 큰 반복 구조가 아니라 명령어 수준의 짧은 microperiod에 맞춰진 사례입니다.</a:t>
            </a:r>
          </a:p>
          <a:p xmlns:a="http://schemas.openxmlformats.org/drawingml/2006/main">
            <a:r>
              <a:t/>
            </a:r>
          </a:p>
          <a:p xmlns:a="http://schemas.openxmlformats.org/drawingml/2006/main">
            <a:r>
              <a:t>따라서 단일 성공률보다는 파형 일관성과 stable-core 길이를 함께 보고, 어떤 종류의 구조를 선택했는지 구분하는 것이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examined what the Rank-1 scales correspond to in the implementations. Only after fixing the trace-only results did we inspect the source code and compiled assembly.</a:t>
            </a:r>
          </a:p>
          <a:p xmlns:a="http://schemas.openxmlformats.org/drawingml/2006/main">
            <a:r>
              <a:t/>
            </a:r>
          </a:p>
          <a:p xmlns:a="http://schemas.openxmlformats.org/drawingml/2006/main">
            <a:r>
              <a:t>For five targets, the selected scale directly matched the repeated implementation body. Two also included boundary processing or whitening. Three selected a larger unit containing multiple rounds, and another three selected a finer substitution, permutation, or instruction-level motif. The remaining three were structurally ambiguous.</a:t>
            </a:r>
          </a:p>
          <a:p xmlns:a="http://schemas.openxmlformats.org/drawingml/2006/main">
            <a:r>
              <a:t/>
            </a:r>
          </a:p>
          <a:p xmlns:a="http://schemas.openxmlformats.org/drawingml/2006/main">
            <a:r>
              <a:t>The method therefore does not always recover a round length. It recovers the implementation layer most strongly repeated in the measured trace. This is a limitation, but it also reflects the purpose of a metadata-free method: recovering observable structure before assigning algorithm-specific meaning.</a:t>
            </a:r>
          </a:p>
          <a:p xmlns:a="http://schemas.openxmlformats.org/drawingml/2006/main">
            <a:r>
              <a:t/>
            </a:r>
          </a:p>
          <a:p xmlns:a="http://schemas.openxmlformats.org/drawingml/2006/main">
            <a:r>
              <a:t>[한국어 스크립트]</a:t>
            </a:r>
          </a:p>
          <a:p xmlns:a="http://schemas.openxmlformats.org/drawingml/2006/main">
            <a:r>
              <a:t/>
            </a:r>
          </a:p>
          <a:p xmlns:a="http://schemas.openxmlformats.org/drawingml/2006/main">
            <a:r>
              <a:t>그렇다면 trace-only 방식이 선택한 주기는 실제 구현의 무엇에 해당하는지 살펴보겠습니다. 결과를 고정한 뒤 소스 코드와 컴파일된 어셈블리를 확인해 각 Rank-1 주기를 사후 대응시켰습니다.</a:t>
            </a:r>
          </a:p>
          <a:p xmlns:a="http://schemas.openxmlformats.org/drawingml/2006/main">
            <a:r>
              <a:t/>
            </a:r>
          </a:p>
          <a:p xmlns:a="http://schemas.openxmlformats.org/drawingml/2006/main">
            <a:r>
              <a:t>다섯 개 대상에서는 선택된 주기가 반복 구현 body와 직접 대응했습니다. 두 개는 body뿐 아니라 경계 처리나 whitening과 같은 주변 실행을 함께 포함했습니다. 세 개는 여러 라운드가 묶인 더 큰 단위를 선택했고, 또 다른 세 개는 substitution이나 permutation, 또는 명령어 수준의 더 세밀한 motif를 선택했습니다. 나머지 세 개는 반복 횟수만으로 하나의 구조에 명확히 대응시키기 어려웠습니다.</a:t>
            </a:r>
          </a:p>
          <a:p xmlns:a="http://schemas.openxmlformats.org/drawingml/2006/main">
            <a:r>
              <a:t/>
            </a:r>
          </a:p>
          <a:p xmlns:a="http://schemas.openxmlformats.org/drawingml/2006/main">
            <a:r>
              <a:t>여기서 중요한 해석은 이 방법이 항상 라운드 길이를 찾는 것은 아니라는 점입니다. 측정된 트레이스에서 가장 강하게 반복되어 보이는 구현 계층을 찾습니다. 이는 한계이기도 하지만, 알고리즘 메타데이터 없이 실제로 관찰 가능한 구조를 우선 복원한다는 이 방법의 성격을 보여 줍니다.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look more closely at the clearest case, AES on XMEGA. The selected repetition scale is 4,400 samples, with a starting phase of 572.</a:t>
            </a:r>
            <a:endParaRPr/>
          </a:p>
          <a:p xmlns:a="http://schemas.openxmlformats.org/drawingml/2006/main">
            <a:r>
              <a:t/>
            </a:r>
            <a:endParaRPr/>
          </a:p>
          <a:p xmlns:a="http://schemas.openxmlformats.org/drawingml/2006/main">
            <a:r>
              <a:t>When the nine selected windows are plotted on the same relative axis, their main waveform features appear at nearly identical positions. All nine belong to the stable core. The waveform consistency score is 0.994, and the median correlation with the median waveform is 0.996.</a:t>
            </a:r>
            <a:endParaRPr/>
          </a:p>
          <a:p xmlns:a="http://schemas.openxmlformats.org/drawingml/2006/main">
            <a:r>
              <a:t/>
            </a:r>
            <a:endParaRPr/>
          </a:p>
          <a:p xmlns:a="http://schemas.openxmlformats.org/drawingml/2006/main">
            <a:r>
              <a:t>Although we did not use the algorithm name or known round boundaries, the method recovered stable relative positions corresponding to the repeated implementation body in this case.</a:t>
            </a:r>
            <a:endParaRPr/>
          </a:p>
          <a:p xmlns:a="http://schemas.openxmlformats.org/drawingml/2006/main">
            <a:r>
              <a:t/>
            </a:r>
            <a:endParaRPr/>
          </a:p>
          <a:p xmlns:a="http://schemas.openxmlformats.org/drawingml/2006/main">
            <a:r>
              <a:t>[한국어 스크립트]</a:t>
            </a:r>
            <a:endParaRPr/>
          </a:p>
          <a:p xmlns:a="http://schemas.openxmlformats.org/drawingml/2006/main">
            <a:r>
              <a:t/>
            </a:r>
            <a:endParaRPr/>
          </a:p>
          <a:p xmlns:a="http://schemas.openxmlformats.org/drawingml/2006/main">
            <a:r>
              <a:t>이제 가장 명확한 AES/XMEGA 사례를 조금 더 자세히 보겠습니다. 이 대상에서 선택된 반복 주기는 4,400 samples이고 시작 위상은 572입니다.</a:t>
            </a:r>
            <a:endParaRPr/>
          </a:p>
          <a:p xmlns:a="http://schemas.openxmlformats.org/drawingml/2006/main">
            <a:r>
              <a:t/>
            </a:r>
            <a:endParaRPr/>
          </a:p>
          <a:p xmlns:a="http://schemas.openxmlformats.org/drawingml/2006/main">
            <a:r>
              <a:t>선택된 아홉 개 창을 같은 상대축에 그리면 왼쪽처럼 주요 파형이 거의 같은 위치에서 반복됩니다. 아홉 개 창이 모두 stable core에 포함됐고, 파형 일관성 B는 0.994였습니다. 각 창과 중앙 파형 사이의 상관계수 중앙값도 0.996으로 매우 높았습니다.</a:t>
            </a:r>
            <a:endParaRPr/>
          </a:p>
          <a:p xmlns:a="http://schemas.openxmlformats.org/drawingml/2006/main">
            <a:r>
              <a:t/>
            </a:r>
            <a:endParaRPr/>
          </a:p>
          <a:p xmlns:a="http://schemas.openxmlformats.org/drawingml/2006/main">
            <a:r>
              <a:t>즉, 알고리즘 이름이나 라운드 경계를 사용하지 않았지만, 이 사례에서는 실제 반복 body에 해당하는 안정적인 상대 좌표를 복원할 수 있었습니다.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nine repetition windows are now aligned. We use them to identify which parts of one repetition should be examined first. I will explain the figure from the bottom upward.</a:t>
            </a:r>
          </a:p>
          <a:p xmlns:a="http://schemas.openxmlformats.org/drawingml/2006/main">
            <a:r>
              <a:t/>
            </a:r>
          </a:p>
          <a:p xmlns:a="http://schemas.openxmlformats.org/drawingml/2006/main">
            <a:r>
              <a:t>The lower plot shows where the mean and standard deviation of the representative repetition change strongly. Orange highlights variation across traces, while blue reflects changes in the common waveform.</a:t>
            </a:r>
          </a:p>
          <a:p xmlns:a="http://schemas.openxmlformats.org/drawingml/2006/main">
            <a:r>
              <a:t/>
            </a:r>
          </a:p>
          <a:p xmlns:a="http://schemas.openxmlformats.org/drawingml/2006/main">
            <a:r>
              <a:t>We combine these quantities and their local changes into a score between zero and one. This produces the light-blue activity profile above. The dark-blue curve is the smoothed profile, which reduces sensitivity to isolated spikes.</a:t>
            </a:r>
          </a:p>
          <a:p xmlns:a="http://schemas.openxmlformats.org/drawingml/2006/main">
            <a:r>
              <a:t/>
            </a:r>
          </a:p>
          <a:p xmlns:a="http://schemas.openxmlformats.org/drawingml/2006/main">
            <a:r>
              <a:t>Otsu thresholding separates relatively high and low activity without a manually chosen cutoff. The orange background marks the high-score regions. Because they are defined on a relative axis, the same positions apply to all nine windows. The next slide checks whether they retain the strongest CPA leakage.</a:t>
            </a:r>
          </a:p>
          <a:p xmlns:a="http://schemas.openxmlformats.org/drawingml/2006/main">
            <a:r>
              <a:t/>
            </a:r>
          </a:p>
          <a:p xmlns:a="http://schemas.openxmlformats.org/drawingml/2006/main">
            <a:r>
              <a:t>[한국어 스크립트]</a:t>
            </a:r>
          </a:p>
          <a:p xmlns:a="http://schemas.openxmlformats.org/drawingml/2006/main">
            <a:r>
              <a:t/>
            </a:r>
          </a:p>
          <a:p xmlns:a="http://schemas.openxmlformats.org/drawingml/2006/main">
            <a:r>
              <a:t>앞 페이지에서는 아홉 개의 반복 창이 같은 위치에 맞춰지는 것을 확인했습니다. 이제 이 창들을 이용해 한 반복 안에서 먼저 살펴볼 구간을 정합니다. 그림은 계산 순서를 따라 아래쪽부터 보겠습니다.</a:t>
            </a:r>
          </a:p>
          <a:p xmlns:a="http://schemas.openxmlformats.org/drawingml/2006/main">
            <a:r>
              <a:t/>
            </a:r>
          </a:p>
          <a:p xmlns:a="http://schemas.openxmlformats.org/drawingml/2006/main">
            <a:r>
              <a:t>먼저 정렬된 창들의 같은 위치를 모아 하나의 대표 반복으로 요약합니다. 아래쪽 그래프는 이 대표 반복에서 평균과 표준편차가 어느 위치에서 크게 변하는지를 보여 줍니다. 주황색 선은 트레이스 사이의 차이가 큰 위치를, 파란색 선은 공통 파형이 두드러지는 위치를 나타냅니다.</a:t>
            </a:r>
          </a:p>
          <a:p xmlns:a="http://schemas.openxmlformats.org/drawingml/2006/main">
            <a:r>
              <a:t/>
            </a:r>
          </a:p>
          <a:p xmlns:a="http://schemas.openxmlformats.org/drawingml/2006/main">
            <a:r>
              <a:t>이 정보와 각 값의 변화량을 합쳐서, 위치마다 통계적인 변화가 얼마나 뚜렷한지를 0에서 1 사이의 점수로 나타냅니다. 이것이 위쪽의 옅은 파란색 activity profile입니다. 짧은 잡음이나 한두 개의 spike에 지나치게 반응하지 않도록 부드럽게 만든 결과가 진한 파란색 선입니다.</a:t>
            </a:r>
          </a:p>
          <a:p xmlns:a="http://schemas.openxmlformats.org/drawingml/2006/main">
            <a:r>
              <a:t/>
            </a:r>
          </a:p>
          <a:p xmlns:a="http://schemas.openxmlformats.org/drawingml/2006/main">
            <a:r>
              <a:t>그 다음 이 점수가 상대적으로 높은 부분과 낮은 부분을 나눕니다. Otsu thresholding은 사람이 기준값을 임의로 정하는 대신, 점수 분포를 두 그룹으로 가장 잘 나누는 기준을 자동으로 찾는 방법입니다. 이 기준보다 높은 위치가 배경의 주황색 구간입니다.</a:t>
            </a:r>
          </a:p>
          <a:p xmlns:a="http://schemas.openxmlformats.org/drawingml/2006/main">
            <a:r>
              <a:t/>
            </a:r>
          </a:p>
          <a:p xmlns:a="http://schemas.openxmlformats.org/drawingml/2006/main">
            <a:r>
              <a:t>중요한 점은 이 구간이 전체 트레이스의 절대 위치가 아니라, 한 반복 안에서의 상대 위치로 정해진다는 것입니다. 따라서 여기서 얻은 주황색 구간을 정렬된 아홉 개 반복 모두에 같은 위치로 적용할 수 있습니다. 다음 페이지에서는 이렇게 선택한 구간이 실제 CPA 누설 지점을 얼마나 포함하는지 확인하겠습니다.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Finally, we examined whether the selected regions are related to actual leakage. CPA was not used to choose them. It was overlaid only after all trace-only outputs had been fixed.</a:t>
            </a:r>
          </a:p>
          <a:p xmlns:a="http://schemas.openxmlformats.org/drawingml/2006/main">
            <a:r>
              <a:t/>
            </a:r>
          </a:p>
          <a:p xmlns:a="http://schemas.openxmlformats.org/drawingml/2006/main">
            <a:r>
              <a:t>The high-score regions cover 49.1 percent of the representative repetition, reducing the initial search area by roughly half. They still contain all samples in both the top 0.5 percent and top 0.1 percent of the S-box-output CPA model.</a:t>
            </a:r>
          </a:p>
          <a:p xmlns:a="http://schemas.openxmlformats.org/drawingml/2006/main">
            <a:r>
              <a:t/>
            </a:r>
          </a:p>
          <a:p xmlns:a="http://schemas.openxmlformats.org/drawingml/2006/main">
            <a:r>
              <a:t>For this AES on XMEGA case, the trace-only map preserves the strongest S-box leakage hotspot without using the algorithm or key. It does not claim to find every leakage point; it prioritizes a smaller region for later analysis.</a:t>
            </a:r>
          </a:p>
          <a:p xmlns:a="http://schemas.openxmlformats.org/drawingml/2006/main">
            <a:r>
              <a:t/>
            </a:r>
          </a:p>
          <a:p xmlns:a="http://schemas.openxmlformats.org/drawingml/2006/main">
            <a:r>
              <a:t>[한국어 스크립트]</a:t>
            </a:r>
          </a:p>
          <a:p xmlns:a="http://schemas.openxmlformats.org/drawingml/2006/main">
            <a:r>
              <a:t/>
            </a:r>
          </a:p>
          <a:p xmlns:a="http://schemas.openxmlformats.org/drawingml/2006/main">
            <a:r>
              <a:t>마지막으로 이 분할 결과가 실제 누설과도 관련이 있는지 확인했습니다. 여기서 CPA는 구간을 선택하는 데 사용한 것이 아니라, 모든 trace-only 구간을 확정한 뒤 사후 검증을 위해서만 겹쳐 보았습니다.</a:t>
            </a:r>
          </a:p>
          <a:p xmlns:a="http://schemas.openxmlformats.org/drawingml/2006/main">
            <a:r>
              <a:t/>
            </a:r>
          </a:p>
          <a:p xmlns:a="http://schemas.openxmlformats.org/drawingml/2006/main">
            <a:r>
              <a:t>High-score 구간은 대표 반복 전체의 49.1%를 차지합니다. 즉, 첫 탐색 영역을 대략 절반으로 줄입니다. 그런데 이 영역 안에 S-box 출력 모델에서 나타난 CPA 상위 0.5%와 상위 0.1% sample이 모두 포함됐습니다.</a:t>
            </a:r>
          </a:p>
          <a:p xmlns:a="http://schemas.openxmlformats.org/drawingml/2006/main">
            <a:r>
              <a:t/>
            </a:r>
          </a:p>
          <a:p xmlns:a="http://schemas.openxmlformats.org/drawingml/2006/main">
            <a:r>
              <a:t>따라서 적어도 이 AES/XMEGA 사례에서는 알고리즘이나 키를 사용하지 않고 선택한 통계적 활동 구간이 가장 강한 S-box 누설 hotspot을 보존했습니다. 다만 이것을 모든 누설 위치를 빠짐없이 찾는 POI oracle로 해석해서는 안 됩니다. 핵심은 전체 구간을 무작정 탐색하기 전에 우선 확인할 영역을 제공한다는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we proposed a two-stage method using only the sample-wise mean and standard deviation of unlabeled traces. It finds a dominant repetition scale, aligns stable repetition windows, and identifies candidate regions within a representative repetition.</a:t>
            </a:r>
            <a:endParaRPr/>
          </a:p>
          <a:p xmlns:a="http://schemas.openxmlformats.org/drawingml/2006/main">
            <a:r>
              <a:t/>
            </a:r>
            <a:endParaRPr/>
          </a:p>
          <a:p xmlns:a="http://schemas.openxmlformats.org/drawingml/2006/main">
            <a:r>
              <a:t>The method does not recover the algorithm or key directly. Instead, it turns a long, coarsely aligned trace into a structured input for later analysis. In the AES on XMEGA case, the candidate regions reduced the initial search area while retaining the strongest S-box leakage hotspot.</a:t>
            </a:r>
            <a:endParaRPr/>
          </a:p>
          <a:p xmlns:a="http://schemas.openxmlformats.org/drawingml/2006/main">
            <a:r>
              <a:t/>
            </a:r>
            <a:endParaRPr/>
          </a:p>
          <a:p xmlns:a="http://schemas.openxmlformats.org/drawingml/2006/main">
            <a:r>
              <a:t>This provides a practical starting point for CPA or blind side-channel analysis when algorithm metadata is unavailable. Thank you for your attention.</a:t>
            </a:r>
            <a:endParaRPr/>
          </a:p>
          <a:p xmlns:a="http://schemas.openxmlformats.org/drawingml/2006/main">
            <a:r>
              <a:t/>
            </a:r>
            <a:endParaRPr/>
          </a:p>
          <a:p xmlns:a="http://schemas.openxmlformats.org/drawingml/2006/main">
            <a:r>
              <a:t>[한국어 스크립트]</a:t>
            </a:r>
            <a:endParaRPr/>
          </a:p>
          <a:p xmlns:a="http://schemas.openxmlformats.org/drawingml/2006/main">
            <a:r>
              <a:t/>
            </a:r>
            <a:endParaRPr/>
          </a:p>
          <a:p xmlns:a="http://schemas.openxmlformats.org/drawingml/2006/main">
            <a:r>
              <a:t>정리하면, 저희는 라벨이 없는 측정 트레이스의 샘플별 평균과 표준편차만을 이용해 반복 주기를 찾고, 반복 구간을 정렬한 뒤, 그 내부의 분석 후보 구간까지 정하는 두 단계 방법을 제안했습니다.</a:t>
            </a:r>
            <a:endParaRPr/>
          </a:p>
          <a:p xmlns:a="http://schemas.openxmlformats.org/drawingml/2006/main">
            <a:r>
              <a:t/>
            </a:r>
            <a:endParaRPr/>
          </a:p>
          <a:p xmlns:a="http://schemas.openxmlformats.org/drawingml/2006/main">
            <a:r>
              <a:t>이 방법은 알고리즘이나 키를 직접 알아내는 것이 아니라, 긴 트레이스를 반복 단위로 정리해 이후 분석을 시작할 위치를 제공합니다. 즉, 사전 정보가 없는 상황에서도 CPA나 블라인드 부채널 분석에 앞서 필요한 분석 구간을 트레이스 자체에서 찾을 수 있습니다.</a:t>
            </a:r>
            <a:endParaRPr/>
          </a:p>
          <a:p xmlns:a="http://schemas.openxmlformats.org/drawingml/2006/main">
            <a:r>
              <a:t/>
            </a:r>
            <a:endParaRPr/>
          </a:p>
          <a:p xmlns:a="http://schemas.openxmlformats.org/drawingml/2006/main">
            <a:r>
              <a:t>이상으로 발표를 마치겠습니다. 감사합니다.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9fb57ba7d44a46"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a17783e2f74817" /><Relationship Type="http://schemas.openxmlformats.org/officeDocument/2006/relationships/slideLayout" Target="/ppt/slideLayouts/slideLayout1.xml" Id="Ra793b2b95d104462"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93b2b95d10446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a52b4af24a4ea6" /><Relationship Type="http://schemas.openxmlformats.org/officeDocument/2006/relationships/image" Target="/ppt/media/image.png" Id="Rfaaca00e22c34987" /><Relationship Type="http://schemas.openxmlformats.org/officeDocument/2006/relationships/image" Target="/ppt/media/image.svg" Id="R021f6d632c9843b6" /><Relationship Type="http://schemas.openxmlformats.org/officeDocument/2006/relationships/notesSlide" Target="/ppt/notesSlides/notesSlide1.xml" Id="Red407549289346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c9a78fe5044575" /><Relationship Type="http://schemas.openxmlformats.org/officeDocument/2006/relationships/notesSlide" Target="/ppt/notesSlides/notesSlide2.xml" Id="R122ecc82a09d44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2c5b3bce504745" /><Relationship Type="http://schemas.openxmlformats.org/officeDocument/2006/relationships/image" Target="/ppt/media/image2.png" Id="R02382760603a44fd" /><Relationship Type="http://schemas.openxmlformats.org/officeDocument/2006/relationships/image" Target="/ppt/media/image2.svg" Id="R2d44c33929f345ca" /><Relationship Type="http://schemas.openxmlformats.org/officeDocument/2006/relationships/notesSlide" Target="/ppt/notesSlides/notesSlide3.xml" Id="R97e957d31bd049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eb97af4d384b21" /><Relationship Type="http://schemas.openxmlformats.org/officeDocument/2006/relationships/notesSlide" Target="/ppt/notesSlides/notesSlide4.xml" Id="Rb575adac88db48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e52990b90c41a5" /><Relationship Type="http://schemas.openxmlformats.org/officeDocument/2006/relationships/image" Target="/ppt/media/image3.png" Id="R6a157a5a5be04129" /><Relationship Type="http://schemas.openxmlformats.org/officeDocument/2006/relationships/image" Target="/ppt/media/image3.svg" Id="R4bc5d675da12400f" /><Relationship Type="http://schemas.openxmlformats.org/officeDocument/2006/relationships/image" Target="/ppt/media/image4.png" Id="Rfddaa7f086204488" /><Relationship Type="http://schemas.openxmlformats.org/officeDocument/2006/relationships/image" Target="/ppt/media/image4.svg" Id="R8f0d57525fa54b4b" /><Relationship Type="http://schemas.openxmlformats.org/officeDocument/2006/relationships/image" Target="/ppt/media/image5.png" Id="Reaaf4a0970554c3d" /><Relationship Type="http://schemas.openxmlformats.org/officeDocument/2006/relationships/image" Target="/ppt/media/image5.svg" Id="Rcc003b0cae2443fc" /><Relationship Type="http://schemas.openxmlformats.org/officeDocument/2006/relationships/image" Target="/ppt/media/image6.png" Id="Rcb114febdb6646ea" /><Relationship Type="http://schemas.openxmlformats.org/officeDocument/2006/relationships/image" Target="/ppt/media/image6.svg" Id="R57695b34aae54cd2" /><Relationship Type="http://schemas.openxmlformats.org/officeDocument/2006/relationships/image" Target="/ppt/media/image7.png" Id="R1caa7346b8bd42b8" /><Relationship Type="http://schemas.openxmlformats.org/officeDocument/2006/relationships/image" Target="/ppt/media/image7.svg" Id="R81285ba6afa546de" /><Relationship Type="http://schemas.openxmlformats.org/officeDocument/2006/relationships/notesSlide" Target="/ppt/notesSlides/notesSlide5.xml" Id="Rb49cb5b18d5c43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2e14a476e9450d" /><Relationship Type="http://schemas.openxmlformats.org/officeDocument/2006/relationships/image" Target="/ppt/media/image8.png" Id="Ra2f03eaa40d74d65" /><Relationship Type="http://schemas.openxmlformats.org/officeDocument/2006/relationships/image" Target="/ppt/media/image8.svg" Id="Ra0c925581796467f" /><Relationship Type="http://schemas.openxmlformats.org/officeDocument/2006/relationships/image" Target="/ppt/media/image9.png" Id="R0111416b1d894e33" /><Relationship Type="http://schemas.openxmlformats.org/officeDocument/2006/relationships/image" Target="/ppt/media/image9.svg" Id="R14d9a250d19a48da" /><Relationship Type="http://schemas.openxmlformats.org/officeDocument/2006/relationships/image" Target="/ppt/media/image10.png" Id="R64787af3f5ea4efb" /><Relationship Type="http://schemas.openxmlformats.org/officeDocument/2006/relationships/image" Target="/ppt/media/image10.svg" Id="Re15fadb25ffa46e8" /><Relationship Type="http://schemas.openxmlformats.org/officeDocument/2006/relationships/image" Target="/ppt/media/image11.png" Id="R7832d18f98f44442" /><Relationship Type="http://schemas.openxmlformats.org/officeDocument/2006/relationships/image" Target="/ppt/media/image11.svg" Id="R620b2477387d4eb5" /><Relationship Type="http://schemas.openxmlformats.org/officeDocument/2006/relationships/image" Target="/ppt/media/image12.png" Id="R22c6719644454598" /><Relationship Type="http://schemas.openxmlformats.org/officeDocument/2006/relationships/image" Target="/ppt/media/image12.svg" Id="R4075bba1cec242f6" /><Relationship Type="http://schemas.openxmlformats.org/officeDocument/2006/relationships/image" Target="/ppt/media/image13.png" Id="R7d25dc56de414233" /><Relationship Type="http://schemas.openxmlformats.org/officeDocument/2006/relationships/image" Target="/ppt/media/image13.svg" Id="R4eae369ced204c81" /><Relationship Type="http://schemas.openxmlformats.org/officeDocument/2006/relationships/image" Target="/ppt/media/image14.png" Id="R7bb2354bdc684f5a" /><Relationship Type="http://schemas.openxmlformats.org/officeDocument/2006/relationships/image" Target="/ppt/media/image14.svg" Id="R84afdb34dc8b4547" /><Relationship Type="http://schemas.openxmlformats.org/officeDocument/2006/relationships/notesSlide" Target="/ppt/notesSlides/notesSlide6.xml" Id="R835853af306c40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7d8e6250c347a2" /><Relationship Type="http://schemas.openxmlformats.org/officeDocument/2006/relationships/image" Target="/ppt/media/image15.png" Id="Rc8f3ddf91c9f4ef4" /><Relationship Type="http://schemas.openxmlformats.org/officeDocument/2006/relationships/image" Target="/ppt/media/image15.svg" Id="R3c54451a53904fd2" /><Relationship Type="http://schemas.openxmlformats.org/officeDocument/2006/relationships/image" Target="/ppt/media/image16.png" Id="Rc491b1966a094f0a" /><Relationship Type="http://schemas.openxmlformats.org/officeDocument/2006/relationships/image" Target="/ppt/media/image16.svg" Id="R3632da9b06504fb2" /><Relationship Type="http://schemas.openxmlformats.org/officeDocument/2006/relationships/image" Target="/ppt/media/image17.png" Id="R42601c1a08ad45d5" /><Relationship Type="http://schemas.openxmlformats.org/officeDocument/2006/relationships/image" Target="/ppt/media/image17.svg" Id="R99e03dc33b524f3b" /><Relationship Type="http://schemas.openxmlformats.org/officeDocument/2006/relationships/image" Target="/ppt/media/image18.png" Id="R144d8663eb994d73" /><Relationship Type="http://schemas.openxmlformats.org/officeDocument/2006/relationships/image" Target="/ppt/media/image18.svg" Id="R2c4bb2bbc0ca43c2" /><Relationship Type="http://schemas.openxmlformats.org/officeDocument/2006/relationships/image" Target="/ppt/media/image19.png" Id="Rdb16974ab84a455d" /><Relationship Type="http://schemas.openxmlformats.org/officeDocument/2006/relationships/image" Target="/ppt/media/image19.svg" Id="R0559b2b7f85c430f" /><Relationship Type="http://schemas.openxmlformats.org/officeDocument/2006/relationships/image" Target="/ppt/media/image20.png" Id="R3ff17c2dcdce4f9a" /><Relationship Type="http://schemas.openxmlformats.org/officeDocument/2006/relationships/image" Target="/ppt/media/image20.svg" Id="R17de02e9c1674493" /><Relationship Type="http://schemas.openxmlformats.org/officeDocument/2006/relationships/image" Target="/ppt/media/image21.png" Id="Rdde3f9f6ce374a38" /><Relationship Type="http://schemas.openxmlformats.org/officeDocument/2006/relationships/image" Target="/ppt/media/image21.svg" Id="R5676eca2ba5144a2" /><Relationship Type="http://schemas.openxmlformats.org/officeDocument/2006/relationships/image" Target="/ppt/media/image22.png" Id="Red04ca92f8f94dc2" /><Relationship Type="http://schemas.openxmlformats.org/officeDocument/2006/relationships/image" Target="/ppt/media/image22.svg" Id="R5773e691bd464d08" /><Relationship Type="http://schemas.openxmlformats.org/officeDocument/2006/relationships/image" Target="/ppt/media/image23.png" Id="R967ce9b89ffd414a" /><Relationship Type="http://schemas.openxmlformats.org/officeDocument/2006/relationships/image" Target="/ppt/media/image23.svg" Id="R5a1f74a1df334bea" /><Relationship Type="http://schemas.openxmlformats.org/officeDocument/2006/relationships/notesSlide" Target="/ppt/notesSlides/notesSlide7.xml" Id="R9da30c6af51940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76e90b03a24a6c" /><Relationship Type="http://schemas.openxmlformats.org/officeDocument/2006/relationships/notesSlide" Target="/ppt/notesSlides/notesSlide8.xml" Id="R8c7ea99854df42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8f529dd40e245ad" /><Relationship Type="http://schemas.openxmlformats.org/officeDocument/2006/relationships/image" Target="/ppt/media/image24.png" Id="R92aae099ff7f414e" /><Relationship Type="http://schemas.openxmlformats.org/officeDocument/2006/relationships/image" Target="/ppt/media/image25.png" Id="Rc4cd122b65d34273" /><Relationship Type="http://schemas.openxmlformats.org/officeDocument/2006/relationships/image" Target="/ppt/media/image26.png" Id="R4b7d2615f6e54b4b" /><Relationship Type="http://schemas.openxmlformats.org/officeDocument/2006/relationships/image" Target="/ppt/media/image27.png" Id="Rc2243bb328e847cd" /><Relationship Type="http://schemas.openxmlformats.org/officeDocument/2006/relationships/notesSlide" Target="/ppt/notesSlides/notesSlide9.xml" Id="R61189caf55fd40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a73307f5fe34822" /><Relationship Type="http://schemas.openxmlformats.org/officeDocument/2006/relationships/notesSlide" Target="/ppt/notesSlides/notesSlide10.xml" Id="R736960d3539a40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f7a0cb18c124980" /><Relationship Type="http://schemas.openxmlformats.org/officeDocument/2006/relationships/image" Target="/ppt/media/image28.png" Id="Rc53bf23082a8406d" /><Relationship Type="http://schemas.openxmlformats.org/officeDocument/2006/relationships/notesSlide" Target="/ppt/notesSlides/notesSlide11.xml" Id="R5c7f622d9de745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d69ef02d7b54330" /><Relationship Type="http://schemas.openxmlformats.org/officeDocument/2006/relationships/image" Target="/ppt/media/image29.png" Id="R45b62a333c154344" /><Relationship Type="http://schemas.openxmlformats.org/officeDocument/2006/relationships/notesSlide" Target="/ppt/notesSlides/notesSlide12.xml" Id="R1fad089d4099412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b7be4e4db0f4ff3" /><Relationship Type="http://schemas.openxmlformats.org/officeDocument/2006/relationships/image" Target="/ppt/media/image30.png" Id="R4ba56db3e39f4679" /><Relationship Type="http://schemas.openxmlformats.org/officeDocument/2006/relationships/notesSlide" Target="/ppt/notesSlides/notesSlide13.xml" Id="R960e2fd53c964ca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eec091afc4c4786" /><Relationship Type="http://schemas.openxmlformats.org/officeDocument/2006/relationships/notesSlide" Target="/ppt/notesSlides/notesSlide14.xml" Id="Rf616c87cbd3d4eb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1">
            <a:extLst xmlns:a="http://schemas.openxmlformats.org/drawingml/2006/main">
              <a:ext uri="{FF2B5EF4-FFF2-40B4-BE49-F238E27FC236}">
                <a16:creationId xmlns:a16="http://schemas.microsoft.com/office/drawing/2014/main" id="{11942F8E-43F7-4D4E-A839-05D2378ECE1F}"/>
              </a:ext>
            </a:extLst>
          </p:cNvPr>
          <p:cNvSpPr>
            <a:spLocks xmlns:a="http://schemas.openxmlformats.org/drawingml/2006/main" noGrp="1"/>
          </p:cNvSpPr>
          <p:nvPr/>
        </p:nvSpPr>
        <p:spPr>
          <a:xfrm xmlns:a="http://schemas.openxmlformats.org/drawingml/2006/main">
            <a:off x="786384" y="841248"/>
            <a:ext cx="6720840" cy="22402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900" b="1">
                <a:solidFill>
                  <a:srgbClr val="17324D"/>
                </a:solidFill>
                <a:latin typeface="Inter Display"/>
                <a:ea typeface="Inter Display"/>
                <a:cs typeface="Inter Display"/>
              </a:rPr>
              <a:t>Blind Trace-Only Segmentation</a:t>
            </a:r>
            <a:endParaRPr sz="2900"/>
          </a:p>
          <a:p xmlns:a="http://schemas.openxmlformats.org/drawingml/2006/main">
            <a:pPr marL="0" indent="0">
              <a:buNone/>
            </a:pPr>
            <a:r>
              <a:rPr sz="2900" b="1">
                <a:solidFill>
                  <a:srgbClr val="17324D"/>
                </a:solidFill>
                <a:latin typeface="Inter Display"/>
                <a:ea typeface="Inter Display"/>
                <a:cs typeface="Inter Display"/>
              </a:rPr>
              <a:t>of Cipher Implementations</a:t>
            </a:r>
            <a:endParaRPr sz="2900"/>
          </a:p>
          <a:p xmlns:a="http://schemas.openxmlformats.org/drawingml/2006/main">
            <a:pPr marL="0" indent="0">
              <a:buNone/>
            </a:pPr>
            <a:r>
              <a:rPr sz="2900" b="1">
                <a:solidFill>
                  <a:srgbClr val="17324D"/>
                </a:solidFill>
                <a:latin typeface="Inter Display"/>
                <a:ea typeface="Inter Display"/>
                <a:cs typeface="Inter Display"/>
              </a:rPr>
              <a:t>Without Algorithm Metadata</a:t>
            </a:r>
            <a:endParaRPr sz="2900"/>
          </a:p>
        </p:txBody>
      </p:sp>
      <p:sp>
        <p:nvSpPr>
          <p:cNvPr id="5" name="Text 3">
            <a:extLst xmlns:a="http://schemas.openxmlformats.org/drawingml/2006/main">
              <a:ext uri="{FF2B5EF4-FFF2-40B4-BE49-F238E27FC236}">
                <a16:creationId xmlns:a16="http://schemas.microsoft.com/office/drawing/2014/main" id="{6E61DECB-1306-4685-A8FC-DC707FD917F6}"/>
              </a:ext>
            </a:extLst>
          </p:cNvPr>
          <p:cNvSpPr>
            <a:spLocks xmlns:a="http://schemas.openxmlformats.org/drawingml/2006/main" noGrp="1"/>
          </p:cNvSpPr>
          <p:nvPr/>
        </p:nvSpPr>
        <p:spPr>
          <a:xfrm xmlns:a="http://schemas.openxmlformats.org/drawingml/2006/main">
            <a:off x="804672" y="3703320"/>
            <a:ext cx="74980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43447"/>
                </a:solidFill>
                <a:latin typeface="Inter"/>
                <a:ea typeface="Inter"/>
                <a:cs typeface="Inter"/>
              </a:rPr>
              <a:t>Hyunjun Kim · Hwajeong Seo · Anupam Chattopadhyay</a:t>
            </a:r>
            <a:endParaRPr sz="2000"/>
          </a:p>
        </p:txBody>
      </p:sp>
      <p:sp>
        <p:nvSpPr>
          <p:cNvPr id="6" name="Text 4">
            <a:extLst xmlns:a="http://schemas.openxmlformats.org/drawingml/2006/main">
              <a:ext uri="{FF2B5EF4-FFF2-40B4-BE49-F238E27FC236}">
                <a16:creationId xmlns:a16="http://schemas.microsoft.com/office/drawing/2014/main" id="{748EAC82-3414-4011-B4CC-4444CBE44683}"/>
              </a:ext>
            </a:extLst>
          </p:cNvPr>
          <p:cNvSpPr>
            <a:spLocks xmlns:a="http://schemas.openxmlformats.org/drawingml/2006/main" noGrp="1"/>
          </p:cNvSpPr>
          <p:nvPr/>
        </p:nvSpPr>
        <p:spPr>
          <a:xfrm xmlns:a="http://schemas.openxmlformats.org/drawingml/2006/main">
            <a:off x="804672" y="4133088"/>
            <a:ext cx="7040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a:solidFill>
                  <a:srgbClr val="657487"/>
                </a:solidFill>
                <a:latin typeface="Inter"/>
                <a:ea typeface="Inter"/>
                <a:cs typeface="Inter"/>
              </a:rPr>
              <a:t>Nanyang Technological University · Hansung University</a:t>
            </a:r>
            <a:endParaRPr sz="1650"/>
          </a:p>
        </p:txBody>
      </p:sp>
      <p:sp>
        <p:nvSpPr>
          <p:cNvPr id="7" name="Text 5">
            <a:extLst xmlns:a="http://schemas.openxmlformats.org/drawingml/2006/main">
              <a:ext uri="{FF2B5EF4-FFF2-40B4-BE49-F238E27FC236}">
                <a16:creationId xmlns:a16="http://schemas.microsoft.com/office/drawing/2014/main" id="{0D81DE6C-AB87-475C-8CE5-7B3186BFB504}"/>
              </a:ext>
            </a:extLst>
          </p:cNvPr>
          <p:cNvSpPr>
            <a:spLocks xmlns:a="http://schemas.openxmlformats.org/drawingml/2006/main" noGrp="1"/>
          </p:cNvSpPr>
          <p:nvPr/>
        </p:nvSpPr>
        <p:spPr>
          <a:xfrm xmlns:a="http://schemas.openxmlformats.org/drawingml/2006/main">
            <a:off x="804672" y="4672584"/>
            <a:ext cx="1920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50" b="1">
                <a:solidFill>
                  <a:srgbClr val="2D74B8"/>
                </a:solidFill>
                <a:latin typeface="Inter Display"/>
                <a:ea typeface="Inter Display"/>
                <a:cs typeface="Inter Display"/>
              </a:rPr>
              <a:t>WISA 2026</a:t>
            </a:r>
            <a:endParaRPr sz="1850"/>
          </a:p>
        </p:txBody>
      </p:sp>
      <p:sp>
        <p:nvSpPr>
          <p:cNvPr id="8" name="Shape 6">
            <a:extLst xmlns:a="http://schemas.openxmlformats.org/drawingml/2006/main">
              <a:ext uri="{FF2B5EF4-FFF2-40B4-BE49-F238E27FC236}">
                <a16:creationId xmlns:a16="http://schemas.microsoft.com/office/drawing/2014/main" id="{759AC518-3D8C-4983-B525-7F53BCB627C5}"/>
              </a:ext>
            </a:extLst>
          </p:cNvPr>
          <p:cNvSpPr>
            <a:spLocks xmlns:a="http://schemas.openxmlformats.org/drawingml/2006/main" noGrp="1"/>
          </p:cNvSpPr>
          <p:nvPr/>
        </p:nvSpPr>
        <p:spPr>
          <a:xfrm xmlns:a="http://schemas.openxmlformats.org/drawingml/2006/main">
            <a:off x="7936992" y="676656"/>
            <a:ext cx="3529584" cy="5413248"/>
          </a:xfrm>
          <a:prstGeom xmlns:a="http://schemas.openxmlformats.org/drawingml/2006/main" prst="roundRect">
            <a:avLst>
              <a:gd name="adj" fmla="val 1554"/>
            </a:avLst>
          </a:prstGeom>
          <a:solidFill xmlns:a="http://schemas.openxmlformats.org/drawingml/2006/main">
            <a:srgbClr val="EAF3FA"/>
          </a:solidFill>
          <a:ln xmlns:a="http://schemas.openxmlformats.org/drawingml/2006/main" w="13970">
            <a:solidFill>
              <a:srgbClr val="EAF3FA"/>
            </a:solidFill>
            <a:prstDash val="solid"/>
          </a:ln>
        </p:spPr>
      </p:sp>
      <p:sp>
        <p:nvSpPr>
          <p:cNvPr id="9" name="Shape 7">
            <a:extLst xmlns:a="http://schemas.openxmlformats.org/drawingml/2006/main">
              <a:ext uri="{FF2B5EF4-FFF2-40B4-BE49-F238E27FC236}">
                <a16:creationId xmlns:a16="http://schemas.microsoft.com/office/drawing/2014/main" id="{BB768B3B-DF57-450C-B640-92363FF9E98D}"/>
              </a:ext>
            </a:extLst>
          </p:cNvPr>
          <p:cNvSpPr>
            <a:spLocks xmlns:a="http://schemas.openxmlformats.org/drawingml/2006/main" noGrp="1"/>
          </p:cNvSpPr>
          <p:nvPr/>
        </p:nvSpPr>
        <p:spPr>
          <a:xfrm xmlns:a="http://schemas.openxmlformats.org/drawingml/2006/main">
            <a:off x="8394192" y="1078992"/>
            <a:ext cx="2606040" cy="384048"/>
          </a:xfrm>
          <a:prstGeom xmlns:a="http://schemas.openxmlformats.org/drawingml/2006/main" prst="rect">
            <a:avLst/>
          </a:prstGeom>
          <a:solidFill xmlns:a="http://schemas.openxmlformats.org/drawingml/2006/main">
            <a:srgbClr val="FFFFFF">
              <a:alpha val="82000"/>
            </a:srgbClr>
          </a:solidFill>
          <a:ln xmlns:a="http://schemas.openxmlformats.org/drawingml/2006/main" w="12700">
            <a:solidFill>
              <a:srgbClr val="FFFFFF">
                <a:alpha val="0"/>
              </a:srgbClr>
            </a:solidFill>
            <a:prstDash val="solid"/>
          </a:ln>
        </p:spPr>
      </p:sp>
      <p:sp>
        <p:nvSpPr>
          <p:cNvPr id="10" name="Text 8">
            <a:extLst xmlns:a="http://schemas.openxmlformats.org/drawingml/2006/main">
              <a:ext uri="{FF2B5EF4-FFF2-40B4-BE49-F238E27FC236}">
                <a16:creationId xmlns:a16="http://schemas.microsoft.com/office/drawing/2014/main" id="{E2F91100-897D-47EA-984E-41A47687F89A}"/>
              </a:ext>
            </a:extLst>
          </p:cNvPr>
          <p:cNvSpPr>
            <a:spLocks xmlns:a="http://schemas.openxmlformats.org/drawingml/2006/main" noGrp="1"/>
          </p:cNvSpPr>
          <p:nvPr/>
        </p:nvSpPr>
        <p:spPr>
          <a:xfrm xmlns:a="http://schemas.openxmlformats.org/drawingml/2006/main">
            <a:off x="8558784" y="112471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2D74B8"/>
                </a:solidFill>
                <a:latin typeface="Inter"/>
                <a:ea typeface="Inter"/>
                <a:cs typeface="Inter"/>
              </a:rPr>
              <a:t>UNLABELED TRACE</a:t>
            </a:r>
            <a:endParaRPr sz="1500"/>
          </a:p>
        </p:txBody>
      </p:sp>
      <p:pic>
        <p:nvPicPr>
          <p:cNvPr id="52" name="Image 0"/>
          <p:cNvPicPr>
            <a:picLocks xmlns:a="http://schemas.openxmlformats.org/drawingml/2006/main" noChangeAspect="1"/>
          </p:cNvPicPr>
          <p:nvPr/>
        </p:nvPicPr>
        <p:blipFill>
          <a:blip xmlns:r="http://schemas.openxmlformats.org/officeDocument/2006/relationships" xmlns:a="http://schemas.openxmlformats.org/drawingml/2006/main" r:embed="Rfaaca00e22c34987">
            <a:extLst>
              <a:ext uri="{96DAC541-7B7A-43D3-8B79-37D633B846F1}">
                <asvg:svgBlip xmlns:asvg="http://schemas.microsoft.com/office/drawing/2016/SVG/main" r:embed="R021f6d632c9843b6"/>
              </a:ext>
            </a:extLst>
          </a:blip>
          <a:stretch xmlns:a="http://schemas.openxmlformats.org/drawingml/2006/main">
            <a:fillRect l="0" t="0" r="0" b="0"/>
          </a:stretch>
        </p:blipFill>
        <p:spPr>
          <a:xfrm xmlns:a="http://schemas.openxmlformats.org/drawingml/2006/main">
            <a:off x="8247888" y="1627632"/>
            <a:ext cx="2907792" cy="685800"/>
          </a:xfrm>
          <a:prstGeom xmlns:a="http://schemas.openxmlformats.org/drawingml/2006/main" prst="rect">
            <a:avLst/>
          </a:prstGeom>
        </p:spPr>
      </p:pic>
      <p:sp>
        <p:nvSpPr>
          <p:cNvPr id="12" name="Text 9">
            <a:extLst xmlns:a="http://schemas.openxmlformats.org/drawingml/2006/main">
              <a:ext uri="{FF2B5EF4-FFF2-40B4-BE49-F238E27FC236}">
                <a16:creationId xmlns:a16="http://schemas.microsoft.com/office/drawing/2014/main" id="{1D861094-427E-454A-9F07-0851945F32C9}"/>
              </a:ext>
            </a:extLst>
          </p:cNvPr>
          <p:cNvSpPr>
            <a:spLocks xmlns:a="http://schemas.openxmlformats.org/drawingml/2006/main" noGrp="1"/>
          </p:cNvSpPr>
          <p:nvPr/>
        </p:nvSpPr>
        <p:spPr>
          <a:xfrm xmlns:a="http://schemas.openxmlformats.org/drawingml/2006/main">
            <a:off x="9372600" y="2459736"/>
            <a:ext cx="7315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2D74B8"/>
                </a:solidFill>
                <a:latin typeface="Inter Display"/>
                <a:ea typeface="Inter Display"/>
                <a:cs typeface="Inter Display"/>
              </a:rPr>
              <a:t>?</a:t>
            </a:r>
            <a:endParaRPr sz="5200"/>
          </a:p>
        </p:txBody>
      </p:sp>
      <p:sp>
        <p:nvSpPr>
          <p:cNvPr id="13" name="Shape 10">
            <a:extLst xmlns:a="http://schemas.openxmlformats.org/drawingml/2006/main">
              <a:ext uri="{FF2B5EF4-FFF2-40B4-BE49-F238E27FC236}">
                <a16:creationId xmlns:a16="http://schemas.microsoft.com/office/drawing/2014/main" id="{98398118-209C-4BC5-8CA9-7BE6F9257A23}"/>
              </a:ext>
            </a:extLst>
          </p:cNvPr>
          <p:cNvSpPr>
            <a:spLocks xmlns:a="http://schemas.openxmlformats.org/drawingml/2006/main" noGrp="1"/>
          </p:cNvSpPr>
          <p:nvPr/>
        </p:nvSpPr>
        <p:spPr>
          <a:xfrm xmlns:a="http://schemas.openxmlformats.org/drawingml/2006/main">
            <a:off x="9738360" y="3154680"/>
            <a:ext cx="0" cy="457200"/>
          </a:xfrm>
          <a:prstGeom xmlns:a="http://schemas.openxmlformats.org/drawingml/2006/main" prst="line">
            <a:avLst/>
          </a:prstGeom>
          <a:noFill xmlns:a="http://schemas.openxmlformats.org/drawingml/2006/main"/>
          <a:ln xmlns:a="http://schemas.openxmlformats.org/drawingml/2006/main" w="25400">
            <a:solidFill>
              <a:srgbClr val="2D74B8"/>
            </a:solidFill>
            <a:prstDash val="solid"/>
            <a:tailEnd type="triangle"/>
          </a:ln>
        </p:spPr>
      </p:sp>
      <p:sp>
        <p:nvSpPr>
          <p:cNvPr id="14" name="Shape 11">
            <a:extLst xmlns:a="http://schemas.openxmlformats.org/drawingml/2006/main">
              <a:ext uri="{FF2B5EF4-FFF2-40B4-BE49-F238E27FC236}">
                <a16:creationId xmlns:a16="http://schemas.microsoft.com/office/drawing/2014/main" id="{01C432C0-D0A6-43F8-A768-568F29D6492C}"/>
              </a:ext>
            </a:extLst>
          </p:cNvPr>
          <p:cNvSpPr>
            <a:spLocks xmlns:a="http://schemas.openxmlformats.org/drawingml/2006/main" noGrp="1"/>
          </p:cNvSpPr>
          <p:nvPr/>
        </p:nvSpPr>
        <p:spPr>
          <a:xfrm xmlns:a="http://schemas.openxmlformats.org/drawingml/2006/main">
            <a:off x="8467344" y="381304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15" name="Shape 12">
            <a:extLst xmlns:a="http://schemas.openxmlformats.org/drawingml/2006/main">
              <a:ext uri="{FF2B5EF4-FFF2-40B4-BE49-F238E27FC236}">
                <a16:creationId xmlns:a16="http://schemas.microsoft.com/office/drawing/2014/main" id="{77CB2681-ECBE-414A-AC6C-ECAD3CAF7D91}"/>
              </a:ext>
            </a:extLst>
          </p:cNvPr>
          <p:cNvSpPr>
            <a:spLocks xmlns:a="http://schemas.openxmlformats.org/drawingml/2006/main" noGrp="1"/>
          </p:cNvSpPr>
          <p:nvPr/>
        </p:nvSpPr>
        <p:spPr>
          <a:xfrm xmlns:a="http://schemas.openxmlformats.org/drawingml/2006/main">
            <a:off x="8823960" y="381304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16" name="Shape 13">
            <a:extLst xmlns:a="http://schemas.openxmlformats.org/drawingml/2006/main">
              <a:ext uri="{FF2B5EF4-FFF2-40B4-BE49-F238E27FC236}">
                <a16:creationId xmlns:a16="http://schemas.microsoft.com/office/drawing/2014/main" id="{A20377FE-4485-4558-8E3E-2C01B0BA63F3}"/>
              </a:ext>
            </a:extLst>
          </p:cNvPr>
          <p:cNvSpPr>
            <a:spLocks xmlns:a="http://schemas.openxmlformats.org/drawingml/2006/main" noGrp="1"/>
          </p:cNvSpPr>
          <p:nvPr/>
        </p:nvSpPr>
        <p:spPr>
          <a:xfrm xmlns:a="http://schemas.openxmlformats.org/drawingml/2006/main">
            <a:off x="9180576" y="3813048"/>
            <a:ext cx="246888" cy="192024"/>
          </a:xfrm>
          <a:prstGeom xmlns:a="http://schemas.openxmlformats.org/drawingml/2006/main" prst="rect">
            <a:avLst/>
          </a:prstGeom>
          <a:solidFill xmlns:a="http://schemas.openxmlformats.org/drawingml/2006/main">
            <a:srgbClr val="E6A03A">
              <a:alpha val="95000"/>
            </a:srgbClr>
          </a:solidFill>
          <a:ln xmlns:a="http://schemas.openxmlformats.org/drawingml/2006/main" w="8890">
            <a:solidFill>
              <a:srgbClr val="E6A03A"/>
            </a:solidFill>
            <a:prstDash val="solid"/>
          </a:ln>
        </p:spPr>
      </p:sp>
      <p:sp>
        <p:nvSpPr>
          <p:cNvPr id="17" name="Shape 14">
            <a:extLst xmlns:a="http://schemas.openxmlformats.org/drawingml/2006/main">
              <a:ext uri="{FF2B5EF4-FFF2-40B4-BE49-F238E27FC236}">
                <a16:creationId xmlns:a16="http://schemas.microsoft.com/office/drawing/2014/main" id="{66C4F7D6-6641-4B8D-89A7-EFD26879371C}"/>
              </a:ext>
            </a:extLst>
          </p:cNvPr>
          <p:cNvSpPr>
            <a:spLocks xmlns:a="http://schemas.openxmlformats.org/drawingml/2006/main" noGrp="1"/>
          </p:cNvSpPr>
          <p:nvPr/>
        </p:nvSpPr>
        <p:spPr>
          <a:xfrm xmlns:a="http://schemas.openxmlformats.org/drawingml/2006/main">
            <a:off x="9537192" y="381304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18" name="Shape 15">
            <a:extLst xmlns:a="http://schemas.openxmlformats.org/drawingml/2006/main">
              <a:ext uri="{FF2B5EF4-FFF2-40B4-BE49-F238E27FC236}">
                <a16:creationId xmlns:a16="http://schemas.microsoft.com/office/drawing/2014/main" id="{4530F8B1-947D-4117-A851-8AB6479AD6F4}"/>
              </a:ext>
            </a:extLst>
          </p:cNvPr>
          <p:cNvSpPr>
            <a:spLocks xmlns:a="http://schemas.openxmlformats.org/drawingml/2006/main" noGrp="1"/>
          </p:cNvSpPr>
          <p:nvPr/>
        </p:nvSpPr>
        <p:spPr>
          <a:xfrm xmlns:a="http://schemas.openxmlformats.org/drawingml/2006/main">
            <a:off x="9893808" y="381304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19" name="Shape 16">
            <a:extLst xmlns:a="http://schemas.openxmlformats.org/drawingml/2006/main">
              <a:ext uri="{FF2B5EF4-FFF2-40B4-BE49-F238E27FC236}">
                <a16:creationId xmlns:a16="http://schemas.microsoft.com/office/drawing/2014/main" id="{53A49D5F-9858-429E-B3C0-7AA4C63CCC41}"/>
              </a:ext>
            </a:extLst>
          </p:cNvPr>
          <p:cNvSpPr>
            <a:spLocks xmlns:a="http://schemas.openxmlformats.org/drawingml/2006/main" noGrp="1"/>
          </p:cNvSpPr>
          <p:nvPr/>
        </p:nvSpPr>
        <p:spPr>
          <a:xfrm xmlns:a="http://schemas.openxmlformats.org/drawingml/2006/main">
            <a:off x="10250424" y="3813048"/>
            <a:ext cx="246888" cy="192024"/>
          </a:xfrm>
          <a:prstGeom xmlns:a="http://schemas.openxmlformats.org/drawingml/2006/main" prst="rect">
            <a:avLst/>
          </a:prstGeom>
          <a:solidFill xmlns:a="http://schemas.openxmlformats.org/drawingml/2006/main">
            <a:srgbClr val="E6A03A">
              <a:alpha val="95000"/>
            </a:srgbClr>
          </a:solidFill>
          <a:ln xmlns:a="http://schemas.openxmlformats.org/drawingml/2006/main" w="8890">
            <a:solidFill>
              <a:srgbClr val="E6A03A"/>
            </a:solidFill>
            <a:prstDash val="solid"/>
          </a:ln>
        </p:spPr>
      </p:sp>
      <p:sp>
        <p:nvSpPr>
          <p:cNvPr id="20" name="Shape 17">
            <a:extLst xmlns:a="http://schemas.openxmlformats.org/drawingml/2006/main">
              <a:ext uri="{FF2B5EF4-FFF2-40B4-BE49-F238E27FC236}">
                <a16:creationId xmlns:a16="http://schemas.microsoft.com/office/drawing/2014/main" id="{2E50C258-1426-4454-B7C4-CFF1A1E19CD2}"/>
              </a:ext>
            </a:extLst>
          </p:cNvPr>
          <p:cNvSpPr>
            <a:spLocks xmlns:a="http://schemas.openxmlformats.org/drawingml/2006/main" noGrp="1"/>
          </p:cNvSpPr>
          <p:nvPr/>
        </p:nvSpPr>
        <p:spPr>
          <a:xfrm xmlns:a="http://schemas.openxmlformats.org/drawingml/2006/main">
            <a:off x="10607040" y="381304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21" name="Shape 18">
            <a:extLst xmlns:a="http://schemas.openxmlformats.org/drawingml/2006/main">
              <a:ext uri="{FF2B5EF4-FFF2-40B4-BE49-F238E27FC236}">
                <a16:creationId xmlns:a16="http://schemas.microsoft.com/office/drawing/2014/main" id="{3E206959-C149-4D70-9784-08FCDD46F0DA}"/>
              </a:ext>
            </a:extLst>
          </p:cNvPr>
          <p:cNvSpPr>
            <a:spLocks xmlns:a="http://schemas.openxmlformats.org/drawingml/2006/main" noGrp="1"/>
          </p:cNvSpPr>
          <p:nvPr/>
        </p:nvSpPr>
        <p:spPr>
          <a:xfrm xmlns:a="http://schemas.openxmlformats.org/drawingml/2006/main">
            <a:off x="8467344" y="413308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22" name="Shape 19">
            <a:extLst xmlns:a="http://schemas.openxmlformats.org/drawingml/2006/main">
              <a:ext uri="{FF2B5EF4-FFF2-40B4-BE49-F238E27FC236}">
                <a16:creationId xmlns:a16="http://schemas.microsoft.com/office/drawing/2014/main" id="{86811F93-EA92-4C55-8EB9-EBAEC241B3E3}"/>
              </a:ext>
            </a:extLst>
          </p:cNvPr>
          <p:cNvSpPr>
            <a:spLocks xmlns:a="http://schemas.openxmlformats.org/drawingml/2006/main" noGrp="1"/>
          </p:cNvSpPr>
          <p:nvPr/>
        </p:nvSpPr>
        <p:spPr>
          <a:xfrm xmlns:a="http://schemas.openxmlformats.org/drawingml/2006/main">
            <a:off x="8823960" y="413308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23" name="Shape 20">
            <a:extLst xmlns:a="http://schemas.openxmlformats.org/drawingml/2006/main">
              <a:ext uri="{FF2B5EF4-FFF2-40B4-BE49-F238E27FC236}">
                <a16:creationId xmlns:a16="http://schemas.microsoft.com/office/drawing/2014/main" id="{03376035-D8BD-4DFB-9940-7E15DCF6DB9F}"/>
              </a:ext>
            </a:extLst>
          </p:cNvPr>
          <p:cNvSpPr>
            <a:spLocks xmlns:a="http://schemas.openxmlformats.org/drawingml/2006/main" noGrp="1"/>
          </p:cNvSpPr>
          <p:nvPr/>
        </p:nvSpPr>
        <p:spPr>
          <a:xfrm xmlns:a="http://schemas.openxmlformats.org/drawingml/2006/main">
            <a:off x="9180576" y="4133088"/>
            <a:ext cx="246888" cy="192024"/>
          </a:xfrm>
          <a:prstGeom xmlns:a="http://schemas.openxmlformats.org/drawingml/2006/main" prst="rect">
            <a:avLst/>
          </a:prstGeom>
          <a:solidFill xmlns:a="http://schemas.openxmlformats.org/drawingml/2006/main">
            <a:srgbClr val="E6A03A">
              <a:alpha val="95000"/>
            </a:srgbClr>
          </a:solidFill>
          <a:ln xmlns:a="http://schemas.openxmlformats.org/drawingml/2006/main" w="8890">
            <a:solidFill>
              <a:srgbClr val="E6A03A"/>
            </a:solidFill>
            <a:prstDash val="solid"/>
          </a:ln>
        </p:spPr>
      </p:sp>
      <p:sp>
        <p:nvSpPr>
          <p:cNvPr id="24" name="Shape 21">
            <a:extLst xmlns:a="http://schemas.openxmlformats.org/drawingml/2006/main">
              <a:ext uri="{FF2B5EF4-FFF2-40B4-BE49-F238E27FC236}">
                <a16:creationId xmlns:a16="http://schemas.microsoft.com/office/drawing/2014/main" id="{1008B101-0F51-4AF4-A7FC-5E8151E0E6E3}"/>
              </a:ext>
            </a:extLst>
          </p:cNvPr>
          <p:cNvSpPr>
            <a:spLocks xmlns:a="http://schemas.openxmlformats.org/drawingml/2006/main" noGrp="1"/>
          </p:cNvSpPr>
          <p:nvPr/>
        </p:nvSpPr>
        <p:spPr>
          <a:xfrm xmlns:a="http://schemas.openxmlformats.org/drawingml/2006/main">
            <a:off x="9537192" y="413308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25" name="Shape 22">
            <a:extLst xmlns:a="http://schemas.openxmlformats.org/drawingml/2006/main">
              <a:ext uri="{FF2B5EF4-FFF2-40B4-BE49-F238E27FC236}">
                <a16:creationId xmlns:a16="http://schemas.microsoft.com/office/drawing/2014/main" id="{65E2039D-6CBB-4CCB-A777-2DA41F4EDC06}"/>
              </a:ext>
            </a:extLst>
          </p:cNvPr>
          <p:cNvSpPr>
            <a:spLocks xmlns:a="http://schemas.openxmlformats.org/drawingml/2006/main" noGrp="1"/>
          </p:cNvSpPr>
          <p:nvPr/>
        </p:nvSpPr>
        <p:spPr>
          <a:xfrm xmlns:a="http://schemas.openxmlformats.org/drawingml/2006/main">
            <a:off x="9893808" y="413308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26" name="Shape 23">
            <a:extLst xmlns:a="http://schemas.openxmlformats.org/drawingml/2006/main">
              <a:ext uri="{FF2B5EF4-FFF2-40B4-BE49-F238E27FC236}">
                <a16:creationId xmlns:a16="http://schemas.microsoft.com/office/drawing/2014/main" id="{B213E47F-4364-46A4-AEC7-6FFA06AE6C38}"/>
              </a:ext>
            </a:extLst>
          </p:cNvPr>
          <p:cNvSpPr>
            <a:spLocks xmlns:a="http://schemas.openxmlformats.org/drawingml/2006/main" noGrp="1"/>
          </p:cNvSpPr>
          <p:nvPr/>
        </p:nvSpPr>
        <p:spPr>
          <a:xfrm xmlns:a="http://schemas.openxmlformats.org/drawingml/2006/main">
            <a:off x="10250424" y="4133088"/>
            <a:ext cx="246888" cy="192024"/>
          </a:xfrm>
          <a:prstGeom xmlns:a="http://schemas.openxmlformats.org/drawingml/2006/main" prst="rect">
            <a:avLst/>
          </a:prstGeom>
          <a:solidFill xmlns:a="http://schemas.openxmlformats.org/drawingml/2006/main">
            <a:srgbClr val="E6A03A">
              <a:alpha val="95000"/>
            </a:srgbClr>
          </a:solidFill>
          <a:ln xmlns:a="http://schemas.openxmlformats.org/drawingml/2006/main" w="8890">
            <a:solidFill>
              <a:srgbClr val="E6A03A"/>
            </a:solidFill>
            <a:prstDash val="solid"/>
          </a:ln>
        </p:spPr>
      </p:sp>
      <p:sp>
        <p:nvSpPr>
          <p:cNvPr id="27" name="Shape 24">
            <a:extLst xmlns:a="http://schemas.openxmlformats.org/drawingml/2006/main">
              <a:ext uri="{FF2B5EF4-FFF2-40B4-BE49-F238E27FC236}">
                <a16:creationId xmlns:a16="http://schemas.microsoft.com/office/drawing/2014/main" id="{DEF35ABB-E2EB-4725-BF73-7A59A65D0183}"/>
              </a:ext>
            </a:extLst>
          </p:cNvPr>
          <p:cNvSpPr>
            <a:spLocks xmlns:a="http://schemas.openxmlformats.org/drawingml/2006/main" noGrp="1"/>
          </p:cNvSpPr>
          <p:nvPr/>
        </p:nvSpPr>
        <p:spPr>
          <a:xfrm xmlns:a="http://schemas.openxmlformats.org/drawingml/2006/main">
            <a:off x="10607040" y="413308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28" name="Shape 25">
            <a:extLst xmlns:a="http://schemas.openxmlformats.org/drawingml/2006/main">
              <a:ext uri="{FF2B5EF4-FFF2-40B4-BE49-F238E27FC236}">
                <a16:creationId xmlns:a16="http://schemas.microsoft.com/office/drawing/2014/main" id="{A4BDDFBA-4304-45AC-A48A-D2F0A3005445}"/>
              </a:ext>
            </a:extLst>
          </p:cNvPr>
          <p:cNvSpPr>
            <a:spLocks xmlns:a="http://schemas.openxmlformats.org/drawingml/2006/main" noGrp="1"/>
          </p:cNvSpPr>
          <p:nvPr/>
        </p:nvSpPr>
        <p:spPr>
          <a:xfrm xmlns:a="http://schemas.openxmlformats.org/drawingml/2006/main">
            <a:off x="8467344" y="445312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29" name="Shape 26">
            <a:extLst xmlns:a="http://schemas.openxmlformats.org/drawingml/2006/main">
              <a:ext uri="{FF2B5EF4-FFF2-40B4-BE49-F238E27FC236}">
                <a16:creationId xmlns:a16="http://schemas.microsoft.com/office/drawing/2014/main" id="{9012E5BF-5982-4A61-BE27-B2F5C7F40335}"/>
              </a:ext>
            </a:extLst>
          </p:cNvPr>
          <p:cNvSpPr>
            <a:spLocks xmlns:a="http://schemas.openxmlformats.org/drawingml/2006/main" noGrp="1"/>
          </p:cNvSpPr>
          <p:nvPr/>
        </p:nvSpPr>
        <p:spPr>
          <a:xfrm xmlns:a="http://schemas.openxmlformats.org/drawingml/2006/main">
            <a:off x="8823960" y="445312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30" name="Shape 27">
            <a:extLst xmlns:a="http://schemas.openxmlformats.org/drawingml/2006/main">
              <a:ext uri="{FF2B5EF4-FFF2-40B4-BE49-F238E27FC236}">
                <a16:creationId xmlns:a16="http://schemas.microsoft.com/office/drawing/2014/main" id="{DE1F3223-42D0-47AE-AC67-123F8FFC443C}"/>
              </a:ext>
            </a:extLst>
          </p:cNvPr>
          <p:cNvSpPr>
            <a:spLocks xmlns:a="http://schemas.openxmlformats.org/drawingml/2006/main" noGrp="1"/>
          </p:cNvSpPr>
          <p:nvPr/>
        </p:nvSpPr>
        <p:spPr>
          <a:xfrm xmlns:a="http://schemas.openxmlformats.org/drawingml/2006/main">
            <a:off x="9180576" y="4453128"/>
            <a:ext cx="246888" cy="192024"/>
          </a:xfrm>
          <a:prstGeom xmlns:a="http://schemas.openxmlformats.org/drawingml/2006/main" prst="rect">
            <a:avLst/>
          </a:prstGeom>
          <a:solidFill xmlns:a="http://schemas.openxmlformats.org/drawingml/2006/main">
            <a:srgbClr val="E6A03A">
              <a:alpha val="95000"/>
            </a:srgbClr>
          </a:solidFill>
          <a:ln xmlns:a="http://schemas.openxmlformats.org/drawingml/2006/main" w="8890">
            <a:solidFill>
              <a:srgbClr val="E6A03A"/>
            </a:solidFill>
            <a:prstDash val="solid"/>
          </a:ln>
        </p:spPr>
      </p:sp>
      <p:sp>
        <p:nvSpPr>
          <p:cNvPr id="31" name="Shape 28">
            <a:extLst xmlns:a="http://schemas.openxmlformats.org/drawingml/2006/main">
              <a:ext uri="{FF2B5EF4-FFF2-40B4-BE49-F238E27FC236}">
                <a16:creationId xmlns:a16="http://schemas.microsoft.com/office/drawing/2014/main" id="{CEDC9340-B99A-41B5-BC02-5DA9D78B8595}"/>
              </a:ext>
            </a:extLst>
          </p:cNvPr>
          <p:cNvSpPr>
            <a:spLocks xmlns:a="http://schemas.openxmlformats.org/drawingml/2006/main" noGrp="1"/>
          </p:cNvSpPr>
          <p:nvPr/>
        </p:nvSpPr>
        <p:spPr>
          <a:xfrm xmlns:a="http://schemas.openxmlformats.org/drawingml/2006/main">
            <a:off x="9537192" y="445312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32" name="Shape 29">
            <a:extLst xmlns:a="http://schemas.openxmlformats.org/drawingml/2006/main">
              <a:ext uri="{FF2B5EF4-FFF2-40B4-BE49-F238E27FC236}">
                <a16:creationId xmlns:a16="http://schemas.microsoft.com/office/drawing/2014/main" id="{3F17AB74-96BC-4A4A-9BFF-6FCE975F4752}"/>
              </a:ext>
            </a:extLst>
          </p:cNvPr>
          <p:cNvSpPr>
            <a:spLocks xmlns:a="http://schemas.openxmlformats.org/drawingml/2006/main" noGrp="1"/>
          </p:cNvSpPr>
          <p:nvPr/>
        </p:nvSpPr>
        <p:spPr>
          <a:xfrm xmlns:a="http://schemas.openxmlformats.org/drawingml/2006/main">
            <a:off x="9893808" y="445312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33" name="Shape 30">
            <a:extLst xmlns:a="http://schemas.openxmlformats.org/drawingml/2006/main">
              <a:ext uri="{FF2B5EF4-FFF2-40B4-BE49-F238E27FC236}">
                <a16:creationId xmlns:a16="http://schemas.microsoft.com/office/drawing/2014/main" id="{67A1DFA8-DCFA-4276-942B-DCD831DFC2BF}"/>
              </a:ext>
            </a:extLst>
          </p:cNvPr>
          <p:cNvSpPr>
            <a:spLocks xmlns:a="http://schemas.openxmlformats.org/drawingml/2006/main" noGrp="1"/>
          </p:cNvSpPr>
          <p:nvPr/>
        </p:nvSpPr>
        <p:spPr>
          <a:xfrm xmlns:a="http://schemas.openxmlformats.org/drawingml/2006/main">
            <a:off x="10250424" y="4453128"/>
            <a:ext cx="246888" cy="192024"/>
          </a:xfrm>
          <a:prstGeom xmlns:a="http://schemas.openxmlformats.org/drawingml/2006/main" prst="rect">
            <a:avLst/>
          </a:prstGeom>
          <a:solidFill xmlns:a="http://schemas.openxmlformats.org/drawingml/2006/main">
            <a:srgbClr val="E6A03A">
              <a:alpha val="95000"/>
            </a:srgbClr>
          </a:solidFill>
          <a:ln xmlns:a="http://schemas.openxmlformats.org/drawingml/2006/main" w="8890">
            <a:solidFill>
              <a:srgbClr val="E6A03A"/>
            </a:solidFill>
            <a:prstDash val="solid"/>
          </a:ln>
        </p:spPr>
      </p:sp>
      <p:sp>
        <p:nvSpPr>
          <p:cNvPr id="34" name="Shape 31">
            <a:extLst xmlns:a="http://schemas.openxmlformats.org/drawingml/2006/main">
              <a:ext uri="{FF2B5EF4-FFF2-40B4-BE49-F238E27FC236}">
                <a16:creationId xmlns:a16="http://schemas.microsoft.com/office/drawing/2014/main" id="{46260FEF-E7A3-49E8-B46A-7CF88D0E4B1A}"/>
              </a:ext>
            </a:extLst>
          </p:cNvPr>
          <p:cNvSpPr>
            <a:spLocks xmlns:a="http://schemas.openxmlformats.org/drawingml/2006/main" noGrp="1"/>
          </p:cNvSpPr>
          <p:nvPr/>
        </p:nvSpPr>
        <p:spPr>
          <a:xfrm xmlns:a="http://schemas.openxmlformats.org/drawingml/2006/main">
            <a:off x="10607040" y="445312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35" name="Shape 32">
            <a:extLst xmlns:a="http://schemas.openxmlformats.org/drawingml/2006/main">
              <a:ext uri="{FF2B5EF4-FFF2-40B4-BE49-F238E27FC236}">
                <a16:creationId xmlns:a16="http://schemas.microsoft.com/office/drawing/2014/main" id="{88584228-DE09-4C5B-9A85-B9FAE8CC3911}"/>
              </a:ext>
            </a:extLst>
          </p:cNvPr>
          <p:cNvSpPr>
            <a:spLocks xmlns:a="http://schemas.openxmlformats.org/drawingml/2006/main" noGrp="1"/>
          </p:cNvSpPr>
          <p:nvPr/>
        </p:nvSpPr>
        <p:spPr>
          <a:xfrm xmlns:a="http://schemas.openxmlformats.org/drawingml/2006/main">
            <a:off x="8467344" y="477316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36" name="Shape 33">
            <a:extLst xmlns:a="http://schemas.openxmlformats.org/drawingml/2006/main">
              <a:ext uri="{FF2B5EF4-FFF2-40B4-BE49-F238E27FC236}">
                <a16:creationId xmlns:a16="http://schemas.microsoft.com/office/drawing/2014/main" id="{0C709524-AFFF-40D5-877F-A4C914FC1A3C}"/>
              </a:ext>
            </a:extLst>
          </p:cNvPr>
          <p:cNvSpPr>
            <a:spLocks xmlns:a="http://schemas.openxmlformats.org/drawingml/2006/main" noGrp="1"/>
          </p:cNvSpPr>
          <p:nvPr/>
        </p:nvSpPr>
        <p:spPr>
          <a:xfrm xmlns:a="http://schemas.openxmlformats.org/drawingml/2006/main">
            <a:off x="8823960" y="477316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37" name="Shape 34">
            <a:extLst xmlns:a="http://schemas.openxmlformats.org/drawingml/2006/main">
              <a:ext uri="{FF2B5EF4-FFF2-40B4-BE49-F238E27FC236}">
                <a16:creationId xmlns:a16="http://schemas.microsoft.com/office/drawing/2014/main" id="{302F8182-1315-4025-8ABF-20CBB8E4E10D}"/>
              </a:ext>
            </a:extLst>
          </p:cNvPr>
          <p:cNvSpPr>
            <a:spLocks xmlns:a="http://schemas.openxmlformats.org/drawingml/2006/main" noGrp="1"/>
          </p:cNvSpPr>
          <p:nvPr/>
        </p:nvSpPr>
        <p:spPr>
          <a:xfrm xmlns:a="http://schemas.openxmlformats.org/drawingml/2006/main">
            <a:off x="9180576" y="4773168"/>
            <a:ext cx="246888" cy="192024"/>
          </a:xfrm>
          <a:prstGeom xmlns:a="http://schemas.openxmlformats.org/drawingml/2006/main" prst="rect">
            <a:avLst/>
          </a:prstGeom>
          <a:solidFill xmlns:a="http://schemas.openxmlformats.org/drawingml/2006/main">
            <a:srgbClr val="E6A03A">
              <a:alpha val="95000"/>
            </a:srgbClr>
          </a:solidFill>
          <a:ln xmlns:a="http://schemas.openxmlformats.org/drawingml/2006/main" w="8890">
            <a:solidFill>
              <a:srgbClr val="E6A03A"/>
            </a:solidFill>
            <a:prstDash val="solid"/>
          </a:ln>
        </p:spPr>
      </p:sp>
      <p:sp>
        <p:nvSpPr>
          <p:cNvPr id="38" name="Shape 35">
            <a:extLst xmlns:a="http://schemas.openxmlformats.org/drawingml/2006/main">
              <a:ext uri="{FF2B5EF4-FFF2-40B4-BE49-F238E27FC236}">
                <a16:creationId xmlns:a16="http://schemas.microsoft.com/office/drawing/2014/main" id="{1A1952AC-7B6A-4022-A3B8-23E2D25264A7}"/>
              </a:ext>
            </a:extLst>
          </p:cNvPr>
          <p:cNvSpPr>
            <a:spLocks xmlns:a="http://schemas.openxmlformats.org/drawingml/2006/main" noGrp="1"/>
          </p:cNvSpPr>
          <p:nvPr/>
        </p:nvSpPr>
        <p:spPr>
          <a:xfrm xmlns:a="http://schemas.openxmlformats.org/drawingml/2006/main">
            <a:off x="9537192" y="477316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39" name="Shape 36">
            <a:extLst xmlns:a="http://schemas.openxmlformats.org/drawingml/2006/main">
              <a:ext uri="{FF2B5EF4-FFF2-40B4-BE49-F238E27FC236}">
                <a16:creationId xmlns:a16="http://schemas.microsoft.com/office/drawing/2014/main" id="{50783839-EB63-4DAC-8B08-573C2DE7622D}"/>
              </a:ext>
            </a:extLst>
          </p:cNvPr>
          <p:cNvSpPr>
            <a:spLocks xmlns:a="http://schemas.openxmlformats.org/drawingml/2006/main" noGrp="1"/>
          </p:cNvSpPr>
          <p:nvPr/>
        </p:nvSpPr>
        <p:spPr>
          <a:xfrm xmlns:a="http://schemas.openxmlformats.org/drawingml/2006/main">
            <a:off x="9893808" y="477316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40" name="Shape 37">
            <a:extLst xmlns:a="http://schemas.openxmlformats.org/drawingml/2006/main">
              <a:ext uri="{FF2B5EF4-FFF2-40B4-BE49-F238E27FC236}">
                <a16:creationId xmlns:a16="http://schemas.microsoft.com/office/drawing/2014/main" id="{24649AED-55FA-4CDD-8054-EFFCE09ADE9C}"/>
              </a:ext>
            </a:extLst>
          </p:cNvPr>
          <p:cNvSpPr>
            <a:spLocks xmlns:a="http://schemas.openxmlformats.org/drawingml/2006/main" noGrp="1"/>
          </p:cNvSpPr>
          <p:nvPr/>
        </p:nvSpPr>
        <p:spPr>
          <a:xfrm xmlns:a="http://schemas.openxmlformats.org/drawingml/2006/main">
            <a:off x="10250424" y="4773168"/>
            <a:ext cx="246888" cy="192024"/>
          </a:xfrm>
          <a:prstGeom xmlns:a="http://schemas.openxmlformats.org/drawingml/2006/main" prst="rect">
            <a:avLst/>
          </a:prstGeom>
          <a:solidFill xmlns:a="http://schemas.openxmlformats.org/drawingml/2006/main">
            <a:srgbClr val="E6A03A">
              <a:alpha val="95000"/>
            </a:srgbClr>
          </a:solidFill>
          <a:ln xmlns:a="http://schemas.openxmlformats.org/drawingml/2006/main" w="8890">
            <a:solidFill>
              <a:srgbClr val="E6A03A"/>
            </a:solidFill>
            <a:prstDash val="solid"/>
          </a:ln>
        </p:spPr>
      </p:sp>
      <p:sp>
        <p:nvSpPr>
          <p:cNvPr id="41" name="Shape 38">
            <a:extLst xmlns:a="http://schemas.openxmlformats.org/drawingml/2006/main">
              <a:ext uri="{FF2B5EF4-FFF2-40B4-BE49-F238E27FC236}">
                <a16:creationId xmlns:a16="http://schemas.microsoft.com/office/drawing/2014/main" id="{00F71F53-8914-4B27-B476-1FD0AD6C7B7E}"/>
              </a:ext>
            </a:extLst>
          </p:cNvPr>
          <p:cNvSpPr>
            <a:spLocks xmlns:a="http://schemas.openxmlformats.org/drawingml/2006/main" noGrp="1"/>
          </p:cNvSpPr>
          <p:nvPr/>
        </p:nvSpPr>
        <p:spPr>
          <a:xfrm xmlns:a="http://schemas.openxmlformats.org/drawingml/2006/main">
            <a:off x="10607040" y="4773168"/>
            <a:ext cx="246888" cy="192024"/>
          </a:xfrm>
          <a:prstGeom xmlns:a="http://schemas.openxmlformats.org/drawingml/2006/main" prst="rect">
            <a:avLst/>
          </a:prstGeom>
          <a:solidFill xmlns:a="http://schemas.openxmlformats.org/drawingml/2006/main">
            <a:srgbClr val="FFFFFF"/>
          </a:solidFill>
          <a:ln xmlns:a="http://schemas.openxmlformats.org/drawingml/2006/main" w="8890">
            <a:solidFill>
              <a:srgbClr val="D7E0E8"/>
            </a:solidFill>
            <a:prstDash val="solid"/>
          </a:ln>
        </p:spPr>
      </p:sp>
      <p:sp>
        <p:nvSpPr>
          <p:cNvPr id="42" name="Text 39">
            <a:extLst xmlns:a="http://schemas.openxmlformats.org/drawingml/2006/main">
              <a:ext uri="{FF2B5EF4-FFF2-40B4-BE49-F238E27FC236}">
                <a16:creationId xmlns:a16="http://schemas.microsoft.com/office/drawing/2014/main" id="{01B21FDA-5F44-475F-BDF3-0866152DAEA4}"/>
              </a:ext>
            </a:extLst>
          </p:cNvPr>
          <p:cNvSpPr>
            <a:spLocks xmlns:a="http://schemas.openxmlformats.org/drawingml/2006/main" noGrp="1"/>
          </p:cNvSpPr>
          <p:nvPr/>
        </p:nvSpPr>
        <p:spPr>
          <a:xfrm xmlns:a="http://schemas.openxmlformats.org/drawingml/2006/main">
            <a:off x="8439912" y="5276088"/>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17324D"/>
                </a:solidFill>
                <a:latin typeface="Inter"/>
                <a:ea typeface="Inter"/>
                <a:cs typeface="Inter"/>
              </a:rPr>
              <a:t>relative coordinates</a:t>
            </a:r>
            <a:endParaRPr sz="1600"/>
          </a:p>
        </p:txBody>
      </p:sp>
      <p:sp>
        <p:nvSpPr>
          <p:cNvPr id="43" name="Text 40">
            <a:extLst xmlns:a="http://schemas.openxmlformats.org/drawingml/2006/main">
              <a:ext uri="{FF2B5EF4-FFF2-40B4-BE49-F238E27FC236}">
                <a16:creationId xmlns:a16="http://schemas.microsoft.com/office/drawing/2014/main" id="{6C0DFF82-EDEA-45D4-A0DE-470750F739EA}"/>
              </a:ext>
            </a:extLst>
          </p:cNvPr>
          <p:cNvSpPr>
            <a:spLocks xmlns:a="http://schemas.openxmlformats.org/drawingml/2006/main" noGrp="1"/>
          </p:cNvSpPr>
          <p:nvPr/>
        </p:nvSpPr>
        <p:spPr>
          <a:xfrm xmlns:a="http://schemas.openxmlformats.org/drawingml/2006/main">
            <a:off x="11109960" y="6547104"/>
            <a:ext cx="320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487"/>
                </a:solidFill>
                <a:latin typeface="Inter"/>
                <a:ea typeface="Inter"/>
                <a:cs typeface="Inter"/>
              </a:rPr>
              <a:t>1</a:t>
            </a:r>
            <a:endParaRPr sz="1000"/>
          </a:p>
        </p:txBody>
      </p:sp>
    </p:spTree>
    <p:extLst>
      <p:ext uri="{BB962C8B-B14F-4D97-AF65-F5344CB8AC3E}">
        <p14:creationId xmlns:p14="http://schemas.microsoft.com/office/powerpoint/2010/main" val="21296050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6E75E89-4992-4CA9-9799-A70AB8FAC44F}"/>
              </a:ext>
            </a:extLst>
          </p:cNvPr>
          <p:cNvSpPr>
            <a:spLocks xmlns:a="http://schemas.openxmlformats.org/drawingml/2006/main" noGrp="1"/>
          </p:cNvSpPr>
          <p:nvPr/>
        </p:nvSpPr>
        <p:spPr>
          <a:xfrm xmlns:a="http://schemas.openxmlformats.org/drawingml/2006/main">
            <a:off x="658368" y="384048"/>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100" b="1">
                <a:solidFill>
                  <a:srgbClr val="17324D"/>
                </a:solidFill>
                <a:latin typeface="Inter Display"/>
                <a:ea typeface="Inter Display"/>
                <a:cs typeface="Inter Display"/>
              </a:rPr>
              <a:t>Blind SCA still assumes a localized trace region</a:t>
            </a:r>
            <a:endParaRPr sz="3100"/>
          </a:p>
        </p:txBody>
      </p:sp>
      <p:sp>
        <p:nvSpPr>
          <p:cNvPr id="6" name="Text 4">
            <a:extLst xmlns:a="http://schemas.openxmlformats.org/drawingml/2006/main">
              <a:ext uri="{FF2B5EF4-FFF2-40B4-BE49-F238E27FC236}">
                <a16:creationId xmlns:a16="http://schemas.microsoft.com/office/drawing/2014/main" id="{124E2EF2-DEC1-45E3-AACD-26480E688687}"/>
              </a:ext>
            </a:extLst>
          </p:cNvPr>
          <p:cNvSpPr>
            <a:spLocks xmlns:a="http://schemas.openxmlformats.org/drawingml/2006/main" noGrp="1"/>
          </p:cNvSpPr>
          <p:nvPr/>
        </p:nvSpPr>
        <p:spPr>
          <a:xfrm xmlns:a="http://schemas.openxmlformats.org/drawingml/2006/main">
            <a:off x="11109960" y="6556248"/>
            <a:ext cx="4114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487"/>
                </a:solidFill>
                <a:latin typeface="Inter"/>
                <a:ea typeface="Inter"/>
                <a:cs typeface="Inter"/>
              </a:rPr>
              <a:t>2</a:t>
            </a:r>
            <a:endParaRPr sz="1000"/>
          </a:p>
        </p:txBody>
      </p:sp>
      <p:sp>
        <p:nvSpPr>
          <p:cNvPr id="7" name="Text 5">
            <a:extLst xmlns:a="http://schemas.openxmlformats.org/drawingml/2006/main">
              <a:ext uri="{FF2B5EF4-FFF2-40B4-BE49-F238E27FC236}">
                <a16:creationId xmlns:a16="http://schemas.microsoft.com/office/drawing/2014/main" id="{4E85849D-8557-4717-9181-8B266D6FD1A7}"/>
              </a:ext>
            </a:extLst>
          </p:cNvPr>
          <p:cNvSpPr>
            <a:spLocks xmlns:a="http://schemas.openxmlformats.org/drawingml/2006/main" noGrp="1"/>
          </p:cNvSpPr>
          <p:nvPr/>
        </p:nvSpPr>
        <p:spPr>
          <a:xfrm xmlns:a="http://schemas.openxmlformats.org/drawingml/2006/main">
            <a:off x="822960" y="1965960"/>
            <a:ext cx="2057400" cy="117043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D7E0E8"/>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2150">
                <a:solidFill>
                  <a:srgbClr val="243447"/>
                </a:solidFill>
                <a:latin typeface="Inter"/>
                <a:ea typeface="Inter"/>
                <a:cs typeface="Inter"/>
              </a:rPr>
              <a:t>Measured</a:t>
            </a:r>
            <a:endParaRPr sz="2150"/>
          </a:p>
          <a:p xmlns:a="http://schemas.openxmlformats.org/drawingml/2006/main">
            <a:pPr marL="0" indent="0" algn="ctr">
              <a:buNone/>
            </a:pPr>
            <a:r>
              <a:rPr sz="2150">
                <a:solidFill>
                  <a:srgbClr val="243447"/>
                </a:solidFill>
                <a:latin typeface="Inter"/>
                <a:ea typeface="Inter"/>
                <a:cs typeface="Inter"/>
              </a:rPr>
              <a:t>traces</a:t>
            </a:r>
            <a:endParaRPr sz="2150"/>
          </a:p>
        </p:txBody>
      </p:sp>
      <p:sp>
        <p:nvSpPr>
          <p:cNvPr id="8" name="Shape 6">
            <a:extLst xmlns:a="http://schemas.openxmlformats.org/drawingml/2006/main">
              <a:ext uri="{FF2B5EF4-FFF2-40B4-BE49-F238E27FC236}">
                <a16:creationId xmlns:a16="http://schemas.microsoft.com/office/drawing/2014/main" id="{E7AA54D8-C2A9-481B-8FFA-B56EF9109D7A}"/>
              </a:ext>
            </a:extLst>
          </p:cNvPr>
          <p:cNvSpPr>
            <a:spLocks xmlns:a="http://schemas.openxmlformats.org/drawingml/2006/main" noGrp="1"/>
          </p:cNvSpPr>
          <p:nvPr/>
        </p:nvSpPr>
        <p:spPr>
          <a:xfrm xmlns:a="http://schemas.openxmlformats.org/drawingml/2006/main">
            <a:off x="2990088" y="2551176"/>
            <a:ext cx="393192" cy="0"/>
          </a:xfrm>
          <a:prstGeom xmlns:a="http://schemas.openxmlformats.org/drawingml/2006/main" prst="line">
            <a:avLst/>
          </a:prstGeom>
          <a:noFill xmlns:a="http://schemas.openxmlformats.org/drawingml/2006/main"/>
          <a:ln xmlns:a="http://schemas.openxmlformats.org/drawingml/2006/main" w="22860">
            <a:solidFill>
              <a:srgbClr val="B6C1CC"/>
            </a:solidFill>
            <a:prstDash val="solid"/>
            <a:tailEnd type="triangle"/>
          </a:ln>
        </p:spPr>
      </p:sp>
      <p:sp>
        <p:nvSpPr>
          <p:cNvPr id="9" name="Text 7">
            <a:extLst xmlns:a="http://schemas.openxmlformats.org/drawingml/2006/main">
              <a:ext uri="{FF2B5EF4-FFF2-40B4-BE49-F238E27FC236}">
                <a16:creationId xmlns:a16="http://schemas.microsoft.com/office/drawing/2014/main" id="{E2C25B98-97C6-4D48-94FF-D1AA116D07F0}"/>
              </a:ext>
            </a:extLst>
          </p:cNvPr>
          <p:cNvSpPr>
            <a:spLocks xmlns:a="http://schemas.openxmlformats.org/drawingml/2006/main" noGrp="1"/>
          </p:cNvSpPr>
          <p:nvPr/>
        </p:nvSpPr>
        <p:spPr>
          <a:xfrm xmlns:a="http://schemas.openxmlformats.org/drawingml/2006/main">
            <a:off x="3383280" y="1965960"/>
            <a:ext cx="2423160" cy="1170432"/>
          </a:xfrm>
          <a:prstGeom xmlns:a="http://schemas.openxmlformats.org/drawingml/2006/main" prst="roundRect">
            <a:avLst/>
          </a:prstGeom>
          <a:solidFill xmlns:a="http://schemas.openxmlformats.org/drawingml/2006/main">
            <a:srgbClr val="EAF3FA"/>
          </a:solidFill>
          <a:ln xmlns:a="http://schemas.openxmlformats.org/drawingml/2006/main" w="15240">
            <a:solidFill>
              <a:srgbClr val="2D74B8"/>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2150" b="1">
                <a:solidFill>
                  <a:srgbClr val="17324D"/>
                </a:solidFill>
                <a:latin typeface="Inter"/>
                <a:ea typeface="Inter"/>
                <a:cs typeface="Inter"/>
              </a:rPr>
              <a:t>Trace structuring</a:t>
            </a:r>
            <a:endParaRPr sz="2150"/>
          </a:p>
          <a:p xmlns:a="http://schemas.openxmlformats.org/drawingml/2006/main">
            <a:pPr marL="0" indent="0" algn="ctr">
              <a:buNone/>
            </a:pPr>
            <a:r>
              <a:rPr sz="2150" b="1">
                <a:solidFill>
                  <a:srgbClr val="17324D"/>
                </a:solidFill>
                <a:latin typeface="Inter"/>
                <a:ea typeface="Inter"/>
                <a:cs typeface="Inter"/>
              </a:rPr>
              <a:t>and localization</a:t>
            </a:r>
            <a:endParaRPr sz="2150"/>
          </a:p>
        </p:txBody>
      </p:sp>
      <p:sp>
        <p:nvSpPr>
          <p:cNvPr id="10" name="Shape 8">
            <a:extLst xmlns:a="http://schemas.openxmlformats.org/drawingml/2006/main">
              <a:ext uri="{FF2B5EF4-FFF2-40B4-BE49-F238E27FC236}">
                <a16:creationId xmlns:a16="http://schemas.microsoft.com/office/drawing/2014/main" id="{EADDE0DC-630E-41C2-8971-BE95513F2727}"/>
              </a:ext>
            </a:extLst>
          </p:cNvPr>
          <p:cNvSpPr>
            <a:spLocks xmlns:a="http://schemas.openxmlformats.org/drawingml/2006/main" noGrp="1"/>
          </p:cNvSpPr>
          <p:nvPr/>
        </p:nvSpPr>
        <p:spPr>
          <a:xfrm xmlns:a="http://schemas.openxmlformats.org/drawingml/2006/main">
            <a:off x="5916168" y="2551176"/>
            <a:ext cx="393192" cy="0"/>
          </a:xfrm>
          <a:prstGeom xmlns:a="http://schemas.openxmlformats.org/drawingml/2006/main" prst="line">
            <a:avLst/>
          </a:prstGeom>
          <a:noFill xmlns:a="http://schemas.openxmlformats.org/drawingml/2006/main"/>
          <a:ln xmlns:a="http://schemas.openxmlformats.org/drawingml/2006/main" w="22860">
            <a:solidFill>
              <a:srgbClr val="B6C1CC"/>
            </a:solidFill>
            <a:prstDash val="solid"/>
            <a:tailEnd type="triangle"/>
          </a:ln>
        </p:spPr>
      </p:sp>
      <p:sp>
        <p:nvSpPr>
          <p:cNvPr id="11" name="Text 9">
            <a:extLst xmlns:a="http://schemas.openxmlformats.org/drawingml/2006/main">
              <a:ext uri="{FF2B5EF4-FFF2-40B4-BE49-F238E27FC236}">
                <a16:creationId xmlns:a16="http://schemas.microsoft.com/office/drawing/2014/main" id="{B6258F31-E718-464E-90BB-815EFFAFD285}"/>
              </a:ext>
            </a:extLst>
          </p:cNvPr>
          <p:cNvSpPr>
            <a:spLocks xmlns:a="http://schemas.openxmlformats.org/drawingml/2006/main" noGrp="1"/>
          </p:cNvSpPr>
          <p:nvPr/>
        </p:nvSpPr>
        <p:spPr>
          <a:xfrm xmlns:a="http://schemas.openxmlformats.org/drawingml/2006/main">
            <a:off x="6309360" y="1965960"/>
            <a:ext cx="2148840" cy="117043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D7E0E8"/>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2150">
                <a:solidFill>
                  <a:srgbClr val="243447"/>
                </a:solidFill>
                <a:latin typeface="Inter"/>
                <a:ea typeface="Inter"/>
                <a:cs typeface="Inter"/>
              </a:rPr>
              <a:t>Blind labeling</a:t>
            </a:r>
            <a:endParaRPr sz="2150"/>
          </a:p>
          <a:p xmlns:a="http://schemas.openxmlformats.org/drawingml/2006/main">
            <a:pPr marL="0" indent="0" algn="ctr">
              <a:buNone/>
            </a:pPr>
            <a:r>
              <a:rPr sz="2150">
                <a:solidFill>
                  <a:srgbClr val="243447"/>
                </a:solidFill>
                <a:latin typeface="Inter"/>
                <a:ea typeface="Inter"/>
                <a:cs typeface="Inter"/>
              </a:rPr>
              <a:t>or POI selection</a:t>
            </a:r>
            <a:endParaRPr sz="2150"/>
          </a:p>
        </p:txBody>
      </p:sp>
      <p:sp>
        <p:nvSpPr>
          <p:cNvPr id="12" name="Shape 10">
            <a:extLst xmlns:a="http://schemas.openxmlformats.org/drawingml/2006/main">
              <a:ext uri="{FF2B5EF4-FFF2-40B4-BE49-F238E27FC236}">
                <a16:creationId xmlns:a16="http://schemas.microsoft.com/office/drawing/2014/main" id="{02DD885B-878C-4ABF-8888-6F761ECCB82B}"/>
              </a:ext>
            </a:extLst>
          </p:cNvPr>
          <p:cNvSpPr>
            <a:spLocks xmlns:a="http://schemas.openxmlformats.org/drawingml/2006/main" noGrp="1"/>
          </p:cNvSpPr>
          <p:nvPr/>
        </p:nvSpPr>
        <p:spPr>
          <a:xfrm xmlns:a="http://schemas.openxmlformats.org/drawingml/2006/main">
            <a:off x="8567928" y="2551176"/>
            <a:ext cx="393192" cy="0"/>
          </a:xfrm>
          <a:prstGeom xmlns:a="http://schemas.openxmlformats.org/drawingml/2006/main" prst="line">
            <a:avLst/>
          </a:prstGeom>
          <a:noFill xmlns:a="http://schemas.openxmlformats.org/drawingml/2006/main"/>
          <a:ln xmlns:a="http://schemas.openxmlformats.org/drawingml/2006/main" w="22860">
            <a:solidFill>
              <a:srgbClr val="B6C1CC"/>
            </a:solidFill>
            <a:prstDash val="solid"/>
            <a:tailEnd type="triangle"/>
          </a:ln>
        </p:spPr>
      </p:sp>
      <p:sp>
        <p:nvSpPr>
          <p:cNvPr id="13" name="Text 11">
            <a:extLst xmlns:a="http://schemas.openxmlformats.org/drawingml/2006/main">
              <a:ext uri="{FF2B5EF4-FFF2-40B4-BE49-F238E27FC236}">
                <a16:creationId xmlns:a16="http://schemas.microsoft.com/office/drawing/2014/main" id="{8BCB5087-8113-45C4-8A8C-A5A2324628AE}"/>
              </a:ext>
            </a:extLst>
          </p:cNvPr>
          <p:cNvSpPr>
            <a:spLocks xmlns:a="http://schemas.openxmlformats.org/drawingml/2006/main" noGrp="1"/>
          </p:cNvSpPr>
          <p:nvPr/>
        </p:nvSpPr>
        <p:spPr>
          <a:xfrm xmlns:a="http://schemas.openxmlformats.org/drawingml/2006/main">
            <a:off x="8961120" y="1965960"/>
            <a:ext cx="2057400" cy="117043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D7E0E8"/>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2150">
                <a:solidFill>
                  <a:srgbClr val="243447"/>
                </a:solidFill>
                <a:latin typeface="Inter"/>
                <a:ea typeface="Inter"/>
                <a:cs typeface="Inter"/>
              </a:rPr>
              <a:t>Key</a:t>
            </a:r>
            <a:endParaRPr sz="2150"/>
          </a:p>
          <a:p xmlns:a="http://schemas.openxmlformats.org/drawingml/2006/main">
            <a:pPr marL="0" indent="0" algn="ctr">
              <a:buNone/>
            </a:pPr>
            <a:r>
              <a:rPr sz="2150">
                <a:solidFill>
                  <a:srgbClr val="243447"/>
                </a:solidFill>
                <a:latin typeface="Inter"/>
                <a:ea typeface="Inter"/>
                <a:cs typeface="Inter"/>
              </a:rPr>
              <a:t>inference</a:t>
            </a:r>
            <a:endParaRPr sz="2150"/>
          </a:p>
        </p:txBody>
      </p:sp>
      <p:sp>
        <p:nvSpPr>
          <p:cNvPr id="14" name="Text 12">
            <a:extLst xmlns:a="http://schemas.openxmlformats.org/drawingml/2006/main">
              <a:ext uri="{FF2B5EF4-FFF2-40B4-BE49-F238E27FC236}">
                <a16:creationId xmlns:a16="http://schemas.microsoft.com/office/drawing/2014/main" id="{12F15CAC-5363-42F2-B9DA-176DD9D6D053}"/>
              </a:ext>
            </a:extLst>
          </p:cNvPr>
          <p:cNvSpPr>
            <a:spLocks xmlns:a="http://schemas.openxmlformats.org/drawingml/2006/main" noGrp="1"/>
          </p:cNvSpPr>
          <p:nvPr/>
        </p:nvSpPr>
        <p:spPr>
          <a:xfrm xmlns:a="http://schemas.openxmlformats.org/drawingml/2006/main">
            <a:off x="4050792" y="1389888"/>
            <a:ext cx="1078992" cy="384048"/>
          </a:xfrm>
          <a:prstGeom xmlns:a="http://schemas.openxmlformats.org/drawingml/2006/main" prst="roundRect">
            <a:avLst/>
          </a:prstGeom>
          <a:solidFill xmlns:a="http://schemas.openxmlformats.org/drawingml/2006/main">
            <a:srgbClr val="2D74B8"/>
          </a:solidFill>
          <a:ln xmlns:a="http://schemas.openxmlformats.org/drawingml/2006/main" w="10160">
            <a:solidFill>
              <a:srgbClr val="2D74B8"/>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450" b="1">
                <a:solidFill>
                  <a:srgbClr val="FFFFFF"/>
                </a:solidFill>
                <a:latin typeface="Inter"/>
                <a:ea typeface="Inter"/>
                <a:cs typeface="Inter"/>
              </a:rPr>
              <a:t>THIS WORK</a:t>
            </a:r>
            <a:endParaRPr sz="1450"/>
          </a:p>
        </p:txBody>
      </p:sp>
      <p:sp>
        <p:nvSpPr>
          <p:cNvPr id="15" name="Text 13">
            <a:extLst xmlns:a="http://schemas.openxmlformats.org/drawingml/2006/main">
              <a:ext uri="{FF2B5EF4-FFF2-40B4-BE49-F238E27FC236}">
                <a16:creationId xmlns:a16="http://schemas.microsoft.com/office/drawing/2014/main" id="{56381434-42C6-459F-88B4-DF60231059AA}"/>
              </a:ext>
            </a:extLst>
          </p:cNvPr>
          <p:cNvSpPr>
            <a:spLocks xmlns:a="http://schemas.openxmlformats.org/drawingml/2006/main" noGrp="1"/>
          </p:cNvSpPr>
          <p:nvPr/>
        </p:nvSpPr>
        <p:spPr>
          <a:xfrm xmlns:a="http://schemas.openxmlformats.org/drawingml/2006/main">
            <a:off x="1280160" y="3794760"/>
            <a:ext cx="96469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300">
                <a:solidFill>
                  <a:srgbClr val="243447"/>
                </a:solidFill>
                <a:latin typeface="Inter"/>
                <a:ea typeface="Inter"/>
                <a:cs typeface="Inter"/>
              </a:rPr>
              <a:t>Blind SCA has reduced the need for plaintext and ciphertext,</a:t>
            </a:r>
            <a:endParaRPr sz="2300"/>
          </a:p>
          <a:p xmlns:a="http://schemas.openxmlformats.org/drawingml/2006/main">
            <a:pPr marL="0" indent="0" algn="ctr">
              <a:buNone/>
            </a:pPr>
            <a:r>
              <a:rPr sz="2300">
                <a:solidFill>
                  <a:srgbClr val="243447"/>
                </a:solidFill>
                <a:latin typeface="Inter"/>
                <a:ea typeface="Inter"/>
                <a:cs typeface="Inter"/>
              </a:rPr>
              <a:t>but most attacks still begin after the trace has already been localized.</a:t>
            </a:r>
            <a:endParaRPr sz="2300"/>
          </a:p>
        </p:txBody>
      </p:sp>
      <p:sp>
        <p:nvSpPr>
          <p:cNvPr id="16" name="Text 14">
            <a:extLst xmlns:a="http://schemas.openxmlformats.org/drawingml/2006/main">
              <a:ext uri="{FF2B5EF4-FFF2-40B4-BE49-F238E27FC236}">
                <a16:creationId xmlns:a16="http://schemas.microsoft.com/office/drawing/2014/main" id="{3E3618F6-44BC-4B80-AC03-6AB07E0BC45C}"/>
              </a:ext>
            </a:extLst>
          </p:cNvPr>
          <p:cNvSpPr>
            <a:spLocks xmlns:a="http://schemas.openxmlformats.org/drawingml/2006/main" noGrp="1"/>
          </p:cNvSpPr>
          <p:nvPr/>
        </p:nvSpPr>
        <p:spPr>
          <a:xfrm xmlns:a="http://schemas.openxmlformats.org/drawingml/2006/main">
            <a:off x="2286000" y="5074920"/>
            <a:ext cx="76352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2D74B8"/>
                </a:solidFill>
                <a:latin typeface="Inter Display"/>
                <a:ea typeface="Inter Display"/>
                <a:cs typeface="Inter Display"/>
              </a:rPr>
              <a:t>We address the missing upstream structuring step.</a:t>
            </a:r>
            <a:endParaRPr sz="2500"/>
          </a:p>
        </p:txBody>
      </p:sp>
    </p:spTree>
    <p:extLst>
      <p:ext uri="{BB962C8B-B14F-4D97-AF65-F5344CB8AC3E}">
        <p14:creationId xmlns:p14="http://schemas.microsoft.com/office/powerpoint/2010/main" val="2569046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3D0BBEC-BC11-4339-9AE5-4B271AEA5BDF}"/>
              </a:ext>
            </a:extLst>
          </p:cNvPr>
          <p:cNvSpPr>
            <a:spLocks xmlns:a="http://schemas.openxmlformats.org/drawingml/2006/main" noGrp="1"/>
          </p:cNvSpPr>
          <p:nvPr/>
        </p:nvSpPr>
        <p:spPr>
          <a:xfrm xmlns:a="http://schemas.openxmlformats.org/drawingml/2006/main">
            <a:off x="658368" y="384048"/>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1745"/>
          </a:bodyPr>
          <a:lstStyle xmlns:a="http://schemas.openxmlformats.org/drawingml/2006/main"/>
          <a:p xmlns:a="http://schemas.openxmlformats.org/drawingml/2006/main">
            <a:pPr marL="0" indent="0">
              <a:buNone/>
            </a:pPr>
            <a:r>
              <a:rPr sz="3100" b="1">
                <a:solidFill>
                  <a:srgbClr val="17324D"/>
                </a:solidFill>
                <a:latin typeface="Inter Display"/>
                <a:ea typeface="Inter Display"/>
                <a:cs typeface="Inter Display"/>
              </a:rPr>
              <a:t>Coarse alignment finds the invocation, not its internal structure</a:t>
            </a:r>
            <a:endParaRPr sz="3100"/>
          </a:p>
        </p:txBody>
      </p:sp>
      <p:sp>
        <p:nvSpPr>
          <p:cNvPr id="6" name="Text 4">
            <a:extLst xmlns:a="http://schemas.openxmlformats.org/drawingml/2006/main">
              <a:ext uri="{FF2B5EF4-FFF2-40B4-BE49-F238E27FC236}">
                <a16:creationId xmlns:a16="http://schemas.microsoft.com/office/drawing/2014/main" id="{58186AEB-FB7F-42A1-A860-8DBD58FF6456}"/>
              </a:ext>
            </a:extLst>
          </p:cNvPr>
          <p:cNvSpPr>
            <a:spLocks xmlns:a="http://schemas.openxmlformats.org/drawingml/2006/main" noGrp="1"/>
          </p:cNvSpPr>
          <p:nvPr/>
        </p:nvSpPr>
        <p:spPr>
          <a:xfrm xmlns:a="http://schemas.openxmlformats.org/drawingml/2006/main">
            <a:off x="11109960" y="6556248"/>
            <a:ext cx="4114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487"/>
                </a:solidFill>
                <a:latin typeface="Inter"/>
                <a:ea typeface="Inter"/>
                <a:cs typeface="Inter"/>
              </a:rPr>
              <a:t>3</a:t>
            </a:r>
            <a:endParaRPr sz="1000"/>
          </a:p>
        </p:txBody>
      </p:sp>
      <p:sp>
        <p:nvSpPr>
          <p:cNvPr id="7" name="Shape 5">
            <a:extLst xmlns:a="http://schemas.openxmlformats.org/drawingml/2006/main">
              <a:ext uri="{FF2B5EF4-FFF2-40B4-BE49-F238E27FC236}">
                <a16:creationId xmlns:a16="http://schemas.microsoft.com/office/drawing/2014/main" id="{D16E5948-AEDE-40E2-BDFD-D4A605EC7666}"/>
              </a:ext>
            </a:extLst>
          </p:cNvPr>
          <p:cNvSpPr>
            <a:spLocks xmlns:a="http://schemas.openxmlformats.org/drawingml/2006/main" noGrp="1"/>
          </p:cNvSpPr>
          <p:nvPr/>
        </p:nvSpPr>
        <p:spPr>
          <a:xfrm xmlns:a="http://schemas.openxmlformats.org/drawingml/2006/main">
            <a:off x="804672" y="1298448"/>
            <a:ext cx="10561320" cy="187452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3970">
            <a:solidFill>
              <a:srgbClr val="D7E0E8"/>
            </a:solidFill>
            <a:prstDash val="solid"/>
          </a:ln>
          <a:effectLst xmlns:a="http://schemas.openxmlformats.org/drawingml/2006/main">
            <a:outerShdw blurRad="12700" dist="50800" dir="2700000" sx="100000" sy="100000" kx="0" ky="0" algn="bl" rotWithShape="0">
              <a:srgbClr val="9AA8B7">
                <a:alpha val="12000"/>
              </a:srgbClr>
            </a:outerShdw>
          </a:effectLst>
        </p:spPr>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02382760603a44fd">
            <a:extLst>
              <a:ext uri="{96DAC541-7B7A-43D3-8B79-37D633B846F1}">
                <asvg:svgBlip xmlns:asvg="http://schemas.microsoft.com/office/drawing/2016/SVG/main" r:embed="R2d44c33929f345ca"/>
              </a:ext>
            </a:extLst>
          </a:blip>
          <a:stretch xmlns:a="http://schemas.openxmlformats.org/drawingml/2006/main">
            <a:fillRect l="0" t="0" r="0" b="0"/>
          </a:stretch>
        </p:blipFill>
        <p:spPr>
          <a:xfrm xmlns:a="http://schemas.openxmlformats.org/drawingml/2006/main">
            <a:off x="1078992" y="1700784"/>
            <a:ext cx="10012680" cy="896112"/>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DAB4DCAC-C256-47F4-8379-D17CEBD5DF97}"/>
              </a:ext>
            </a:extLst>
          </p:cNvPr>
          <p:cNvSpPr>
            <a:spLocks xmlns:a="http://schemas.openxmlformats.org/drawingml/2006/main" noGrp="1"/>
          </p:cNvSpPr>
          <p:nvPr/>
        </p:nvSpPr>
        <p:spPr>
          <a:xfrm xmlns:a="http://schemas.openxmlformats.org/drawingml/2006/main">
            <a:off x="1152144" y="2743200"/>
            <a:ext cx="9829800" cy="0"/>
          </a:xfrm>
          <a:prstGeom xmlns:a="http://schemas.openxmlformats.org/drawingml/2006/main" prst="line">
            <a:avLst/>
          </a:prstGeom>
          <a:noFill xmlns:a="http://schemas.openxmlformats.org/drawingml/2006/main"/>
          <a:ln xmlns:a="http://schemas.openxmlformats.org/drawingml/2006/main" w="13970">
            <a:solidFill>
              <a:srgbClr val="D7E0E8"/>
            </a:solidFill>
            <a:prstDash val="solid"/>
          </a:ln>
        </p:spPr>
      </p:sp>
      <p:sp>
        <p:nvSpPr>
          <p:cNvPr id="10" name="Text 7">
            <a:extLst xmlns:a="http://schemas.openxmlformats.org/drawingml/2006/main">
              <a:ext uri="{FF2B5EF4-FFF2-40B4-BE49-F238E27FC236}">
                <a16:creationId xmlns:a16="http://schemas.microsoft.com/office/drawing/2014/main" id="{705A3A9B-E256-494F-AD43-1F0BB8F518EA}"/>
              </a:ext>
            </a:extLst>
          </p:cNvPr>
          <p:cNvSpPr>
            <a:spLocks xmlns:a="http://schemas.openxmlformats.org/drawingml/2006/main" noGrp="1"/>
          </p:cNvSpPr>
          <p:nvPr/>
        </p:nvSpPr>
        <p:spPr>
          <a:xfrm xmlns:a="http://schemas.openxmlformats.org/drawingml/2006/main">
            <a:off x="4800600" y="2816352"/>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657487"/>
                </a:solidFill>
                <a:latin typeface="Inter"/>
                <a:ea typeface="Inter"/>
                <a:cs typeface="Inter"/>
              </a:rPr>
              <a:t>cipher invocation</a:t>
            </a:r>
            <a:endParaRPr sz="2000"/>
          </a:p>
        </p:txBody>
      </p:sp>
      <p:sp>
        <p:nvSpPr>
          <p:cNvPr id="11" name="Shape 8">
            <a:extLst xmlns:a="http://schemas.openxmlformats.org/drawingml/2006/main">
              <a:ext uri="{FF2B5EF4-FFF2-40B4-BE49-F238E27FC236}">
                <a16:creationId xmlns:a16="http://schemas.microsoft.com/office/drawing/2014/main" id="{899EEFF9-94EF-40AF-9974-2B3EC792E6BB}"/>
              </a:ext>
            </a:extLst>
          </p:cNvPr>
          <p:cNvSpPr>
            <a:spLocks xmlns:a="http://schemas.openxmlformats.org/drawingml/2006/main" noGrp="1"/>
          </p:cNvSpPr>
          <p:nvPr/>
        </p:nvSpPr>
        <p:spPr>
          <a:xfrm xmlns:a="http://schemas.openxmlformats.org/drawingml/2006/main">
            <a:off x="1170432" y="1545336"/>
            <a:ext cx="0" cy="1261872"/>
          </a:xfrm>
          <a:prstGeom xmlns:a="http://schemas.openxmlformats.org/drawingml/2006/main" prst="line">
            <a:avLst/>
          </a:prstGeom>
          <a:noFill xmlns:a="http://schemas.openxmlformats.org/drawingml/2006/main"/>
          <a:ln xmlns:a="http://schemas.openxmlformats.org/drawingml/2006/main" w="25400">
            <a:solidFill>
              <a:srgbClr val="2C9A8B"/>
            </a:solidFill>
            <a:prstDash val="solid"/>
          </a:ln>
        </p:spPr>
      </p:sp>
      <p:sp>
        <p:nvSpPr>
          <p:cNvPr id="12" name="Shape 9">
            <a:extLst xmlns:a="http://schemas.openxmlformats.org/drawingml/2006/main">
              <a:ext uri="{FF2B5EF4-FFF2-40B4-BE49-F238E27FC236}">
                <a16:creationId xmlns:a16="http://schemas.microsoft.com/office/drawing/2014/main" id="{44D7C82B-4238-4E0F-A83A-20DC16946EB7}"/>
              </a:ext>
            </a:extLst>
          </p:cNvPr>
          <p:cNvSpPr>
            <a:spLocks xmlns:a="http://schemas.openxmlformats.org/drawingml/2006/main" noGrp="1"/>
          </p:cNvSpPr>
          <p:nvPr/>
        </p:nvSpPr>
        <p:spPr>
          <a:xfrm xmlns:a="http://schemas.openxmlformats.org/drawingml/2006/main">
            <a:off x="10981944" y="1545336"/>
            <a:ext cx="0" cy="1261872"/>
          </a:xfrm>
          <a:prstGeom xmlns:a="http://schemas.openxmlformats.org/drawingml/2006/main" prst="line">
            <a:avLst/>
          </a:prstGeom>
          <a:noFill xmlns:a="http://schemas.openxmlformats.org/drawingml/2006/main"/>
          <a:ln xmlns:a="http://schemas.openxmlformats.org/drawingml/2006/main" w="25400">
            <a:solidFill>
              <a:srgbClr val="2C9A8B"/>
            </a:solidFill>
            <a:prstDash val="solid"/>
          </a:ln>
        </p:spPr>
      </p:sp>
      <p:sp>
        <p:nvSpPr>
          <p:cNvPr id="13" name="Text 10">
            <a:extLst xmlns:a="http://schemas.openxmlformats.org/drawingml/2006/main">
              <a:ext uri="{FF2B5EF4-FFF2-40B4-BE49-F238E27FC236}">
                <a16:creationId xmlns:a16="http://schemas.microsoft.com/office/drawing/2014/main" id="{04349065-FFC0-40F9-B219-80A99DFC27C0}"/>
              </a:ext>
            </a:extLst>
          </p:cNvPr>
          <p:cNvSpPr>
            <a:spLocks xmlns:a="http://schemas.openxmlformats.org/drawingml/2006/main" noGrp="1"/>
          </p:cNvSpPr>
          <p:nvPr/>
        </p:nvSpPr>
        <p:spPr>
          <a:xfrm xmlns:a="http://schemas.openxmlformats.org/drawingml/2006/main">
            <a:off x="2103120" y="1344168"/>
            <a:ext cx="365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2D74B8"/>
                </a:solidFill>
                <a:latin typeface="Inter Display"/>
                <a:ea typeface="Inter Display"/>
                <a:cs typeface="Inter Display"/>
              </a:rPr>
              <a:t>?</a:t>
            </a:r>
            <a:endParaRPr sz="2500"/>
          </a:p>
        </p:txBody>
      </p:sp>
      <p:sp>
        <p:nvSpPr>
          <p:cNvPr id="14" name="Text 11">
            <a:extLst xmlns:a="http://schemas.openxmlformats.org/drawingml/2006/main">
              <a:ext uri="{FF2B5EF4-FFF2-40B4-BE49-F238E27FC236}">
                <a16:creationId xmlns:a16="http://schemas.microsoft.com/office/drawing/2014/main" id="{D5B987E5-D23F-411A-A0E4-7F7A2BB8DF70}"/>
              </a:ext>
            </a:extLst>
          </p:cNvPr>
          <p:cNvSpPr>
            <a:spLocks xmlns:a="http://schemas.openxmlformats.org/drawingml/2006/main" noGrp="1"/>
          </p:cNvSpPr>
          <p:nvPr/>
        </p:nvSpPr>
        <p:spPr>
          <a:xfrm xmlns:a="http://schemas.openxmlformats.org/drawingml/2006/main">
            <a:off x="3429000" y="1344168"/>
            <a:ext cx="365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2D74B8"/>
                </a:solidFill>
                <a:latin typeface="Inter Display"/>
                <a:ea typeface="Inter Display"/>
                <a:cs typeface="Inter Display"/>
              </a:rPr>
              <a:t>?</a:t>
            </a:r>
            <a:endParaRPr sz="2500"/>
          </a:p>
        </p:txBody>
      </p:sp>
      <p:sp>
        <p:nvSpPr>
          <p:cNvPr id="15" name="Text 12">
            <a:extLst xmlns:a="http://schemas.openxmlformats.org/drawingml/2006/main">
              <a:ext uri="{FF2B5EF4-FFF2-40B4-BE49-F238E27FC236}">
                <a16:creationId xmlns:a16="http://schemas.microsoft.com/office/drawing/2014/main" id="{549A36DA-5C68-42A2-9D7A-B26693ABDA39}"/>
              </a:ext>
            </a:extLst>
          </p:cNvPr>
          <p:cNvSpPr>
            <a:spLocks xmlns:a="http://schemas.openxmlformats.org/drawingml/2006/main" noGrp="1"/>
          </p:cNvSpPr>
          <p:nvPr/>
        </p:nvSpPr>
        <p:spPr>
          <a:xfrm xmlns:a="http://schemas.openxmlformats.org/drawingml/2006/main">
            <a:off x="4754880" y="1344168"/>
            <a:ext cx="365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2D74B8"/>
                </a:solidFill>
                <a:latin typeface="Inter Display"/>
                <a:ea typeface="Inter Display"/>
                <a:cs typeface="Inter Display"/>
              </a:rPr>
              <a:t>?</a:t>
            </a:r>
            <a:endParaRPr sz="2500"/>
          </a:p>
        </p:txBody>
      </p:sp>
      <p:sp>
        <p:nvSpPr>
          <p:cNvPr id="16" name="Text 13">
            <a:extLst xmlns:a="http://schemas.openxmlformats.org/drawingml/2006/main">
              <a:ext uri="{FF2B5EF4-FFF2-40B4-BE49-F238E27FC236}">
                <a16:creationId xmlns:a16="http://schemas.microsoft.com/office/drawing/2014/main" id="{F8E53C7D-5EAE-466A-BFC2-0637F6DC8184}"/>
              </a:ext>
            </a:extLst>
          </p:cNvPr>
          <p:cNvSpPr>
            <a:spLocks xmlns:a="http://schemas.openxmlformats.org/drawingml/2006/main" noGrp="1"/>
          </p:cNvSpPr>
          <p:nvPr/>
        </p:nvSpPr>
        <p:spPr>
          <a:xfrm xmlns:a="http://schemas.openxmlformats.org/drawingml/2006/main">
            <a:off x="6080760" y="1344168"/>
            <a:ext cx="365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2D74B8"/>
                </a:solidFill>
                <a:latin typeface="Inter Display"/>
                <a:ea typeface="Inter Display"/>
                <a:cs typeface="Inter Display"/>
              </a:rPr>
              <a:t>?</a:t>
            </a:r>
            <a:endParaRPr sz="2500"/>
          </a:p>
        </p:txBody>
      </p:sp>
      <p:sp>
        <p:nvSpPr>
          <p:cNvPr id="17" name="Text 14">
            <a:extLst xmlns:a="http://schemas.openxmlformats.org/drawingml/2006/main">
              <a:ext uri="{FF2B5EF4-FFF2-40B4-BE49-F238E27FC236}">
                <a16:creationId xmlns:a16="http://schemas.microsoft.com/office/drawing/2014/main" id="{0E46A64E-DBC3-4469-A839-A0235A3A5B2B}"/>
              </a:ext>
            </a:extLst>
          </p:cNvPr>
          <p:cNvSpPr>
            <a:spLocks xmlns:a="http://schemas.openxmlformats.org/drawingml/2006/main" noGrp="1"/>
          </p:cNvSpPr>
          <p:nvPr/>
        </p:nvSpPr>
        <p:spPr>
          <a:xfrm xmlns:a="http://schemas.openxmlformats.org/drawingml/2006/main">
            <a:off x="7406640" y="1344168"/>
            <a:ext cx="365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2D74B8"/>
                </a:solidFill>
                <a:latin typeface="Inter Display"/>
                <a:ea typeface="Inter Display"/>
                <a:cs typeface="Inter Display"/>
              </a:rPr>
              <a:t>?</a:t>
            </a:r>
            <a:endParaRPr sz="2500"/>
          </a:p>
        </p:txBody>
      </p:sp>
      <p:sp>
        <p:nvSpPr>
          <p:cNvPr id="18" name="Text 15">
            <a:extLst xmlns:a="http://schemas.openxmlformats.org/drawingml/2006/main">
              <a:ext uri="{FF2B5EF4-FFF2-40B4-BE49-F238E27FC236}">
                <a16:creationId xmlns:a16="http://schemas.microsoft.com/office/drawing/2014/main" id="{CC0BF226-A8E4-4878-9684-3EC02AA9B264}"/>
              </a:ext>
            </a:extLst>
          </p:cNvPr>
          <p:cNvSpPr>
            <a:spLocks xmlns:a="http://schemas.openxmlformats.org/drawingml/2006/main" noGrp="1"/>
          </p:cNvSpPr>
          <p:nvPr/>
        </p:nvSpPr>
        <p:spPr>
          <a:xfrm xmlns:a="http://schemas.openxmlformats.org/drawingml/2006/main">
            <a:off x="8732520" y="1344168"/>
            <a:ext cx="365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2D74B8"/>
                </a:solidFill>
                <a:latin typeface="Inter Display"/>
                <a:ea typeface="Inter Display"/>
                <a:cs typeface="Inter Display"/>
              </a:rPr>
              <a:t>?</a:t>
            </a:r>
            <a:endParaRPr sz="2500"/>
          </a:p>
        </p:txBody>
      </p:sp>
      <p:sp>
        <p:nvSpPr>
          <p:cNvPr id="19" name="Shape 16">
            <a:extLst xmlns:a="http://schemas.openxmlformats.org/drawingml/2006/main">
              <a:ext uri="{FF2B5EF4-FFF2-40B4-BE49-F238E27FC236}">
                <a16:creationId xmlns:a16="http://schemas.microsoft.com/office/drawing/2014/main" id="{D0848587-5C8A-4401-AD4E-0CEF222ED385}"/>
              </a:ext>
            </a:extLst>
          </p:cNvPr>
          <p:cNvSpPr>
            <a:spLocks xmlns:a="http://schemas.openxmlformats.org/drawingml/2006/main" noGrp="1"/>
          </p:cNvSpPr>
          <p:nvPr/>
        </p:nvSpPr>
        <p:spPr>
          <a:xfrm xmlns:a="http://schemas.openxmlformats.org/drawingml/2006/main">
            <a:off x="1051560" y="3803904"/>
            <a:ext cx="4343400" cy="1417320"/>
          </a:xfrm>
          <a:prstGeom xmlns:a="http://schemas.openxmlformats.org/drawingml/2006/main" prst="roundRect">
            <a:avLst>
              <a:gd name="adj" fmla="val 3871"/>
            </a:avLst>
          </a:prstGeom>
          <a:solidFill xmlns:a="http://schemas.openxmlformats.org/drawingml/2006/main">
            <a:srgbClr val="EAF7F4"/>
          </a:solidFill>
          <a:ln xmlns:a="http://schemas.openxmlformats.org/drawingml/2006/main" w="13970">
            <a:solidFill>
              <a:srgbClr val="EAF7F4"/>
            </a:solidFill>
            <a:prstDash val="solid"/>
          </a:ln>
        </p:spPr>
      </p:sp>
      <p:sp>
        <p:nvSpPr>
          <p:cNvPr id="20" name="Text 17">
            <a:extLst xmlns:a="http://schemas.openxmlformats.org/drawingml/2006/main">
              <a:ext uri="{FF2B5EF4-FFF2-40B4-BE49-F238E27FC236}">
                <a16:creationId xmlns:a16="http://schemas.microsoft.com/office/drawing/2014/main" id="{E11A8684-2581-426F-941F-FA5C54294340}"/>
              </a:ext>
            </a:extLst>
          </p:cNvPr>
          <p:cNvSpPr>
            <a:spLocks xmlns:a="http://schemas.openxmlformats.org/drawingml/2006/main" noGrp="1"/>
          </p:cNvSpPr>
          <p:nvPr/>
        </p:nvSpPr>
        <p:spPr>
          <a:xfrm xmlns:a="http://schemas.openxmlformats.org/drawingml/2006/main">
            <a:off x="1353312" y="4041648"/>
            <a:ext cx="3200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300" b="1">
                <a:solidFill>
                  <a:srgbClr val="2C9A8B"/>
                </a:solidFill>
                <a:latin typeface="Inter Display"/>
                <a:ea typeface="Inter Display"/>
                <a:cs typeface="Inter Display"/>
              </a:rPr>
              <a:t>Known</a:t>
            </a:r>
            <a:endParaRPr sz="2300"/>
          </a:p>
        </p:txBody>
      </p:sp>
      <p:sp>
        <p:nvSpPr>
          <p:cNvPr id="21" name="Text 18">
            <a:extLst xmlns:a="http://schemas.openxmlformats.org/drawingml/2006/main">
              <a:ext uri="{FF2B5EF4-FFF2-40B4-BE49-F238E27FC236}">
                <a16:creationId xmlns:a16="http://schemas.microsoft.com/office/drawing/2014/main" id="{FB208053-BA53-4D9B-AD1F-86929FE2A58E}"/>
              </a:ext>
            </a:extLst>
          </p:cNvPr>
          <p:cNvSpPr>
            <a:spLocks xmlns:a="http://schemas.openxmlformats.org/drawingml/2006/main" noGrp="1"/>
          </p:cNvSpPr>
          <p:nvPr/>
        </p:nvSpPr>
        <p:spPr>
          <a:xfrm xmlns:a="http://schemas.openxmlformats.org/drawingml/2006/main">
            <a:off x="1353312" y="4434840"/>
            <a:ext cx="36576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100">
                <a:solidFill>
                  <a:srgbClr val="243447"/>
                </a:solidFill>
                <a:latin typeface="Inter"/>
                <a:ea typeface="Inter"/>
                <a:cs typeface="Inter"/>
              </a:rPr>
              <a:t>The beginning and end of the cipher invocation</a:t>
            </a:r>
            <a:endParaRPr sz="2100"/>
          </a:p>
        </p:txBody>
      </p:sp>
      <p:sp>
        <p:nvSpPr>
          <p:cNvPr id="22" name="Shape 19">
            <a:extLst xmlns:a="http://schemas.openxmlformats.org/drawingml/2006/main">
              <a:ext uri="{FF2B5EF4-FFF2-40B4-BE49-F238E27FC236}">
                <a16:creationId xmlns:a16="http://schemas.microsoft.com/office/drawing/2014/main" id="{B38301A2-FD4D-450D-8136-9686EC3D5BC9}"/>
              </a:ext>
            </a:extLst>
          </p:cNvPr>
          <p:cNvSpPr>
            <a:spLocks xmlns:a="http://schemas.openxmlformats.org/drawingml/2006/main" noGrp="1"/>
          </p:cNvSpPr>
          <p:nvPr/>
        </p:nvSpPr>
        <p:spPr>
          <a:xfrm xmlns:a="http://schemas.openxmlformats.org/drawingml/2006/main">
            <a:off x="5897880" y="3803904"/>
            <a:ext cx="5212080" cy="1417320"/>
          </a:xfrm>
          <a:prstGeom xmlns:a="http://schemas.openxmlformats.org/drawingml/2006/main" prst="roundRect">
            <a:avLst>
              <a:gd name="adj" fmla="val 3871"/>
            </a:avLst>
          </a:prstGeom>
          <a:solidFill xmlns:a="http://schemas.openxmlformats.org/drawingml/2006/main">
            <a:srgbClr val="EAF3FA"/>
          </a:solidFill>
          <a:ln xmlns:a="http://schemas.openxmlformats.org/drawingml/2006/main" w="13970">
            <a:solidFill>
              <a:srgbClr val="EAF3FA"/>
            </a:solidFill>
            <a:prstDash val="solid"/>
          </a:ln>
        </p:spPr>
      </p:sp>
      <p:sp>
        <p:nvSpPr>
          <p:cNvPr id="23" name="Text 20">
            <a:extLst xmlns:a="http://schemas.openxmlformats.org/drawingml/2006/main">
              <a:ext uri="{FF2B5EF4-FFF2-40B4-BE49-F238E27FC236}">
                <a16:creationId xmlns:a16="http://schemas.microsoft.com/office/drawing/2014/main" id="{7DDA45FF-CE9C-4314-AF45-51F2B95F2422}"/>
              </a:ext>
            </a:extLst>
          </p:cNvPr>
          <p:cNvSpPr>
            <a:spLocks xmlns:a="http://schemas.openxmlformats.org/drawingml/2006/main" noGrp="1"/>
          </p:cNvSpPr>
          <p:nvPr/>
        </p:nvSpPr>
        <p:spPr>
          <a:xfrm xmlns:a="http://schemas.openxmlformats.org/drawingml/2006/main">
            <a:off x="6199632" y="4041648"/>
            <a:ext cx="4114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300" b="1">
                <a:solidFill>
                  <a:srgbClr val="2D74B8"/>
                </a:solidFill>
                <a:latin typeface="Inter Display"/>
                <a:ea typeface="Inter Display"/>
                <a:cs typeface="Inter Display"/>
              </a:rPr>
              <a:t>Still unknown</a:t>
            </a:r>
            <a:endParaRPr sz="2300"/>
          </a:p>
        </p:txBody>
      </p:sp>
      <p:sp>
        <p:nvSpPr>
          <p:cNvPr id="24" name="Text 21">
            <a:extLst xmlns:a="http://schemas.openxmlformats.org/drawingml/2006/main">
              <a:ext uri="{FF2B5EF4-FFF2-40B4-BE49-F238E27FC236}">
                <a16:creationId xmlns:a16="http://schemas.microsoft.com/office/drawing/2014/main" id="{9FF4F8D6-BABA-453B-838B-D079E51BA97C}"/>
              </a:ext>
            </a:extLst>
          </p:cNvPr>
          <p:cNvSpPr>
            <a:spLocks xmlns:a="http://schemas.openxmlformats.org/drawingml/2006/main" noGrp="1"/>
          </p:cNvSpPr>
          <p:nvPr/>
        </p:nvSpPr>
        <p:spPr>
          <a:xfrm xmlns:a="http://schemas.openxmlformats.org/drawingml/2006/main">
            <a:off x="6199632" y="4416552"/>
            <a:ext cx="45720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050">
                <a:solidFill>
                  <a:srgbClr val="243447"/>
                </a:solidFill>
                <a:latin typeface="Inter"/>
                <a:ea typeface="Inter"/>
                <a:cs typeface="Inter"/>
              </a:rPr>
              <a:t>Repetition boundaries, phase, stable windows, and internal analysis positions</a:t>
            </a:r>
            <a:endParaRPr sz="2050"/>
          </a:p>
        </p:txBody>
      </p:sp>
    </p:spTree>
    <p:extLst>
      <p:ext uri="{BB962C8B-B14F-4D97-AF65-F5344CB8AC3E}">
        <p14:creationId xmlns:p14="http://schemas.microsoft.com/office/powerpoint/2010/main" val="837147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E9083C2-3CF2-4D50-9A2B-B36978E77552}"/>
              </a:ext>
            </a:extLst>
          </p:cNvPr>
          <p:cNvSpPr>
            <a:spLocks xmlns:a="http://schemas.openxmlformats.org/drawingml/2006/main" noGrp="1"/>
          </p:cNvSpPr>
          <p:nvPr/>
        </p:nvSpPr>
        <p:spPr>
          <a:xfrm xmlns:a="http://schemas.openxmlformats.org/drawingml/2006/main">
            <a:off x="658368" y="384048"/>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100" b="1">
                <a:solidFill>
                  <a:srgbClr val="17324D"/>
                </a:solidFill>
                <a:latin typeface="Inter Display"/>
                <a:ea typeface="Inter Display"/>
                <a:cs typeface="Inter Display"/>
              </a:rPr>
              <a:t>A two-stage trace-only segmentation pipeline</a:t>
            </a:r>
            <a:endParaRPr sz="3100"/>
          </a:p>
        </p:txBody>
      </p:sp>
      <p:sp>
        <p:nvSpPr>
          <p:cNvPr id="6" name="Text 4">
            <a:extLst xmlns:a="http://schemas.openxmlformats.org/drawingml/2006/main">
              <a:ext uri="{FF2B5EF4-FFF2-40B4-BE49-F238E27FC236}">
                <a16:creationId xmlns:a16="http://schemas.microsoft.com/office/drawing/2014/main" id="{11720AF4-1375-4CD2-900F-FAC68E3820A3}"/>
              </a:ext>
            </a:extLst>
          </p:cNvPr>
          <p:cNvSpPr>
            <a:spLocks xmlns:a="http://schemas.openxmlformats.org/drawingml/2006/main" noGrp="1"/>
          </p:cNvSpPr>
          <p:nvPr/>
        </p:nvSpPr>
        <p:spPr>
          <a:xfrm xmlns:a="http://schemas.openxmlformats.org/drawingml/2006/main">
            <a:off x="4023360" y="6574536"/>
            <a:ext cx="63093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657487"/>
                </a:solidFill>
                <a:latin typeface="Inter"/>
                <a:ea typeface="Inter"/>
                <a:cs typeface="Inter"/>
              </a:rPr>
              <a:t>Redesigned from paper Fig. 1</a:t>
            </a:r>
            <a:endParaRPr sz="900"/>
          </a:p>
        </p:txBody>
      </p:sp>
      <p:sp>
        <p:nvSpPr>
          <p:cNvPr id="7" name="Text 5">
            <a:extLst xmlns:a="http://schemas.openxmlformats.org/drawingml/2006/main">
              <a:ext uri="{FF2B5EF4-FFF2-40B4-BE49-F238E27FC236}">
                <a16:creationId xmlns:a16="http://schemas.microsoft.com/office/drawing/2014/main" id="{41FF9838-6F3E-4304-9616-82CAE43C8E8B}"/>
              </a:ext>
            </a:extLst>
          </p:cNvPr>
          <p:cNvSpPr>
            <a:spLocks xmlns:a="http://schemas.openxmlformats.org/drawingml/2006/main" noGrp="1"/>
          </p:cNvSpPr>
          <p:nvPr/>
        </p:nvSpPr>
        <p:spPr>
          <a:xfrm xmlns:a="http://schemas.openxmlformats.org/drawingml/2006/main">
            <a:off x="11109960" y="6556248"/>
            <a:ext cx="4114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487"/>
                </a:solidFill>
                <a:latin typeface="Inter"/>
                <a:ea typeface="Inter"/>
                <a:cs typeface="Inter"/>
              </a:rPr>
              <a:t>4</a:t>
            </a:r>
            <a:endParaRPr sz="1000"/>
          </a:p>
        </p:txBody>
      </p:sp>
      <p:sp>
        <p:nvSpPr>
          <p:cNvPr id="8" name="Text 6">
            <a:extLst xmlns:a="http://schemas.openxmlformats.org/drawingml/2006/main">
              <a:ext uri="{FF2B5EF4-FFF2-40B4-BE49-F238E27FC236}">
                <a16:creationId xmlns:a16="http://schemas.microsoft.com/office/drawing/2014/main" id="{4DDC6688-E9FC-4E13-84AF-827CD8A32519}"/>
              </a:ext>
            </a:extLst>
          </p:cNvPr>
          <p:cNvSpPr>
            <a:spLocks xmlns:a="http://schemas.openxmlformats.org/drawingml/2006/main" noGrp="1"/>
          </p:cNvSpPr>
          <p:nvPr/>
        </p:nvSpPr>
        <p:spPr>
          <a:xfrm xmlns:a="http://schemas.openxmlformats.org/drawingml/2006/main">
            <a:off x="868680" y="1325880"/>
            <a:ext cx="50749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2D74B8"/>
                </a:solidFill>
                <a:latin typeface="Inter Display"/>
                <a:ea typeface="Inter Display"/>
                <a:cs typeface="Inter Display"/>
              </a:rPr>
              <a:t>STAGE 1 · REPETITION STRUCTURE</a:t>
            </a:r>
            <a:endParaRPr sz="2050"/>
          </a:p>
        </p:txBody>
      </p:sp>
      <p:sp>
        <p:nvSpPr>
          <p:cNvPr id="9" name="Text 7">
            <a:extLst xmlns:a="http://schemas.openxmlformats.org/drawingml/2006/main">
              <a:ext uri="{FF2B5EF4-FFF2-40B4-BE49-F238E27FC236}">
                <a16:creationId xmlns:a16="http://schemas.microsoft.com/office/drawing/2014/main" id="{584F6077-AD09-4363-9856-E5E0A18178C6}"/>
              </a:ext>
            </a:extLst>
          </p:cNvPr>
          <p:cNvSpPr>
            <a:spLocks xmlns:a="http://schemas.openxmlformats.org/drawingml/2006/main" noGrp="1"/>
          </p:cNvSpPr>
          <p:nvPr/>
        </p:nvSpPr>
        <p:spPr>
          <a:xfrm xmlns:a="http://schemas.openxmlformats.org/drawingml/2006/main">
            <a:off x="6291072" y="132588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E6A03A"/>
                </a:solidFill>
                <a:latin typeface="Inter Display"/>
                <a:ea typeface="Inter Display"/>
                <a:cs typeface="Inter Display"/>
              </a:rPr>
              <a:t>STAGE 2 · INTERNAL SEGMENTATION</a:t>
            </a:r>
            <a:endParaRPr sz="2050"/>
          </a:p>
        </p:txBody>
      </p:sp>
      <p:sp>
        <p:nvSpPr>
          <p:cNvPr id="10" name="Shape 8">
            <a:extLst xmlns:a="http://schemas.openxmlformats.org/drawingml/2006/main">
              <a:ext uri="{FF2B5EF4-FFF2-40B4-BE49-F238E27FC236}">
                <a16:creationId xmlns:a16="http://schemas.microsoft.com/office/drawing/2014/main" id="{8AAE5BE8-049A-4F3D-B592-FECD3B6C540E}"/>
              </a:ext>
            </a:extLst>
          </p:cNvPr>
          <p:cNvSpPr>
            <a:spLocks xmlns:a="http://schemas.openxmlformats.org/drawingml/2006/main" noGrp="1"/>
          </p:cNvSpPr>
          <p:nvPr/>
        </p:nvSpPr>
        <p:spPr>
          <a:xfrm xmlns:a="http://schemas.openxmlformats.org/drawingml/2006/main">
            <a:off x="749808" y="1755648"/>
            <a:ext cx="5349240" cy="3401568"/>
          </a:xfrm>
          <a:prstGeom xmlns:a="http://schemas.openxmlformats.org/drawingml/2006/main" prst="roundRect">
            <a:avLst>
              <a:gd name="adj" fmla="val 1613"/>
            </a:avLst>
          </a:prstGeom>
          <a:solidFill xmlns:a="http://schemas.openxmlformats.org/drawingml/2006/main">
            <a:srgbClr val="EAF3FA"/>
          </a:solidFill>
          <a:ln xmlns:a="http://schemas.openxmlformats.org/drawingml/2006/main" w="13970">
            <a:solidFill>
              <a:srgbClr val="EAF3FA"/>
            </a:solidFill>
            <a:prstDash val="solid"/>
          </a:ln>
        </p:spPr>
      </p:sp>
      <p:sp>
        <p:nvSpPr>
          <p:cNvPr id="11" name="Shape 9">
            <a:extLst xmlns:a="http://schemas.openxmlformats.org/drawingml/2006/main">
              <a:ext uri="{FF2B5EF4-FFF2-40B4-BE49-F238E27FC236}">
                <a16:creationId xmlns:a16="http://schemas.microsoft.com/office/drawing/2014/main" id="{23FB1366-1701-4F2B-855C-3BACCAB8BEFF}"/>
              </a:ext>
            </a:extLst>
          </p:cNvPr>
          <p:cNvSpPr>
            <a:spLocks xmlns:a="http://schemas.openxmlformats.org/drawingml/2006/main" noGrp="1"/>
          </p:cNvSpPr>
          <p:nvPr/>
        </p:nvSpPr>
        <p:spPr>
          <a:xfrm xmlns:a="http://schemas.openxmlformats.org/drawingml/2006/main">
            <a:off x="6099048" y="1755648"/>
            <a:ext cx="5340096" cy="3401568"/>
          </a:xfrm>
          <a:prstGeom xmlns:a="http://schemas.openxmlformats.org/drawingml/2006/main" prst="roundRect">
            <a:avLst>
              <a:gd name="adj" fmla="val 1613"/>
            </a:avLst>
          </a:prstGeom>
          <a:solidFill xmlns:a="http://schemas.openxmlformats.org/drawingml/2006/main">
            <a:srgbClr val="FFF3DF"/>
          </a:solidFill>
          <a:ln xmlns:a="http://schemas.openxmlformats.org/drawingml/2006/main" w="13970">
            <a:solidFill>
              <a:srgbClr val="FFF3DF"/>
            </a:solidFill>
            <a:prstDash val="solid"/>
          </a:ln>
        </p:spPr>
      </p:sp>
      <p:sp>
        <p:nvSpPr>
          <p:cNvPr id="12" name="Text 10">
            <a:extLst xmlns:a="http://schemas.openxmlformats.org/drawingml/2006/main">
              <a:ext uri="{FF2B5EF4-FFF2-40B4-BE49-F238E27FC236}">
                <a16:creationId xmlns:a16="http://schemas.microsoft.com/office/drawing/2014/main" id="{A5059CCD-B837-4776-A548-17D6FE2C0BEE}"/>
              </a:ext>
            </a:extLst>
          </p:cNvPr>
          <p:cNvSpPr>
            <a:spLocks xmlns:a="http://schemas.openxmlformats.org/drawingml/2006/main" noGrp="1"/>
          </p:cNvSpPr>
          <p:nvPr/>
        </p:nvSpPr>
        <p:spPr>
          <a:xfrm xmlns:a="http://schemas.openxmlformats.org/drawingml/2006/main">
            <a:off x="987552" y="2404872"/>
            <a:ext cx="1389888" cy="129844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4B8FCB"/>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2000">
                <a:solidFill>
                  <a:srgbClr val="243447"/>
                </a:solidFill>
                <a:latin typeface="Inter"/>
                <a:ea typeface="Inter"/>
                <a:cs typeface="Inter"/>
              </a:rPr>
              <a:t>Four statistical</a:t>
            </a:r>
            <a:endParaRPr sz="2000"/>
          </a:p>
          <a:p xmlns:a="http://schemas.openxmlformats.org/drawingml/2006/main">
            <a:pPr marL="0" indent="0" algn="ctr">
              <a:buNone/>
            </a:pPr>
            <a:r>
              <a:rPr sz="2000">
                <a:solidFill>
                  <a:srgbClr val="243447"/>
                </a:solidFill>
                <a:latin typeface="Inter"/>
                <a:ea typeface="Inter"/>
                <a:cs typeface="Inter"/>
              </a:rPr>
              <a:t>views</a:t>
            </a:r>
            <a:endParaRPr sz="2000"/>
          </a:p>
        </p:txBody>
      </p:sp>
      <p:sp>
        <p:nvSpPr>
          <p:cNvPr id="13" name="Shape 11">
            <a:extLst xmlns:a="http://schemas.openxmlformats.org/drawingml/2006/main">
              <a:ext uri="{FF2B5EF4-FFF2-40B4-BE49-F238E27FC236}">
                <a16:creationId xmlns:a16="http://schemas.microsoft.com/office/drawing/2014/main" id="{90E238B5-E15A-42C2-823C-0628F952F7C6}"/>
              </a:ext>
            </a:extLst>
          </p:cNvPr>
          <p:cNvSpPr>
            <a:spLocks xmlns:a="http://schemas.openxmlformats.org/drawingml/2006/main" noGrp="1"/>
          </p:cNvSpPr>
          <p:nvPr/>
        </p:nvSpPr>
        <p:spPr>
          <a:xfrm xmlns:a="http://schemas.openxmlformats.org/drawingml/2006/main">
            <a:off x="2395728" y="3054096"/>
            <a:ext cx="246888" cy="0"/>
          </a:xfrm>
          <a:prstGeom xmlns:a="http://schemas.openxmlformats.org/drawingml/2006/main" prst="line">
            <a:avLst/>
          </a:prstGeom>
          <a:noFill xmlns:a="http://schemas.openxmlformats.org/drawingml/2006/main"/>
          <a:ln xmlns:a="http://schemas.openxmlformats.org/drawingml/2006/main" w="17780">
            <a:solidFill>
              <a:srgbClr val="4B8FCB"/>
            </a:solidFill>
            <a:prstDash val="solid"/>
            <a:tailEnd type="triangle"/>
          </a:ln>
        </p:spPr>
      </p:sp>
      <p:sp>
        <p:nvSpPr>
          <p:cNvPr id="14" name="Text 12">
            <a:extLst xmlns:a="http://schemas.openxmlformats.org/drawingml/2006/main">
              <a:ext uri="{FF2B5EF4-FFF2-40B4-BE49-F238E27FC236}">
                <a16:creationId xmlns:a16="http://schemas.microsoft.com/office/drawing/2014/main" id="{0A4F6CAB-098F-417E-A774-4DCBB06842A7}"/>
              </a:ext>
            </a:extLst>
          </p:cNvPr>
          <p:cNvSpPr>
            <a:spLocks xmlns:a="http://schemas.openxmlformats.org/drawingml/2006/main" noGrp="1"/>
          </p:cNvSpPr>
          <p:nvPr/>
        </p:nvSpPr>
        <p:spPr>
          <a:xfrm xmlns:a="http://schemas.openxmlformats.org/drawingml/2006/main">
            <a:off x="2679192" y="2404872"/>
            <a:ext cx="1389888" cy="129844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4B8FCB"/>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2000">
                <a:solidFill>
                  <a:srgbClr val="243447"/>
                </a:solidFill>
                <a:latin typeface="Inter"/>
                <a:ea typeface="Inter"/>
                <a:cs typeface="Inter"/>
              </a:rPr>
              <a:t>Ranked repetition</a:t>
            </a:r>
            <a:endParaRPr sz="2000"/>
          </a:p>
          <a:p xmlns:a="http://schemas.openxmlformats.org/drawingml/2006/main">
            <a:pPr marL="0" indent="0" algn="ctr">
              <a:buNone/>
            </a:pPr>
            <a:r>
              <a:rPr sz="2000">
                <a:solidFill>
                  <a:srgbClr val="243447"/>
                </a:solidFill>
                <a:latin typeface="Inter"/>
                <a:ea typeface="Inter"/>
                <a:cs typeface="Inter"/>
              </a:rPr>
              <a:t>scales</a:t>
            </a:r>
            <a:endParaRPr sz="2000"/>
          </a:p>
        </p:txBody>
      </p:sp>
      <p:sp>
        <p:nvSpPr>
          <p:cNvPr id="15" name="Shape 13">
            <a:extLst xmlns:a="http://schemas.openxmlformats.org/drawingml/2006/main">
              <a:ext uri="{FF2B5EF4-FFF2-40B4-BE49-F238E27FC236}">
                <a16:creationId xmlns:a16="http://schemas.microsoft.com/office/drawing/2014/main" id="{D1894E35-0450-401A-AEBC-3DF0B9040E01}"/>
              </a:ext>
            </a:extLst>
          </p:cNvPr>
          <p:cNvSpPr>
            <a:spLocks xmlns:a="http://schemas.openxmlformats.org/drawingml/2006/main" noGrp="1"/>
          </p:cNvSpPr>
          <p:nvPr/>
        </p:nvSpPr>
        <p:spPr>
          <a:xfrm xmlns:a="http://schemas.openxmlformats.org/drawingml/2006/main">
            <a:off x="4087368" y="3054096"/>
            <a:ext cx="246888" cy="0"/>
          </a:xfrm>
          <a:prstGeom xmlns:a="http://schemas.openxmlformats.org/drawingml/2006/main" prst="line">
            <a:avLst/>
          </a:prstGeom>
          <a:noFill xmlns:a="http://schemas.openxmlformats.org/drawingml/2006/main"/>
          <a:ln xmlns:a="http://schemas.openxmlformats.org/drawingml/2006/main" w="17780">
            <a:solidFill>
              <a:srgbClr val="4B8FCB"/>
            </a:solidFill>
            <a:prstDash val="solid"/>
            <a:tailEnd type="triangle"/>
          </a:ln>
        </p:spPr>
      </p:sp>
      <p:sp>
        <p:nvSpPr>
          <p:cNvPr id="16" name="Text 14">
            <a:extLst xmlns:a="http://schemas.openxmlformats.org/drawingml/2006/main">
              <a:ext uri="{FF2B5EF4-FFF2-40B4-BE49-F238E27FC236}">
                <a16:creationId xmlns:a16="http://schemas.microsoft.com/office/drawing/2014/main" id="{16B034C6-C806-4C0D-A2D4-08A9F9B614E3}"/>
              </a:ext>
            </a:extLst>
          </p:cNvPr>
          <p:cNvSpPr>
            <a:spLocks xmlns:a="http://schemas.openxmlformats.org/drawingml/2006/main" noGrp="1"/>
          </p:cNvSpPr>
          <p:nvPr/>
        </p:nvSpPr>
        <p:spPr>
          <a:xfrm xmlns:a="http://schemas.openxmlformats.org/drawingml/2006/main">
            <a:off x="4370832" y="2404872"/>
            <a:ext cx="1389888" cy="129844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2C9A8B"/>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2000" b="1">
                <a:solidFill>
                  <a:srgbClr val="243447"/>
                </a:solidFill>
                <a:latin typeface="Inter"/>
                <a:ea typeface="Inter"/>
                <a:cs typeface="Inter"/>
              </a:rPr>
              <a:t>Phase +</a:t>
            </a:r>
            <a:endParaRPr sz="2000"/>
          </a:p>
          <a:p xmlns:a="http://schemas.openxmlformats.org/drawingml/2006/main">
            <a:pPr marL="0" indent="0" algn="ctr">
              <a:buNone/>
            </a:pPr>
            <a:r>
              <a:rPr sz="2000" b="1">
                <a:solidFill>
                  <a:srgbClr val="243447"/>
                </a:solidFill>
                <a:latin typeface="Inter"/>
                <a:ea typeface="Inter"/>
                <a:cs typeface="Inter"/>
              </a:rPr>
              <a:t>stable core</a:t>
            </a:r>
            <a:endParaRPr sz="2000"/>
          </a:p>
        </p:txBody>
      </p:sp>
      <p:sp>
        <p:nvSpPr>
          <p:cNvPr id="17" name="Text 15">
            <a:extLst xmlns:a="http://schemas.openxmlformats.org/drawingml/2006/main">
              <a:ext uri="{FF2B5EF4-FFF2-40B4-BE49-F238E27FC236}">
                <a16:creationId xmlns:a16="http://schemas.microsoft.com/office/drawing/2014/main" id="{6C8A5923-F031-4D9C-AEEA-7E9640EF7EF2}"/>
              </a:ext>
            </a:extLst>
          </p:cNvPr>
          <p:cNvSpPr>
            <a:spLocks xmlns:a="http://schemas.openxmlformats.org/drawingml/2006/main" noGrp="1"/>
          </p:cNvSpPr>
          <p:nvPr/>
        </p:nvSpPr>
        <p:spPr>
          <a:xfrm xmlns:a="http://schemas.openxmlformats.org/drawingml/2006/main">
            <a:off x="1060704" y="4096512"/>
            <a:ext cx="4718304"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050">
                <a:solidFill>
                  <a:srgbClr val="243447"/>
                </a:solidFill>
                <a:latin typeface="Inter"/>
                <a:ea typeface="Inter"/>
                <a:cs typeface="Inter"/>
              </a:rPr>
              <a:t>Rank repetition scales, estimate phase,</a:t>
            </a:r>
            <a:endParaRPr sz="2050"/>
          </a:p>
          <a:p xmlns:a="http://schemas.openxmlformats.org/drawingml/2006/main">
            <a:pPr marL="0" indent="0" algn="ctr">
              <a:buNone/>
            </a:pPr>
            <a:r>
              <a:rPr sz="2050">
                <a:solidFill>
                  <a:srgbClr val="243447"/>
                </a:solidFill>
                <a:latin typeface="Inter"/>
                <a:ea typeface="Inter"/>
                <a:cs typeface="Inter"/>
              </a:rPr>
              <a:t>and keep the longest anchor-supported run.</a:t>
            </a:r>
            <a:endParaRPr sz="2050"/>
          </a:p>
        </p:txBody>
      </p:sp>
      <p:sp>
        <p:nvSpPr>
          <p:cNvPr id="18" name="Text 16">
            <a:extLst xmlns:a="http://schemas.openxmlformats.org/drawingml/2006/main">
              <a:ext uri="{FF2B5EF4-FFF2-40B4-BE49-F238E27FC236}">
                <a16:creationId xmlns:a16="http://schemas.microsoft.com/office/drawing/2014/main" id="{82238432-C958-4925-A0E8-9976A6AE6091}"/>
              </a:ext>
            </a:extLst>
          </p:cNvPr>
          <p:cNvSpPr>
            <a:spLocks xmlns:a="http://schemas.openxmlformats.org/drawingml/2006/main" noGrp="1"/>
          </p:cNvSpPr>
          <p:nvPr/>
        </p:nvSpPr>
        <p:spPr>
          <a:xfrm xmlns:a="http://schemas.openxmlformats.org/drawingml/2006/main">
            <a:off x="6327648" y="2404872"/>
            <a:ext cx="1325880" cy="129844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E6A03A"/>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2000">
                <a:solidFill>
                  <a:srgbClr val="243447"/>
                </a:solidFill>
                <a:latin typeface="Inter"/>
                <a:ea typeface="Inter"/>
                <a:cs typeface="Inter"/>
              </a:rPr>
              <a:t>Stack stable</a:t>
            </a:r>
            <a:endParaRPr sz="2000"/>
          </a:p>
          <a:p xmlns:a="http://schemas.openxmlformats.org/drawingml/2006/main">
            <a:pPr marL="0" indent="0" algn="ctr">
              <a:buNone/>
            </a:pPr>
            <a:r>
              <a:rPr sz="2000">
                <a:solidFill>
                  <a:srgbClr val="243447"/>
                </a:solidFill>
                <a:latin typeface="Inter"/>
                <a:ea typeface="Inter"/>
                <a:cs typeface="Inter"/>
              </a:rPr>
              <a:t>windows</a:t>
            </a:r>
            <a:endParaRPr sz="2000"/>
          </a:p>
        </p:txBody>
      </p:sp>
      <p:sp>
        <p:nvSpPr>
          <p:cNvPr id="19" name="Shape 17">
            <a:extLst xmlns:a="http://schemas.openxmlformats.org/drawingml/2006/main">
              <a:ext uri="{FF2B5EF4-FFF2-40B4-BE49-F238E27FC236}">
                <a16:creationId xmlns:a16="http://schemas.microsoft.com/office/drawing/2014/main" id="{61A1B6A9-122F-4813-9A04-0FE99E888326}"/>
              </a:ext>
            </a:extLst>
          </p:cNvPr>
          <p:cNvSpPr>
            <a:spLocks xmlns:a="http://schemas.openxmlformats.org/drawingml/2006/main" noGrp="1"/>
          </p:cNvSpPr>
          <p:nvPr/>
        </p:nvSpPr>
        <p:spPr>
          <a:xfrm xmlns:a="http://schemas.openxmlformats.org/drawingml/2006/main">
            <a:off x="7671816" y="3054096"/>
            <a:ext cx="292608" cy="0"/>
          </a:xfrm>
          <a:prstGeom xmlns:a="http://schemas.openxmlformats.org/drawingml/2006/main" prst="line">
            <a:avLst/>
          </a:prstGeom>
          <a:noFill xmlns:a="http://schemas.openxmlformats.org/drawingml/2006/main"/>
          <a:ln xmlns:a="http://schemas.openxmlformats.org/drawingml/2006/main" w="17780">
            <a:solidFill>
              <a:srgbClr val="E6A03A"/>
            </a:solidFill>
            <a:prstDash val="solid"/>
            <a:tailEnd type="triangle"/>
          </a:ln>
        </p:spPr>
      </p:sp>
      <p:sp>
        <p:nvSpPr>
          <p:cNvPr id="20" name="Text 18">
            <a:extLst xmlns:a="http://schemas.openxmlformats.org/drawingml/2006/main">
              <a:ext uri="{FF2B5EF4-FFF2-40B4-BE49-F238E27FC236}">
                <a16:creationId xmlns:a16="http://schemas.microsoft.com/office/drawing/2014/main" id="{7E8B5D9D-B3D6-4737-B98D-29108D77B808}"/>
              </a:ext>
            </a:extLst>
          </p:cNvPr>
          <p:cNvSpPr>
            <a:spLocks xmlns:a="http://schemas.openxmlformats.org/drawingml/2006/main" noGrp="1"/>
          </p:cNvSpPr>
          <p:nvPr/>
        </p:nvSpPr>
        <p:spPr>
          <a:xfrm xmlns:a="http://schemas.openxmlformats.org/drawingml/2006/main">
            <a:off x="7946136" y="2404872"/>
            <a:ext cx="1783080" cy="129844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E6A03A"/>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2000">
                <a:solidFill>
                  <a:srgbClr val="243447"/>
                </a:solidFill>
                <a:latin typeface="Inter"/>
                <a:ea typeface="Inter"/>
                <a:cs typeface="Inter"/>
              </a:rPr>
              <a:t>Median</a:t>
            </a:r>
            <a:endParaRPr sz="2000"/>
          </a:p>
          <a:p xmlns:a="http://schemas.openxmlformats.org/drawingml/2006/main">
            <a:pPr marL="0" indent="0" algn="ctr">
              <a:buNone/>
            </a:pPr>
            <a:r>
              <a:rPr sz="2000">
                <a:solidFill>
                  <a:srgbClr val="243447"/>
                </a:solidFill>
                <a:latin typeface="Inter"/>
                <a:ea typeface="Inter"/>
                <a:cs typeface="Inter"/>
              </a:rPr>
              <a:t>repetition</a:t>
            </a:r>
            <a:endParaRPr sz="2000"/>
          </a:p>
        </p:txBody>
      </p:sp>
      <p:sp>
        <p:nvSpPr>
          <p:cNvPr id="21" name="Shape 19">
            <a:extLst xmlns:a="http://schemas.openxmlformats.org/drawingml/2006/main">
              <a:ext uri="{FF2B5EF4-FFF2-40B4-BE49-F238E27FC236}">
                <a16:creationId xmlns:a16="http://schemas.microsoft.com/office/drawing/2014/main" id="{71EE4CB5-042B-4260-B140-6F33111939D5}"/>
              </a:ext>
            </a:extLst>
          </p:cNvPr>
          <p:cNvSpPr>
            <a:spLocks xmlns:a="http://schemas.openxmlformats.org/drawingml/2006/main" noGrp="1"/>
          </p:cNvSpPr>
          <p:nvPr/>
        </p:nvSpPr>
        <p:spPr>
          <a:xfrm xmlns:a="http://schemas.openxmlformats.org/drawingml/2006/main">
            <a:off x="9747504" y="3054096"/>
            <a:ext cx="292608" cy="0"/>
          </a:xfrm>
          <a:prstGeom xmlns:a="http://schemas.openxmlformats.org/drawingml/2006/main" prst="line">
            <a:avLst/>
          </a:prstGeom>
          <a:noFill xmlns:a="http://schemas.openxmlformats.org/drawingml/2006/main"/>
          <a:ln xmlns:a="http://schemas.openxmlformats.org/drawingml/2006/main" w="17780">
            <a:solidFill>
              <a:srgbClr val="E6A03A"/>
            </a:solidFill>
            <a:prstDash val="solid"/>
            <a:tailEnd type="triangle"/>
          </a:ln>
        </p:spPr>
      </p:sp>
      <p:sp>
        <p:nvSpPr>
          <p:cNvPr id="22" name="Text 20">
            <a:extLst xmlns:a="http://schemas.openxmlformats.org/drawingml/2006/main">
              <a:ext uri="{FF2B5EF4-FFF2-40B4-BE49-F238E27FC236}">
                <a16:creationId xmlns:a16="http://schemas.microsoft.com/office/drawing/2014/main" id="{12C1D02E-31E9-415F-A347-00A782E65755}"/>
              </a:ext>
            </a:extLst>
          </p:cNvPr>
          <p:cNvSpPr>
            <a:spLocks xmlns:a="http://schemas.openxmlformats.org/drawingml/2006/main" noGrp="1"/>
          </p:cNvSpPr>
          <p:nvPr/>
        </p:nvSpPr>
        <p:spPr>
          <a:xfrm xmlns:a="http://schemas.openxmlformats.org/drawingml/2006/main">
            <a:off x="10021824" y="2404872"/>
            <a:ext cx="1353312" cy="129844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E6A03A"/>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2000" b="1">
                <a:solidFill>
                  <a:srgbClr val="243447"/>
                </a:solidFill>
                <a:latin typeface="Inter"/>
                <a:ea typeface="Inter"/>
                <a:cs typeface="Inter"/>
              </a:rPr>
              <a:t>High / low-score</a:t>
            </a:r>
            <a:endParaRPr sz="2000"/>
          </a:p>
          <a:p xmlns:a="http://schemas.openxmlformats.org/drawingml/2006/main">
            <a:pPr marL="0" indent="0" algn="ctr">
              <a:buNone/>
            </a:pPr>
            <a:r>
              <a:rPr sz="2000" b="1">
                <a:solidFill>
                  <a:srgbClr val="243447"/>
                </a:solidFill>
                <a:latin typeface="Inter"/>
                <a:ea typeface="Inter"/>
                <a:cs typeface="Inter"/>
              </a:rPr>
              <a:t>segments</a:t>
            </a:r>
            <a:endParaRPr sz="2000"/>
          </a:p>
        </p:txBody>
      </p:sp>
      <p:sp>
        <p:nvSpPr>
          <p:cNvPr id="23" name="Text 21">
            <a:extLst xmlns:a="http://schemas.openxmlformats.org/drawingml/2006/main">
              <a:ext uri="{FF2B5EF4-FFF2-40B4-BE49-F238E27FC236}">
                <a16:creationId xmlns:a16="http://schemas.microsoft.com/office/drawing/2014/main" id="{E48E5347-59A7-48C7-85EA-25DC88F12592}"/>
              </a:ext>
            </a:extLst>
          </p:cNvPr>
          <p:cNvSpPr>
            <a:spLocks xmlns:a="http://schemas.openxmlformats.org/drawingml/2006/main" noGrp="1"/>
          </p:cNvSpPr>
          <p:nvPr/>
        </p:nvSpPr>
        <p:spPr>
          <a:xfrm xmlns:a="http://schemas.openxmlformats.org/drawingml/2006/main">
            <a:off x="6382512" y="4096512"/>
            <a:ext cx="473659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050">
                <a:solidFill>
                  <a:srgbClr val="243447"/>
                </a:solidFill>
                <a:latin typeface="Inter"/>
                <a:ea typeface="Inter"/>
                <a:cs typeface="Inter"/>
              </a:rPr>
              <a:t>Build a shared relative axis and partition it</a:t>
            </a:r>
            <a:endParaRPr sz="2050"/>
          </a:p>
          <a:p xmlns:a="http://schemas.openxmlformats.org/drawingml/2006/main">
            <a:pPr marL="0" indent="0" algn="ctr">
              <a:buNone/>
            </a:pPr>
            <a:r>
              <a:rPr sz="2050">
                <a:solidFill>
                  <a:srgbClr val="243447"/>
                </a:solidFill>
                <a:latin typeface="Inter"/>
                <a:ea typeface="Inter"/>
                <a:cs typeface="Inter"/>
              </a:rPr>
              <a:t>into high- and low-score candidate regions.</a:t>
            </a:r>
            <a:endParaRPr sz="2050"/>
          </a:p>
        </p:txBody>
      </p:sp>
      <p:sp>
        <p:nvSpPr>
          <p:cNvPr id="24" name="Text 22">
            <a:extLst xmlns:a="http://schemas.openxmlformats.org/drawingml/2006/main">
              <a:ext uri="{FF2B5EF4-FFF2-40B4-BE49-F238E27FC236}">
                <a16:creationId xmlns:a16="http://schemas.microsoft.com/office/drawing/2014/main" id="{1E7D1060-4CFA-453D-BDD2-51FDC4E4D032}"/>
              </a:ext>
            </a:extLst>
          </p:cNvPr>
          <p:cNvSpPr>
            <a:spLocks xmlns:a="http://schemas.openxmlformats.org/drawingml/2006/main" noGrp="1"/>
          </p:cNvSpPr>
          <p:nvPr/>
        </p:nvSpPr>
        <p:spPr>
          <a:xfrm xmlns:a="http://schemas.openxmlformats.org/drawingml/2006/main">
            <a:off x="1856232" y="5577840"/>
            <a:ext cx="2798064" cy="384048"/>
          </a:xfrm>
          <a:prstGeom xmlns:a="http://schemas.openxmlformats.org/drawingml/2006/main" prst="roundRect">
            <a:avLst/>
          </a:prstGeom>
          <a:solidFill xmlns:a="http://schemas.openxmlformats.org/drawingml/2006/main">
            <a:srgbClr val="EAF7F4"/>
          </a:solidFill>
          <a:ln xmlns:a="http://schemas.openxmlformats.org/drawingml/2006/main" w="10160">
            <a:solidFill>
              <a:srgbClr val="EAF7F4"/>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2000" b="1">
                <a:solidFill>
                  <a:srgbClr val="2C9A8B"/>
                </a:solidFill>
                <a:latin typeface="Inter"/>
                <a:ea typeface="Inter"/>
                <a:cs typeface="Inter"/>
              </a:rPr>
              <a:t>Repetition-level coordinates</a:t>
            </a:r>
            <a:endParaRPr sz="2000"/>
          </a:p>
        </p:txBody>
      </p:sp>
      <p:sp>
        <p:nvSpPr>
          <p:cNvPr id="25" name="Shape 23">
            <a:extLst xmlns:a="http://schemas.openxmlformats.org/drawingml/2006/main">
              <a:ext uri="{FF2B5EF4-FFF2-40B4-BE49-F238E27FC236}">
                <a16:creationId xmlns:a16="http://schemas.microsoft.com/office/drawing/2014/main" id="{77AD2F49-8ECE-4F7B-9696-ECFEEBF42443}"/>
              </a:ext>
            </a:extLst>
          </p:cNvPr>
          <p:cNvSpPr>
            <a:spLocks xmlns:a="http://schemas.openxmlformats.org/drawingml/2006/main" noGrp="1"/>
          </p:cNvSpPr>
          <p:nvPr/>
        </p:nvSpPr>
        <p:spPr>
          <a:xfrm xmlns:a="http://schemas.openxmlformats.org/drawingml/2006/main">
            <a:off x="4892040" y="5760720"/>
            <a:ext cx="950976" cy="0"/>
          </a:xfrm>
          <a:prstGeom xmlns:a="http://schemas.openxmlformats.org/drawingml/2006/main" prst="line">
            <a:avLst/>
          </a:prstGeom>
          <a:noFill xmlns:a="http://schemas.openxmlformats.org/drawingml/2006/main"/>
          <a:ln xmlns:a="http://schemas.openxmlformats.org/drawingml/2006/main" w="19050">
            <a:solidFill>
              <a:srgbClr val="B6C1CC"/>
            </a:solidFill>
            <a:prstDash val="solid"/>
            <a:tailEnd type="triangle"/>
          </a:ln>
        </p:spPr>
      </p:sp>
      <p:sp>
        <p:nvSpPr>
          <p:cNvPr id="26" name="Text 24">
            <a:extLst xmlns:a="http://schemas.openxmlformats.org/drawingml/2006/main">
              <a:ext uri="{FF2B5EF4-FFF2-40B4-BE49-F238E27FC236}">
                <a16:creationId xmlns:a16="http://schemas.microsoft.com/office/drawing/2014/main" id="{A4179B68-EA7F-4E78-803E-885738365038}"/>
              </a:ext>
            </a:extLst>
          </p:cNvPr>
          <p:cNvSpPr>
            <a:spLocks xmlns:a="http://schemas.openxmlformats.org/drawingml/2006/main" noGrp="1"/>
          </p:cNvSpPr>
          <p:nvPr/>
        </p:nvSpPr>
        <p:spPr>
          <a:xfrm xmlns:a="http://schemas.openxmlformats.org/drawingml/2006/main">
            <a:off x="6108192" y="5577840"/>
            <a:ext cx="3520440" cy="384048"/>
          </a:xfrm>
          <a:prstGeom xmlns:a="http://schemas.openxmlformats.org/drawingml/2006/main" prst="roundRect">
            <a:avLst/>
          </a:prstGeom>
          <a:solidFill xmlns:a="http://schemas.openxmlformats.org/drawingml/2006/main">
            <a:srgbClr val="FFF3DF"/>
          </a:solidFill>
          <a:ln xmlns:a="http://schemas.openxmlformats.org/drawingml/2006/main" w="10160">
            <a:solidFill>
              <a:srgbClr val="FFF3DF"/>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2000" b="1">
                <a:solidFill>
                  <a:srgbClr val="E6A03A"/>
                </a:solidFill>
                <a:latin typeface="Inter"/>
                <a:ea typeface="Inter"/>
                <a:cs typeface="Inter"/>
              </a:rPr>
              <a:t>Intra-repetition candidate regions</a:t>
            </a:r>
            <a:endParaRPr sz="2000"/>
          </a:p>
        </p:txBody>
      </p:sp>
    </p:spTree>
    <p:extLst>
      <p:ext uri="{BB962C8B-B14F-4D97-AF65-F5344CB8AC3E}">
        <p14:creationId xmlns:p14="http://schemas.microsoft.com/office/powerpoint/2010/main" val="3114084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3C288D-6540-4C37-8B96-00F59078EB7D}"/>
              </a:ext>
            </a:extLst>
          </p:cNvPr>
          <p:cNvSpPr>
            <a:spLocks xmlns:a="http://schemas.openxmlformats.org/drawingml/2006/main" noGrp="1"/>
          </p:cNvSpPr>
          <p:nvPr/>
        </p:nvSpPr>
        <p:spPr>
          <a:xfrm xmlns:a="http://schemas.openxmlformats.org/drawingml/2006/main">
            <a:off x="658368" y="384048"/>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100" b="1">
                <a:solidFill>
                  <a:srgbClr val="17324D"/>
                </a:solidFill>
                <a:latin typeface="Inter Display"/>
                <a:ea typeface="Inter Display"/>
                <a:cs typeface="Inter Display"/>
              </a:rPr>
              <a:t>Stage 1 ranks candidate repetition scales</a:t>
            </a:r>
            <a:endParaRPr sz="3100"/>
          </a:p>
        </p:txBody>
      </p:sp>
      <p:sp>
        <p:nvSpPr>
          <p:cNvPr id="6" name="Text 4">
            <a:extLst xmlns:a="http://schemas.openxmlformats.org/drawingml/2006/main">
              <a:ext uri="{FF2B5EF4-FFF2-40B4-BE49-F238E27FC236}">
                <a16:creationId xmlns:a16="http://schemas.microsoft.com/office/drawing/2014/main" id="{A0D5EAE8-ADC8-4B42-9676-B432124EF54D}"/>
              </a:ext>
            </a:extLst>
          </p:cNvPr>
          <p:cNvSpPr>
            <a:spLocks xmlns:a="http://schemas.openxmlformats.org/drawingml/2006/main" noGrp="1"/>
          </p:cNvSpPr>
          <p:nvPr/>
        </p:nvSpPr>
        <p:spPr>
          <a:xfrm xmlns:a="http://schemas.openxmlformats.org/drawingml/2006/main">
            <a:off x="11109960" y="6556248"/>
            <a:ext cx="4114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487"/>
                </a:solidFill>
                <a:latin typeface="Inter"/>
                <a:ea typeface="Inter"/>
                <a:cs typeface="Inter"/>
              </a:rPr>
              <a:t>5</a:t>
            </a:r>
            <a:endParaRPr sz="1000"/>
          </a:p>
        </p:txBody>
      </p:sp>
      <p:sp>
        <p:nvSpPr>
          <p:cNvPr id="7" name="Text 5">
            <a:extLst xmlns:a="http://schemas.openxmlformats.org/drawingml/2006/main">
              <a:ext uri="{FF2B5EF4-FFF2-40B4-BE49-F238E27FC236}">
                <a16:creationId xmlns:a16="http://schemas.microsoft.com/office/drawing/2014/main" id="{AEEE3F9D-A38D-48D1-A9AC-DBFE965FDDF7}"/>
              </a:ext>
            </a:extLst>
          </p:cNvPr>
          <p:cNvSpPr>
            <a:spLocks xmlns:a="http://schemas.openxmlformats.org/drawingml/2006/main" noGrp="1"/>
          </p:cNvSpPr>
          <p:nvPr/>
        </p:nvSpPr>
        <p:spPr>
          <a:xfrm xmlns:a="http://schemas.openxmlformats.org/drawingml/2006/main">
            <a:off x="8531352" y="1088136"/>
            <a:ext cx="850392" cy="274320"/>
          </a:xfrm>
          <a:prstGeom xmlns:a="http://schemas.openxmlformats.org/drawingml/2006/main" prst="roundRect">
            <a:avLst/>
          </a:prstGeom>
          <a:solidFill xmlns:a="http://schemas.openxmlformats.org/drawingml/2006/main">
            <a:srgbClr val="17324D"/>
          </a:solidFill>
          <a:ln xmlns:a="http://schemas.openxmlformats.org/drawingml/2006/main" w="8890">
            <a:solidFill>
              <a:srgbClr val="17324D"/>
            </a:solidFill>
          </a:ln>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50" b="1">
                <a:solidFill>
                  <a:srgbClr val="FFFFFF"/>
                </a:solidFill>
                <a:latin typeface="Inter"/>
                <a:ea typeface="Inter"/>
                <a:cs typeface="Inter"/>
              </a:rPr>
              <a:t>SCALE</a:t>
            </a:r>
            <a:endParaRPr sz="1250"/>
          </a:p>
        </p:txBody>
      </p:sp>
      <p:sp>
        <p:nvSpPr>
          <p:cNvPr id="8" name="Text 6">
            <a:extLst xmlns:a="http://schemas.openxmlformats.org/drawingml/2006/main">
              <a:ext uri="{FF2B5EF4-FFF2-40B4-BE49-F238E27FC236}">
                <a16:creationId xmlns:a16="http://schemas.microsoft.com/office/drawing/2014/main" id="{DF1CF5E1-48DA-4F39-90DA-5E3EABDD09D7}"/>
              </a:ext>
            </a:extLst>
          </p:cNvPr>
          <p:cNvSpPr>
            <a:spLocks xmlns:a="http://schemas.openxmlformats.org/drawingml/2006/main" noGrp="1"/>
          </p:cNvSpPr>
          <p:nvPr/>
        </p:nvSpPr>
        <p:spPr>
          <a:xfrm xmlns:a="http://schemas.openxmlformats.org/drawingml/2006/main">
            <a:off x="9454896" y="1088136"/>
            <a:ext cx="850392" cy="274320"/>
          </a:xfrm>
          <a:prstGeom xmlns:a="http://schemas.openxmlformats.org/drawingml/2006/main" prst="roundRect">
            <a:avLst/>
          </a:prstGeom>
          <a:solidFill xmlns:a="http://schemas.openxmlformats.org/drawingml/2006/main">
            <a:srgbClr val="EDF1F5"/>
          </a:solidFill>
          <a:ln xmlns:a="http://schemas.openxmlformats.org/drawingml/2006/main" w="8890">
            <a:solidFill>
              <a:srgbClr val="D7E0E8"/>
            </a:solidFill>
          </a:ln>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50" b="1">
                <a:solidFill>
                  <a:srgbClr val="657487"/>
                </a:solidFill>
                <a:latin typeface="Inter"/>
                <a:ea typeface="Inter"/>
                <a:cs typeface="Inter"/>
              </a:rPr>
              <a:t>ALIGN</a:t>
            </a:r>
            <a:endParaRPr sz="1250"/>
          </a:p>
        </p:txBody>
      </p:sp>
      <p:sp>
        <p:nvSpPr>
          <p:cNvPr id="9" name="Text 7">
            <a:extLst xmlns:a="http://schemas.openxmlformats.org/drawingml/2006/main">
              <a:ext uri="{FF2B5EF4-FFF2-40B4-BE49-F238E27FC236}">
                <a16:creationId xmlns:a16="http://schemas.microsoft.com/office/drawing/2014/main" id="{07F1BE27-A004-457C-B7DF-7840C0A79369}"/>
              </a:ext>
            </a:extLst>
          </p:cNvPr>
          <p:cNvSpPr>
            <a:spLocks xmlns:a="http://schemas.openxmlformats.org/drawingml/2006/main" noGrp="1"/>
          </p:cNvSpPr>
          <p:nvPr/>
        </p:nvSpPr>
        <p:spPr>
          <a:xfrm xmlns:a="http://schemas.openxmlformats.org/drawingml/2006/main">
            <a:off x="10378440" y="1088136"/>
            <a:ext cx="850392" cy="274320"/>
          </a:xfrm>
          <a:prstGeom xmlns:a="http://schemas.openxmlformats.org/drawingml/2006/main" prst="roundRect">
            <a:avLst/>
          </a:prstGeom>
          <a:solidFill xmlns:a="http://schemas.openxmlformats.org/drawingml/2006/main">
            <a:srgbClr val="EDF1F5"/>
          </a:solidFill>
          <a:ln xmlns:a="http://schemas.openxmlformats.org/drawingml/2006/main" w="8890">
            <a:solidFill>
              <a:srgbClr val="D7E0E8"/>
            </a:solidFill>
          </a:ln>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50" b="1">
                <a:solidFill>
                  <a:srgbClr val="657487"/>
                </a:solidFill>
                <a:latin typeface="Inter"/>
                <a:ea typeface="Inter"/>
                <a:cs typeface="Inter"/>
              </a:rPr>
              <a:t>SEGMENT</a:t>
            </a:r>
            <a:endParaRPr sz="1250"/>
          </a:p>
        </p:txBody>
      </p:sp>
      <p:sp>
        <p:nvSpPr>
          <p:cNvPr id="11" name="Text 9">
            <a:extLst xmlns:a="http://schemas.openxmlformats.org/drawingml/2006/main">
              <a:ext uri="{FF2B5EF4-FFF2-40B4-BE49-F238E27FC236}">
                <a16:creationId xmlns:a16="http://schemas.microsoft.com/office/drawing/2014/main" id="{985E38EF-7C6E-45E7-8A78-6152BBD187C9}"/>
              </a:ext>
            </a:extLst>
          </p:cNvPr>
          <p:cNvSpPr>
            <a:spLocks xmlns:a="http://schemas.openxmlformats.org/drawingml/2006/main" noGrp="1"/>
          </p:cNvSpPr>
          <p:nvPr/>
        </p:nvSpPr>
        <p:spPr>
          <a:xfrm xmlns:a="http://schemas.openxmlformats.org/drawingml/2006/main">
            <a:off x="969264" y="1609344"/>
            <a:ext cx="777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2D74B8"/>
                </a:solidFill>
                <a:latin typeface="Inter Display"/>
                <a:ea typeface="Inter Display"/>
                <a:cs typeface="Inter Display"/>
              </a:rPr>
              <a:t>σₜ</a:t>
            </a:r>
            <a:endParaRPr sz="2050"/>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6a157a5a5be04129">
            <a:extLst>
              <a:ext uri="{96DAC541-7B7A-43D3-8B79-37D633B846F1}">
                <asvg:svgBlip xmlns:asvg="http://schemas.microsoft.com/office/drawing/2016/SVG/main" r:embed="R4bc5d675da12400f"/>
              </a:ext>
            </a:extLst>
          </a:blip>
          <a:stretch xmlns:a="http://schemas.openxmlformats.org/drawingml/2006/main">
            <a:fillRect l="0" t="0" r="0" b="0"/>
          </a:stretch>
        </p:blipFill>
        <p:spPr>
          <a:xfrm xmlns:a="http://schemas.openxmlformats.org/drawingml/2006/main">
            <a:off x="969264" y="1975104"/>
            <a:ext cx="1901952" cy="566928"/>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175CED3B-407A-4B42-A493-C692F38B0D91}"/>
              </a:ext>
            </a:extLst>
          </p:cNvPr>
          <p:cNvSpPr>
            <a:spLocks xmlns:a="http://schemas.openxmlformats.org/drawingml/2006/main" noGrp="1"/>
          </p:cNvSpPr>
          <p:nvPr/>
        </p:nvSpPr>
        <p:spPr>
          <a:xfrm xmlns:a="http://schemas.openxmlformats.org/drawingml/2006/main">
            <a:off x="3511296" y="1609344"/>
            <a:ext cx="777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2C9A8B"/>
                </a:solidFill>
                <a:latin typeface="Inter Display"/>
                <a:ea typeface="Inter Display"/>
                <a:cs typeface="Inter Display"/>
              </a:rPr>
              <a:t>|μₜ|</a:t>
            </a:r>
            <a:endParaRPr sz="2050"/>
          </a:p>
        </p:txBody>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fddaa7f086204488">
            <a:extLst>
              <a:ext uri="{96DAC541-7B7A-43D3-8B79-37D633B846F1}">
                <asvg:svgBlip xmlns:asvg="http://schemas.microsoft.com/office/drawing/2016/SVG/main" r:embed="R8f0d57525fa54b4b"/>
              </a:ext>
            </a:extLst>
          </a:blip>
          <a:stretch xmlns:a="http://schemas.openxmlformats.org/drawingml/2006/main">
            <a:fillRect l="0" t="0" r="0" b="0"/>
          </a:stretch>
        </p:blipFill>
        <p:spPr>
          <a:xfrm xmlns:a="http://schemas.openxmlformats.org/drawingml/2006/main">
            <a:off x="3511296" y="1975104"/>
            <a:ext cx="1901952" cy="566928"/>
          </a:xfrm>
          <a:prstGeom xmlns:a="http://schemas.openxmlformats.org/drawingml/2006/main" prst="rect">
            <a:avLst/>
          </a:prstGeom>
        </p:spPr>
      </p:pic>
      <p:sp>
        <p:nvSpPr>
          <p:cNvPr id="17" name="Text 13">
            <a:extLst xmlns:a="http://schemas.openxmlformats.org/drawingml/2006/main">
              <a:ext uri="{FF2B5EF4-FFF2-40B4-BE49-F238E27FC236}">
                <a16:creationId xmlns:a16="http://schemas.microsoft.com/office/drawing/2014/main" id="{BDCD9B1F-F7EE-41EE-B9A5-2CD072607257}"/>
              </a:ext>
            </a:extLst>
          </p:cNvPr>
          <p:cNvSpPr>
            <a:spLocks xmlns:a="http://schemas.openxmlformats.org/drawingml/2006/main" noGrp="1"/>
          </p:cNvSpPr>
          <p:nvPr/>
        </p:nvSpPr>
        <p:spPr>
          <a:xfrm xmlns:a="http://schemas.openxmlformats.org/drawingml/2006/main">
            <a:off x="969264" y="3438144"/>
            <a:ext cx="777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E6A03A"/>
                </a:solidFill>
                <a:latin typeface="Inter Display"/>
                <a:ea typeface="Inter Display"/>
                <a:cs typeface="Inter Display"/>
              </a:rPr>
              <a:t>|∇μₜ|</a:t>
            </a:r>
            <a:endParaRPr sz="2050"/>
          </a:p>
        </p:txBody>
      </p:sp>
      <p:pic>
        <p:nvPicPr>
          <p:cNvPr id="50" name="Image 2"/>
          <p:cNvPicPr>
            <a:picLocks xmlns:a="http://schemas.openxmlformats.org/drawingml/2006/main" noChangeAspect="1"/>
          </p:cNvPicPr>
          <p:nvPr/>
        </p:nvPicPr>
        <p:blipFill>
          <a:blip xmlns:r="http://schemas.openxmlformats.org/officeDocument/2006/relationships" xmlns:a="http://schemas.openxmlformats.org/drawingml/2006/main" r:embed="Reaaf4a0970554c3d">
            <a:extLst>
              <a:ext uri="{96DAC541-7B7A-43D3-8B79-37D633B846F1}">
                <asvg:svgBlip xmlns:asvg="http://schemas.microsoft.com/office/drawing/2016/SVG/main" r:embed="Rcc003b0cae2443fc"/>
              </a:ext>
            </a:extLst>
          </a:blip>
          <a:stretch xmlns:a="http://schemas.openxmlformats.org/drawingml/2006/main">
            <a:fillRect l="0" t="0" r="0" b="0"/>
          </a:stretch>
        </p:blipFill>
        <p:spPr>
          <a:xfrm xmlns:a="http://schemas.openxmlformats.org/drawingml/2006/main">
            <a:off x="969264" y="3803904"/>
            <a:ext cx="1901952" cy="566928"/>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ED9692A3-AD10-44D5-BD77-6E3F61EE71D3}"/>
              </a:ext>
            </a:extLst>
          </p:cNvPr>
          <p:cNvSpPr>
            <a:spLocks xmlns:a="http://schemas.openxmlformats.org/drawingml/2006/main" noGrp="1"/>
          </p:cNvSpPr>
          <p:nvPr/>
        </p:nvSpPr>
        <p:spPr>
          <a:xfrm xmlns:a="http://schemas.openxmlformats.org/drawingml/2006/main">
            <a:off x="3511296" y="3438144"/>
            <a:ext cx="777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E77C3C"/>
                </a:solidFill>
                <a:latin typeface="Inter Display"/>
                <a:ea typeface="Inter Display"/>
                <a:cs typeface="Inter Display"/>
              </a:rPr>
              <a:t>|∇σₜ|</a:t>
            </a:r>
            <a:endParaRPr sz="2050"/>
          </a:p>
        </p:txBody>
      </p:sp>
      <p:pic>
        <p:nvPicPr>
          <p:cNvPr id="52" name="Image 3"/>
          <p:cNvPicPr>
            <a:picLocks xmlns:a="http://schemas.openxmlformats.org/drawingml/2006/main" noChangeAspect="1"/>
          </p:cNvPicPr>
          <p:nvPr/>
        </p:nvPicPr>
        <p:blipFill>
          <a:blip xmlns:r="http://schemas.openxmlformats.org/officeDocument/2006/relationships" xmlns:a="http://schemas.openxmlformats.org/drawingml/2006/main" r:embed="Rcb114febdb6646ea">
            <a:extLst>
              <a:ext uri="{96DAC541-7B7A-43D3-8B79-37D633B846F1}">
                <asvg:svgBlip xmlns:asvg="http://schemas.microsoft.com/office/drawing/2016/SVG/main" r:embed="R57695b34aae54cd2"/>
              </a:ext>
            </a:extLst>
          </a:blip>
          <a:stretch xmlns:a="http://schemas.openxmlformats.org/drawingml/2006/main">
            <a:fillRect l="0" t="0" r="0" b="0"/>
          </a:stretch>
        </p:blipFill>
        <p:spPr>
          <a:xfrm xmlns:a="http://schemas.openxmlformats.org/drawingml/2006/main">
            <a:off x="3511296" y="3803904"/>
            <a:ext cx="1901952" cy="566928"/>
          </a:xfrm>
          <a:prstGeom xmlns:a="http://schemas.openxmlformats.org/drawingml/2006/main" prst="rect">
            <a:avLst/>
          </a:prstGeom>
        </p:spPr>
      </p:pic>
      <p:sp>
        <p:nvSpPr>
          <p:cNvPr id="22" name="Shape 16">
            <a:extLst xmlns:a="http://schemas.openxmlformats.org/drawingml/2006/main">
              <a:ext uri="{FF2B5EF4-FFF2-40B4-BE49-F238E27FC236}">
                <a16:creationId xmlns:a16="http://schemas.microsoft.com/office/drawing/2014/main" id="{6B31905C-4855-40D8-9D9C-2765B2B66A24}"/>
              </a:ext>
            </a:extLst>
          </p:cNvPr>
          <p:cNvSpPr>
            <a:spLocks xmlns:a="http://schemas.openxmlformats.org/drawingml/2006/main" noGrp="1"/>
          </p:cNvSpPr>
          <p:nvPr/>
        </p:nvSpPr>
        <p:spPr>
          <a:xfrm xmlns:a="http://schemas.openxmlformats.org/drawingml/2006/main">
            <a:off x="5669280" y="2880360"/>
            <a:ext cx="530352" cy="0"/>
          </a:xfrm>
          <a:prstGeom xmlns:a="http://schemas.openxmlformats.org/drawingml/2006/main" prst="line">
            <a:avLst/>
          </a:prstGeom>
          <a:noFill xmlns:a="http://schemas.openxmlformats.org/drawingml/2006/main"/>
          <a:ln xmlns:a="http://schemas.openxmlformats.org/drawingml/2006/main" w="25400">
            <a:solidFill>
              <a:srgbClr val="B6C1CC"/>
            </a:solidFill>
            <a:prstDash val="solid"/>
            <a:tailEnd type="triangle"/>
          </a:ln>
        </p:spPr>
      </p:sp>
      <p:sp>
        <p:nvSpPr>
          <p:cNvPr id="23" name="Shape 17">
            <a:extLst xmlns:a="http://schemas.openxmlformats.org/drawingml/2006/main">
              <a:ext uri="{FF2B5EF4-FFF2-40B4-BE49-F238E27FC236}">
                <a16:creationId xmlns:a16="http://schemas.microsoft.com/office/drawing/2014/main" id="{1608B9F6-93C8-4A19-B8B8-CAF010E68CF1}"/>
              </a:ext>
            </a:extLst>
          </p:cNvPr>
          <p:cNvSpPr>
            <a:spLocks xmlns:a="http://schemas.openxmlformats.org/drawingml/2006/main" noGrp="1"/>
          </p:cNvSpPr>
          <p:nvPr/>
        </p:nvSpPr>
        <p:spPr>
          <a:xfrm xmlns:a="http://schemas.openxmlformats.org/drawingml/2006/main">
            <a:off x="6400800" y="1673352"/>
            <a:ext cx="2011680" cy="3584448"/>
          </a:xfrm>
          <a:prstGeom xmlns:a="http://schemas.openxmlformats.org/drawingml/2006/main" prst="roundRect">
            <a:avLst>
              <a:gd name="adj" fmla="val 2727"/>
            </a:avLst>
          </a:prstGeom>
          <a:solidFill xmlns:a="http://schemas.openxmlformats.org/drawingml/2006/main">
            <a:srgbClr val="EAF3FA"/>
          </a:solidFill>
          <a:ln xmlns:a="http://schemas.openxmlformats.org/drawingml/2006/main" w="13970">
            <a:solidFill>
              <a:srgbClr val="EAF3FA"/>
            </a:solidFill>
            <a:prstDash val="solid"/>
          </a:ln>
        </p:spPr>
      </p:sp>
      <p:sp>
        <p:nvSpPr>
          <p:cNvPr id="24" name="Text 18">
            <a:extLst xmlns:a="http://schemas.openxmlformats.org/drawingml/2006/main">
              <a:ext uri="{FF2B5EF4-FFF2-40B4-BE49-F238E27FC236}">
                <a16:creationId xmlns:a16="http://schemas.microsoft.com/office/drawing/2014/main" id="{4FB38AA3-CF06-4585-8F45-F801D0CF6817}"/>
              </a:ext>
            </a:extLst>
          </p:cNvPr>
          <p:cNvSpPr>
            <a:spLocks xmlns:a="http://schemas.openxmlformats.org/drawingml/2006/main" noGrp="1"/>
          </p:cNvSpPr>
          <p:nvPr/>
        </p:nvSpPr>
        <p:spPr>
          <a:xfrm xmlns:a="http://schemas.openxmlformats.org/drawingml/2006/main">
            <a:off x="6620256" y="1993392"/>
            <a:ext cx="1572768"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defRPr sz="1650" b="1">
                <a:solidFill>
                  <a:srgbClr val="17324D"/>
                </a:solidFill>
              </a:defRPr>
            </a:pPr>
            <a:r>
              <a:rPr sz="1650" b="1">
                <a:solidFill>
                  <a:srgbClr val="17324D"/>
                </a:solidFill>
                <a:latin typeface="Inter Display"/>
                <a:ea typeface="Inter Display"/>
                <a:cs typeface="Inter Display"/>
              </a:rPr>
              <a:t>Per-channel</a:t>
            </a:r>
            <a:endParaRPr sz="2300"/>
          </a:p>
          <a:p xmlns:a="http://schemas.openxmlformats.org/drawingml/2006/main">
            <a:pPr marL="0" indent="0" algn="ctr">
              <a:buNone/>
              <a:defRPr sz="1650" b="1">
                <a:solidFill>
                  <a:srgbClr val="17324D"/>
                </a:solidFill>
              </a:defRPr>
            </a:pPr>
            <a:r>
              <a:rPr sz="1650" b="1">
                <a:solidFill>
                  <a:srgbClr val="17324D"/>
                </a:solidFill>
                <a:latin typeface="Inter Display"/>
                <a:ea typeface="Inter Display"/>
                <a:cs typeface="Inter Display"/>
              </a:rPr>
              <a:t>self-similarity</a:t>
            </a:r>
            <a:endParaRPr sz="2300"/>
          </a:p>
        </p:txBody>
      </p:sp>
      <p:sp>
        <p:nvSpPr>
          <p:cNvPr id="25" name="Shape 19">
            <a:extLst xmlns:a="http://schemas.openxmlformats.org/drawingml/2006/main">
              <a:ext uri="{FF2B5EF4-FFF2-40B4-BE49-F238E27FC236}">
                <a16:creationId xmlns:a16="http://schemas.microsoft.com/office/drawing/2014/main" id="{98A1758F-5163-46DC-8FF4-506A815987A1}"/>
              </a:ext>
            </a:extLst>
          </p:cNvPr>
          <p:cNvSpPr>
            <a:spLocks xmlns:a="http://schemas.openxmlformats.org/drawingml/2006/main" noGrp="1"/>
          </p:cNvSpPr>
          <p:nvPr/>
        </p:nvSpPr>
        <p:spPr>
          <a:xfrm xmlns:a="http://schemas.openxmlformats.org/drawingml/2006/main">
            <a:off x="6858000" y="2953512"/>
            <a:ext cx="1097280" cy="0"/>
          </a:xfrm>
          <a:prstGeom xmlns:a="http://schemas.openxmlformats.org/drawingml/2006/main" prst="line">
            <a:avLst/>
          </a:prstGeom>
          <a:noFill xmlns:a="http://schemas.openxmlformats.org/drawingml/2006/main"/>
          <a:ln xmlns:a="http://schemas.openxmlformats.org/drawingml/2006/main" w="25400">
            <a:solidFill>
              <a:srgbClr val="2D74B8"/>
            </a:solidFill>
            <a:prstDash val="solid"/>
          </a:ln>
        </p:spPr>
      </p:sp>
      <p:sp>
        <p:nvSpPr>
          <p:cNvPr id="26" name="Text 20">
            <a:extLst xmlns:a="http://schemas.openxmlformats.org/drawingml/2006/main">
              <a:ext uri="{FF2B5EF4-FFF2-40B4-BE49-F238E27FC236}">
                <a16:creationId xmlns:a16="http://schemas.microsoft.com/office/drawing/2014/main" id="{5057BF57-24A5-47C0-B568-2B831A6937E9}"/>
              </a:ext>
            </a:extLst>
          </p:cNvPr>
          <p:cNvSpPr>
            <a:spLocks xmlns:a="http://schemas.openxmlformats.org/drawingml/2006/main" noGrp="1"/>
          </p:cNvSpPr>
          <p:nvPr/>
        </p:nvSpPr>
        <p:spPr>
          <a:xfrm xmlns:a="http://schemas.openxmlformats.org/drawingml/2006/main">
            <a:off x="6656832" y="3236976"/>
            <a:ext cx="1517904"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000">
                <a:solidFill>
                  <a:srgbClr val="243447"/>
                </a:solidFill>
                <a:latin typeface="Inter"/>
                <a:ea typeface="Inter"/>
                <a:cs typeface="Inter"/>
              </a:rPr>
              <a:t>normalize</a:t>
            </a:r>
            <a:endParaRPr sz="2000"/>
          </a:p>
          <a:p xmlns:a="http://schemas.openxmlformats.org/drawingml/2006/main">
            <a:pPr marL="0" indent="0" algn="ctr">
              <a:buNone/>
            </a:pPr>
            <a:r>
              <a:rPr sz="2000">
                <a:solidFill>
                  <a:srgbClr val="243447"/>
                </a:solidFill>
                <a:latin typeface="Inter"/>
                <a:ea typeface="Inter"/>
                <a:cs typeface="Inter"/>
              </a:rPr>
              <a:t>within each channel</a:t>
            </a:r>
            <a:endParaRPr sz="2000"/>
          </a:p>
        </p:txBody>
      </p:sp>
      <p:sp>
        <p:nvSpPr>
          <p:cNvPr id="27" name="Text 21">
            <a:extLst xmlns:a="http://schemas.openxmlformats.org/drawingml/2006/main">
              <a:ext uri="{FF2B5EF4-FFF2-40B4-BE49-F238E27FC236}">
                <a16:creationId xmlns:a16="http://schemas.microsoft.com/office/drawing/2014/main" id="{E9202981-6C41-46CE-A420-FC165578CA25}"/>
              </a:ext>
            </a:extLst>
          </p:cNvPr>
          <p:cNvSpPr>
            <a:spLocks xmlns:a="http://schemas.openxmlformats.org/drawingml/2006/main" noGrp="1"/>
          </p:cNvSpPr>
          <p:nvPr/>
        </p:nvSpPr>
        <p:spPr>
          <a:xfrm xmlns:a="http://schemas.openxmlformats.org/drawingml/2006/main">
            <a:off x="6675120" y="4279392"/>
            <a:ext cx="148132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2D74B8"/>
                </a:solidFill>
                <a:latin typeface="Inter"/>
                <a:ea typeface="Inter"/>
                <a:cs typeface="Inter"/>
              </a:rPr>
              <a:t>percentile ranks</a:t>
            </a:r>
            <a:endParaRPr sz="2000"/>
          </a:p>
        </p:txBody>
      </p:sp>
      <p:sp>
        <p:nvSpPr>
          <p:cNvPr id="28" name="Shape 22">
            <a:extLst xmlns:a="http://schemas.openxmlformats.org/drawingml/2006/main">
              <a:ext uri="{FF2B5EF4-FFF2-40B4-BE49-F238E27FC236}">
                <a16:creationId xmlns:a16="http://schemas.microsoft.com/office/drawing/2014/main" id="{6CBEE4EF-7646-4DC6-9D9A-96D6BF7AE02C}"/>
              </a:ext>
            </a:extLst>
          </p:cNvPr>
          <p:cNvSpPr>
            <a:spLocks xmlns:a="http://schemas.openxmlformats.org/drawingml/2006/main" noGrp="1"/>
          </p:cNvSpPr>
          <p:nvPr/>
        </p:nvSpPr>
        <p:spPr>
          <a:xfrm xmlns:a="http://schemas.openxmlformats.org/drawingml/2006/main">
            <a:off x="8622792" y="2880360"/>
            <a:ext cx="530352" cy="0"/>
          </a:xfrm>
          <a:prstGeom xmlns:a="http://schemas.openxmlformats.org/drawingml/2006/main" prst="line">
            <a:avLst/>
          </a:prstGeom>
          <a:noFill xmlns:a="http://schemas.openxmlformats.org/drawingml/2006/main"/>
          <a:ln xmlns:a="http://schemas.openxmlformats.org/drawingml/2006/main" w="25400">
            <a:solidFill>
              <a:srgbClr val="B6C1CC"/>
            </a:solidFill>
            <a:prstDash val="solid"/>
            <a:tailEnd type="triangle"/>
          </a:ln>
        </p:spPr>
      </p:sp>
      <p:sp>
        <p:nvSpPr>
          <p:cNvPr id="30" name="Text 24">
            <a:extLst xmlns:a="http://schemas.openxmlformats.org/drawingml/2006/main">
              <a:ext uri="{FF2B5EF4-FFF2-40B4-BE49-F238E27FC236}">
                <a16:creationId xmlns:a16="http://schemas.microsoft.com/office/drawing/2014/main" id="{E5C83A5F-74F7-4C73-8531-0AB5E35FCCFA}"/>
              </a:ext>
            </a:extLst>
          </p:cNvPr>
          <p:cNvSpPr>
            <a:spLocks xmlns:a="http://schemas.openxmlformats.org/drawingml/2006/main" noGrp="1"/>
          </p:cNvSpPr>
          <p:nvPr/>
        </p:nvSpPr>
        <p:spPr>
          <a:xfrm xmlns:a="http://schemas.openxmlformats.org/drawingml/2006/main">
            <a:off x="9582912" y="1984248"/>
            <a:ext cx="16459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7324D"/>
                </a:solidFill>
                <a:latin typeface="Inter Display"/>
                <a:ea typeface="Inter Display"/>
                <a:cs typeface="Inter Display"/>
              </a:rPr>
              <a:t>Consensus score</a:t>
            </a:r>
            <a:endParaRPr sz="2200"/>
          </a:p>
        </p:txBody>
      </p:sp>
      <p:pic>
        <p:nvPicPr>
          <p:cNvPr id="61" name="Image 4"/>
          <p:cNvPicPr>
            <a:picLocks xmlns:a="http://schemas.openxmlformats.org/drawingml/2006/main" noChangeAspect="1"/>
          </p:cNvPicPr>
          <p:nvPr/>
        </p:nvPicPr>
        <p:blipFill>
          <a:blip xmlns:r="http://schemas.openxmlformats.org/officeDocument/2006/relationships" xmlns:a="http://schemas.openxmlformats.org/drawingml/2006/main" r:embed="R1caa7346b8bd42b8">
            <a:extLst>
              <a:ext uri="{96DAC541-7B7A-43D3-8B79-37D633B846F1}">
                <asvg:svgBlip xmlns:asvg="http://schemas.microsoft.com/office/drawing/2016/SVG/main" r:embed="R81285ba6afa546de"/>
              </a:ext>
            </a:extLst>
          </a:blip>
          <a:stretch xmlns:a="http://schemas.openxmlformats.org/drawingml/2006/main">
            <a:fillRect l="0" t="0" r="0" b="0"/>
          </a:stretch>
        </p:blipFill>
        <p:spPr>
          <a:xfrm xmlns:a="http://schemas.openxmlformats.org/drawingml/2006/main">
            <a:off x="9619488" y="2542032"/>
            <a:ext cx="1572768" cy="1417320"/>
          </a:xfrm>
          <a:prstGeom xmlns:a="http://schemas.openxmlformats.org/drawingml/2006/main" prst="rect">
            <a:avLst/>
          </a:prstGeom>
        </p:spPr>
      </p:pic>
      <p:sp>
        <p:nvSpPr>
          <p:cNvPr id="32" name="Text 25">
            <a:extLst xmlns:a="http://schemas.openxmlformats.org/drawingml/2006/main">
              <a:ext uri="{FF2B5EF4-FFF2-40B4-BE49-F238E27FC236}">
                <a16:creationId xmlns:a16="http://schemas.microsoft.com/office/drawing/2014/main" id="{C95936E1-1732-42D1-A020-12A1D2DCE2A1}"/>
              </a:ext>
            </a:extLst>
          </p:cNvPr>
          <p:cNvSpPr>
            <a:spLocks xmlns:a="http://schemas.openxmlformats.org/drawingml/2006/main" noGrp="1"/>
          </p:cNvSpPr>
          <p:nvPr/>
        </p:nvSpPr>
        <p:spPr>
          <a:xfrm xmlns:a="http://schemas.openxmlformats.org/drawingml/2006/main">
            <a:off x="9747504" y="4270248"/>
            <a:ext cx="1307592" cy="384048"/>
          </a:xfrm>
          <a:prstGeom xmlns:a="http://schemas.openxmlformats.org/drawingml/2006/main" prst="roundRect">
            <a:avLst/>
          </a:prstGeom>
          <a:solidFill xmlns:a="http://schemas.openxmlformats.org/drawingml/2006/main">
            <a:srgbClr val="2D74B8"/>
          </a:solidFill>
          <a:ln xmlns:a="http://schemas.openxmlformats.org/drawingml/2006/main" w="10160">
            <a:solidFill>
              <a:srgbClr val="2D74B8"/>
            </a:solidFill>
          </a:ln>
        </p:spPr>
        <p:txBody>
          <a:bodyPr xmlns:a="http://schemas.openxmlformats.org/drawingml/2006/main" wrap="square" lIns="508" tIns="508" rIns="508" bIns="508" anchor="ctr">
            <a:normAutofit fontScale="71618"/>
          </a:bodyPr>
          <a:lstStyle xmlns:a="http://schemas.openxmlformats.org/drawingml/2006/main"/>
          <a:p xmlns:a="http://schemas.openxmlformats.org/drawingml/2006/main">
            <a:pPr marL="0" indent="0" algn="ctr">
              <a:buNone/>
            </a:pPr>
            <a:r>
              <a:rPr sz="1700" b="1">
                <a:solidFill>
                  <a:srgbClr val="FFFFFF"/>
                </a:solidFill>
                <a:latin typeface="Inter"/>
                <a:ea typeface="Inter"/>
                <a:cs typeface="Inter"/>
              </a:rPr>
              <a:t>Top-ranked scale</a:t>
            </a:r>
            <a:endParaRPr sz="1700"/>
          </a:p>
        </p:txBody>
      </p:sp>
      <p:sp>
        <p:nvSpPr>
          <p:cNvPr id="33" name="Text 26">
            <a:extLst xmlns:a="http://schemas.openxmlformats.org/drawingml/2006/main">
              <a:ext uri="{FF2B5EF4-FFF2-40B4-BE49-F238E27FC236}">
                <a16:creationId xmlns:a16="http://schemas.microsoft.com/office/drawing/2014/main" id="{513A55E4-4CA4-4CF0-A5DC-E010DFADA67A}"/>
              </a:ext>
            </a:extLst>
          </p:cNvPr>
          <p:cNvSpPr>
            <a:spLocks xmlns:a="http://schemas.openxmlformats.org/drawingml/2006/main" noGrp="1"/>
          </p:cNvSpPr>
          <p:nvPr/>
        </p:nvSpPr>
        <p:spPr>
          <a:xfrm xmlns:a="http://schemas.openxmlformats.org/drawingml/2006/main">
            <a:off x="1874520" y="5532120"/>
            <a:ext cx="3931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50" b="1">
                <a:solidFill>
                  <a:srgbClr val="17324D"/>
                </a:solidFill>
                <a:latin typeface="Inter Display"/>
                <a:ea typeface="Inter Display"/>
                <a:cs typeface="Inter Display"/>
              </a:rPr>
              <a:t>C(ℓ) = average of the four within-channel ranks</a:t>
            </a:r>
            <a:endParaRPr sz="2150"/>
          </a:p>
        </p:txBody>
      </p:sp>
      <p:sp>
        <p:nvSpPr>
          <p:cNvPr id="34" name="Text 27">
            <a:extLst xmlns:a="http://schemas.openxmlformats.org/drawingml/2006/main">
              <a:ext uri="{FF2B5EF4-FFF2-40B4-BE49-F238E27FC236}">
                <a16:creationId xmlns:a16="http://schemas.microsoft.com/office/drawing/2014/main" id="{1B9AEFF3-BF91-44F8-B61B-AF1145C16524}"/>
              </a:ext>
            </a:extLst>
          </p:cNvPr>
          <p:cNvSpPr>
            <a:spLocks xmlns:a="http://schemas.openxmlformats.org/drawingml/2006/main" noGrp="1"/>
          </p:cNvSpPr>
          <p:nvPr/>
        </p:nvSpPr>
        <p:spPr>
          <a:xfrm xmlns:a="http://schemas.openxmlformats.org/drawingml/2006/main">
            <a:off x="5897880" y="5468112"/>
            <a:ext cx="507492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050">
                <a:solidFill>
                  <a:srgbClr val="243447"/>
                </a:solidFill>
                <a:latin typeface="Inter"/>
                <a:ea typeface="Inter"/>
                <a:cs typeface="Inter"/>
              </a:rPr>
              <a:t>Rank normalization prevents one channel from dominating because of scale alone.</a:t>
            </a:r>
            <a:endParaRPr sz="2050"/>
          </a:p>
        </p:txBody>
      </p:sp>
    </p:spTree>
    <p:extLst>
      <p:ext uri="{BB962C8B-B14F-4D97-AF65-F5344CB8AC3E}">
        <p14:creationId xmlns:p14="http://schemas.microsoft.com/office/powerpoint/2010/main" val="19106896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256C7DD-A3EF-4266-9DBE-B004B0FA9205}"/>
              </a:ext>
            </a:extLst>
          </p:cNvPr>
          <p:cNvSpPr>
            <a:spLocks xmlns:a="http://schemas.openxmlformats.org/drawingml/2006/main" noGrp="1"/>
          </p:cNvSpPr>
          <p:nvPr/>
        </p:nvSpPr>
        <p:spPr>
          <a:xfrm xmlns:a="http://schemas.openxmlformats.org/drawingml/2006/main">
            <a:off x="658368" y="384048"/>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100" b="1">
                <a:solidFill>
                  <a:srgbClr val="17324D"/>
                </a:solidFill>
                <a:latin typeface="Inter Display"/>
                <a:ea typeface="Inter Display"/>
                <a:cs typeface="Inter Display"/>
              </a:rPr>
              <a:t>Stage 1 aligns windows and retains a stable core</a:t>
            </a:r>
            <a:endParaRPr sz="3100"/>
          </a:p>
        </p:txBody>
      </p:sp>
      <p:sp>
        <p:nvSpPr>
          <p:cNvPr id="6" name="Text 4">
            <a:extLst xmlns:a="http://schemas.openxmlformats.org/drawingml/2006/main">
              <a:ext uri="{FF2B5EF4-FFF2-40B4-BE49-F238E27FC236}">
                <a16:creationId xmlns:a16="http://schemas.microsoft.com/office/drawing/2014/main" id="{D689ADA4-7C9E-4E65-A1DA-E2113762F51C}"/>
              </a:ext>
            </a:extLst>
          </p:cNvPr>
          <p:cNvSpPr>
            <a:spLocks xmlns:a="http://schemas.openxmlformats.org/drawingml/2006/main" noGrp="1"/>
          </p:cNvSpPr>
          <p:nvPr/>
        </p:nvSpPr>
        <p:spPr>
          <a:xfrm xmlns:a="http://schemas.openxmlformats.org/drawingml/2006/main">
            <a:off x="11109960" y="6556248"/>
            <a:ext cx="4114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487"/>
                </a:solidFill>
                <a:latin typeface="Inter"/>
                <a:ea typeface="Inter"/>
                <a:cs typeface="Inter"/>
              </a:rPr>
              <a:t>6</a:t>
            </a:r>
            <a:endParaRPr sz="1000"/>
          </a:p>
        </p:txBody>
      </p:sp>
      <p:sp>
        <p:nvSpPr>
          <p:cNvPr id="7" name="Text 5">
            <a:extLst xmlns:a="http://schemas.openxmlformats.org/drawingml/2006/main">
              <a:ext uri="{FF2B5EF4-FFF2-40B4-BE49-F238E27FC236}">
                <a16:creationId xmlns:a16="http://schemas.microsoft.com/office/drawing/2014/main" id="{7E04E005-0159-4879-94A2-3C724C916E63}"/>
              </a:ext>
            </a:extLst>
          </p:cNvPr>
          <p:cNvSpPr>
            <a:spLocks xmlns:a="http://schemas.openxmlformats.org/drawingml/2006/main" noGrp="1"/>
          </p:cNvSpPr>
          <p:nvPr/>
        </p:nvSpPr>
        <p:spPr>
          <a:xfrm xmlns:a="http://schemas.openxmlformats.org/drawingml/2006/main">
            <a:off x="8531352" y="1088136"/>
            <a:ext cx="850392" cy="274320"/>
          </a:xfrm>
          <a:prstGeom xmlns:a="http://schemas.openxmlformats.org/drawingml/2006/main" prst="roundRect">
            <a:avLst/>
          </a:prstGeom>
          <a:solidFill xmlns:a="http://schemas.openxmlformats.org/drawingml/2006/main">
            <a:srgbClr val="EDF1F5"/>
          </a:solidFill>
          <a:ln xmlns:a="http://schemas.openxmlformats.org/drawingml/2006/main" w="8890">
            <a:solidFill>
              <a:srgbClr val="D7E0E8"/>
            </a:solidFill>
          </a:ln>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50" b="1">
                <a:solidFill>
                  <a:srgbClr val="657487"/>
                </a:solidFill>
                <a:latin typeface="Inter"/>
                <a:ea typeface="Inter"/>
                <a:cs typeface="Inter"/>
              </a:rPr>
              <a:t>SCALE</a:t>
            </a:r>
            <a:endParaRPr sz="1250"/>
          </a:p>
        </p:txBody>
      </p:sp>
      <p:sp>
        <p:nvSpPr>
          <p:cNvPr id="8" name="Text 6">
            <a:extLst xmlns:a="http://schemas.openxmlformats.org/drawingml/2006/main">
              <a:ext uri="{FF2B5EF4-FFF2-40B4-BE49-F238E27FC236}">
                <a16:creationId xmlns:a16="http://schemas.microsoft.com/office/drawing/2014/main" id="{13047C03-16D0-477A-9908-C9028A4CF91E}"/>
              </a:ext>
            </a:extLst>
          </p:cNvPr>
          <p:cNvSpPr>
            <a:spLocks xmlns:a="http://schemas.openxmlformats.org/drawingml/2006/main" noGrp="1"/>
          </p:cNvSpPr>
          <p:nvPr/>
        </p:nvSpPr>
        <p:spPr>
          <a:xfrm xmlns:a="http://schemas.openxmlformats.org/drawingml/2006/main">
            <a:off x="9454896" y="1088136"/>
            <a:ext cx="850392" cy="274320"/>
          </a:xfrm>
          <a:prstGeom xmlns:a="http://schemas.openxmlformats.org/drawingml/2006/main" prst="roundRect">
            <a:avLst/>
          </a:prstGeom>
          <a:solidFill xmlns:a="http://schemas.openxmlformats.org/drawingml/2006/main">
            <a:srgbClr val="17324D"/>
          </a:solidFill>
          <a:ln xmlns:a="http://schemas.openxmlformats.org/drawingml/2006/main" w="8890">
            <a:solidFill>
              <a:srgbClr val="17324D"/>
            </a:solidFill>
          </a:ln>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50" b="1">
                <a:solidFill>
                  <a:srgbClr val="FFFFFF"/>
                </a:solidFill>
                <a:latin typeface="Inter"/>
                <a:ea typeface="Inter"/>
                <a:cs typeface="Inter"/>
              </a:rPr>
              <a:t>ALIGN</a:t>
            </a:r>
            <a:endParaRPr sz="1250"/>
          </a:p>
        </p:txBody>
      </p:sp>
      <p:sp>
        <p:nvSpPr>
          <p:cNvPr id="9" name="Text 7">
            <a:extLst xmlns:a="http://schemas.openxmlformats.org/drawingml/2006/main">
              <a:ext uri="{FF2B5EF4-FFF2-40B4-BE49-F238E27FC236}">
                <a16:creationId xmlns:a16="http://schemas.microsoft.com/office/drawing/2014/main" id="{47549EB5-59CD-4B54-9371-E7F622D8E056}"/>
              </a:ext>
            </a:extLst>
          </p:cNvPr>
          <p:cNvSpPr>
            <a:spLocks xmlns:a="http://schemas.openxmlformats.org/drawingml/2006/main" noGrp="1"/>
          </p:cNvSpPr>
          <p:nvPr/>
        </p:nvSpPr>
        <p:spPr>
          <a:xfrm xmlns:a="http://schemas.openxmlformats.org/drawingml/2006/main">
            <a:off x="10378440" y="1088136"/>
            <a:ext cx="850392" cy="274320"/>
          </a:xfrm>
          <a:prstGeom xmlns:a="http://schemas.openxmlformats.org/drawingml/2006/main" prst="roundRect">
            <a:avLst/>
          </a:prstGeom>
          <a:solidFill xmlns:a="http://schemas.openxmlformats.org/drawingml/2006/main">
            <a:srgbClr val="EDF1F5"/>
          </a:solidFill>
          <a:ln xmlns:a="http://schemas.openxmlformats.org/drawingml/2006/main" w="8890">
            <a:solidFill>
              <a:srgbClr val="D7E0E8"/>
            </a:solidFill>
          </a:ln>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50" b="1">
                <a:solidFill>
                  <a:srgbClr val="657487"/>
                </a:solidFill>
                <a:latin typeface="Inter"/>
                <a:ea typeface="Inter"/>
                <a:cs typeface="Inter"/>
              </a:rPr>
              <a:t>SEGMENT</a:t>
            </a:r>
            <a:endParaRPr sz="1250"/>
          </a:p>
        </p:txBody>
      </p:sp>
      <p:sp>
        <p:nvSpPr>
          <p:cNvPr id="11" name="Text 9">
            <a:extLst xmlns:a="http://schemas.openxmlformats.org/drawingml/2006/main">
              <a:ext uri="{FF2B5EF4-FFF2-40B4-BE49-F238E27FC236}">
                <a16:creationId xmlns:a16="http://schemas.microsoft.com/office/drawing/2014/main" id="{4C2CE8BA-49E2-49B8-925F-828FE02FC5B0}"/>
              </a:ext>
            </a:extLst>
          </p:cNvPr>
          <p:cNvSpPr>
            <a:spLocks xmlns:a="http://schemas.openxmlformats.org/drawingml/2006/main" noGrp="1"/>
          </p:cNvSpPr>
          <p:nvPr/>
        </p:nvSpPr>
        <p:spPr>
          <a:xfrm xmlns:a="http://schemas.openxmlformats.org/drawingml/2006/main">
            <a:off x="932688" y="1719072"/>
            <a:ext cx="2560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250" b="1">
                <a:solidFill>
                  <a:srgbClr val="2D74B8"/>
                </a:solidFill>
                <a:latin typeface="Inter Display"/>
                <a:ea typeface="Inter Display"/>
                <a:cs typeface="Inter Display"/>
              </a:rPr>
              <a:t>1 · Choose where to cut</a:t>
            </a:r>
            <a:endParaRPr sz="2250"/>
          </a:p>
        </p:txBody>
      </p:sp>
      <p:sp>
        <p:nvSpPr>
          <p:cNvPr id="13" name="Text 11">
            <a:extLst xmlns:a="http://schemas.openxmlformats.org/drawingml/2006/main">
              <a:ext uri="{FF2B5EF4-FFF2-40B4-BE49-F238E27FC236}">
                <a16:creationId xmlns:a16="http://schemas.microsoft.com/office/drawing/2014/main" id="{08B82A18-1072-48CC-A585-C459216B2250}"/>
              </a:ext>
            </a:extLst>
          </p:cNvPr>
          <p:cNvSpPr>
            <a:spLocks xmlns:a="http://schemas.openxmlformats.org/drawingml/2006/main" noGrp="1"/>
          </p:cNvSpPr>
          <p:nvPr/>
        </p:nvSpPr>
        <p:spPr>
          <a:xfrm xmlns:a="http://schemas.openxmlformats.org/drawingml/2006/main">
            <a:off x="4270248" y="1719072"/>
            <a:ext cx="2560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250" b="1">
                <a:solidFill>
                  <a:srgbClr val="2C9A8B"/>
                </a:solidFill>
                <a:latin typeface="Inter Display"/>
                <a:ea typeface="Inter Display"/>
                <a:cs typeface="Inter Display"/>
              </a:rPr>
              <a:t>2 · Align the windows</a:t>
            </a:r>
            <a:endParaRPr sz="2250"/>
          </a:p>
        </p:txBody>
      </p:sp>
      <p:sp>
        <p:nvSpPr>
          <p:cNvPr id="15" name="Text 13">
            <a:extLst xmlns:a="http://schemas.openxmlformats.org/drawingml/2006/main">
              <a:ext uri="{FF2B5EF4-FFF2-40B4-BE49-F238E27FC236}">
                <a16:creationId xmlns:a16="http://schemas.microsoft.com/office/drawing/2014/main" id="{A99FF06F-84BD-44A9-893A-3435F71FD932}"/>
              </a:ext>
            </a:extLst>
          </p:cNvPr>
          <p:cNvSpPr>
            <a:spLocks xmlns:a="http://schemas.openxmlformats.org/drawingml/2006/main" noGrp="1"/>
          </p:cNvSpPr>
          <p:nvPr/>
        </p:nvSpPr>
        <p:spPr>
          <a:xfrm xmlns:a="http://schemas.openxmlformats.org/drawingml/2006/main">
            <a:off x="7607808" y="1719072"/>
            <a:ext cx="2560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250" b="1">
                <a:solidFill>
                  <a:srgbClr val="E6A03A"/>
                </a:solidFill>
                <a:latin typeface="Inter Display"/>
                <a:ea typeface="Inter Display"/>
                <a:cs typeface="Inter Display"/>
              </a:rPr>
              <a:t>3 · Keep a stable core</a:t>
            </a:r>
            <a:endParaRPr sz="2250"/>
          </a:p>
        </p:txBody>
      </p:sp>
      <p:pic>
        <p:nvPicPr>
          <p:cNvPr id="62" name="Image 0"/>
          <p:cNvPicPr>
            <a:picLocks xmlns:a="http://schemas.openxmlformats.org/drawingml/2006/main" noChangeAspect="1"/>
          </p:cNvPicPr>
          <p:nvPr/>
        </p:nvPicPr>
        <p:blipFill>
          <a:blip xmlns:r="http://schemas.openxmlformats.org/officeDocument/2006/relationships" xmlns:a="http://schemas.openxmlformats.org/drawingml/2006/main" r:embed="Ra2f03eaa40d74d65">
            <a:extLst>
              <a:ext uri="{96DAC541-7B7A-43D3-8B79-37D633B846F1}">
                <asvg:svgBlip xmlns:asvg="http://schemas.microsoft.com/office/drawing/2016/SVG/main" r:embed="Ra0c925581796467f"/>
              </a:ext>
            </a:extLst>
          </a:blip>
          <a:stretch xmlns:a="http://schemas.openxmlformats.org/drawingml/2006/main">
            <a:fillRect l="0" t="0" r="0" b="0"/>
          </a:stretch>
        </p:blipFill>
        <p:spPr>
          <a:xfrm xmlns:a="http://schemas.openxmlformats.org/drawingml/2006/main">
            <a:off x="987552" y="2377440"/>
            <a:ext cx="2487168" cy="786384"/>
          </a:xfrm>
          <a:prstGeom xmlns:a="http://schemas.openxmlformats.org/drawingml/2006/main" prst="rect">
            <a:avLst/>
          </a:prstGeom>
        </p:spPr>
      </p:pic>
      <p:sp>
        <p:nvSpPr>
          <p:cNvPr id="17" name="Shape 14">
            <a:extLst xmlns:a="http://schemas.openxmlformats.org/drawingml/2006/main">
              <a:ext uri="{FF2B5EF4-FFF2-40B4-BE49-F238E27FC236}">
                <a16:creationId xmlns:a16="http://schemas.microsoft.com/office/drawing/2014/main" id="{7D45F0FC-9A67-4BE2-9269-7E92FF045EA9}"/>
              </a:ext>
            </a:extLst>
          </p:cNvPr>
          <p:cNvSpPr>
            <a:spLocks xmlns:a="http://schemas.openxmlformats.org/drawingml/2006/main" noGrp="1"/>
          </p:cNvSpPr>
          <p:nvPr/>
        </p:nvSpPr>
        <p:spPr>
          <a:xfrm xmlns:a="http://schemas.openxmlformats.org/drawingml/2006/main">
            <a:off x="1188720" y="2313432"/>
            <a:ext cx="0" cy="987552"/>
          </a:xfrm>
          <a:prstGeom xmlns:a="http://schemas.openxmlformats.org/drawingml/2006/main" prst="line">
            <a:avLst/>
          </a:prstGeom>
          <a:noFill xmlns:a="http://schemas.openxmlformats.org/drawingml/2006/main"/>
          <a:ln xmlns:a="http://schemas.openxmlformats.org/drawingml/2006/main" w="12700">
            <a:solidFill>
              <a:srgbClr val="B6C1CC"/>
            </a:solidFill>
            <a:prstDash val="solid"/>
          </a:ln>
        </p:spPr>
      </p:sp>
      <p:sp>
        <p:nvSpPr>
          <p:cNvPr id="18" name="Shape 15">
            <a:extLst xmlns:a="http://schemas.openxmlformats.org/drawingml/2006/main">
              <a:ext uri="{FF2B5EF4-FFF2-40B4-BE49-F238E27FC236}">
                <a16:creationId xmlns:a16="http://schemas.microsoft.com/office/drawing/2014/main" id="{CFC03618-F912-476F-AC94-74719A35F577}"/>
              </a:ext>
            </a:extLst>
          </p:cNvPr>
          <p:cNvSpPr>
            <a:spLocks xmlns:a="http://schemas.openxmlformats.org/drawingml/2006/main" noGrp="1"/>
          </p:cNvSpPr>
          <p:nvPr/>
        </p:nvSpPr>
        <p:spPr>
          <a:xfrm xmlns:a="http://schemas.openxmlformats.org/drawingml/2006/main">
            <a:off x="1545336" y="2313432"/>
            <a:ext cx="0" cy="987552"/>
          </a:xfrm>
          <a:prstGeom xmlns:a="http://schemas.openxmlformats.org/drawingml/2006/main" prst="line">
            <a:avLst/>
          </a:prstGeom>
          <a:noFill xmlns:a="http://schemas.openxmlformats.org/drawingml/2006/main"/>
          <a:ln xmlns:a="http://schemas.openxmlformats.org/drawingml/2006/main" w="33020">
            <a:solidFill>
              <a:srgbClr val="2D74B8"/>
            </a:solidFill>
            <a:prstDash val="solid"/>
          </a:ln>
        </p:spPr>
      </p:sp>
      <p:sp>
        <p:nvSpPr>
          <p:cNvPr id="19" name="Shape 16">
            <a:extLst xmlns:a="http://schemas.openxmlformats.org/drawingml/2006/main">
              <a:ext uri="{FF2B5EF4-FFF2-40B4-BE49-F238E27FC236}">
                <a16:creationId xmlns:a16="http://schemas.microsoft.com/office/drawing/2014/main" id="{33227599-FEC8-4788-802E-2842B735724C}"/>
              </a:ext>
            </a:extLst>
          </p:cNvPr>
          <p:cNvSpPr>
            <a:spLocks xmlns:a="http://schemas.openxmlformats.org/drawingml/2006/main" noGrp="1"/>
          </p:cNvSpPr>
          <p:nvPr/>
        </p:nvSpPr>
        <p:spPr>
          <a:xfrm xmlns:a="http://schemas.openxmlformats.org/drawingml/2006/main">
            <a:off x="1901952" y="2313432"/>
            <a:ext cx="0" cy="987552"/>
          </a:xfrm>
          <a:prstGeom xmlns:a="http://schemas.openxmlformats.org/drawingml/2006/main" prst="line">
            <a:avLst/>
          </a:prstGeom>
          <a:noFill xmlns:a="http://schemas.openxmlformats.org/drawingml/2006/main"/>
          <a:ln xmlns:a="http://schemas.openxmlformats.org/drawingml/2006/main" w="12700">
            <a:solidFill>
              <a:srgbClr val="B6C1CC"/>
            </a:solidFill>
            <a:prstDash val="solid"/>
          </a:ln>
        </p:spPr>
      </p:sp>
      <p:sp>
        <p:nvSpPr>
          <p:cNvPr id="20" name="Shape 17">
            <a:extLst xmlns:a="http://schemas.openxmlformats.org/drawingml/2006/main">
              <a:ext uri="{FF2B5EF4-FFF2-40B4-BE49-F238E27FC236}">
                <a16:creationId xmlns:a16="http://schemas.microsoft.com/office/drawing/2014/main" id="{1F7517E3-73CB-4126-8D9B-886DF1EE73FB}"/>
              </a:ext>
            </a:extLst>
          </p:cNvPr>
          <p:cNvSpPr>
            <a:spLocks xmlns:a="http://schemas.openxmlformats.org/drawingml/2006/main" noGrp="1"/>
          </p:cNvSpPr>
          <p:nvPr/>
        </p:nvSpPr>
        <p:spPr>
          <a:xfrm xmlns:a="http://schemas.openxmlformats.org/drawingml/2006/main">
            <a:off x="2258568" y="2313432"/>
            <a:ext cx="0" cy="987552"/>
          </a:xfrm>
          <a:prstGeom xmlns:a="http://schemas.openxmlformats.org/drawingml/2006/main" prst="line">
            <a:avLst/>
          </a:prstGeom>
          <a:noFill xmlns:a="http://schemas.openxmlformats.org/drawingml/2006/main"/>
          <a:ln xmlns:a="http://schemas.openxmlformats.org/drawingml/2006/main" w="12700">
            <a:solidFill>
              <a:srgbClr val="B6C1CC"/>
            </a:solidFill>
            <a:prstDash val="solid"/>
          </a:ln>
        </p:spPr>
      </p:sp>
      <p:sp>
        <p:nvSpPr>
          <p:cNvPr id="21" name="Shape 18">
            <a:extLst xmlns:a="http://schemas.openxmlformats.org/drawingml/2006/main">
              <a:ext uri="{FF2B5EF4-FFF2-40B4-BE49-F238E27FC236}">
                <a16:creationId xmlns:a16="http://schemas.microsoft.com/office/drawing/2014/main" id="{890356AF-E275-4966-8A89-39518E17937E}"/>
              </a:ext>
            </a:extLst>
          </p:cNvPr>
          <p:cNvSpPr>
            <a:spLocks xmlns:a="http://schemas.openxmlformats.org/drawingml/2006/main" noGrp="1"/>
          </p:cNvSpPr>
          <p:nvPr/>
        </p:nvSpPr>
        <p:spPr>
          <a:xfrm xmlns:a="http://schemas.openxmlformats.org/drawingml/2006/main">
            <a:off x="2615184" y="2313432"/>
            <a:ext cx="0" cy="987552"/>
          </a:xfrm>
          <a:prstGeom xmlns:a="http://schemas.openxmlformats.org/drawingml/2006/main" prst="line">
            <a:avLst/>
          </a:prstGeom>
          <a:noFill xmlns:a="http://schemas.openxmlformats.org/drawingml/2006/main"/>
          <a:ln xmlns:a="http://schemas.openxmlformats.org/drawingml/2006/main" w="12700">
            <a:solidFill>
              <a:srgbClr val="B6C1CC"/>
            </a:solidFill>
            <a:prstDash val="solid"/>
          </a:ln>
        </p:spPr>
      </p:sp>
      <p:sp>
        <p:nvSpPr>
          <p:cNvPr id="22" name="Shape 19">
            <a:extLst xmlns:a="http://schemas.openxmlformats.org/drawingml/2006/main">
              <a:ext uri="{FF2B5EF4-FFF2-40B4-BE49-F238E27FC236}">
                <a16:creationId xmlns:a16="http://schemas.microsoft.com/office/drawing/2014/main" id="{6F984236-E4DD-46D1-8F3E-D936D420DF5B}"/>
              </a:ext>
            </a:extLst>
          </p:cNvPr>
          <p:cNvSpPr>
            <a:spLocks xmlns:a="http://schemas.openxmlformats.org/drawingml/2006/main" noGrp="1"/>
          </p:cNvSpPr>
          <p:nvPr/>
        </p:nvSpPr>
        <p:spPr>
          <a:xfrm xmlns:a="http://schemas.openxmlformats.org/drawingml/2006/main">
            <a:off x="2971800" y="2313432"/>
            <a:ext cx="0" cy="987552"/>
          </a:xfrm>
          <a:prstGeom xmlns:a="http://schemas.openxmlformats.org/drawingml/2006/main" prst="line">
            <a:avLst/>
          </a:prstGeom>
          <a:noFill xmlns:a="http://schemas.openxmlformats.org/drawingml/2006/main"/>
          <a:ln xmlns:a="http://schemas.openxmlformats.org/drawingml/2006/main" w="12700">
            <a:solidFill>
              <a:srgbClr val="B6C1CC"/>
            </a:solidFill>
            <a:prstDash val="solid"/>
          </a:ln>
        </p:spPr>
      </p:sp>
      <p:sp>
        <p:nvSpPr>
          <p:cNvPr id="23" name="Text 20">
            <a:extLst xmlns:a="http://schemas.openxmlformats.org/drawingml/2006/main">
              <a:ext uri="{FF2B5EF4-FFF2-40B4-BE49-F238E27FC236}">
                <a16:creationId xmlns:a16="http://schemas.microsoft.com/office/drawing/2014/main" id="{F8317075-A4FB-4D9C-894E-5B54DF8B7008}"/>
              </a:ext>
            </a:extLst>
          </p:cNvPr>
          <p:cNvSpPr>
            <a:spLocks xmlns:a="http://schemas.openxmlformats.org/drawingml/2006/main" noGrp="1"/>
          </p:cNvSpPr>
          <p:nvPr/>
        </p:nvSpPr>
        <p:spPr>
          <a:xfrm xmlns:a="http://schemas.openxmlformats.org/drawingml/2006/main">
            <a:off x="1024128" y="3767328"/>
            <a:ext cx="239572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82000"/>
          </a:bodyPr>
          <a:lstStyle xmlns:a="http://schemas.openxmlformats.org/drawingml/2006/main"/>
          <a:p xmlns:a="http://schemas.openxmlformats.org/drawingml/2006/main">
            <a:pPr marL="0" indent="0" algn="ctr">
              <a:buNone/>
            </a:pPr>
            <a:r>
              <a:rPr sz="2000">
                <a:solidFill>
                  <a:srgbClr val="243447"/>
                </a:solidFill>
                <a:latin typeface="Inter"/>
                <a:ea typeface="Inter"/>
                <a:cs typeface="Inter"/>
              </a:rPr>
              <a:t>Scan candidate cut points and select the most consistent start phase.</a:t>
            </a:r>
            <a:endParaRPr sz="2000"/>
          </a:p>
        </p:txBody>
      </p:sp>
      <p:pic>
        <p:nvPicPr>
          <p:cNvPr id="70" name="Image 1"/>
          <p:cNvPicPr>
            <a:picLocks xmlns:a="http://schemas.openxmlformats.org/drawingml/2006/main" noChangeAspect="1"/>
          </p:cNvPicPr>
          <p:nvPr/>
        </p:nvPicPr>
        <p:blipFill>
          <a:blip xmlns:r="http://schemas.openxmlformats.org/officeDocument/2006/relationships" xmlns:a="http://schemas.openxmlformats.org/drawingml/2006/main" r:embed="R0111416b1d894e33">
            <a:extLst>
              <a:ext uri="{96DAC541-7B7A-43D3-8B79-37D633B846F1}">
                <asvg:svgBlip xmlns:asvg="http://schemas.microsoft.com/office/drawing/2016/SVG/main" r:embed="R14d9a250d19a48da"/>
              </a:ext>
            </a:extLst>
          </a:blip>
          <a:stretch xmlns:a="http://schemas.openxmlformats.org/drawingml/2006/main">
            <a:fillRect l="0" t="0" r="0" b="0"/>
          </a:stretch>
        </p:blipFill>
        <p:spPr>
          <a:xfrm xmlns:a="http://schemas.openxmlformats.org/drawingml/2006/main">
            <a:off x="4471416" y="2286000"/>
            <a:ext cx="2176272" cy="292608"/>
          </a:xfrm>
          <a:prstGeom xmlns:a="http://schemas.openxmlformats.org/drawingml/2006/main" prst="rect">
            <a:avLst/>
          </a:prstGeom>
        </p:spPr>
      </p:pic>
      <p:pic>
        <p:nvPicPr>
          <p:cNvPr id="71" name="Image 2"/>
          <p:cNvPicPr>
            <a:picLocks xmlns:a="http://schemas.openxmlformats.org/drawingml/2006/main" noChangeAspect="1"/>
          </p:cNvPicPr>
          <p:nvPr/>
        </p:nvPicPr>
        <p:blipFill>
          <a:blip xmlns:r="http://schemas.openxmlformats.org/officeDocument/2006/relationships" xmlns:a="http://schemas.openxmlformats.org/drawingml/2006/main" r:embed="R64787af3f5ea4efb">
            <a:extLst>
              <a:ext uri="{96DAC541-7B7A-43D3-8B79-37D633B846F1}">
                <asvg:svgBlip xmlns:asvg="http://schemas.microsoft.com/office/drawing/2016/SVG/main" r:embed="Re15fadb25ffa46e8"/>
              </a:ext>
            </a:extLst>
          </a:blip>
          <a:stretch xmlns:a="http://schemas.openxmlformats.org/drawingml/2006/main">
            <a:fillRect l="0" t="0" r="0" b="0"/>
          </a:stretch>
        </p:blipFill>
        <p:spPr>
          <a:xfrm xmlns:a="http://schemas.openxmlformats.org/drawingml/2006/main">
            <a:off x="4471416" y="2670048"/>
            <a:ext cx="2176272" cy="292608"/>
          </a:xfrm>
          <a:prstGeom xmlns:a="http://schemas.openxmlformats.org/drawingml/2006/main" prst="rect">
            <a:avLst/>
          </a:prstGeom>
        </p:spPr>
      </p:pic>
      <p:pic>
        <p:nvPicPr>
          <p:cNvPr id="72" name="Image 3"/>
          <p:cNvPicPr>
            <a:picLocks xmlns:a="http://schemas.openxmlformats.org/drawingml/2006/main" noChangeAspect="1"/>
          </p:cNvPicPr>
          <p:nvPr/>
        </p:nvPicPr>
        <p:blipFill>
          <a:blip xmlns:r="http://schemas.openxmlformats.org/officeDocument/2006/relationships" xmlns:a="http://schemas.openxmlformats.org/drawingml/2006/main" r:embed="R7832d18f98f44442">
            <a:extLst>
              <a:ext uri="{96DAC541-7B7A-43D3-8B79-37D633B846F1}">
                <asvg:svgBlip xmlns:asvg="http://schemas.microsoft.com/office/drawing/2016/SVG/main" r:embed="R620b2477387d4eb5"/>
              </a:ext>
            </a:extLst>
          </a:blip>
          <a:stretch xmlns:a="http://schemas.openxmlformats.org/drawingml/2006/main">
            <a:fillRect l="0" t="0" r="0" b="0"/>
          </a:stretch>
        </p:blipFill>
        <p:spPr>
          <a:xfrm xmlns:a="http://schemas.openxmlformats.org/drawingml/2006/main">
            <a:off x="4471416" y="3054096"/>
            <a:ext cx="2176272" cy="292608"/>
          </a:xfrm>
          <a:prstGeom xmlns:a="http://schemas.openxmlformats.org/drawingml/2006/main" prst="rect">
            <a:avLst/>
          </a:prstGeom>
        </p:spPr>
      </p:pic>
      <p:pic>
        <p:nvPicPr>
          <p:cNvPr id="73" name="Image 4"/>
          <p:cNvPicPr>
            <a:picLocks xmlns:a="http://schemas.openxmlformats.org/drawingml/2006/main" noChangeAspect="1"/>
          </p:cNvPicPr>
          <p:nvPr/>
        </p:nvPicPr>
        <p:blipFill>
          <a:blip xmlns:r="http://schemas.openxmlformats.org/officeDocument/2006/relationships" xmlns:a="http://schemas.openxmlformats.org/drawingml/2006/main" r:embed="R22c6719644454598">
            <a:extLst>
              <a:ext uri="{96DAC541-7B7A-43D3-8B79-37D633B846F1}">
                <asvg:svgBlip xmlns:asvg="http://schemas.microsoft.com/office/drawing/2016/SVG/main" r:embed="R4075bba1cec242f6"/>
              </a:ext>
            </a:extLst>
          </a:blip>
          <a:stretch xmlns:a="http://schemas.openxmlformats.org/drawingml/2006/main">
            <a:fillRect l="0" t="0" r="0" b="0"/>
          </a:stretch>
        </p:blipFill>
        <p:spPr>
          <a:xfrm xmlns:a="http://schemas.openxmlformats.org/drawingml/2006/main">
            <a:off x="4471416" y="3438144"/>
            <a:ext cx="2176272" cy="292608"/>
          </a:xfrm>
          <a:prstGeom xmlns:a="http://schemas.openxmlformats.org/drawingml/2006/main" prst="rect">
            <a:avLst/>
          </a:prstGeom>
        </p:spPr>
      </p:pic>
      <p:pic>
        <p:nvPicPr>
          <p:cNvPr id="74" name="Image 5"/>
          <p:cNvPicPr>
            <a:picLocks xmlns:a="http://schemas.openxmlformats.org/drawingml/2006/main" noChangeAspect="1"/>
          </p:cNvPicPr>
          <p:nvPr/>
        </p:nvPicPr>
        <p:blipFill>
          <a:blip xmlns:r="http://schemas.openxmlformats.org/officeDocument/2006/relationships" xmlns:a="http://schemas.openxmlformats.org/drawingml/2006/main" r:embed="R7d25dc56de414233">
            <a:extLst>
              <a:ext uri="{96DAC541-7B7A-43D3-8B79-37D633B846F1}">
                <asvg:svgBlip xmlns:asvg="http://schemas.microsoft.com/office/drawing/2016/SVG/main" r:embed="R4eae369ced204c81"/>
              </a:ext>
            </a:extLst>
          </a:blip>
          <a:stretch xmlns:a="http://schemas.openxmlformats.org/drawingml/2006/main">
            <a:fillRect l="0" t="0" r="0" b="0"/>
          </a:stretch>
        </p:blipFill>
        <p:spPr>
          <a:xfrm xmlns:a="http://schemas.openxmlformats.org/drawingml/2006/main">
            <a:off x="4471416" y="3822192"/>
            <a:ext cx="2176272" cy="292608"/>
          </a:xfrm>
          <a:prstGeom xmlns:a="http://schemas.openxmlformats.org/drawingml/2006/main" prst="rect">
            <a:avLst/>
          </a:prstGeom>
        </p:spPr>
      </p:pic>
      <p:pic>
        <p:nvPicPr>
          <p:cNvPr id="75" name="Image 6"/>
          <p:cNvPicPr>
            <a:picLocks xmlns:a="http://schemas.openxmlformats.org/drawingml/2006/main" noChangeAspect="1"/>
          </p:cNvPicPr>
          <p:nvPr/>
        </p:nvPicPr>
        <p:blipFill>
          <a:blip xmlns:r="http://schemas.openxmlformats.org/officeDocument/2006/relationships" xmlns:a="http://schemas.openxmlformats.org/drawingml/2006/main" r:embed="R7bb2354bdc684f5a">
            <a:extLst>
              <a:ext uri="{96DAC541-7B7A-43D3-8B79-37D633B846F1}">
                <asvg:svgBlip xmlns:asvg="http://schemas.microsoft.com/office/drawing/2016/SVG/main" r:embed="R84afdb34dc8b4547"/>
              </a:ext>
            </a:extLst>
          </a:blip>
          <a:stretch xmlns:a="http://schemas.openxmlformats.org/drawingml/2006/main">
            <a:fillRect l="0" t="0" r="0" b="0"/>
          </a:stretch>
        </p:blipFill>
        <p:spPr>
          <a:xfrm xmlns:a="http://schemas.openxmlformats.org/drawingml/2006/main">
            <a:off x="4471416" y="4206240"/>
            <a:ext cx="2176272" cy="292608"/>
          </a:xfrm>
          <a:prstGeom xmlns:a="http://schemas.openxmlformats.org/drawingml/2006/main" prst="rect">
            <a:avLst/>
          </a:prstGeom>
        </p:spPr>
      </p:pic>
      <p:sp>
        <p:nvSpPr>
          <p:cNvPr id="30" name="Shape 21">
            <a:extLst xmlns:a="http://schemas.openxmlformats.org/drawingml/2006/main">
              <a:ext uri="{FF2B5EF4-FFF2-40B4-BE49-F238E27FC236}">
                <a16:creationId xmlns:a16="http://schemas.microsoft.com/office/drawing/2014/main" id="{D4E14379-D3B5-4F3B-9C1D-0A88996A1F50}"/>
              </a:ext>
            </a:extLst>
          </p:cNvPr>
          <p:cNvSpPr>
            <a:spLocks xmlns:a="http://schemas.openxmlformats.org/drawingml/2006/main" noGrp="1"/>
          </p:cNvSpPr>
          <p:nvPr/>
        </p:nvSpPr>
        <p:spPr>
          <a:xfrm xmlns:a="http://schemas.openxmlformats.org/drawingml/2006/main">
            <a:off x="5148072" y="2139696"/>
            <a:ext cx="0" cy="2487168"/>
          </a:xfrm>
          <a:prstGeom xmlns:a="http://schemas.openxmlformats.org/drawingml/2006/main" prst="line">
            <a:avLst/>
          </a:prstGeom>
          <a:noFill xmlns:a="http://schemas.openxmlformats.org/drawingml/2006/main"/>
          <a:ln xmlns:a="http://schemas.openxmlformats.org/drawingml/2006/main" w="22860">
            <a:solidFill>
              <a:srgbClr val="E6A03A"/>
            </a:solidFill>
            <a:prstDash val="solid"/>
          </a:ln>
        </p:spPr>
      </p:sp>
      <p:sp>
        <p:nvSpPr>
          <p:cNvPr id="31" name="Text 22">
            <a:extLst xmlns:a="http://schemas.openxmlformats.org/drawingml/2006/main">
              <a:ext uri="{FF2B5EF4-FFF2-40B4-BE49-F238E27FC236}">
                <a16:creationId xmlns:a16="http://schemas.microsoft.com/office/drawing/2014/main" id="{168E81B3-85EB-43B0-9270-0866E2C05324}"/>
              </a:ext>
            </a:extLst>
          </p:cNvPr>
          <p:cNvSpPr>
            <a:spLocks xmlns:a="http://schemas.openxmlformats.org/drawingml/2006/main" noGrp="1"/>
          </p:cNvSpPr>
          <p:nvPr/>
        </p:nvSpPr>
        <p:spPr>
          <a:xfrm xmlns:a="http://schemas.openxmlformats.org/drawingml/2006/main">
            <a:off x="4389120" y="4681728"/>
            <a:ext cx="230428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83732"/>
          </a:bodyPr>
          <a:lstStyle xmlns:a="http://schemas.openxmlformats.org/drawingml/2006/main"/>
          <a:p xmlns:a="http://schemas.openxmlformats.org/drawingml/2006/main">
            <a:pPr marL="0" indent="0" algn="ctr">
              <a:buNone/>
            </a:pPr>
            <a:r>
              <a:rPr sz="2000">
                <a:solidFill>
                  <a:srgbClr val="243447"/>
                </a:solidFill>
                <a:latin typeface="Inter"/>
                <a:ea typeface="Inter"/>
                <a:cs typeface="Inter"/>
              </a:rPr>
              <a:t>A recurring peak defines an internal anchor.</a:t>
            </a:r>
            <a:endParaRPr sz="2000"/>
          </a:p>
        </p:txBody>
      </p:sp>
      <p:sp>
        <p:nvSpPr>
          <p:cNvPr id="32" name="Shape 23">
            <a:extLst xmlns:a="http://schemas.openxmlformats.org/drawingml/2006/main">
              <a:ext uri="{FF2B5EF4-FFF2-40B4-BE49-F238E27FC236}">
                <a16:creationId xmlns:a16="http://schemas.microsoft.com/office/drawing/2014/main" id="{6874250C-9CB2-4B05-89CA-C597CDA36C7C}"/>
              </a:ext>
            </a:extLst>
          </p:cNvPr>
          <p:cNvSpPr>
            <a:spLocks xmlns:a="http://schemas.openxmlformats.org/drawingml/2006/main" noGrp="1"/>
          </p:cNvSpPr>
          <p:nvPr/>
        </p:nvSpPr>
        <p:spPr>
          <a:xfrm xmlns:a="http://schemas.openxmlformats.org/drawingml/2006/main">
            <a:off x="7763256" y="2523744"/>
            <a:ext cx="182880" cy="1005840"/>
          </a:xfrm>
          <a:prstGeom xmlns:a="http://schemas.openxmlformats.org/drawingml/2006/main" prst="rect">
            <a:avLst/>
          </a:prstGeom>
          <a:solidFill xmlns:a="http://schemas.openxmlformats.org/drawingml/2006/main">
            <a:srgbClr val="EAF3FA"/>
          </a:solidFill>
          <a:ln xmlns:a="http://schemas.openxmlformats.org/drawingml/2006/main" w="10160">
            <a:solidFill>
              <a:srgbClr val="D7E0E8"/>
            </a:solidFill>
            <a:prstDash val="solid"/>
          </a:ln>
        </p:spPr>
      </p:sp>
      <p:sp>
        <p:nvSpPr>
          <p:cNvPr id="33" name="Shape 24">
            <a:extLst xmlns:a="http://schemas.openxmlformats.org/drawingml/2006/main">
              <a:ext uri="{FF2B5EF4-FFF2-40B4-BE49-F238E27FC236}">
                <a16:creationId xmlns:a16="http://schemas.microsoft.com/office/drawing/2014/main" id="{2800ADB3-9AF8-472B-9BD9-8FCD3937A78C}"/>
              </a:ext>
            </a:extLst>
          </p:cNvPr>
          <p:cNvSpPr>
            <a:spLocks xmlns:a="http://schemas.openxmlformats.org/drawingml/2006/main" noGrp="1"/>
          </p:cNvSpPr>
          <p:nvPr/>
        </p:nvSpPr>
        <p:spPr>
          <a:xfrm xmlns:a="http://schemas.openxmlformats.org/drawingml/2006/main">
            <a:off x="8010144" y="2523744"/>
            <a:ext cx="182880" cy="1005840"/>
          </a:xfrm>
          <a:prstGeom xmlns:a="http://schemas.openxmlformats.org/drawingml/2006/main" prst="rect">
            <a:avLst/>
          </a:prstGeom>
          <a:solidFill xmlns:a="http://schemas.openxmlformats.org/drawingml/2006/main">
            <a:srgbClr val="EAF3FA"/>
          </a:solidFill>
          <a:ln xmlns:a="http://schemas.openxmlformats.org/drawingml/2006/main" w="10160">
            <a:solidFill>
              <a:srgbClr val="D7E0E8"/>
            </a:solidFill>
            <a:prstDash val="solid"/>
          </a:ln>
        </p:spPr>
      </p:sp>
      <p:sp>
        <p:nvSpPr>
          <p:cNvPr id="34" name="Shape 25">
            <a:extLst xmlns:a="http://schemas.openxmlformats.org/drawingml/2006/main">
              <a:ext uri="{FF2B5EF4-FFF2-40B4-BE49-F238E27FC236}">
                <a16:creationId xmlns:a16="http://schemas.microsoft.com/office/drawing/2014/main" id="{623F4E5B-073F-4546-91B2-245801C2E52A}"/>
              </a:ext>
            </a:extLst>
          </p:cNvPr>
          <p:cNvSpPr>
            <a:spLocks xmlns:a="http://schemas.openxmlformats.org/drawingml/2006/main" noGrp="1"/>
          </p:cNvSpPr>
          <p:nvPr/>
        </p:nvSpPr>
        <p:spPr>
          <a:xfrm xmlns:a="http://schemas.openxmlformats.org/drawingml/2006/main">
            <a:off x="8257032" y="2523744"/>
            <a:ext cx="182880" cy="1005840"/>
          </a:xfrm>
          <a:prstGeom xmlns:a="http://schemas.openxmlformats.org/drawingml/2006/main" prst="rect">
            <a:avLst/>
          </a:prstGeom>
          <a:solidFill xmlns:a="http://schemas.openxmlformats.org/drawingml/2006/main">
            <a:srgbClr val="EAF3FA"/>
          </a:solidFill>
          <a:ln xmlns:a="http://schemas.openxmlformats.org/drawingml/2006/main" w="10160">
            <a:solidFill>
              <a:srgbClr val="D7E0E8"/>
            </a:solidFill>
            <a:prstDash val="solid"/>
          </a:ln>
        </p:spPr>
      </p:sp>
      <p:sp>
        <p:nvSpPr>
          <p:cNvPr id="35" name="Shape 26">
            <a:extLst xmlns:a="http://schemas.openxmlformats.org/drawingml/2006/main">
              <a:ext uri="{FF2B5EF4-FFF2-40B4-BE49-F238E27FC236}">
                <a16:creationId xmlns:a16="http://schemas.microsoft.com/office/drawing/2014/main" id="{8BA8B086-A9E7-465A-8239-5F29F8686B96}"/>
              </a:ext>
            </a:extLst>
          </p:cNvPr>
          <p:cNvSpPr>
            <a:spLocks xmlns:a="http://schemas.openxmlformats.org/drawingml/2006/main" noGrp="1"/>
          </p:cNvSpPr>
          <p:nvPr/>
        </p:nvSpPr>
        <p:spPr>
          <a:xfrm xmlns:a="http://schemas.openxmlformats.org/drawingml/2006/main">
            <a:off x="8503920" y="2523744"/>
            <a:ext cx="182880" cy="1005840"/>
          </a:xfrm>
          <a:prstGeom xmlns:a="http://schemas.openxmlformats.org/drawingml/2006/main" prst="rect">
            <a:avLst/>
          </a:prstGeom>
          <a:solidFill xmlns:a="http://schemas.openxmlformats.org/drawingml/2006/main">
            <a:srgbClr val="EDF1F5"/>
          </a:solidFill>
          <a:ln xmlns:a="http://schemas.openxmlformats.org/drawingml/2006/main" w="10160">
            <a:solidFill>
              <a:srgbClr val="D7E0E8"/>
            </a:solidFill>
            <a:prstDash val="solid"/>
          </a:ln>
        </p:spPr>
      </p:sp>
      <p:sp>
        <p:nvSpPr>
          <p:cNvPr id="36" name="Shape 27">
            <a:extLst xmlns:a="http://schemas.openxmlformats.org/drawingml/2006/main">
              <a:ext uri="{FF2B5EF4-FFF2-40B4-BE49-F238E27FC236}">
                <a16:creationId xmlns:a16="http://schemas.microsoft.com/office/drawing/2014/main" id="{F0E01771-97CD-4DE2-9A94-9E09414AC1FA}"/>
              </a:ext>
            </a:extLst>
          </p:cNvPr>
          <p:cNvSpPr>
            <a:spLocks xmlns:a="http://schemas.openxmlformats.org/drawingml/2006/main" noGrp="1"/>
          </p:cNvSpPr>
          <p:nvPr/>
        </p:nvSpPr>
        <p:spPr>
          <a:xfrm xmlns:a="http://schemas.openxmlformats.org/drawingml/2006/main">
            <a:off x="8750808" y="2523744"/>
            <a:ext cx="182880" cy="1005840"/>
          </a:xfrm>
          <a:prstGeom xmlns:a="http://schemas.openxmlformats.org/drawingml/2006/main" prst="rect">
            <a:avLst/>
          </a:prstGeom>
          <a:solidFill xmlns:a="http://schemas.openxmlformats.org/drawingml/2006/main">
            <a:srgbClr val="6FBF9F"/>
          </a:solidFill>
          <a:ln xmlns:a="http://schemas.openxmlformats.org/drawingml/2006/main" w="10160">
            <a:solidFill>
              <a:srgbClr val="2C9A8B"/>
            </a:solidFill>
            <a:prstDash val="solid"/>
          </a:ln>
        </p:spPr>
      </p:sp>
      <p:sp>
        <p:nvSpPr>
          <p:cNvPr id="37" name="Shape 28">
            <a:extLst xmlns:a="http://schemas.openxmlformats.org/drawingml/2006/main">
              <a:ext uri="{FF2B5EF4-FFF2-40B4-BE49-F238E27FC236}">
                <a16:creationId xmlns:a16="http://schemas.microsoft.com/office/drawing/2014/main" id="{B20592FD-E65C-474D-AC38-7DA0978043BD}"/>
              </a:ext>
            </a:extLst>
          </p:cNvPr>
          <p:cNvSpPr>
            <a:spLocks xmlns:a="http://schemas.openxmlformats.org/drawingml/2006/main" noGrp="1"/>
          </p:cNvSpPr>
          <p:nvPr/>
        </p:nvSpPr>
        <p:spPr>
          <a:xfrm xmlns:a="http://schemas.openxmlformats.org/drawingml/2006/main">
            <a:off x="8997696" y="2523744"/>
            <a:ext cx="182880" cy="1005840"/>
          </a:xfrm>
          <a:prstGeom xmlns:a="http://schemas.openxmlformats.org/drawingml/2006/main" prst="rect">
            <a:avLst/>
          </a:prstGeom>
          <a:solidFill xmlns:a="http://schemas.openxmlformats.org/drawingml/2006/main">
            <a:srgbClr val="6FBF9F"/>
          </a:solidFill>
          <a:ln xmlns:a="http://schemas.openxmlformats.org/drawingml/2006/main" w="10160">
            <a:solidFill>
              <a:srgbClr val="2C9A8B"/>
            </a:solidFill>
            <a:prstDash val="solid"/>
          </a:ln>
        </p:spPr>
      </p:sp>
      <p:sp>
        <p:nvSpPr>
          <p:cNvPr id="38" name="Shape 29">
            <a:extLst xmlns:a="http://schemas.openxmlformats.org/drawingml/2006/main">
              <a:ext uri="{FF2B5EF4-FFF2-40B4-BE49-F238E27FC236}">
                <a16:creationId xmlns:a16="http://schemas.microsoft.com/office/drawing/2014/main" id="{0BDD7C24-A0C9-435F-B5CA-6E02A2C9C1D7}"/>
              </a:ext>
            </a:extLst>
          </p:cNvPr>
          <p:cNvSpPr>
            <a:spLocks xmlns:a="http://schemas.openxmlformats.org/drawingml/2006/main" noGrp="1"/>
          </p:cNvSpPr>
          <p:nvPr/>
        </p:nvSpPr>
        <p:spPr>
          <a:xfrm xmlns:a="http://schemas.openxmlformats.org/drawingml/2006/main">
            <a:off x="9244584" y="2523744"/>
            <a:ext cx="182880" cy="1005840"/>
          </a:xfrm>
          <a:prstGeom xmlns:a="http://schemas.openxmlformats.org/drawingml/2006/main" prst="rect">
            <a:avLst/>
          </a:prstGeom>
          <a:solidFill xmlns:a="http://schemas.openxmlformats.org/drawingml/2006/main">
            <a:srgbClr val="6FBF9F"/>
          </a:solidFill>
          <a:ln xmlns:a="http://schemas.openxmlformats.org/drawingml/2006/main" w="10160">
            <a:solidFill>
              <a:srgbClr val="2C9A8B"/>
            </a:solidFill>
            <a:prstDash val="solid"/>
          </a:ln>
        </p:spPr>
      </p:sp>
      <p:sp>
        <p:nvSpPr>
          <p:cNvPr id="39" name="Shape 30">
            <a:extLst xmlns:a="http://schemas.openxmlformats.org/drawingml/2006/main">
              <a:ext uri="{FF2B5EF4-FFF2-40B4-BE49-F238E27FC236}">
                <a16:creationId xmlns:a16="http://schemas.microsoft.com/office/drawing/2014/main" id="{866F21DF-4106-4334-855E-10D6AC886B46}"/>
              </a:ext>
            </a:extLst>
          </p:cNvPr>
          <p:cNvSpPr>
            <a:spLocks xmlns:a="http://schemas.openxmlformats.org/drawingml/2006/main" noGrp="1"/>
          </p:cNvSpPr>
          <p:nvPr/>
        </p:nvSpPr>
        <p:spPr>
          <a:xfrm xmlns:a="http://schemas.openxmlformats.org/drawingml/2006/main">
            <a:off x="9491472" y="2523744"/>
            <a:ext cx="182880" cy="1005840"/>
          </a:xfrm>
          <a:prstGeom xmlns:a="http://schemas.openxmlformats.org/drawingml/2006/main" prst="rect">
            <a:avLst/>
          </a:prstGeom>
          <a:solidFill xmlns:a="http://schemas.openxmlformats.org/drawingml/2006/main">
            <a:srgbClr val="6FBF9F"/>
          </a:solidFill>
          <a:ln xmlns:a="http://schemas.openxmlformats.org/drawingml/2006/main" w="10160">
            <a:solidFill>
              <a:srgbClr val="2C9A8B"/>
            </a:solidFill>
            <a:prstDash val="solid"/>
          </a:ln>
        </p:spPr>
      </p:sp>
      <p:sp>
        <p:nvSpPr>
          <p:cNvPr id="40" name="Shape 31">
            <a:extLst xmlns:a="http://schemas.openxmlformats.org/drawingml/2006/main">
              <a:ext uri="{FF2B5EF4-FFF2-40B4-BE49-F238E27FC236}">
                <a16:creationId xmlns:a16="http://schemas.microsoft.com/office/drawing/2014/main" id="{27C41224-8CB0-47B2-9DA5-EF08989A5396}"/>
              </a:ext>
            </a:extLst>
          </p:cNvPr>
          <p:cNvSpPr>
            <a:spLocks xmlns:a="http://schemas.openxmlformats.org/drawingml/2006/main" noGrp="1"/>
          </p:cNvSpPr>
          <p:nvPr/>
        </p:nvSpPr>
        <p:spPr>
          <a:xfrm xmlns:a="http://schemas.openxmlformats.org/drawingml/2006/main">
            <a:off x="9738360" y="2523744"/>
            <a:ext cx="182880" cy="1005840"/>
          </a:xfrm>
          <a:prstGeom xmlns:a="http://schemas.openxmlformats.org/drawingml/2006/main" prst="rect">
            <a:avLst/>
          </a:prstGeom>
          <a:solidFill xmlns:a="http://schemas.openxmlformats.org/drawingml/2006/main">
            <a:srgbClr val="6FBF9F"/>
          </a:solidFill>
          <a:ln xmlns:a="http://schemas.openxmlformats.org/drawingml/2006/main" w="10160">
            <a:solidFill>
              <a:srgbClr val="2C9A8B"/>
            </a:solidFill>
            <a:prstDash val="solid"/>
          </a:ln>
        </p:spPr>
      </p:sp>
      <p:sp>
        <p:nvSpPr>
          <p:cNvPr id="41" name="Shape 32">
            <a:extLst xmlns:a="http://schemas.openxmlformats.org/drawingml/2006/main">
              <a:ext uri="{FF2B5EF4-FFF2-40B4-BE49-F238E27FC236}">
                <a16:creationId xmlns:a16="http://schemas.microsoft.com/office/drawing/2014/main" id="{F4F2C3D4-D40A-43DF-B757-FC2E815055E7}"/>
              </a:ext>
            </a:extLst>
          </p:cNvPr>
          <p:cNvSpPr>
            <a:spLocks xmlns:a="http://schemas.openxmlformats.org/drawingml/2006/main" noGrp="1"/>
          </p:cNvSpPr>
          <p:nvPr/>
        </p:nvSpPr>
        <p:spPr>
          <a:xfrm xmlns:a="http://schemas.openxmlformats.org/drawingml/2006/main">
            <a:off x="9985248" y="2523744"/>
            <a:ext cx="182880" cy="1005840"/>
          </a:xfrm>
          <a:prstGeom xmlns:a="http://schemas.openxmlformats.org/drawingml/2006/main" prst="rect">
            <a:avLst/>
          </a:prstGeom>
          <a:solidFill xmlns:a="http://schemas.openxmlformats.org/drawingml/2006/main">
            <a:srgbClr val="EDF1F5"/>
          </a:solidFill>
          <a:ln xmlns:a="http://schemas.openxmlformats.org/drawingml/2006/main" w="10160">
            <a:solidFill>
              <a:srgbClr val="D7E0E8"/>
            </a:solidFill>
            <a:prstDash val="solid"/>
          </a:ln>
        </p:spPr>
      </p:sp>
      <p:sp>
        <p:nvSpPr>
          <p:cNvPr id="42" name="Shape 33">
            <a:extLst xmlns:a="http://schemas.openxmlformats.org/drawingml/2006/main">
              <a:ext uri="{FF2B5EF4-FFF2-40B4-BE49-F238E27FC236}">
                <a16:creationId xmlns:a16="http://schemas.microsoft.com/office/drawing/2014/main" id="{AB047152-158D-483A-9A4E-842E660A694A}"/>
              </a:ext>
            </a:extLst>
          </p:cNvPr>
          <p:cNvSpPr>
            <a:spLocks xmlns:a="http://schemas.openxmlformats.org/drawingml/2006/main" noGrp="1"/>
          </p:cNvSpPr>
          <p:nvPr/>
        </p:nvSpPr>
        <p:spPr>
          <a:xfrm xmlns:a="http://schemas.openxmlformats.org/drawingml/2006/main">
            <a:off x="10232136" y="2523744"/>
            <a:ext cx="182880" cy="1005840"/>
          </a:xfrm>
          <a:prstGeom xmlns:a="http://schemas.openxmlformats.org/drawingml/2006/main" prst="rect">
            <a:avLst/>
          </a:prstGeom>
          <a:solidFill xmlns:a="http://schemas.openxmlformats.org/drawingml/2006/main">
            <a:srgbClr val="EDF1F5"/>
          </a:solidFill>
          <a:ln xmlns:a="http://schemas.openxmlformats.org/drawingml/2006/main" w="10160">
            <a:solidFill>
              <a:srgbClr val="D7E0E8"/>
            </a:solidFill>
            <a:prstDash val="solid"/>
          </a:ln>
        </p:spPr>
      </p:sp>
      <p:sp>
        <p:nvSpPr>
          <p:cNvPr id="43" name="Shape 34">
            <a:extLst xmlns:a="http://schemas.openxmlformats.org/drawingml/2006/main">
              <a:ext uri="{FF2B5EF4-FFF2-40B4-BE49-F238E27FC236}">
                <a16:creationId xmlns:a16="http://schemas.microsoft.com/office/drawing/2014/main" id="{115A3796-EA42-485D-BDC0-9B1551963275}"/>
              </a:ext>
            </a:extLst>
          </p:cNvPr>
          <p:cNvSpPr>
            <a:spLocks xmlns:a="http://schemas.openxmlformats.org/drawingml/2006/main" noGrp="1"/>
          </p:cNvSpPr>
          <p:nvPr/>
        </p:nvSpPr>
        <p:spPr>
          <a:xfrm xmlns:a="http://schemas.openxmlformats.org/drawingml/2006/main">
            <a:off x="8805672" y="2240280"/>
            <a:ext cx="0" cy="1572768"/>
          </a:xfrm>
          <a:prstGeom xmlns:a="http://schemas.openxmlformats.org/drawingml/2006/main" prst="line">
            <a:avLst/>
          </a:prstGeom>
          <a:noFill xmlns:a="http://schemas.openxmlformats.org/drawingml/2006/main"/>
          <a:ln xmlns:a="http://schemas.openxmlformats.org/drawingml/2006/main" w="22860">
            <a:solidFill>
              <a:srgbClr val="E6A03A"/>
            </a:solidFill>
            <a:prstDash val="solid"/>
          </a:ln>
        </p:spPr>
      </p:sp>
      <p:sp>
        <p:nvSpPr>
          <p:cNvPr id="44" name="Text 35">
            <a:extLst xmlns:a="http://schemas.openxmlformats.org/drawingml/2006/main">
              <a:ext uri="{FF2B5EF4-FFF2-40B4-BE49-F238E27FC236}">
                <a16:creationId xmlns:a16="http://schemas.microsoft.com/office/drawing/2014/main" id="{BFDD55E2-799E-4887-B750-D2F8D388514F}"/>
              </a:ext>
            </a:extLst>
          </p:cNvPr>
          <p:cNvSpPr>
            <a:spLocks xmlns:a="http://schemas.openxmlformats.org/drawingml/2006/main" noGrp="1"/>
          </p:cNvSpPr>
          <p:nvPr/>
        </p:nvSpPr>
        <p:spPr>
          <a:xfrm xmlns:a="http://schemas.openxmlformats.org/drawingml/2006/main">
            <a:off x="8101584" y="3785616"/>
            <a:ext cx="149961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E6A03A"/>
                </a:solidFill>
                <a:latin typeface="Inter"/>
                <a:ea typeface="Inter"/>
                <a:cs typeface="Inter"/>
              </a:rPr>
              <a:t>internal anchor</a:t>
            </a:r>
            <a:endParaRPr sz="2000"/>
          </a:p>
        </p:txBody>
      </p:sp>
      <p:sp>
        <p:nvSpPr>
          <p:cNvPr id="45" name="Text 36">
            <a:extLst xmlns:a="http://schemas.openxmlformats.org/drawingml/2006/main">
              <a:ext uri="{FF2B5EF4-FFF2-40B4-BE49-F238E27FC236}">
                <a16:creationId xmlns:a16="http://schemas.microsoft.com/office/drawing/2014/main" id="{C570A377-7111-4A0A-89C1-0F7EDCB15505}"/>
              </a:ext>
            </a:extLst>
          </p:cNvPr>
          <p:cNvSpPr>
            <a:spLocks xmlns:a="http://schemas.openxmlformats.org/drawingml/2006/main" noGrp="1"/>
          </p:cNvSpPr>
          <p:nvPr/>
        </p:nvSpPr>
        <p:spPr>
          <a:xfrm xmlns:a="http://schemas.openxmlformats.org/drawingml/2006/main">
            <a:off x="7717536" y="4389120"/>
            <a:ext cx="2423160" cy="8046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78163"/>
          </a:bodyPr>
          <a:lstStyle xmlns:a="http://schemas.openxmlformats.org/drawingml/2006/main"/>
          <a:p xmlns:a="http://schemas.openxmlformats.org/drawingml/2006/main">
            <a:pPr marL="0" indent="0" algn="ctr">
              <a:buNone/>
            </a:pPr>
            <a:r>
              <a:rPr sz="2000">
                <a:solidFill>
                  <a:srgbClr val="243447"/>
                </a:solidFill>
                <a:latin typeface="Inter"/>
                <a:ea typeface="Inter"/>
                <a:cs typeface="Inter"/>
              </a:rPr>
              <a:t>Keep the longest consecutive run of windows that support the anchor.</a:t>
            </a:r>
            <a:endParaRPr sz="2000"/>
          </a:p>
        </p:txBody>
      </p:sp>
      <p:sp>
        <p:nvSpPr>
          <p:cNvPr id="46" name="Text 37">
            <a:extLst xmlns:a="http://schemas.openxmlformats.org/drawingml/2006/main">
              <a:ext uri="{FF2B5EF4-FFF2-40B4-BE49-F238E27FC236}">
                <a16:creationId xmlns:a16="http://schemas.microsoft.com/office/drawing/2014/main" id="{B250E44F-10AD-4CDE-9A53-96C2E7B22765}"/>
              </a:ext>
            </a:extLst>
          </p:cNvPr>
          <p:cNvSpPr>
            <a:spLocks xmlns:a="http://schemas.openxmlformats.org/drawingml/2006/main" noGrp="1"/>
          </p:cNvSpPr>
          <p:nvPr/>
        </p:nvSpPr>
        <p:spPr>
          <a:xfrm xmlns:a="http://schemas.openxmlformats.org/drawingml/2006/main">
            <a:off x="3017520" y="5943600"/>
            <a:ext cx="61722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2D74B8"/>
                </a:solidFill>
                <a:latin typeface="Inter Display"/>
                <a:ea typeface="Inter Display"/>
                <a:cs typeface="Inter Display"/>
              </a:rPr>
              <a:t>Output: scale · start phase · internal anchor · stable windows</a:t>
            </a:r>
            <a:endParaRPr sz="2400"/>
          </a:p>
        </p:txBody>
      </p:sp>
    </p:spTree>
    <p:extLst>
      <p:ext uri="{BB962C8B-B14F-4D97-AF65-F5344CB8AC3E}">
        <p14:creationId xmlns:p14="http://schemas.microsoft.com/office/powerpoint/2010/main" val="1114014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1CB4332-DB18-4ED8-B567-9997FE99D3F6}"/>
              </a:ext>
            </a:extLst>
          </p:cNvPr>
          <p:cNvSpPr>
            <a:spLocks xmlns:a="http://schemas.openxmlformats.org/drawingml/2006/main" noGrp="1"/>
          </p:cNvSpPr>
          <p:nvPr/>
        </p:nvSpPr>
        <p:spPr>
          <a:xfrm xmlns:a="http://schemas.openxmlformats.org/drawingml/2006/main">
            <a:off x="658368" y="384048"/>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100" b="1">
                <a:solidFill>
                  <a:srgbClr val="17324D"/>
                </a:solidFill>
                <a:latin typeface="Inter Display"/>
                <a:ea typeface="Inter Display"/>
                <a:cs typeface="Inter Display"/>
              </a:rPr>
              <a:t>Stage 2 defines candidate regions on a shared axis</a:t>
            </a:r>
            <a:endParaRPr sz="3100"/>
          </a:p>
        </p:txBody>
      </p:sp>
      <p:sp>
        <p:nvSpPr>
          <p:cNvPr id="6" name="Text 4">
            <a:extLst xmlns:a="http://schemas.openxmlformats.org/drawingml/2006/main">
              <a:ext uri="{FF2B5EF4-FFF2-40B4-BE49-F238E27FC236}">
                <a16:creationId xmlns:a16="http://schemas.microsoft.com/office/drawing/2014/main" id="{9ECD0DED-9AF4-4CBB-A02F-5F76491ECF90}"/>
              </a:ext>
            </a:extLst>
          </p:cNvPr>
          <p:cNvSpPr>
            <a:spLocks xmlns:a="http://schemas.openxmlformats.org/drawingml/2006/main" noGrp="1"/>
          </p:cNvSpPr>
          <p:nvPr/>
        </p:nvSpPr>
        <p:spPr>
          <a:xfrm xmlns:a="http://schemas.openxmlformats.org/drawingml/2006/main">
            <a:off x="11109960" y="6556248"/>
            <a:ext cx="4114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487"/>
                </a:solidFill>
                <a:latin typeface="Inter"/>
                <a:ea typeface="Inter"/>
                <a:cs typeface="Inter"/>
              </a:rPr>
              <a:t>7</a:t>
            </a:r>
            <a:endParaRPr sz="1000"/>
          </a:p>
        </p:txBody>
      </p:sp>
      <p:sp>
        <p:nvSpPr>
          <p:cNvPr id="7" name="Text 5">
            <a:extLst xmlns:a="http://schemas.openxmlformats.org/drawingml/2006/main">
              <a:ext uri="{FF2B5EF4-FFF2-40B4-BE49-F238E27FC236}">
                <a16:creationId xmlns:a16="http://schemas.microsoft.com/office/drawing/2014/main" id="{033A23C6-425B-49A6-BE39-0E8E9D27F695}"/>
              </a:ext>
            </a:extLst>
          </p:cNvPr>
          <p:cNvSpPr>
            <a:spLocks xmlns:a="http://schemas.openxmlformats.org/drawingml/2006/main" noGrp="1"/>
          </p:cNvSpPr>
          <p:nvPr/>
        </p:nvSpPr>
        <p:spPr>
          <a:xfrm xmlns:a="http://schemas.openxmlformats.org/drawingml/2006/main">
            <a:off x="8531352" y="1088136"/>
            <a:ext cx="850392" cy="274320"/>
          </a:xfrm>
          <a:prstGeom xmlns:a="http://schemas.openxmlformats.org/drawingml/2006/main" prst="roundRect">
            <a:avLst/>
          </a:prstGeom>
          <a:solidFill xmlns:a="http://schemas.openxmlformats.org/drawingml/2006/main">
            <a:srgbClr val="EDF1F5"/>
          </a:solidFill>
          <a:ln xmlns:a="http://schemas.openxmlformats.org/drawingml/2006/main" w="8890">
            <a:solidFill>
              <a:srgbClr val="D7E0E8"/>
            </a:solidFill>
          </a:ln>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50" b="1">
                <a:solidFill>
                  <a:srgbClr val="657487"/>
                </a:solidFill>
                <a:latin typeface="Inter"/>
                <a:ea typeface="Inter"/>
                <a:cs typeface="Inter"/>
              </a:rPr>
              <a:t>SCALE</a:t>
            </a:r>
            <a:endParaRPr sz="1250"/>
          </a:p>
        </p:txBody>
      </p:sp>
      <p:sp>
        <p:nvSpPr>
          <p:cNvPr id="8" name="Text 6">
            <a:extLst xmlns:a="http://schemas.openxmlformats.org/drawingml/2006/main">
              <a:ext uri="{FF2B5EF4-FFF2-40B4-BE49-F238E27FC236}">
                <a16:creationId xmlns:a16="http://schemas.microsoft.com/office/drawing/2014/main" id="{F9291FE6-7A90-4FA3-AB92-3D0DC4BC890C}"/>
              </a:ext>
            </a:extLst>
          </p:cNvPr>
          <p:cNvSpPr>
            <a:spLocks xmlns:a="http://schemas.openxmlformats.org/drawingml/2006/main" noGrp="1"/>
          </p:cNvSpPr>
          <p:nvPr/>
        </p:nvSpPr>
        <p:spPr>
          <a:xfrm xmlns:a="http://schemas.openxmlformats.org/drawingml/2006/main">
            <a:off x="9454896" y="1088136"/>
            <a:ext cx="850392" cy="274320"/>
          </a:xfrm>
          <a:prstGeom xmlns:a="http://schemas.openxmlformats.org/drawingml/2006/main" prst="roundRect">
            <a:avLst/>
          </a:prstGeom>
          <a:solidFill xmlns:a="http://schemas.openxmlformats.org/drawingml/2006/main">
            <a:srgbClr val="EDF1F5"/>
          </a:solidFill>
          <a:ln xmlns:a="http://schemas.openxmlformats.org/drawingml/2006/main" w="8890">
            <a:solidFill>
              <a:srgbClr val="D7E0E8"/>
            </a:solidFill>
          </a:ln>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50" b="1">
                <a:solidFill>
                  <a:srgbClr val="657487"/>
                </a:solidFill>
                <a:latin typeface="Inter"/>
                <a:ea typeface="Inter"/>
                <a:cs typeface="Inter"/>
              </a:rPr>
              <a:t>ALIGN</a:t>
            </a:r>
            <a:endParaRPr sz="1250"/>
          </a:p>
        </p:txBody>
      </p:sp>
      <p:sp>
        <p:nvSpPr>
          <p:cNvPr id="9" name="Text 7">
            <a:extLst xmlns:a="http://schemas.openxmlformats.org/drawingml/2006/main">
              <a:ext uri="{FF2B5EF4-FFF2-40B4-BE49-F238E27FC236}">
                <a16:creationId xmlns:a16="http://schemas.microsoft.com/office/drawing/2014/main" id="{10B2C188-6915-409B-8191-54E8BAB718ED}"/>
              </a:ext>
            </a:extLst>
          </p:cNvPr>
          <p:cNvSpPr>
            <a:spLocks xmlns:a="http://schemas.openxmlformats.org/drawingml/2006/main" noGrp="1"/>
          </p:cNvSpPr>
          <p:nvPr/>
        </p:nvSpPr>
        <p:spPr>
          <a:xfrm xmlns:a="http://schemas.openxmlformats.org/drawingml/2006/main">
            <a:off x="10378440" y="1088136"/>
            <a:ext cx="850392" cy="274320"/>
          </a:xfrm>
          <a:prstGeom xmlns:a="http://schemas.openxmlformats.org/drawingml/2006/main" prst="roundRect">
            <a:avLst/>
          </a:prstGeom>
          <a:solidFill xmlns:a="http://schemas.openxmlformats.org/drawingml/2006/main">
            <a:srgbClr val="17324D"/>
          </a:solidFill>
          <a:ln xmlns:a="http://schemas.openxmlformats.org/drawingml/2006/main" w="8890">
            <a:solidFill>
              <a:srgbClr val="17324D"/>
            </a:solidFill>
          </a:ln>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50" b="1">
                <a:solidFill>
                  <a:srgbClr val="FFFFFF"/>
                </a:solidFill>
                <a:latin typeface="Inter"/>
                <a:ea typeface="Inter"/>
                <a:cs typeface="Inter"/>
              </a:rPr>
              <a:t>SEGMENT</a:t>
            </a:r>
            <a:endParaRPr sz="1250"/>
          </a:p>
        </p:txBody>
      </p:sp>
      <p:sp>
        <p:nvSpPr>
          <p:cNvPr id="11" name="Text 9">
            <a:extLst xmlns:a="http://schemas.openxmlformats.org/drawingml/2006/main">
              <a:ext uri="{FF2B5EF4-FFF2-40B4-BE49-F238E27FC236}">
                <a16:creationId xmlns:a16="http://schemas.microsoft.com/office/drawing/2014/main" id="{1AD49D41-3A3F-4532-B922-35ACF3AB81D9}"/>
              </a:ext>
            </a:extLst>
          </p:cNvPr>
          <p:cNvSpPr>
            <a:spLocks xmlns:a="http://schemas.openxmlformats.org/drawingml/2006/main" noGrp="1"/>
          </p:cNvSpPr>
          <p:nvPr/>
        </p:nvSpPr>
        <p:spPr>
          <a:xfrm xmlns:a="http://schemas.openxmlformats.org/drawingml/2006/main">
            <a:off x="1078992" y="1737360"/>
            <a:ext cx="4160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300" b="1">
                <a:solidFill>
                  <a:srgbClr val="17324D"/>
                </a:solidFill>
                <a:latin typeface="Inter Display"/>
                <a:ea typeface="Inter Display"/>
                <a:cs typeface="Inter Display"/>
              </a:rPr>
              <a:t>Aligned stable-core windows</a:t>
            </a:r>
            <a:endParaRPr sz="2300"/>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c8f3ddf91c9f4ef4">
            <a:extLst>
              <a:ext uri="{96DAC541-7B7A-43D3-8B79-37D633B846F1}">
                <asvg:svgBlip xmlns:asvg="http://schemas.microsoft.com/office/drawing/2016/SVG/main" r:embed="R3c54451a53904fd2"/>
              </a:ext>
            </a:extLst>
          </a:blip>
          <a:stretch xmlns:a="http://schemas.openxmlformats.org/drawingml/2006/main">
            <a:fillRect l="0" t="0" r="0" b="0"/>
          </a:stretch>
        </p:blipFill>
        <p:spPr>
          <a:xfrm xmlns:a="http://schemas.openxmlformats.org/drawingml/2006/main">
            <a:off x="1051560" y="2267712"/>
            <a:ext cx="4206240" cy="301752"/>
          </a:xfrm>
          <a:prstGeom xmlns:a="http://schemas.openxmlformats.org/drawingml/2006/main" prst="rect">
            <a:avLst/>
          </a:prstGeom>
        </p:spPr>
      </p:pic>
      <p:pic>
        <p:nvPicPr>
          <p:cNvPr id="49" name="Image 1"/>
          <p:cNvPicPr>
            <a:picLocks xmlns:a="http://schemas.openxmlformats.org/drawingml/2006/main" noChangeAspect="1"/>
          </p:cNvPicPr>
          <p:nvPr/>
        </p:nvPicPr>
        <p:blipFill>
          <a:blip xmlns:r="http://schemas.openxmlformats.org/officeDocument/2006/relationships" xmlns:a="http://schemas.openxmlformats.org/drawingml/2006/main" r:embed="Rc491b1966a094f0a">
            <a:extLst>
              <a:ext uri="{96DAC541-7B7A-43D3-8B79-37D633B846F1}">
                <asvg:svgBlip xmlns:asvg="http://schemas.microsoft.com/office/drawing/2016/SVG/main" r:embed="R3632da9b06504fb2"/>
              </a:ext>
            </a:extLst>
          </a:blip>
          <a:stretch xmlns:a="http://schemas.openxmlformats.org/drawingml/2006/main">
            <a:fillRect l="0" t="0" r="0" b="0"/>
          </a:stretch>
        </p:blipFill>
        <p:spPr>
          <a:xfrm xmlns:a="http://schemas.openxmlformats.org/drawingml/2006/main">
            <a:off x="1051560" y="2651760"/>
            <a:ext cx="4206240" cy="301752"/>
          </a:xfrm>
          <a:prstGeom xmlns:a="http://schemas.openxmlformats.org/drawingml/2006/main" prst="rect">
            <a:avLst/>
          </a:prstGeom>
        </p:spPr>
      </p:pic>
      <p:pic>
        <p:nvPicPr>
          <p:cNvPr id="50" name="Image 2"/>
          <p:cNvPicPr>
            <a:picLocks xmlns:a="http://schemas.openxmlformats.org/drawingml/2006/main" noChangeAspect="1"/>
          </p:cNvPicPr>
          <p:nvPr/>
        </p:nvPicPr>
        <p:blipFill>
          <a:blip xmlns:r="http://schemas.openxmlformats.org/officeDocument/2006/relationships" xmlns:a="http://schemas.openxmlformats.org/drawingml/2006/main" r:embed="R42601c1a08ad45d5">
            <a:extLst>
              <a:ext uri="{96DAC541-7B7A-43D3-8B79-37D633B846F1}">
                <asvg:svgBlip xmlns:asvg="http://schemas.microsoft.com/office/drawing/2016/SVG/main" r:embed="R99e03dc33b524f3b"/>
              </a:ext>
            </a:extLst>
          </a:blip>
          <a:stretch xmlns:a="http://schemas.openxmlformats.org/drawingml/2006/main">
            <a:fillRect l="0" t="0" r="0" b="0"/>
          </a:stretch>
        </p:blipFill>
        <p:spPr>
          <a:xfrm xmlns:a="http://schemas.openxmlformats.org/drawingml/2006/main">
            <a:off x="1051560" y="3035808"/>
            <a:ext cx="4206240" cy="301752"/>
          </a:xfrm>
          <a:prstGeom xmlns:a="http://schemas.openxmlformats.org/drawingml/2006/main" prst="rect">
            <a:avLst/>
          </a:prstGeom>
        </p:spPr>
      </p:pic>
      <p:pic>
        <p:nvPicPr>
          <p:cNvPr id="51" name="Image 3"/>
          <p:cNvPicPr>
            <a:picLocks xmlns:a="http://schemas.openxmlformats.org/drawingml/2006/main" noChangeAspect="1"/>
          </p:cNvPicPr>
          <p:nvPr/>
        </p:nvPicPr>
        <p:blipFill>
          <a:blip xmlns:r="http://schemas.openxmlformats.org/officeDocument/2006/relationships" xmlns:a="http://schemas.openxmlformats.org/drawingml/2006/main" r:embed="R144d8663eb994d73">
            <a:extLst>
              <a:ext uri="{96DAC541-7B7A-43D3-8B79-37D633B846F1}">
                <asvg:svgBlip xmlns:asvg="http://schemas.microsoft.com/office/drawing/2016/SVG/main" r:embed="R2c4bb2bbc0ca43c2"/>
              </a:ext>
            </a:extLst>
          </a:blip>
          <a:stretch xmlns:a="http://schemas.openxmlformats.org/drawingml/2006/main">
            <a:fillRect l="0" t="0" r="0" b="0"/>
          </a:stretch>
        </p:blipFill>
        <p:spPr>
          <a:xfrm xmlns:a="http://schemas.openxmlformats.org/drawingml/2006/main">
            <a:off x="1051560" y="3419856"/>
            <a:ext cx="4206240" cy="301752"/>
          </a:xfrm>
          <a:prstGeom xmlns:a="http://schemas.openxmlformats.org/drawingml/2006/main" prst="rect">
            <a:avLst/>
          </a:prstGeom>
        </p:spPr>
      </p:pic>
      <p:pic>
        <p:nvPicPr>
          <p:cNvPr id="52" name="Image 4"/>
          <p:cNvPicPr>
            <a:picLocks xmlns:a="http://schemas.openxmlformats.org/drawingml/2006/main" noChangeAspect="1"/>
          </p:cNvPicPr>
          <p:nvPr/>
        </p:nvPicPr>
        <p:blipFill>
          <a:blip xmlns:r="http://schemas.openxmlformats.org/officeDocument/2006/relationships" xmlns:a="http://schemas.openxmlformats.org/drawingml/2006/main" r:embed="Rdb16974ab84a455d">
            <a:extLst>
              <a:ext uri="{96DAC541-7B7A-43D3-8B79-37D633B846F1}">
                <asvg:svgBlip xmlns:asvg="http://schemas.microsoft.com/office/drawing/2016/SVG/main" r:embed="R0559b2b7f85c430f"/>
              </a:ext>
            </a:extLst>
          </a:blip>
          <a:stretch xmlns:a="http://schemas.openxmlformats.org/drawingml/2006/main">
            <a:fillRect l="0" t="0" r="0" b="0"/>
          </a:stretch>
        </p:blipFill>
        <p:spPr>
          <a:xfrm xmlns:a="http://schemas.openxmlformats.org/drawingml/2006/main">
            <a:off x="1051560" y="3803904"/>
            <a:ext cx="4206240" cy="301752"/>
          </a:xfrm>
          <a:prstGeom xmlns:a="http://schemas.openxmlformats.org/drawingml/2006/main" prst="rect">
            <a:avLst/>
          </a:prstGeom>
        </p:spPr>
      </p:pic>
      <p:pic>
        <p:nvPicPr>
          <p:cNvPr id="53" name="Image 5"/>
          <p:cNvPicPr>
            <a:picLocks xmlns:a="http://schemas.openxmlformats.org/drawingml/2006/main" noChangeAspect="1"/>
          </p:cNvPicPr>
          <p:nvPr/>
        </p:nvPicPr>
        <p:blipFill>
          <a:blip xmlns:r="http://schemas.openxmlformats.org/officeDocument/2006/relationships" xmlns:a="http://schemas.openxmlformats.org/drawingml/2006/main" r:embed="R3ff17c2dcdce4f9a">
            <a:extLst>
              <a:ext uri="{96DAC541-7B7A-43D3-8B79-37D633B846F1}">
                <asvg:svgBlip xmlns:asvg="http://schemas.microsoft.com/office/drawing/2016/SVG/main" r:embed="R17de02e9c1674493"/>
              </a:ext>
            </a:extLst>
          </a:blip>
          <a:stretch xmlns:a="http://schemas.openxmlformats.org/drawingml/2006/main">
            <a:fillRect l="0" t="0" r="0" b="0"/>
          </a:stretch>
        </p:blipFill>
        <p:spPr>
          <a:xfrm xmlns:a="http://schemas.openxmlformats.org/drawingml/2006/main">
            <a:off x="1051560" y="4187952"/>
            <a:ext cx="4206240" cy="301752"/>
          </a:xfrm>
          <a:prstGeom xmlns:a="http://schemas.openxmlformats.org/drawingml/2006/main" prst="rect">
            <a:avLst/>
          </a:prstGeom>
        </p:spPr>
      </p:pic>
      <p:pic>
        <p:nvPicPr>
          <p:cNvPr id="54" name="Image 6"/>
          <p:cNvPicPr>
            <a:picLocks xmlns:a="http://schemas.openxmlformats.org/drawingml/2006/main" noChangeAspect="1"/>
          </p:cNvPicPr>
          <p:nvPr/>
        </p:nvPicPr>
        <p:blipFill>
          <a:blip xmlns:r="http://schemas.openxmlformats.org/officeDocument/2006/relationships" xmlns:a="http://schemas.openxmlformats.org/drawingml/2006/main" r:embed="Rdde3f9f6ce374a38">
            <a:extLst>
              <a:ext uri="{96DAC541-7B7A-43D3-8B79-37D633B846F1}">
                <asvg:svgBlip xmlns:asvg="http://schemas.microsoft.com/office/drawing/2016/SVG/main" r:embed="R5676eca2ba5144a2"/>
              </a:ext>
            </a:extLst>
          </a:blip>
          <a:stretch xmlns:a="http://schemas.openxmlformats.org/drawingml/2006/main">
            <a:fillRect l="0" t="0" r="0" b="0"/>
          </a:stretch>
        </p:blipFill>
        <p:spPr>
          <a:xfrm xmlns:a="http://schemas.openxmlformats.org/drawingml/2006/main">
            <a:off x="1051560" y="4572000"/>
            <a:ext cx="4206240" cy="301752"/>
          </a:xfrm>
          <a:prstGeom xmlns:a="http://schemas.openxmlformats.org/drawingml/2006/main" prst="rect">
            <a:avLst/>
          </a:prstGeom>
        </p:spPr>
      </p:pic>
      <p:sp>
        <p:nvSpPr>
          <p:cNvPr id="19" name="Text 10">
            <a:extLst xmlns:a="http://schemas.openxmlformats.org/drawingml/2006/main">
              <a:ext uri="{FF2B5EF4-FFF2-40B4-BE49-F238E27FC236}">
                <a16:creationId xmlns:a16="http://schemas.microsoft.com/office/drawing/2014/main" id="{FD9CF50A-3F66-47E4-B12F-C910219C37AE}"/>
              </a:ext>
            </a:extLst>
          </p:cNvPr>
          <p:cNvSpPr>
            <a:spLocks xmlns:a="http://schemas.openxmlformats.org/drawingml/2006/main" noGrp="1"/>
          </p:cNvSpPr>
          <p:nvPr/>
        </p:nvSpPr>
        <p:spPr>
          <a:xfrm xmlns:a="http://schemas.openxmlformats.org/drawingml/2006/main">
            <a:off x="1901952" y="5102352"/>
            <a:ext cx="24688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657487"/>
                </a:solidFill>
                <a:latin typeface="Inter"/>
                <a:ea typeface="Inter"/>
                <a:cs typeface="Inter"/>
              </a:rPr>
              <a:t>common relative axis</a:t>
            </a:r>
            <a:endParaRPr sz="2000"/>
          </a:p>
        </p:txBody>
      </p:sp>
      <p:sp>
        <p:nvSpPr>
          <p:cNvPr id="20" name="Shape 11">
            <a:extLst xmlns:a="http://schemas.openxmlformats.org/drawingml/2006/main">
              <a:ext uri="{FF2B5EF4-FFF2-40B4-BE49-F238E27FC236}">
                <a16:creationId xmlns:a16="http://schemas.microsoft.com/office/drawing/2014/main" id="{D5F23A3C-FF53-4E59-89EA-64A64088F354}"/>
              </a:ext>
            </a:extLst>
          </p:cNvPr>
          <p:cNvSpPr>
            <a:spLocks xmlns:a="http://schemas.openxmlformats.org/drawingml/2006/main" noGrp="1"/>
          </p:cNvSpPr>
          <p:nvPr/>
        </p:nvSpPr>
        <p:spPr>
          <a:xfrm xmlns:a="http://schemas.openxmlformats.org/drawingml/2006/main">
            <a:off x="5715000" y="3337560"/>
            <a:ext cx="438912" cy="0"/>
          </a:xfrm>
          <a:prstGeom xmlns:a="http://schemas.openxmlformats.org/drawingml/2006/main" prst="line">
            <a:avLst/>
          </a:prstGeom>
          <a:noFill xmlns:a="http://schemas.openxmlformats.org/drawingml/2006/main"/>
          <a:ln xmlns:a="http://schemas.openxmlformats.org/drawingml/2006/main" w="25400">
            <a:solidFill>
              <a:srgbClr val="B6C1CC"/>
            </a:solidFill>
            <a:prstDash val="solid"/>
            <a:tailEnd type="triangle"/>
          </a:ln>
        </p:spPr>
      </p:sp>
      <p:sp>
        <p:nvSpPr>
          <p:cNvPr id="22" name="Text 13">
            <a:extLst xmlns:a="http://schemas.openxmlformats.org/drawingml/2006/main">
              <a:ext uri="{FF2B5EF4-FFF2-40B4-BE49-F238E27FC236}">
                <a16:creationId xmlns:a16="http://schemas.microsoft.com/office/drawing/2014/main" id="{BBB795A5-3118-4C37-A6CF-7B1351625155}"/>
              </a:ext>
            </a:extLst>
          </p:cNvPr>
          <p:cNvSpPr>
            <a:spLocks xmlns:a="http://schemas.openxmlformats.org/drawingml/2006/main" noGrp="1"/>
          </p:cNvSpPr>
          <p:nvPr/>
        </p:nvSpPr>
        <p:spPr>
          <a:xfrm xmlns:a="http://schemas.openxmlformats.org/drawingml/2006/main">
            <a:off x="6675120" y="1737360"/>
            <a:ext cx="4343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300" b="1">
                <a:solidFill>
                  <a:srgbClr val="17324D"/>
                </a:solidFill>
                <a:latin typeface="Inter Display"/>
                <a:ea typeface="Inter Display"/>
                <a:cs typeface="Inter Display"/>
              </a:rPr>
              <a:t>Representative repetition</a:t>
            </a:r>
            <a:endParaRPr sz="2300"/>
          </a:p>
        </p:txBody>
      </p:sp>
      <p:pic>
        <p:nvPicPr>
          <p:cNvPr id="58" name="Image 7"/>
          <p:cNvPicPr>
            <a:picLocks xmlns:a="http://schemas.openxmlformats.org/drawingml/2006/main" noChangeAspect="1"/>
          </p:cNvPicPr>
          <p:nvPr/>
        </p:nvPicPr>
        <p:blipFill>
          <a:blip xmlns:r="http://schemas.openxmlformats.org/officeDocument/2006/relationships" xmlns:a="http://schemas.openxmlformats.org/drawingml/2006/main" r:embed="Red04ca92f8f94dc2">
            <a:extLst>
              <a:ext uri="{96DAC541-7B7A-43D3-8B79-37D633B846F1}">
                <asvg:svgBlip xmlns:asvg="http://schemas.microsoft.com/office/drawing/2016/SVG/main" r:embed="R5773e691bd464d08"/>
              </a:ext>
            </a:extLst>
          </a:blip>
          <a:stretch xmlns:a="http://schemas.openxmlformats.org/drawingml/2006/main">
            <a:fillRect l="0" t="0" r="0" b="0"/>
          </a:stretch>
        </p:blipFill>
        <p:spPr>
          <a:xfrm xmlns:a="http://schemas.openxmlformats.org/drawingml/2006/main">
            <a:off x="6720840" y="2267712"/>
            <a:ext cx="4206240" cy="868680"/>
          </a:xfrm>
          <a:prstGeom xmlns:a="http://schemas.openxmlformats.org/drawingml/2006/main" prst="rect">
            <a:avLst/>
          </a:prstGeom>
        </p:spPr>
      </p:pic>
      <p:sp>
        <p:nvSpPr>
          <p:cNvPr id="24" name="Text 14">
            <a:extLst xmlns:a="http://schemas.openxmlformats.org/drawingml/2006/main">
              <a:ext uri="{FF2B5EF4-FFF2-40B4-BE49-F238E27FC236}">
                <a16:creationId xmlns:a16="http://schemas.microsoft.com/office/drawing/2014/main" id="{0E218F79-6BEE-43C3-929F-95B52F5A28F7}"/>
              </a:ext>
            </a:extLst>
          </p:cNvPr>
          <p:cNvSpPr>
            <a:spLocks xmlns:a="http://schemas.openxmlformats.org/drawingml/2006/main" noGrp="1"/>
          </p:cNvSpPr>
          <p:nvPr/>
        </p:nvSpPr>
        <p:spPr>
          <a:xfrm xmlns:a="http://schemas.openxmlformats.org/drawingml/2006/main">
            <a:off x="6803136" y="3218688"/>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D74B8"/>
                </a:solidFill>
                <a:latin typeface="Inter"/>
                <a:ea typeface="Inter"/>
                <a:cs typeface="Inter"/>
              </a:rPr>
              <a:t>activity profile A(r)</a:t>
            </a:r>
            <a:endParaRPr sz="2000"/>
          </a:p>
        </p:txBody>
      </p:sp>
      <p:pic>
        <p:nvPicPr>
          <p:cNvPr id="60" name="Image 8"/>
          <p:cNvPicPr>
            <a:picLocks xmlns:a="http://schemas.openxmlformats.org/drawingml/2006/main" noChangeAspect="1"/>
          </p:cNvPicPr>
          <p:nvPr/>
        </p:nvPicPr>
        <p:blipFill>
          <a:blip xmlns:r="http://schemas.openxmlformats.org/officeDocument/2006/relationships" xmlns:a="http://schemas.openxmlformats.org/drawingml/2006/main" r:embed="R967ce9b89ffd414a">
            <a:extLst>
              <a:ext uri="{96DAC541-7B7A-43D3-8B79-37D633B846F1}">
                <asvg:svgBlip xmlns:asvg="http://schemas.microsoft.com/office/drawing/2016/SVG/main" r:embed="R5a1f74a1df334bea"/>
              </a:ext>
            </a:extLst>
          </a:blip>
          <a:stretch xmlns:a="http://schemas.openxmlformats.org/drawingml/2006/main">
            <a:fillRect l="0" t="0" r="0" b="0"/>
          </a:stretch>
        </p:blipFill>
        <p:spPr>
          <a:xfrm xmlns:a="http://schemas.openxmlformats.org/drawingml/2006/main">
            <a:off x="6766560" y="3611880"/>
            <a:ext cx="4114800" cy="502920"/>
          </a:xfrm>
          <a:prstGeom xmlns:a="http://schemas.openxmlformats.org/drawingml/2006/main" prst="rect">
            <a:avLst/>
          </a:prstGeom>
        </p:spPr>
      </p:pic>
      <p:sp>
        <p:nvSpPr>
          <p:cNvPr id="26" name="Shape 15">
            <a:extLst xmlns:a="http://schemas.openxmlformats.org/drawingml/2006/main">
              <a:ext uri="{FF2B5EF4-FFF2-40B4-BE49-F238E27FC236}">
                <a16:creationId xmlns:a16="http://schemas.microsoft.com/office/drawing/2014/main" id="{5F6B9E8F-DE05-4DB6-A53D-109E6F4AB810}"/>
              </a:ext>
            </a:extLst>
          </p:cNvPr>
          <p:cNvSpPr>
            <a:spLocks xmlns:a="http://schemas.openxmlformats.org/drawingml/2006/main" noGrp="1"/>
          </p:cNvSpPr>
          <p:nvPr/>
        </p:nvSpPr>
        <p:spPr>
          <a:xfrm xmlns:a="http://schemas.openxmlformats.org/drawingml/2006/main">
            <a:off x="6812280" y="4526280"/>
            <a:ext cx="731520" cy="438912"/>
          </a:xfrm>
          <a:prstGeom xmlns:a="http://schemas.openxmlformats.org/drawingml/2006/main" prst="rect">
            <a:avLst/>
          </a:prstGeom>
          <a:solidFill xmlns:a="http://schemas.openxmlformats.org/drawingml/2006/main">
            <a:srgbClr val="EAF3FA"/>
          </a:solidFill>
          <a:ln xmlns:a="http://schemas.openxmlformats.org/drawingml/2006/main" w="11430">
            <a:solidFill>
              <a:srgbClr val="D7E0E8"/>
            </a:solidFill>
            <a:prstDash val="solid"/>
          </a:ln>
        </p:spPr>
      </p:sp>
      <p:sp>
        <p:nvSpPr>
          <p:cNvPr id="27" name="Shape 16">
            <a:extLst xmlns:a="http://schemas.openxmlformats.org/drawingml/2006/main">
              <a:ext uri="{FF2B5EF4-FFF2-40B4-BE49-F238E27FC236}">
                <a16:creationId xmlns:a16="http://schemas.microsoft.com/office/drawing/2014/main" id="{465E46E7-0CBA-4E08-9A15-3A7B64B6022D}"/>
              </a:ext>
            </a:extLst>
          </p:cNvPr>
          <p:cNvSpPr>
            <a:spLocks xmlns:a="http://schemas.openxmlformats.org/drawingml/2006/main" noGrp="1"/>
          </p:cNvSpPr>
          <p:nvPr/>
        </p:nvSpPr>
        <p:spPr>
          <a:xfrm xmlns:a="http://schemas.openxmlformats.org/drawingml/2006/main">
            <a:off x="7543800" y="4526280"/>
            <a:ext cx="502920" cy="438912"/>
          </a:xfrm>
          <a:prstGeom xmlns:a="http://schemas.openxmlformats.org/drawingml/2006/main" prst="rect">
            <a:avLst/>
          </a:prstGeom>
          <a:solidFill xmlns:a="http://schemas.openxmlformats.org/drawingml/2006/main">
            <a:srgbClr val="FFF3DF"/>
          </a:solidFill>
          <a:ln xmlns:a="http://schemas.openxmlformats.org/drawingml/2006/main" w="11430">
            <a:solidFill>
              <a:srgbClr val="E6A03A"/>
            </a:solidFill>
            <a:prstDash val="solid"/>
          </a:ln>
        </p:spPr>
      </p:sp>
      <p:sp>
        <p:nvSpPr>
          <p:cNvPr id="28" name="Shape 17">
            <a:extLst xmlns:a="http://schemas.openxmlformats.org/drawingml/2006/main">
              <a:ext uri="{FF2B5EF4-FFF2-40B4-BE49-F238E27FC236}">
                <a16:creationId xmlns:a16="http://schemas.microsoft.com/office/drawing/2014/main" id="{296A7E16-8CE7-4F42-9E1E-A203671D31FD}"/>
              </a:ext>
            </a:extLst>
          </p:cNvPr>
          <p:cNvSpPr>
            <a:spLocks xmlns:a="http://schemas.openxmlformats.org/drawingml/2006/main" noGrp="1"/>
          </p:cNvSpPr>
          <p:nvPr/>
        </p:nvSpPr>
        <p:spPr>
          <a:xfrm xmlns:a="http://schemas.openxmlformats.org/drawingml/2006/main">
            <a:off x="8046720" y="4526280"/>
            <a:ext cx="1051560" cy="438912"/>
          </a:xfrm>
          <a:prstGeom xmlns:a="http://schemas.openxmlformats.org/drawingml/2006/main" prst="rect">
            <a:avLst/>
          </a:prstGeom>
          <a:solidFill xmlns:a="http://schemas.openxmlformats.org/drawingml/2006/main">
            <a:srgbClr val="EAF3FA"/>
          </a:solidFill>
          <a:ln xmlns:a="http://schemas.openxmlformats.org/drawingml/2006/main" w="11430">
            <a:solidFill>
              <a:srgbClr val="D7E0E8"/>
            </a:solidFill>
            <a:prstDash val="solid"/>
          </a:ln>
        </p:spPr>
      </p:sp>
      <p:sp>
        <p:nvSpPr>
          <p:cNvPr id="29" name="Shape 18">
            <a:extLst xmlns:a="http://schemas.openxmlformats.org/drawingml/2006/main">
              <a:ext uri="{FF2B5EF4-FFF2-40B4-BE49-F238E27FC236}">
                <a16:creationId xmlns:a16="http://schemas.microsoft.com/office/drawing/2014/main" id="{FEDD1267-3AB3-4E3A-B50B-B6A8E010EDCB}"/>
              </a:ext>
            </a:extLst>
          </p:cNvPr>
          <p:cNvSpPr>
            <a:spLocks xmlns:a="http://schemas.openxmlformats.org/drawingml/2006/main" noGrp="1"/>
          </p:cNvSpPr>
          <p:nvPr/>
        </p:nvSpPr>
        <p:spPr>
          <a:xfrm xmlns:a="http://schemas.openxmlformats.org/drawingml/2006/main">
            <a:off x="9098280" y="4526280"/>
            <a:ext cx="822960" cy="438912"/>
          </a:xfrm>
          <a:prstGeom xmlns:a="http://schemas.openxmlformats.org/drawingml/2006/main" prst="rect">
            <a:avLst/>
          </a:prstGeom>
          <a:solidFill xmlns:a="http://schemas.openxmlformats.org/drawingml/2006/main">
            <a:srgbClr val="FFF3DF"/>
          </a:solidFill>
          <a:ln xmlns:a="http://schemas.openxmlformats.org/drawingml/2006/main" w="11430">
            <a:solidFill>
              <a:srgbClr val="E6A03A"/>
            </a:solidFill>
            <a:prstDash val="solid"/>
          </a:ln>
        </p:spPr>
      </p:sp>
      <p:sp>
        <p:nvSpPr>
          <p:cNvPr id="30" name="Shape 19">
            <a:extLst xmlns:a="http://schemas.openxmlformats.org/drawingml/2006/main">
              <a:ext uri="{FF2B5EF4-FFF2-40B4-BE49-F238E27FC236}">
                <a16:creationId xmlns:a16="http://schemas.microsoft.com/office/drawing/2014/main" id="{E27066EB-9D4D-43C5-8461-D4DEA9503AAF}"/>
              </a:ext>
            </a:extLst>
          </p:cNvPr>
          <p:cNvSpPr>
            <a:spLocks xmlns:a="http://schemas.openxmlformats.org/drawingml/2006/main" noGrp="1"/>
          </p:cNvSpPr>
          <p:nvPr/>
        </p:nvSpPr>
        <p:spPr>
          <a:xfrm xmlns:a="http://schemas.openxmlformats.org/drawingml/2006/main">
            <a:off x="9921240" y="4526280"/>
            <a:ext cx="685800" cy="438912"/>
          </a:xfrm>
          <a:prstGeom xmlns:a="http://schemas.openxmlformats.org/drawingml/2006/main" prst="rect">
            <a:avLst/>
          </a:prstGeom>
          <a:solidFill xmlns:a="http://schemas.openxmlformats.org/drawingml/2006/main">
            <a:srgbClr val="EAF3FA"/>
          </a:solidFill>
          <a:ln xmlns:a="http://schemas.openxmlformats.org/drawingml/2006/main" w="11430">
            <a:solidFill>
              <a:srgbClr val="D7E0E8"/>
            </a:solidFill>
            <a:prstDash val="solid"/>
          </a:ln>
        </p:spPr>
      </p:sp>
      <p:sp>
        <p:nvSpPr>
          <p:cNvPr id="31" name="Text 20">
            <a:extLst xmlns:a="http://schemas.openxmlformats.org/drawingml/2006/main">
              <a:ext uri="{FF2B5EF4-FFF2-40B4-BE49-F238E27FC236}">
                <a16:creationId xmlns:a16="http://schemas.microsoft.com/office/drawing/2014/main" id="{3AE5D8EA-0E4B-44E4-AF29-E6A24E814BF9}"/>
              </a:ext>
            </a:extLst>
          </p:cNvPr>
          <p:cNvSpPr>
            <a:spLocks xmlns:a="http://schemas.openxmlformats.org/drawingml/2006/main" noGrp="1"/>
          </p:cNvSpPr>
          <p:nvPr/>
        </p:nvSpPr>
        <p:spPr>
          <a:xfrm xmlns:a="http://schemas.openxmlformats.org/drawingml/2006/main">
            <a:off x="6675120" y="5093208"/>
            <a:ext cx="43434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000">
                <a:solidFill>
                  <a:srgbClr val="243447"/>
                </a:solidFill>
                <a:latin typeface="Inter"/>
                <a:ea typeface="Inter"/>
                <a:cs typeface="Inter"/>
              </a:rPr>
              <a:t>Otsu thresholding + minimum-width merging</a:t>
            </a:r>
            <a:endParaRPr sz="2000"/>
          </a:p>
        </p:txBody>
      </p:sp>
      <p:sp>
        <p:nvSpPr>
          <p:cNvPr id="32" name="Text 21">
            <a:extLst xmlns:a="http://schemas.openxmlformats.org/drawingml/2006/main">
              <a:ext uri="{FF2B5EF4-FFF2-40B4-BE49-F238E27FC236}">
                <a16:creationId xmlns:a16="http://schemas.microsoft.com/office/drawing/2014/main" id="{A56624C2-D291-40F6-A838-145EF0A8D330}"/>
              </a:ext>
            </a:extLst>
          </p:cNvPr>
          <p:cNvSpPr>
            <a:spLocks xmlns:a="http://schemas.openxmlformats.org/drawingml/2006/main" noGrp="1"/>
          </p:cNvSpPr>
          <p:nvPr/>
        </p:nvSpPr>
        <p:spPr>
          <a:xfrm xmlns:a="http://schemas.openxmlformats.org/drawingml/2006/main">
            <a:off x="1993392" y="5989320"/>
            <a:ext cx="8183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300" b="1">
                <a:solidFill>
                  <a:srgbClr val="2D74B8"/>
                </a:solidFill>
                <a:latin typeface="Inter Display"/>
                <a:ea typeface="Inter Display"/>
                <a:cs typeface="Inter Display"/>
              </a:rPr>
              <a:t>The output prioritizes where later CPA or BSCA should start.</a:t>
            </a:r>
            <a:endParaRPr sz="2300"/>
          </a:p>
        </p:txBody>
      </p:sp>
    </p:spTree>
    <p:extLst>
      <p:ext uri="{BB962C8B-B14F-4D97-AF65-F5344CB8AC3E}">
        <p14:creationId xmlns:p14="http://schemas.microsoft.com/office/powerpoint/2010/main" val="11835705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EAB59A1-39EB-4214-91DC-5A742349863D}"/>
              </a:ext>
            </a:extLst>
          </p:cNvPr>
          <p:cNvSpPr>
            <a:spLocks xmlns:a="http://schemas.openxmlformats.org/drawingml/2006/main" noGrp="1"/>
          </p:cNvSpPr>
          <p:nvPr/>
        </p:nvSpPr>
        <p:spPr>
          <a:xfrm xmlns:a="http://schemas.openxmlformats.org/drawingml/2006/main">
            <a:off x="658368" y="384048"/>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100" b="1">
                <a:solidFill>
                  <a:srgbClr val="17324D"/>
                </a:solidFill>
                <a:latin typeface="Inter Display"/>
                <a:ea typeface="Inter Display"/>
                <a:cs typeface="Inter Display"/>
              </a:rPr>
              <a:t>Evaluation: 16 implementations, one fixed configuration</a:t>
            </a:r>
            <a:endParaRPr sz="3100"/>
          </a:p>
        </p:txBody>
      </p:sp>
      <p:sp>
        <p:nvSpPr>
          <p:cNvPr id="6" name="Text 4">
            <a:extLst xmlns:a="http://schemas.openxmlformats.org/drawingml/2006/main">
              <a:ext uri="{FF2B5EF4-FFF2-40B4-BE49-F238E27FC236}">
                <a16:creationId xmlns:a16="http://schemas.microsoft.com/office/drawing/2014/main" id="{90059083-1B5F-4FAE-B7DF-C0ADEF4AA900}"/>
              </a:ext>
            </a:extLst>
          </p:cNvPr>
          <p:cNvSpPr>
            <a:spLocks xmlns:a="http://schemas.openxmlformats.org/drawingml/2006/main" noGrp="1"/>
          </p:cNvSpPr>
          <p:nvPr/>
        </p:nvSpPr>
        <p:spPr>
          <a:xfrm xmlns:a="http://schemas.openxmlformats.org/drawingml/2006/main">
            <a:off x="11109960" y="6556248"/>
            <a:ext cx="4114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487"/>
                </a:solidFill>
                <a:latin typeface="Inter"/>
                <a:ea typeface="Inter"/>
                <a:cs typeface="Inter"/>
              </a:rPr>
              <a:t>8</a:t>
            </a:r>
            <a:endParaRPr sz="1000"/>
          </a:p>
        </p:txBody>
      </p:sp>
      <p:sp>
        <p:nvSpPr>
          <p:cNvPr id="23" name="Shape 21">
            <a:extLst xmlns:a="http://schemas.openxmlformats.org/drawingml/2006/main">
              <a:ext uri="{FF2B5EF4-FFF2-40B4-BE49-F238E27FC236}">
                <a16:creationId xmlns:a16="http://schemas.microsoft.com/office/drawing/2014/main" id="{95608E5B-8667-4F61-B67B-068D10AD2D1C}"/>
              </a:ext>
            </a:extLst>
          </p:cNvPr>
          <p:cNvSpPr>
            <a:spLocks xmlns:a="http://schemas.openxmlformats.org/drawingml/2006/main" noGrp="1"/>
          </p:cNvSpPr>
          <p:nvPr/>
        </p:nvSpPr>
        <p:spPr>
          <a:xfrm xmlns:a="http://schemas.openxmlformats.org/drawingml/2006/main">
            <a:off x="786384" y="2659272"/>
            <a:ext cx="6537960" cy="2380000"/>
          </a:xfrm>
          <a:prstGeom xmlns:a="http://schemas.openxmlformats.org/drawingml/2006/main" prst="roundRect">
            <a:avLst>
              <a:gd name="adj" fmla="val 2791"/>
            </a:avLst>
          </a:prstGeom>
          <a:solidFill xmlns:a="http://schemas.openxmlformats.org/drawingml/2006/main">
            <a:srgbClr val="FFFFFF"/>
          </a:solidFill>
          <a:ln xmlns:a="http://schemas.openxmlformats.org/drawingml/2006/main" w="13970">
            <a:solidFill>
              <a:srgbClr val="D7E0E8"/>
            </a:solidFill>
            <a:prstDash val="solid"/>
          </a:ln>
          <a:effectLst xmlns:a="http://schemas.openxmlformats.org/drawingml/2006/main">
            <a:outerShdw blurRad="12700" dist="50800" dir="2700000" sx="100000" sy="100000" kx="0" ky="0" algn="bl" rotWithShape="0">
              <a:srgbClr val="9AA8B7">
                <a:alpha val="12000"/>
              </a:srgbClr>
            </a:outerShdw>
          </a:effectLst>
        </p:spPr>
      </p:sp>
      <p:sp>
        <p:nvSpPr>
          <p:cNvPr id="24" name="Text 22">
            <a:extLst xmlns:a="http://schemas.openxmlformats.org/drawingml/2006/main">
              <a:ext uri="{FF2B5EF4-FFF2-40B4-BE49-F238E27FC236}">
                <a16:creationId xmlns:a16="http://schemas.microsoft.com/office/drawing/2014/main" id="{DDEC5145-4D92-465A-BA3B-C40204211E39}"/>
              </a:ext>
            </a:extLst>
          </p:cNvPr>
          <p:cNvSpPr>
            <a:spLocks xmlns:a="http://schemas.openxmlformats.org/drawingml/2006/main" noGrp="1"/>
          </p:cNvSpPr>
          <p:nvPr/>
        </p:nvSpPr>
        <p:spPr>
          <a:xfrm xmlns:a="http://schemas.openxmlformats.org/drawingml/2006/main">
            <a:off x="1078992" y="2933592"/>
            <a:ext cx="1097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575" b="1">
                <a:solidFill>
                  <a:srgbClr val="2F75B5"/>
                </a:solidFill>
              </a:defRPr>
            </a:pPr>
            <a:r>
              <a:rPr sz="1575" b="1">
                <a:solidFill>
                  <a:srgbClr val="2F75B5"/>
                </a:solidFill>
                <a:latin typeface="Inter Display"/>
                <a:ea typeface="Inter Display"/>
                <a:cs typeface="Inter Display"/>
              </a:rPr>
              <a:t>CIPHERS</a:t>
            </a:r>
            <a:endParaRPr sz="2000"/>
          </a:p>
        </p:txBody>
      </p:sp>
      <p:sp>
        <p:nvSpPr>
          <p:cNvPr id="25" name="Text 23">
            <a:extLst xmlns:a="http://schemas.openxmlformats.org/drawingml/2006/main">
              <a:ext uri="{FF2B5EF4-FFF2-40B4-BE49-F238E27FC236}">
                <a16:creationId xmlns:a16="http://schemas.microsoft.com/office/drawing/2014/main" id="{7D529CED-C34E-4DFC-91F9-7103F3462CAA}"/>
              </a:ext>
            </a:extLst>
          </p:cNvPr>
          <p:cNvSpPr>
            <a:spLocks xmlns:a="http://schemas.openxmlformats.org/drawingml/2006/main" noGrp="1"/>
          </p:cNvSpPr>
          <p:nvPr/>
        </p:nvSpPr>
        <p:spPr>
          <a:xfrm xmlns:a="http://schemas.openxmlformats.org/drawingml/2006/main">
            <a:off x="1078992" y="3345072"/>
            <a:ext cx="1389888" cy="384048"/>
          </a:xfrm>
          <a:prstGeom xmlns:a="http://schemas.openxmlformats.org/drawingml/2006/main" prst="roundRect">
            <a:avLst/>
          </a:prstGeom>
          <a:solidFill xmlns:a="http://schemas.openxmlformats.org/drawingml/2006/main">
            <a:srgbClr val="EAF3FA"/>
          </a:solidFill>
          <a:ln xmlns:a="http://schemas.openxmlformats.org/drawingml/2006/main" w="10160">
            <a:solidFill>
              <a:srgbClr val="EAF3FA"/>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2000" b="1">
                <a:solidFill>
                  <a:srgbClr val="2D74B8"/>
                </a:solidFill>
                <a:latin typeface="Inter"/>
                <a:ea typeface="Inter"/>
                <a:cs typeface="Inter"/>
              </a:rPr>
              <a:t>AES</a:t>
            </a:r>
            <a:endParaRPr sz="2000"/>
          </a:p>
        </p:txBody>
      </p:sp>
      <p:sp>
        <p:nvSpPr>
          <p:cNvPr id="26" name="Text 24">
            <a:extLst xmlns:a="http://schemas.openxmlformats.org/drawingml/2006/main">
              <a:ext uri="{FF2B5EF4-FFF2-40B4-BE49-F238E27FC236}">
                <a16:creationId xmlns:a16="http://schemas.microsoft.com/office/drawing/2014/main" id="{6C8D3B9F-4901-4119-9F11-A3DD6D4EB824}"/>
              </a:ext>
            </a:extLst>
          </p:cNvPr>
          <p:cNvSpPr>
            <a:spLocks xmlns:a="http://schemas.openxmlformats.org/drawingml/2006/main" noGrp="1"/>
          </p:cNvSpPr>
          <p:nvPr/>
        </p:nvSpPr>
        <p:spPr>
          <a:xfrm xmlns:a="http://schemas.openxmlformats.org/drawingml/2006/main">
            <a:off x="2587752" y="3345072"/>
            <a:ext cx="1389888" cy="384048"/>
          </a:xfrm>
          <a:prstGeom xmlns:a="http://schemas.openxmlformats.org/drawingml/2006/main" prst="roundRect">
            <a:avLst/>
          </a:prstGeom>
          <a:solidFill xmlns:a="http://schemas.openxmlformats.org/drawingml/2006/main">
            <a:srgbClr val="EAF3FA"/>
          </a:solidFill>
          <a:ln xmlns:a="http://schemas.openxmlformats.org/drawingml/2006/main" w="10160">
            <a:solidFill>
              <a:srgbClr val="EAF3FA"/>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2000" b="1">
                <a:solidFill>
                  <a:srgbClr val="2D74B8"/>
                </a:solidFill>
                <a:latin typeface="Inter"/>
                <a:ea typeface="Inter"/>
                <a:cs typeface="Inter"/>
              </a:rPr>
              <a:t>GIFT</a:t>
            </a:r>
            <a:endParaRPr sz="2000"/>
          </a:p>
        </p:txBody>
      </p:sp>
      <p:sp>
        <p:nvSpPr>
          <p:cNvPr id="27" name="Text 25">
            <a:extLst xmlns:a="http://schemas.openxmlformats.org/drawingml/2006/main">
              <a:ext uri="{FF2B5EF4-FFF2-40B4-BE49-F238E27FC236}">
                <a16:creationId xmlns:a16="http://schemas.microsoft.com/office/drawing/2014/main" id="{639CBCA6-AAAF-4ED9-A73B-CAB2EA8442E9}"/>
              </a:ext>
            </a:extLst>
          </p:cNvPr>
          <p:cNvSpPr>
            <a:spLocks xmlns:a="http://schemas.openxmlformats.org/drawingml/2006/main" noGrp="1"/>
          </p:cNvSpPr>
          <p:nvPr/>
        </p:nvSpPr>
        <p:spPr>
          <a:xfrm xmlns:a="http://schemas.openxmlformats.org/drawingml/2006/main">
            <a:off x="4096512" y="3345072"/>
            <a:ext cx="1389888" cy="384048"/>
          </a:xfrm>
          <a:prstGeom xmlns:a="http://schemas.openxmlformats.org/drawingml/2006/main" prst="roundRect">
            <a:avLst/>
          </a:prstGeom>
          <a:solidFill xmlns:a="http://schemas.openxmlformats.org/drawingml/2006/main">
            <a:srgbClr val="EAF3FA"/>
          </a:solidFill>
          <a:ln xmlns:a="http://schemas.openxmlformats.org/drawingml/2006/main" w="10160">
            <a:solidFill>
              <a:srgbClr val="EAF3FA"/>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2000" b="1">
                <a:solidFill>
                  <a:srgbClr val="2D74B8"/>
                </a:solidFill>
                <a:latin typeface="Inter"/>
                <a:ea typeface="Inter"/>
                <a:cs typeface="Inter"/>
              </a:rPr>
              <a:t>HIGHT</a:t>
            </a:r>
            <a:endParaRPr sz="2000"/>
          </a:p>
        </p:txBody>
      </p:sp>
      <p:sp>
        <p:nvSpPr>
          <p:cNvPr id="28" name="Text 26">
            <a:extLst xmlns:a="http://schemas.openxmlformats.org/drawingml/2006/main">
              <a:ext uri="{FF2B5EF4-FFF2-40B4-BE49-F238E27FC236}">
                <a16:creationId xmlns:a16="http://schemas.microsoft.com/office/drawing/2014/main" id="{DD3AE55A-3009-4EFF-8DD1-10458E3F7E3E}"/>
              </a:ext>
            </a:extLst>
          </p:cNvPr>
          <p:cNvSpPr>
            <a:spLocks xmlns:a="http://schemas.openxmlformats.org/drawingml/2006/main" noGrp="1"/>
          </p:cNvSpPr>
          <p:nvPr/>
        </p:nvSpPr>
        <p:spPr>
          <a:xfrm xmlns:a="http://schemas.openxmlformats.org/drawingml/2006/main">
            <a:off x="5605272" y="3345072"/>
            <a:ext cx="1389888" cy="384048"/>
          </a:xfrm>
          <a:prstGeom xmlns:a="http://schemas.openxmlformats.org/drawingml/2006/main" prst="roundRect">
            <a:avLst/>
          </a:prstGeom>
          <a:solidFill xmlns:a="http://schemas.openxmlformats.org/drawingml/2006/main">
            <a:srgbClr val="EAF3FA"/>
          </a:solidFill>
          <a:ln xmlns:a="http://schemas.openxmlformats.org/drawingml/2006/main" w="10160">
            <a:solidFill>
              <a:srgbClr val="EAF3FA"/>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2000" b="1">
                <a:solidFill>
                  <a:srgbClr val="2D74B8"/>
                </a:solidFill>
                <a:latin typeface="Inter"/>
                <a:ea typeface="Inter"/>
                <a:cs typeface="Inter"/>
              </a:rPr>
              <a:t>PRESENT</a:t>
            </a:r>
            <a:endParaRPr sz="2000"/>
          </a:p>
        </p:txBody>
      </p:sp>
      <p:sp>
        <p:nvSpPr>
          <p:cNvPr id="29" name="Text 27">
            <a:extLst xmlns:a="http://schemas.openxmlformats.org/drawingml/2006/main">
              <a:ext uri="{FF2B5EF4-FFF2-40B4-BE49-F238E27FC236}">
                <a16:creationId xmlns:a16="http://schemas.microsoft.com/office/drawing/2014/main" id="{3AA9CC48-AF7C-48DC-96C3-7A03B18D8DC5}"/>
              </a:ext>
            </a:extLst>
          </p:cNvPr>
          <p:cNvSpPr>
            <a:spLocks xmlns:a="http://schemas.openxmlformats.org/drawingml/2006/main" noGrp="1"/>
          </p:cNvSpPr>
          <p:nvPr/>
        </p:nvSpPr>
        <p:spPr>
          <a:xfrm xmlns:a="http://schemas.openxmlformats.org/drawingml/2006/main">
            <a:off x="1078992" y="3948576"/>
            <a:ext cx="1389888" cy="384048"/>
          </a:xfrm>
          <a:prstGeom xmlns:a="http://schemas.openxmlformats.org/drawingml/2006/main" prst="roundRect">
            <a:avLst/>
          </a:prstGeom>
          <a:solidFill xmlns:a="http://schemas.openxmlformats.org/drawingml/2006/main">
            <a:srgbClr val="EAF7F4"/>
          </a:solidFill>
          <a:ln xmlns:a="http://schemas.openxmlformats.org/drawingml/2006/main" w="10160">
            <a:solidFill>
              <a:srgbClr val="EAF7F4"/>
            </a:solidFill>
          </a:l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defRPr sz="1350" b="1">
                <a:solidFill>
                  <a:srgbClr val="2A9D8F"/>
                </a:solidFill>
              </a:defRPr>
            </a:pPr>
            <a:r>
              <a:rPr sz="1350" b="1">
                <a:solidFill>
                  <a:srgbClr val="2A9D8F"/>
                </a:solidFill>
                <a:latin typeface="Inter"/>
                <a:ea typeface="Inter"/>
                <a:cs typeface="Inter"/>
              </a:rPr>
              <a:t>RECTANGLE</a:t>
            </a:r>
            <a:endParaRPr sz="2000"/>
          </a:p>
        </p:txBody>
      </p:sp>
      <p:sp>
        <p:nvSpPr>
          <p:cNvPr id="30" name="Text 28">
            <a:extLst xmlns:a="http://schemas.openxmlformats.org/drawingml/2006/main">
              <a:ext uri="{FF2B5EF4-FFF2-40B4-BE49-F238E27FC236}">
                <a16:creationId xmlns:a16="http://schemas.microsoft.com/office/drawing/2014/main" id="{1FDFC61F-A8FF-4E6A-8C5D-9FD5737D5252}"/>
              </a:ext>
            </a:extLst>
          </p:cNvPr>
          <p:cNvSpPr>
            <a:spLocks xmlns:a="http://schemas.openxmlformats.org/drawingml/2006/main" noGrp="1"/>
          </p:cNvSpPr>
          <p:nvPr/>
        </p:nvSpPr>
        <p:spPr>
          <a:xfrm xmlns:a="http://schemas.openxmlformats.org/drawingml/2006/main">
            <a:off x="2587752" y="3948576"/>
            <a:ext cx="1389888" cy="384048"/>
          </a:xfrm>
          <a:prstGeom xmlns:a="http://schemas.openxmlformats.org/drawingml/2006/main" prst="roundRect">
            <a:avLst/>
          </a:prstGeom>
          <a:solidFill xmlns:a="http://schemas.openxmlformats.org/drawingml/2006/main">
            <a:srgbClr val="EAF7F4"/>
          </a:solidFill>
          <a:ln xmlns:a="http://schemas.openxmlformats.org/drawingml/2006/main" w="10160">
            <a:solidFill>
              <a:srgbClr val="EAF7F4"/>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2000" b="1">
                <a:solidFill>
                  <a:srgbClr val="2C9A8B"/>
                </a:solidFill>
                <a:latin typeface="Inter"/>
                <a:ea typeface="Inter"/>
                <a:cs typeface="Inter"/>
              </a:rPr>
              <a:t>SIMON</a:t>
            </a:r>
            <a:endParaRPr sz="2000"/>
          </a:p>
        </p:txBody>
      </p:sp>
      <p:sp>
        <p:nvSpPr>
          <p:cNvPr id="31" name="Text 29">
            <a:extLst xmlns:a="http://schemas.openxmlformats.org/drawingml/2006/main">
              <a:ext uri="{FF2B5EF4-FFF2-40B4-BE49-F238E27FC236}">
                <a16:creationId xmlns:a16="http://schemas.microsoft.com/office/drawing/2014/main" id="{A6495EDF-E282-4453-ACF8-F0E30D2C4A78}"/>
              </a:ext>
            </a:extLst>
          </p:cNvPr>
          <p:cNvSpPr>
            <a:spLocks xmlns:a="http://schemas.openxmlformats.org/drawingml/2006/main" noGrp="1"/>
          </p:cNvSpPr>
          <p:nvPr/>
        </p:nvSpPr>
        <p:spPr>
          <a:xfrm xmlns:a="http://schemas.openxmlformats.org/drawingml/2006/main">
            <a:off x="4096512" y="3948576"/>
            <a:ext cx="1389888" cy="384048"/>
          </a:xfrm>
          <a:prstGeom xmlns:a="http://schemas.openxmlformats.org/drawingml/2006/main" prst="roundRect">
            <a:avLst/>
          </a:prstGeom>
          <a:solidFill xmlns:a="http://schemas.openxmlformats.org/drawingml/2006/main">
            <a:srgbClr val="EAF7F4"/>
          </a:solidFill>
          <a:ln xmlns:a="http://schemas.openxmlformats.org/drawingml/2006/main" w="10160">
            <a:solidFill>
              <a:srgbClr val="EAF7F4"/>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2000" b="1">
                <a:solidFill>
                  <a:srgbClr val="2C9A8B"/>
                </a:solidFill>
                <a:latin typeface="Inter"/>
                <a:ea typeface="Inter"/>
                <a:cs typeface="Inter"/>
              </a:rPr>
              <a:t>SM4</a:t>
            </a:r>
            <a:endParaRPr sz="2000"/>
          </a:p>
        </p:txBody>
      </p:sp>
      <p:sp>
        <p:nvSpPr>
          <p:cNvPr id="32" name="Text 30">
            <a:extLst xmlns:a="http://schemas.openxmlformats.org/drawingml/2006/main">
              <a:ext uri="{FF2B5EF4-FFF2-40B4-BE49-F238E27FC236}">
                <a16:creationId xmlns:a16="http://schemas.microsoft.com/office/drawing/2014/main" id="{92213F65-CC8E-4CE6-BD62-F9B538742635}"/>
              </a:ext>
            </a:extLst>
          </p:cNvPr>
          <p:cNvSpPr>
            <a:spLocks xmlns:a="http://schemas.openxmlformats.org/drawingml/2006/main" noGrp="1"/>
          </p:cNvSpPr>
          <p:nvPr/>
        </p:nvSpPr>
        <p:spPr>
          <a:xfrm xmlns:a="http://schemas.openxmlformats.org/drawingml/2006/main">
            <a:off x="5605272" y="3948576"/>
            <a:ext cx="1389888" cy="384048"/>
          </a:xfrm>
          <a:prstGeom xmlns:a="http://schemas.openxmlformats.org/drawingml/2006/main" prst="roundRect">
            <a:avLst/>
          </a:prstGeom>
          <a:solidFill xmlns:a="http://schemas.openxmlformats.org/drawingml/2006/main">
            <a:srgbClr val="EAF7F4"/>
          </a:solidFill>
          <a:ln xmlns:a="http://schemas.openxmlformats.org/drawingml/2006/main" w="10160">
            <a:solidFill>
              <a:srgbClr val="EAF7F4"/>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2000" b="1">
                <a:solidFill>
                  <a:srgbClr val="2C9A8B"/>
                </a:solidFill>
                <a:latin typeface="Inter"/>
                <a:ea typeface="Inter"/>
                <a:cs typeface="Inter"/>
              </a:rPr>
              <a:t>SPECK</a:t>
            </a:r>
            <a:endParaRPr sz="2000"/>
          </a:p>
        </p:txBody>
      </p:sp>
      <p:sp>
        <p:nvSpPr>
          <p:cNvPr id="33" name="Shape 31">
            <a:extLst xmlns:a="http://schemas.openxmlformats.org/drawingml/2006/main">
              <a:ext uri="{FF2B5EF4-FFF2-40B4-BE49-F238E27FC236}">
                <a16:creationId xmlns:a16="http://schemas.microsoft.com/office/drawing/2014/main" id="{08C9E303-F0E7-48F5-BC73-20AC6FCFA81B}"/>
              </a:ext>
            </a:extLst>
          </p:cNvPr>
          <p:cNvSpPr>
            <a:spLocks xmlns:a="http://schemas.openxmlformats.org/drawingml/2006/main" noGrp="1"/>
          </p:cNvSpPr>
          <p:nvPr/>
        </p:nvSpPr>
        <p:spPr>
          <a:xfrm xmlns:a="http://schemas.openxmlformats.org/drawingml/2006/main">
            <a:off x="7562088" y="2659272"/>
            <a:ext cx="3849624" cy="2380000"/>
          </a:xfrm>
          <a:prstGeom xmlns:a="http://schemas.openxmlformats.org/drawingml/2006/main" prst="roundRect">
            <a:avLst>
              <a:gd name="adj" fmla="val 2791"/>
            </a:avLst>
          </a:prstGeom>
          <a:solidFill xmlns:a="http://schemas.openxmlformats.org/drawingml/2006/main">
            <a:srgbClr val="FFFFFF"/>
          </a:solidFill>
          <a:ln xmlns:a="http://schemas.openxmlformats.org/drawingml/2006/main" w="13970">
            <a:solidFill>
              <a:srgbClr val="D7E0E8"/>
            </a:solidFill>
            <a:prstDash val="solid"/>
          </a:ln>
          <a:effectLst xmlns:a="http://schemas.openxmlformats.org/drawingml/2006/main">
            <a:outerShdw blurRad="12700" dist="50800" dir="2700000" sx="100000" sy="100000" kx="0" ky="0" algn="bl" rotWithShape="0">
              <a:srgbClr val="9AA8B7">
                <a:alpha val="12000"/>
              </a:srgbClr>
            </a:outerShdw>
          </a:effectLst>
        </p:spPr>
      </p:sp>
      <p:sp>
        <p:nvSpPr>
          <p:cNvPr id="34" name="Text 32">
            <a:extLst xmlns:a="http://schemas.openxmlformats.org/drawingml/2006/main">
              <a:ext uri="{FF2B5EF4-FFF2-40B4-BE49-F238E27FC236}">
                <a16:creationId xmlns:a16="http://schemas.microsoft.com/office/drawing/2014/main" id="{D089410D-67DB-48FC-A89F-931BA7D3C3CA}"/>
              </a:ext>
            </a:extLst>
          </p:cNvPr>
          <p:cNvSpPr>
            <a:spLocks xmlns:a="http://schemas.openxmlformats.org/drawingml/2006/main" noGrp="1"/>
          </p:cNvSpPr>
          <p:nvPr/>
        </p:nvSpPr>
        <p:spPr>
          <a:xfrm xmlns:a="http://schemas.openxmlformats.org/drawingml/2006/main">
            <a:off x="7863840" y="293359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D74B8"/>
                </a:solidFill>
                <a:latin typeface="Inter Display"/>
                <a:ea typeface="Inter Display"/>
                <a:cs typeface="Inter Display"/>
              </a:rPr>
              <a:t>PLATFORMS</a:t>
            </a:r>
            <a:endParaRPr sz="2000"/>
          </a:p>
        </p:txBody>
      </p:sp>
      <p:sp>
        <p:nvSpPr>
          <p:cNvPr id="35" name="Text 33">
            <a:extLst xmlns:a="http://schemas.openxmlformats.org/drawingml/2006/main">
              <a:ext uri="{FF2B5EF4-FFF2-40B4-BE49-F238E27FC236}">
                <a16:creationId xmlns:a16="http://schemas.microsoft.com/office/drawing/2014/main" id="{6A1C84C2-5641-4000-B8A1-24D704FB5B5B}"/>
              </a:ext>
            </a:extLst>
          </p:cNvPr>
          <p:cNvSpPr>
            <a:spLocks xmlns:a="http://schemas.openxmlformats.org/drawingml/2006/main" noGrp="1"/>
          </p:cNvSpPr>
          <p:nvPr/>
        </p:nvSpPr>
        <p:spPr>
          <a:xfrm xmlns:a="http://schemas.openxmlformats.org/drawingml/2006/main">
            <a:off x="7863840" y="3381648"/>
            <a:ext cx="1783080" cy="384048"/>
          </a:xfrm>
          <a:prstGeom xmlns:a="http://schemas.openxmlformats.org/drawingml/2006/main" prst="roundRect">
            <a:avLst/>
          </a:prstGeom>
          <a:solidFill xmlns:a="http://schemas.openxmlformats.org/drawingml/2006/main">
            <a:srgbClr val="EAF3FA"/>
          </a:solidFill>
          <a:ln xmlns:a="http://schemas.openxmlformats.org/drawingml/2006/main" w="10160">
            <a:solidFill>
              <a:srgbClr val="4B8FCB"/>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2000" b="1">
                <a:solidFill>
                  <a:srgbClr val="17324D"/>
                </a:solidFill>
                <a:latin typeface="Inter"/>
                <a:ea typeface="Inter"/>
                <a:cs typeface="Inter"/>
              </a:rPr>
              <a:t>STM32F303</a:t>
            </a:r>
            <a:endParaRPr sz="2000"/>
          </a:p>
        </p:txBody>
      </p:sp>
      <p:sp>
        <p:nvSpPr>
          <p:cNvPr id="36" name="Text 34">
            <a:extLst xmlns:a="http://schemas.openxmlformats.org/drawingml/2006/main">
              <a:ext uri="{FF2B5EF4-FFF2-40B4-BE49-F238E27FC236}">
                <a16:creationId xmlns:a16="http://schemas.microsoft.com/office/drawing/2014/main" id="{848FE573-7994-46B3-AE6C-D0C4D69CB609}"/>
              </a:ext>
            </a:extLst>
          </p:cNvPr>
          <p:cNvSpPr>
            <a:spLocks xmlns:a="http://schemas.openxmlformats.org/drawingml/2006/main" noGrp="1"/>
          </p:cNvSpPr>
          <p:nvPr/>
        </p:nvSpPr>
        <p:spPr>
          <a:xfrm xmlns:a="http://schemas.openxmlformats.org/drawingml/2006/main">
            <a:off x="9893808" y="3381648"/>
            <a:ext cx="1234440" cy="384048"/>
          </a:xfrm>
          <a:prstGeom xmlns:a="http://schemas.openxmlformats.org/drawingml/2006/main" prst="roundRect">
            <a:avLst/>
          </a:prstGeom>
          <a:solidFill xmlns:a="http://schemas.openxmlformats.org/drawingml/2006/main">
            <a:srgbClr val="EAF7F4"/>
          </a:solidFill>
          <a:ln xmlns:a="http://schemas.openxmlformats.org/drawingml/2006/main" w="10160">
            <a:solidFill>
              <a:srgbClr val="2C9A8B"/>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2000" b="1">
                <a:solidFill>
                  <a:srgbClr val="17324D"/>
                </a:solidFill>
                <a:latin typeface="Inter"/>
                <a:ea typeface="Inter"/>
                <a:cs typeface="Inter"/>
              </a:rPr>
              <a:t>XMEGA</a:t>
            </a:r>
            <a:endParaRPr sz="2000"/>
          </a:p>
        </p:txBody>
      </p:sp>
      <p:sp>
        <p:nvSpPr>
          <p:cNvPr id="37" name="Text 35">
            <a:extLst xmlns:a="http://schemas.openxmlformats.org/drawingml/2006/main">
              <a:ext uri="{FF2B5EF4-FFF2-40B4-BE49-F238E27FC236}">
                <a16:creationId xmlns:a16="http://schemas.microsoft.com/office/drawing/2014/main" id="{35C2A7A7-6EBE-432C-B0B7-E3AB3DDE693E}"/>
              </a:ext>
            </a:extLst>
          </p:cNvPr>
          <p:cNvSpPr>
            <a:spLocks xmlns:a="http://schemas.openxmlformats.org/drawingml/2006/main" noGrp="1"/>
          </p:cNvSpPr>
          <p:nvPr/>
        </p:nvSpPr>
        <p:spPr>
          <a:xfrm xmlns:a="http://schemas.openxmlformats.org/drawingml/2006/main">
            <a:off x="7863840" y="3957720"/>
            <a:ext cx="31546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000">
                <a:solidFill>
                  <a:srgbClr val="243447"/>
                </a:solidFill>
                <a:latin typeface="Inter"/>
                <a:ea typeface="Inter"/>
                <a:cs typeface="Inter"/>
              </a:rPr>
              <a:t>Single fixed parameter set</a:t>
            </a:r>
            <a:endParaRPr sz="2000"/>
          </a:p>
          <a:p xmlns:a="http://schemas.openxmlformats.org/drawingml/2006/main">
            <a:pPr marL="0" indent="0">
              <a:buNone/>
            </a:pPr>
            <a:r>
              <a:rPr sz="2000">
                <a:solidFill>
                  <a:srgbClr val="243447"/>
                </a:solidFill>
                <a:latin typeface="Inter"/>
                <a:ea typeface="Inter"/>
                <a:cs typeface="Inter"/>
              </a:rPr>
              <a:t>Coarse invocation alignment only</a:t>
            </a:r>
            <a:endParaRPr sz="2000"/>
          </a:p>
        </p:txBody>
      </p:sp>
      <p:sp>
        <p:nvSpPr>
          <p:cNvPr id="38" name="Text 36">
            <a:extLst xmlns:a="http://schemas.openxmlformats.org/drawingml/2006/main">
              <a:ext uri="{FF2B5EF4-FFF2-40B4-BE49-F238E27FC236}">
                <a16:creationId xmlns:a16="http://schemas.microsoft.com/office/drawing/2014/main" id="{C918E349-080D-4379-AE98-EEA81BECB9A7}"/>
              </a:ext>
            </a:extLst>
          </p:cNvPr>
          <p:cNvSpPr>
            <a:spLocks xmlns:a="http://schemas.openxmlformats.org/drawingml/2006/main" noGrp="1"/>
          </p:cNvSpPr>
          <p:nvPr/>
        </p:nvSpPr>
        <p:spPr>
          <a:xfrm xmlns:a="http://schemas.openxmlformats.org/drawingml/2006/main">
            <a:off x="1005840" y="5480000"/>
            <a:ext cx="101498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200" b="1">
                <a:solidFill>
                  <a:srgbClr val="2D74B8"/>
                </a:solidFill>
                <a:latin typeface="Inter Display"/>
                <a:ea typeface="Inter Display"/>
                <a:cs typeface="Inter Display"/>
              </a:rPr>
              <a:t>Source code, assembly, and CPA were used only after all trace-only outputs were fixed.</a:t>
            </a:r>
            <a:endParaRPr sz="2200"/>
          </a:p>
        </p:txBody>
      </p:sp>
      <p:sp>
        <p:nvSpPr>
          <p:cNvPr id="700" name="Text 36">
            <a:extLst xmlns:a="http://schemas.openxmlformats.org/drawingml/2006/main">
              <a:ext uri="{FF2B5EF4-FFF2-40B4-BE49-F238E27FC236}">
                <a16:creationId xmlns:a16="http://schemas.microsoft.com/office/drawing/2014/main" id="{227918FC-3438-4C73-A322-7C475A52D4C6}"/>
              </a:ext>
            </a:extLst>
          </p:cNvPr>
          <p:cNvSpPr>
            <a:spLocks xmlns:a="http://schemas.openxmlformats.org/drawingml/2006/main" noGrp="1"/>
          </p:cNvSpPr>
          <p:nvPr/>
        </p:nvSpPr>
        <p:spPr>
          <a:xfrm xmlns:a="http://schemas.openxmlformats.org/drawingml/2006/main">
            <a:off x="658368" y="1280160"/>
            <a:ext cx="10881360" cy="400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000" b="1">
                <a:solidFill>
                  <a:srgbClr val="243447"/>
                </a:solidFill>
                <a:latin typeface="Inter Display"/>
                <a:ea typeface="Inter Display"/>
                <a:cs typeface="Inter Display"/>
              </a:rPr>
              <a:t>8 block ciphers  ×  2 embedded platforms  =  16 implementations,  1,000 traces each</a:t>
            </a:r>
            <a:endParaRPr sz="2000"/>
          </a:p>
        </p:txBody>
      </p:sp>
    </p:spTree>
    <p:extLst>
      <p:ext uri="{BB962C8B-B14F-4D97-AF65-F5344CB8AC3E}">
        <p14:creationId xmlns:p14="http://schemas.microsoft.com/office/powerpoint/2010/main" val="4016754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CC845D-B49B-41E0-8828-C7D791FCAC92}"/>
              </a:ext>
            </a:extLst>
          </p:cNvPr>
          <p:cNvSpPr>
            <a:spLocks xmlns:a="http://schemas.openxmlformats.org/drawingml/2006/main" noGrp="1"/>
          </p:cNvSpPr>
          <p:nvPr/>
        </p:nvSpPr>
        <p:spPr>
          <a:xfrm xmlns:a="http://schemas.openxmlformats.org/drawingml/2006/main">
            <a:off x="658368" y="384048"/>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100" b="1">
                <a:solidFill>
                  <a:srgbClr val="17324D"/>
                </a:solidFill>
                <a:latin typeface="Inter Display"/>
                <a:ea typeface="Inter Display"/>
                <a:cs typeface="Inter Display"/>
              </a:rPr>
              <a:t>Stable repetition structure appears in 12 of 16 targets</a:t>
            </a:r>
            <a:endParaRPr sz="3100"/>
          </a:p>
        </p:txBody>
      </p:sp>
      <p:sp>
        <p:nvSpPr>
          <p:cNvPr id="6" name="Text 4">
            <a:extLst xmlns:a="http://schemas.openxmlformats.org/drawingml/2006/main">
              <a:ext uri="{FF2B5EF4-FFF2-40B4-BE49-F238E27FC236}">
                <a16:creationId xmlns:a16="http://schemas.microsoft.com/office/drawing/2014/main" id="{A6F001FB-12A3-4147-A7A9-1FA55158AA6A}"/>
              </a:ext>
            </a:extLst>
          </p:cNvPr>
          <p:cNvSpPr>
            <a:spLocks xmlns:a="http://schemas.openxmlformats.org/drawingml/2006/main" noGrp="1"/>
          </p:cNvSpPr>
          <p:nvPr/>
        </p:nvSpPr>
        <p:spPr>
          <a:xfrm xmlns:a="http://schemas.openxmlformats.org/drawingml/2006/main">
            <a:off x="11109960" y="6556248"/>
            <a:ext cx="4114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487"/>
                </a:solidFill>
                <a:latin typeface="Inter"/>
                <a:ea typeface="Inter"/>
                <a:cs typeface="Inter"/>
              </a:rPr>
              <a:t>9</a:t>
            </a:r>
            <a:endParaRPr sz="1000"/>
          </a:p>
        </p:txBody>
      </p:sp>
      <p:sp>
        <p:nvSpPr>
          <p:cNvPr id="400" name="Text 37">
            <a:extLst xmlns:a="http://schemas.openxmlformats.org/drawingml/2006/main">
              <a:ext uri="{FF2B5EF4-FFF2-40B4-BE49-F238E27FC236}">
                <a16:creationId xmlns:a16="http://schemas.microsoft.com/office/drawing/2014/main" id="{7CA2C47F-C5C3-4DF4-A78D-31EEB1EB5278}"/>
              </a:ext>
            </a:extLst>
          </p:cNvPr>
          <p:cNvSpPr>
            <a:spLocks xmlns:a="http://schemas.openxmlformats.org/drawingml/2006/main" noGrp="1"/>
          </p:cNvSpPr>
          <p:nvPr/>
        </p:nvSpPr>
        <p:spPr>
          <a:xfrm xmlns:a="http://schemas.openxmlformats.org/drawingml/2006/main">
            <a:off x="658368" y="1234440"/>
            <a:ext cx="10881360" cy="400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000">
                <a:solidFill>
                  <a:srgbClr val="243447"/>
                </a:solidFill>
                <a:latin typeface="Inter"/>
                <a:ea typeface="Inter"/>
                <a:cs typeface="Inter"/>
              </a:rPr>
              <a:t>median B = 0.989   ·   12 / 16 targets with B ≥ 0.97   ·   12 / 16 with a continuous stable core</a:t>
            </a:r>
            <a:endParaRPr sz="2000"/>
          </a:p>
          <a:p xmlns:a="http://schemas.openxmlformats.org/drawingml/2006/main">
            <a:pPr marL="0" indent="0" algn="ctr">
              <a:buNone/>
            </a:pPr>
            <a:endParaRPr sz="2000"/>
          </a:p>
        </p:txBody>
      </p:sp>
      <p:sp>
        <p:nvSpPr>
          <p:cNvPr id="401" name="Text 18">
            <a:extLst xmlns:a="http://schemas.openxmlformats.org/drawingml/2006/main">
              <a:ext uri="{FF2B5EF4-FFF2-40B4-BE49-F238E27FC236}">
                <a16:creationId xmlns:a16="http://schemas.microsoft.com/office/drawing/2014/main" id="{B0DF0565-F46C-4351-8D4F-22A8F8B8EDA4}"/>
              </a:ext>
            </a:extLst>
          </p:cNvPr>
          <p:cNvSpPr>
            <a:spLocks xmlns:a="http://schemas.openxmlformats.org/drawingml/2006/main" noGrp="1"/>
          </p:cNvSpPr>
          <p:nvPr/>
        </p:nvSpPr>
        <p:spPr>
          <a:xfrm xmlns:a="http://schemas.openxmlformats.org/drawingml/2006/main">
            <a:off x="658368" y="1850000"/>
            <a:ext cx="5350000" cy="300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2D74B8"/>
                </a:solidFill>
                <a:latin typeface="Inter"/>
                <a:ea typeface="Inter"/>
                <a:cs typeface="Inter"/>
              </a:rPr>
              <a:t>Exact and stable</a:t>
            </a:r>
            <a:endParaRPr sz="1600"/>
          </a:p>
        </p:txBody>
      </p:sp>
      <p:sp>
        <p:nvSpPr>
          <p:cNvPr id="402" name="Text 18">
            <a:extLst xmlns:a="http://schemas.openxmlformats.org/drawingml/2006/main">
              <a:ext uri="{FF2B5EF4-FFF2-40B4-BE49-F238E27FC236}">
                <a16:creationId xmlns:a16="http://schemas.microsoft.com/office/drawing/2014/main" id="{99E1504E-353B-4DB7-B283-1966C5A98079}"/>
              </a:ext>
            </a:extLst>
          </p:cNvPr>
          <p:cNvSpPr>
            <a:spLocks xmlns:a="http://schemas.openxmlformats.org/drawingml/2006/main" noGrp="1"/>
          </p:cNvSpPr>
          <p:nvPr/>
        </p:nvSpPr>
        <p:spPr>
          <a:xfrm xmlns:a="http://schemas.openxmlformats.org/drawingml/2006/main">
            <a:off x="6180000" y="1850000"/>
            <a:ext cx="5350000" cy="300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2D74B8"/>
                </a:solidFill>
                <a:latin typeface="Inter"/>
                <a:ea typeface="Inter"/>
                <a:cs typeface="Inter"/>
              </a:rPr>
              <a:t>All windows kept, low waveform consistency</a:t>
            </a:r>
            <a:endParaRPr sz="1600"/>
          </a:p>
        </p:txBody>
      </p:sp>
      <p:sp>
        <p:nvSpPr>
          <p:cNvPr id="403" name="Text 18">
            <a:extLst xmlns:a="http://schemas.openxmlformats.org/drawingml/2006/main">
              <a:ext uri="{FF2B5EF4-FFF2-40B4-BE49-F238E27FC236}">
                <a16:creationId xmlns:a16="http://schemas.microsoft.com/office/drawing/2014/main" id="{433C8EF4-6D8B-4037-A454-B6D3D233FCC8}"/>
              </a:ext>
            </a:extLst>
          </p:cNvPr>
          <p:cNvSpPr>
            <a:spLocks xmlns:a="http://schemas.openxmlformats.org/drawingml/2006/main" noGrp="1"/>
          </p:cNvSpPr>
          <p:nvPr/>
        </p:nvSpPr>
        <p:spPr>
          <a:xfrm xmlns:a="http://schemas.openxmlformats.org/drawingml/2006/main">
            <a:off x="658368" y="3830000"/>
            <a:ext cx="5350000" cy="300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2D74B8"/>
                </a:solidFill>
                <a:latin typeface="Inter"/>
                <a:ea typeface="Inter"/>
                <a:cs typeface="Inter"/>
              </a:rPr>
              <a:t>Short stable core</a:t>
            </a:r>
            <a:endParaRPr sz="1600"/>
          </a:p>
        </p:txBody>
      </p:sp>
      <p:sp>
        <p:nvSpPr>
          <p:cNvPr id="404" name="Text 18">
            <a:extLst xmlns:a="http://schemas.openxmlformats.org/drawingml/2006/main">
              <a:ext uri="{FF2B5EF4-FFF2-40B4-BE49-F238E27FC236}">
                <a16:creationId xmlns:a16="http://schemas.microsoft.com/office/drawing/2014/main" id="{94703022-7861-403B-BA67-3E101E790FD2}"/>
              </a:ext>
            </a:extLst>
          </p:cNvPr>
          <p:cNvSpPr>
            <a:spLocks xmlns:a="http://schemas.openxmlformats.org/drawingml/2006/main" noGrp="1"/>
          </p:cNvSpPr>
          <p:nvPr/>
        </p:nvSpPr>
        <p:spPr>
          <a:xfrm xmlns:a="http://schemas.openxmlformats.org/drawingml/2006/main">
            <a:off x="6180000" y="3830000"/>
            <a:ext cx="5350000" cy="300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2D74B8"/>
                </a:solidFill>
                <a:latin typeface="Inter"/>
                <a:ea typeface="Inter"/>
                <a:cs typeface="Inter"/>
              </a:rPr>
              <a:t>Instruction-level microperiod</a:t>
            </a:r>
            <a:endParaRPr sz="1600"/>
          </a:p>
        </p:txBody>
      </p:sp>
      <p:pic>
        <p:nvPicPr>
          <p:cNvPr id="417" name="fig2_aes_xmega"/>
          <p:cNvPicPr>
            <a:picLocks xmlns:a="http://schemas.openxmlformats.org/drawingml/2006/main" noChangeAspect="1"/>
          </p:cNvPicPr>
          <p:nvPr/>
        </p:nvPicPr>
        <p:blipFill>
          <a:blip xmlns:r="http://schemas.openxmlformats.org/officeDocument/2006/relationships" xmlns:a="http://schemas.openxmlformats.org/drawingml/2006/main" r:embed="R92aae099ff7f414e"/>
          <a:stretch xmlns:a="http://schemas.openxmlformats.org/drawingml/2006/main">
            <a:fillRect l="0" t="0" r="0" b="0"/>
          </a:stretch>
        </p:blipFill>
        <p:spPr>
          <a:xfrm xmlns:a="http://schemas.openxmlformats.org/drawingml/2006/main">
            <a:off x="658368" y="2180000"/>
            <a:ext cx="5350000" cy="1458000"/>
          </a:xfrm>
          <a:prstGeom xmlns:a="http://schemas.openxmlformats.org/drawingml/2006/main" prst="rect">
            <a:avLst/>
          </a:prstGeom>
        </p:spPr>
      </p:pic>
      <p:pic>
        <p:nvPicPr>
          <p:cNvPr id="418" name="fig2_gift_xmega"/>
          <p:cNvPicPr>
            <a:picLocks xmlns:a="http://schemas.openxmlformats.org/drawingml/2006/main" noChangeAspect="1"/>
          </p:cNvPicPr>
          <p:nvPr/>
        </p:nvPicPr>
        <p:blipFill>
          <a:blip xmlns:r="http://schemas.openxmlformats.org/officeDocument/2006/relationships" xmlns:a="http://schemas.openxmlformats.org/drawingml/2006/main" r:embed="Rc4cd122b65d34273"/>
          <a:stretch xmlns:a="http://schemas.openxmlformats.org/drawingml/2006/main">
            <a:fillRect l="0" t="0" r="0" b="0"/>
          </a:stretch>
        </p:blipFill>
        <p:spPr>
          <a:xfrm xmlns:a="http://schemas.openxmlformats.org/drawingml/2006/main">
            <a:off x="6180000" y="2180000"/>
            <a:ext cx="5350000" cy="1458000"/>
          </a:xfrm>
          <a:prstGeom xmlns:a="http://schemas.openxmlformats.org/drawingml/2006/main" prst="rect">
            <a:avLst/>
          </a:prstGeom>
        </p:spPr>
      </p:pic>
      <p:pic>
        <p:nvPicPr>
          <p:cNvPr id="419" name="fig2_rect_xmega"/>
          <p:cNvPicPr>
            <a:picLocks xmlns:a="http://schemas.openxmlformats.org/drawingml/2006/main" noChangeAspect="1"/>
          </p:cNvPicPr>
          <p:nvPr/>
        </p:nvPicPr>
        <p:blipFill>
          <a:blip xmlns:r="http://schemas.openxmlformats.org/officeDocument/2006/relationships" xmlns:a="http://schemas.openxmlformats.org/drawingml/2006/main" r:embed="R4b7d2615f6e54b4b"/>
          <a:stretch xmlns:a="http://schemas.openxmlformats.org/drawingml/2006/main">
            <a:fillRect l="0" t="0" r="0" b="0"/>
          </a:stretch>
        </p:blipFill>
        <p:spPr>
          <a:xfrm xmlns:a="http://schemas.openxmlformats.org/drawingml/2006/main">
            <a:off x="658368" y="4160000"/>
            <a:ext cx="5350000" cy="1458000"/>
          </a:xfrm>
          <a:prstGeom xmlns:a="http://schemas.openxmlformats.org/drawingml/2006/main" prst="rect">
            <a:avLst/>
          </a:prstGeom>
        </p:spPr>
      </p:pic>
      <p:pic>
        <p:nvPicPr>
          <p:cNvPr id="420" name="fig2_present_f303"/>
          <p:cNvPicPr>
            <a:picLocks xmlns:a="http://schemas.openxmlformats.org/drawingml/2006/main" noChangeAspect="1"/>
          </p:cNvPicPr>
          <p:nvPr/>
        </p:nvPicPr>
        <p:blipFill>
          <a:blip xmlns:r="http://schemas.openxmlformats.org/officeDocument/2006/relationships" xmlns:a="http://schemas.openxmlformats.org/drawingml/2006/main" r:embed="Rc2243bb328e847cd"/>
          <a:stretch xmlns:a="http://schemas.openxmlformats.org/drawingml/2006/main">
            <a:fillRect l="0" t="0" r="0" b="0"/>
          </a:stretch>
        </p:blipFill>
        <p:spPr>
          <a:xfrm xmlns:a="http://schemas.openxmlformats.org/drawingml/2006/main">
            <a:off x="6180000" y="4160000"/>
            <a:ext cx="5350000" cy="1458000"/>
          </a:xfrm>
          <a:prstGeom xmlns:a="http://schemas.openxmlformats.org/drawingml/2006/main" prst="rect">
            <a:avLst/>
          </a:prstGeom>
        </p:spPr>
      </p:pic>
      <p:sp>
        <p:nvSpPr>
          <p:cNvPr id="405" name="Text 37">
            <a:extLst xmlns:a="http://schemas.openxmlformats.org/drawingml/2006/main">
              <a:ext uri="{FF2B5EF4-FFF2-40B4-BE49-F238E27FC236}">
                <a16:creationId xmlns:a16="http://schemas.microsoft.com/office/drawing/2014/main" id="{7E9A835E-B4C3-4506-B2E2-87B453F1A5C0}"/>
              </a:ext>
            </a:extLst>
          </p:cNvPr>
          <p:cNvSpPr>
            <a:spLocks xmlns:a="http://schemas.openxmlformats.org/drawingml/2006/main" noGrp="1"/>
          </p:cNvSpPr>
          <p:nvPr/>
        </p:nvSpPr>
        <p:spPr>
          <a:xfrm xmlns:a="http://schemas.openxmlformats.org/drawingml/2006/main">
            <a:off x="658368" y="5800000"/>
            <a:ext cx="10881360" cy="400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000">
                <a:solidFill>
                  <a:srgbClr val="243447"/>
                </a:solidFill>
                <a:latin typeface="Inter"/>
                <a:ea typeface="Inter"/>
                <a:cs typeface="Inter"/>
              </a:rPr>
              <a:t>Consistency and core length fail independently, so both are reported for every target.</a:t>
            </a:r>
            <a:endParaRPr sz="2000"/>
          </a:p>
          <a:p xmlns:a="http://schemas.openxmlformats.org/drawingml/2006/main">
            <a:pPr marL="0" indent="0" algn="ctr">
              <a:buNone/>
            </a:pPr>
            <a:endParaRPr sz="2000"/>
          </a:p>
        </p:txBody>
      </p:sp>
    </p:spTree>
    <p:extLst>
      <p:ext uri="{BB962C8B-B14F-4D97-AF65-F5344CB8AC3E}">
        <p14:creationId xmlns:p14="http://schemas.microsoft.com/office/powerpoint/2010/main" val="8955332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C9B6EFD-D8A8-4A09-AE09-A9C913090AEA}"/>
              </a:ext>
            </a:extLst>
          </p:cNvPr>
          <p:cNvSpPr>
            <a:spLocks xmlns:a="http://schemas.openxmlformats.org/drawingml/2006/main" noGrp="1"/>
          </p:cNvSpPr>
          <p:nvPr/>
        </p:nvSpPr>
        <p:spPr>
          <a:xfrm xmlns:a="http://schemas.openxmlformats.org/drawingml/2006/main">
            <a:off x="658368" y="384048"/>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4997"/>
          </a:bodyPr>
          <a:lstStyle xmlns:a="http://schemas.openxmlformats.org/drawingml/2006/main"/>
          <a:p xmlns:a="http://schemas.openxmlformats.org/drawingml/2006/main">
            <a:pPr marL="0" indent="0">
              <a:buNone/>
            </a:pPr>
            <a:r>
              <a:rPr sz="3100" b="1">
                <a:solidFill>
                  <a:srgbClr val="17324D"/>
                </a:solidFill>
                <a:latin typeface="Inter Display"/>
                <a:ea typeface="Inter Display"/>
                <a:cs typeface="Inter Display"/>
              </a:rPr>
              <a:t>The dominant scale follows the compiled repetition hierarchy</a:t>
            </a:r>
            <a:endParaRPr sz="3100"/>
          </a:p>
        </p:txBody>
      </p:sp>
      <p:sp>
        <p:nvSpPr>
          <p:cNvPr id="6" name="Text 4">
            <a:extLst xmlns:a="http://schemas.openxmlformats.org/drawingml/2006/main">
              <a:ext uri="{FF2B5EF4-FFF2-40B4-BE49-F238E27FC236}">
                <a16:creationId xmlns:a16="http://schemas.microsoft.com/office/drawing/2014/main" id="{BB8C1243-4E26-4BEE-BE82-1D1F02650F0B}"/>
              </a:ext>
            </a:extLst>
          </p:cNvPr>
          <p:cNvSpPr>
            <a:spLocks xmlns:a="http://schemas.openxmlformats.org/drawingml/2006/main" noGrp="1"/>
          </p:cNvSpPr>
          <p:nvPr/>
        </p:nvSpPr>
        <p:spPr>
          <a:xfrm xmlns:a="http://schemas.openxmlformats.org/drawingml/2006/main">
            <a:off x="11109960" y="6556248"/>
            <a:ext cx="4114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487"/>
                </a:solidFill>
                <a:latin typeface="Inter"/>
                <a:ea typeface="Inter"/>
                <a:cs typeface="Inter"/>
              </a:rPr>
              <a:t>10</a:t>
            </a:r>
            <a:endParaRPr sz="1000"/>
          </a:p>
        </p:txBody>
      </p:sp>
      <p:sp>
        <p:nvSpPr>
          <p:cNvPr id="800" name="Text 11">
            <a:extLst xmlns:a="http://schemas.openxmlformats.org/drawingml/2006/main">
              <a:ext uri="{FF2B5EF4-FFF2-40B4-BE49-F238E27FC236}">
                <a16:creationId xmlns:a16="http://schemas.microsoft.com/office/drawing/2014/main" id="{D33E8967-E7A1-4596-8B2F-E5DC7C4DDF1D}"/>
              </a:ext>
            </a:extLst>
          </p:cNvPr>
          <p:cNvSpPr>
            <a:spLocks xmlns:a="http://schemas.openxmlformats.org/drawingml/2006/main" noGrp="1"/>
          </p:cNvSpPr>
          <p:nvPr/>
        </p:nvSpPr>
        <p:spPr>
          <a:xfrm xmlns:a="http://schemas.openxmlformats.org/drawingml/2006/main">
            <a:off x="658368" y="1500000"/>
            <a:ext cx="3400000" cy="340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800" b="1">
                <a:solidFill>
                  <a:srgbClr val="E6A03A"/>
                </a:solidFill>
                <a:latin typeface="Inter"/>
                <a:ea typeface="Inter"/>
                <a:cs typeface="Inter"/>
              </a:rPr>
              <a:t>Direct body   (5)</a:t>
            </a:r>
            <a:endParaRPr sz="1800"/>
          </a:p>
        </p:txBody>
      </p:sp>
      <p:sp>
        <p:nvSpPr>
          <p:cNvPr id="801" name="Text 8">
            <a:extLst xmlns:a="http://schemas.openxmlformats.org/drawingml/2006/main">
              <a:ext uri="{FF2B5EF4-FFF2-40B4-BE49-F238E27FC236}">
                <a16:creationId xmlns:a16="http://schemas.microsoft.com/office/drawing/2014/main" id="{B3585EBC-75D8-4DE2-B2A3-45878A4ADD1A}"/>
              </a:ext>
            </a:extLst>
          </p:cNvPr>
          <p:cNvSpPr>
            <a:spLocks xmlns:a="http://schemas.openxmlformats.org/drawingml/2006/main" noGrp="1"/>
          </p:cNvSpPr>
          <p:nvPr/>
        </p:nvSpPr>
        <p:spPr>
          <a:xfrm xmlns:a="http://schemas.openxmlformats.org/drawingml/2006/main">
            <a:off x="4250000" y="1520000"/>
            <a:ext cx="7280000" cy="340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a:solidFill>
                  <a:srgbClr val="243447"/>
                </a:solidFill>
                <a:latin typeface="Inter"/>
                <a:ea typeface="Inter"/>
                <a:cs typeface="Inter"/>
              </a:rPr>
              <a:t>RECTANGLE/F303 · AES/XMEGA · PRESENT/XMEGA · SIMON/XMEGA · SPECK/XMEGA</a:t>
            </a:r>
            <a:endParaRPr sz="1500"/>
          </a:p>
          <a:p xmlns:a="http://schemas.openxmlformats.org/drawingml/2006/main">
            <a:pPr marL="0" indent="0" algn="l">
              <a:buNone/>
            </a:pPr>
            <a:endParaRPr sz="1500"/>
          </a:p>
        </p:txBody>
      </p:sp>
      <p:sp>
        <p:nvSpPr>
          <p:cNvPr id="802" name="rule0">
            <a:extLst xmlns:a="http://schemas.openxmlformats.org/drawingml/2006/main">
              <a:ext uri="{FF2B5EF4-FFF2-40B4-BE49-F238E27FC236}">
                <a16:creationId xmlns:a16="http://schemas.microsoft.com/office/drawing/2014/main" id="{1113631D-078F-403C-848F-B038A06CC22B}"/>
              </a:ext>
            </a:extLst>
          </p:cNvPr>
          <p:cNvSpPr>
            <a:spLocks xmlns:a="http://schemas.openxmlformats.org/drawingml/2006/main" noGrp="1"/>
          </p:cNvSpPr>
          <p:nvPr/>
        </p:nvSpPr>
        <p:spPr>
          <a:xfrm xmlns:a="http://schemas.openxmlformats.org/drawingml/2006/main">
            <a:off x="658368" y="2060000"/>
            <a:ext cx="10881360" cy="0"/>
          </a:xfrm>
          <a:prstGeom xmlns:a="http://schemas.openxmlformats.org/drawingml/2006/main" prst="line">
            <a:avLst/>
          </a:prstGeom>
          <a:ln xmlns:a="http://schemas.openxmlformats.org/drawingml/2006/main" w="9525">
            <a:solidFill>
              <a:srgbClr val="D7E0E8"/>
            </a:solidFill>
          </a:ln>
        </p:spPr>
        <p:txBody>
          <a:bodyPr xmlns:a="http://schemas.openxmlformats.org/drawingml/2006/main"/>
          <a:lstStyle xmlns:a="http://schemas.openxmlformats.org/drawingml/2006/main"/>
          <a:p xmlns:a="http://schemas.openxmlformats.org/drawingml/2006/main">
            <a:endParaRPr/>
          </a:p>
        </p:txBody>
      </p:sp>
      <p:sp>
        <p:nvSpPr>
          <p:cNvPr id="803" name="Text 11">
            <a:extLst xmlns:a="http://schemas.openxmlformats.org/drawingml/2006/main">
              <a:ext uri="{FF2B5EF4-FFF2-40B4-BE49-F238E27FC236}">
                <a16:creationId xmlns:a16="http://schemas.microsoft.com/office/drawing/2014/main" id="{1C980544-6C84-40E2-9EC9-92923048CCFD}"/>
              </a:ext>
            </a:extLst>
          </p:cNvPr>
          <p:cNvSpPr>
            <a:spLocks xmlns:a="http://schemas.openxmlformats.org/drawingml/2006/main" noGrp="1"/>
          </p:cNvSpPr>
          <p:nvPr/>
        </p:nvSpPr>
        <p:spPr>
          <a:xfrm xmlns:a="http://schemas.openxmlformats.org/drawingml/2006/main">
            <a:off x="658368" y="2330000"/>
            <a:ext cx="3400000" cy="340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800" b="1">
                <a:solidFill>
                  <a:srgbClr val="DE7A45"/>
                </a:solidFill>
                <a:latin typeface="Inter"/>
                <a:ea typeface="Inter"/>
                <a:cs typeface="Inter"/>
              </a:rPr>
              <a:t>Boundary-inclusive body   (2)</a:t>
            </a:r>
            <a:endParaRPr sz="1800"/>
          </a:p>
        </p:txBody>
      </p:sp>
      <p:sp>
        <p:nvSpPr>
          <p:cNvPr id="804" name="Text 8">
            <a:extLst xmlns:a="http://schemas.openxmlformats.org/drawingml/2006/main">
              <a:ext uri="{FF2B5EF4-FFF2-40B4-BE49-F238E27FC236}">
                <a16:creationId xmlns:a16="http://schemas.microsoft.com/office/drawing/2014/main" id="{F31D2AD8-3584-45F9-BF94-6E201F345324}"/>
              </a:ext>
            </a:extLst>
          </p:cNvPr>
          <p:cNvSpPr>
            <a:spLocks xmlns:a="http://schemas.openxmlformats.org/drawingml/2006/main" noGrp="1"/>
          </p:cNvSpPr>
          <p:nvPr/>
        </p:nvSpPr>
        <p:spPr>
          <a:xfrm xmlns:a="http://schemas.openxmlformats.org/drawingml/2006/main">
            <a:off x="4250000" y="2350000"/>
            <a:ext cx="7280000" cy="340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a:solidFill>
                  <a:srgbClr val="243447"/>
                </a:solidFill>
                <a:latin typeface="Inter"/>
                <a:ea typeface="Inter"/>
                <a:cs typeface="Inter"/>
              </a:rPr>
              <a:t>AES/F303 · HIGHT/XMEGA</a:t>
            </a:r>
            <a:endParaRPr sz="1500"/>
          </a:p>
          <a:p xmlns:a="http://schemas.openxmlformats.org/drawingml/2006/main">
            <a:pPr marL="0" indent="0" algn="l">
              <a:buNone/>
            </a:pPr>
            <a:endParaRPr sz="1500"/>
          </a:p>
        </p:txBody>
      </p:sp>
      <p:sp>
        <p:nvSpPr>
          <p:cNvPr id="805" name="rule1">
            <a:extLst xmlns:a="http://schemas.openxmlformats.org/drawingml/2006/main">
              <a:ext uri="{FF2B5EF4-FFF2-40B4-BE49-F238E27FC236}">
                <a16:creationId xmlns:a16="http://schemas.microsoft.com/office/drawing/2014/main" id="{F944EB45-4C72-4457-B135-01251AB8C9D3}"/>
              </a:ext>
            </a:extLst>
          </p:cNvPr>
          <p:cNvSpPr>
            <a:spLocks xmlns:a="http://schemas.openxmlformats.org/drawingml/2006/main" noGrp="1"/>
          </p:cNvSpPr>
          <p:nvPr/>
        </p:nvSpPr>
        <p:spPr>
          <a:xfrm xmlns:a="http://schemas.openxmlformats.org/drawingml/2006/main">
            <a:off x="658368" y="2890000"/>
            <a:ext cx="10881360" cy="0"/>
          </a:xfrm>
          <a:prstGeom xmlns:a="http://schemas.openxmlformats.org/drawingml/2006/main" prst="line">
            <a:avLst/>
          </a:prstGeom>
          <a:ln xmlns:a="http://schemas.openxmlformats.org/drawingml/2006/main" w="9525">
            <a:solidFill>
              <a:srgbClr val="D7E0E8"/>
            </a:solidFill>
          </a:ln>
        </p:spPr>
        <p:txBody>
          <a:bodyPr xmlns:a="http://schemas.openxmlformats.org/drawingml/2006/main"/>
          <a:lstStyle xmlns:a="http://schemas.openxmlformats.org/drawingml/2006/main"/>
          <a:p xmlns:a="http://schemas.openxmlformats.org/drawingml/2006/main">
            <a:endParaRPr/>
          </a:p>
        </p:txBody>
      </p:sp>
      <p:sp>
        <p:nvSpPr>
          <p:cNvPr id="806" name="Text 11">
            <a:extLst xmlns:a="http://schemas.openxmlformats.org/drawingml/2006/main">
              <a:ext uri="{FF2B5EF4-FFF2-40B4-BE49-F238E27FC236}">
                <a16:creationId xmlns:a16="http://schemas.microsoft.com/office/drawing/2014/main" id="{05ADE531-CA0B-4015-AC4F-443B6816BC6E}"/>
              </a:ext>
            </a:extLst>
          </p:cNvPr>
          <p:cNvSpPr>
            <a:spLocks xmlns:a="http://schemas.openxmlformats.org/drawingml/2006/main" noGrp="1"/>
          </p:cNvSpPr>
          <p:nvPr/>
        </p:nvSpPr>
        <p:spPr>
          <a:xfrm xmlns:a="http://schemas.openxmlformats.org/drawingml/2006/main">
            <a:off x="658368" y="3160000"/>
            <a:ext cx="3400000" cy="340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800" b="1">
                <a:solidFill>
                  <a:srgbClr val="2D74B8"/>
                </a:solidFill>
                <a:latin typeface="Inter"/>
                <a:ea typeface="Inter"/>
                <a:cs typeface="Inter"/>
              </a:rPr>
              <a:t>Grouped body   (3)</a:t>
            </a:r>
            <a:endParaRPr sz="1800"/>
          </a:p>
        </p:txBody>
      </p:sp>
      <p:sp>
        <p:nvSpPr>
          <p:cNvPr id="807" name="Text 8">
            <a:extLst xmlns:a="http://schemas.openxmlformats.org/drawingml/2006/main">
              <a:ext uri="{FF2B5EF4-FFF2-40B4-BE49-F238E27FC236}">
                <a16:creationId xmlns:a16="http://schemas.microsoft.com/office/drawing/2014/main" id="{4A6B3D2D-574A-4E31-A2F4-5B6B4644D096}"/>
              </a:ext>
            </a:extLst>
          </p:cNvPr>
          <p:cNvSpPr>
            <a:spLocks xmlns:a="http://schemas.openxmlformats.org/drawingml/2006/main" noGrp="1"/>
          </p:cNvSpPr>
          <p:nvPr/>
        </p:nvSpPr>
        <p:spPr>
          <a:xfrm xmlns:a="http://schemas.openxmlformats.org/drawingml/2006/main">
            <a:off x="4250000" y="3180000"/>
            <a:ext cx="7280000" cy="340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a:solidFill>
                  <a:srgbClr val="243447"/>
                </a:solidFill>
                <a:latin typeface="Inter"/>
                <a:ea typeface="Inter"/>
                <a:cs typeface="Inter"/>
              </a:rPr>
              <a:t>HIGHT/F303 · SIMON/F303 · SM4/F303</a:t>
            </a:r>
            <a:endParaRPr sz="1500"/>
          </a:p>
          <a:p xmlns:a="http://schemas.openxmlformats.org/drawingml/2006/main">
            <a:pPr marL="0" indent="0" algn="l">
              <a:buNone/>
            </a:pPr>
            <a:endParaRPr sz="1500"/>
          </a:p>
        </p:txBody>
      </p:sp>
      <p:sp>
        <p:nvSpPr>
          <p:cNvPr id="808" name="rule2">
            <a:extLst xmlns:a="http://schemas.openxmlformats.org/drawingml/2006/main">
              <a:ext uri="{FF2B5EF4-FFF2-40B4-BE49-F238E27FC236}">
                <a16:creationId xmlns:a16="http://schemas.microsoft.com/office/drawing/2014/main" id="{5A8B9205-E66C-4664-9D19-F5B12D3D3E5A}"/>
              </a:ext>
            </a:extLst>
          </p:cNvPr>
          <p:cNvSpPr>
            <a:spLocks xmlns:a="http://schemas.openxmlformats.org/drawingml/2006/main" noGrp="1"/>
          </p:cNvSpPr>
          <p:nvPr/>
        </p:nvSpPr>
        <p:spPr>
          <a:xfrm xmlns:a="http://schemas.openxmlformats.org/drawingml/2006/main">
            <a:off x="658368" y="3720000"/>
            <a:ext cx="10881360" cy="0"/>
          </a:xfrm>
          <a:prstGeom xmlns:a="http://schemas.openxmlformats.org/drawingml/2006/main" prst="line">
            <a:avLst/>
          </a:prstGeom>
          <a:ln xmlns:a="http://schemas.openxmlformats.org/drawingml/2006/main" w="9525">
            <a:solidFill>
              <a:srgbClr val="D7E0E8"/>
            </a:solidFill>
          </a:ln>
        </p:spPr>
        <p:txBody>
          <a:bodyPr xmlns:a="http://schemas.openxmlformats.org/drawingml/2006/main"/>
          <a:lstStyle xmlns:a="http://schemas.openxmlformats.org/drawingml/2006/main"/>
          <a:p xmlns:a="http://schemas.openxmlformats.org/drawingml/2006/main">
            <a:endParaRPr/>
          </a:p>
        </p:txBody>
      </p:sp>
      <p:sp>
        <p:nvSpPr>
          <p:cNvPr id="809" name="Text 11">
            <a:extLst xmlns:a="http://schemas.openxmlformats.org/drawingml/2006/main">
              <a:ext uri="{FF2B5EF4-FFF2-40B4-BE49-F238E27FC236}">
                <a16:creationId xmlns:a16="http://schemas.microsoft.com/office/drawing/2014/main" id="{2C626B01-ED47-4EC1-BD1F-611B51C5E566}"/>
              </a:ext>
            </a:extLst>
          </p:cNvPr>
          <p:cNvSpPr>
            <a:spLocks xmlns:a="http://schemas.openxmlformats.org/drawingml/2006/main" noGrp="1"/>
          </p:cNvSpPr>
          <p:nvPr/>
        </p:nvSpPr>
        <p:spPr>
          <a:xfrm xmlns:a="http://schemas.openxmlformats.org/drawingml/2006/main">
            <a:off x="658368" y="3990000"/>
            <a:ext cx="3400000" cy="340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800" b="1">
                <a:solidFill>
                  <a:srgbClr val="2C9A8B"/>
                </a:solidFill>
                <a:latin typeface="Inter"/>
                <a:ea typeface="Inter"/>
                <a:cs typeface="Inter"/>
              </a:rPr>
              <a:t>Finer internal motif   (3)</a:t>
            </a:r>
            <a:endParaRPr sz="1800"/>
          </a:p>
        </p:txBody>
      </p:sp>
      <p:sp>
        <p:nvSpPr>
          <p:cNvPr id="810" name="Text 8">
            <a:extLst xmlns:a="http://schemas.openxmlformats.org/drawingml/2006/main">
              <a:ext uri="{FF2B5EF4-FFF2-40B4-BE49-F238E27FC236}">
                <a16:creationId xmlns:a16="http://schemas.microsoft.com/office/drawing/2014/main" id="{C458D8AC-0A9A-4768-99EF-F2416A02322C}"/>
              </a:ext>
            </a:extLst>
          </p:cNvPr>
          <p:cNvSpPr>
            <a:spLocks xmlns:a="http://schemas.openxmlformats.org/drawingml/2006/main" noGrp="1"/>
          </p:cNvSpPr>
          <p:nvPr/>
        </p:nvSpPr>
        <p:spPr>
          <a:xfrm xmlns:a="http://schemas.openxmlformats.org/drawingml/2006/main">
            <a:off x="4250000" y="4010000"/>
            <a:ext cx="7280000" cy="340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a:solidFill>
                  <a:srgbClr val="243447"/>
                </a:solidFill>
                <a:latin typeface="Inter"/>
                <a:ea typeface="Inter"/>
                <a:cs typeface="Inter"/>
              </a:rPr>
              <a:t>PRESENT/F303 · RECTANGLE/XMEGA · SM4/XMEGA</a:t>
            </a:r>
            <a:endParaRPr sz="1500"/>
          </a:p>
          <a:p xmlns:a="http://schemas.openxmlformats.org/drawingml/2006/main">
            <a:pPr marL="0" indent="0" algn="l">
              <a:buNone/>
            </a:pPr>
            <a:endParaRPr sz="1500"/>
          </a:p>
        </p:txBody>
      </p:sp>
      <p:sp>
        <p:nvSpPr>
          <p:cNvPr id="811" name="rule3">
            <a:extLst xmlns:a="http://schemas.openxmlformats.org/drawingml/2006/main">
              <a:ext uri="{FF2B5EF4-FFF2-40B4-BE49-F238E27FC236}">
                <a16:creationId xmlns:a16="http://schemas.microsoft.com/office/drawing/2014/main" id="{AD510AC1-978F-4490-A673-4C86F32652AC}"/>
              </a:ext>
            </a:extLst>
          </p:cNvPr>
          <p:cNvSpPr>
            <a:spLocks xmlns:a="http://schemas.openxmlformats.org/drawingml/2006/main" noGrp="1"/>
          </p:cNvSpPr>
          <p:nvPr/>
        </p:nvSpPr>
        <p:spPr>
          <a:xfrm xmlns:a="http://schemas.openxmlformats.org/drawingml/2006/main">
            <a:off x="658368" y="4550000"/>
            <a:ext cx="10881360" cy="0"/>
          </a:xfrm>
          <a:prstGeom xmlns:a="http://schemas.openxmlformats.org/drawingml/2006/main" prst="line">
            <a:avLst/>
          </a:prstGeom>
          <a:ln xmlns:a="http://schemas.openxmlformats.org/drawingml/2006/main" w="9525">
            <a:solidFill>
              <a:srgbClr val="D7E0E8"/>
            </a:solidFill>
          </a:ln>
        </p:spPr>
        <p:txBody>
          <a:bodyPr xmlns:a="http://schemas.openxmlformats.org/drawingml/2006/main"/>
          <a:lstStyle xmlns:a="http://schemas.openxmlformats.org/drawingml/2006/main"/>
          <a:p xmlns:a="http://schemas.openxmlformats.org/drawingml/2006/main">
            <a:endParaRPr/>
          </a:p>
        </p:txBody>
      </p:sp>
      <p:sp>
        <p:nvSpPr>
          <p:cNvPr id="812" name="Text 11">
            <a:extLst xmlns:a="http://schemas.openxmlformats.org/drawingml/2006/main">
              <a:ext uri="{FF2B5EF4-FFF2-40B4-BE49-F238E27FC236}">
                <a16:creationId xmlns:a16="http://schemas.microsoft.com/office/drawing/2014/main" id="{00F26D68-ABD4-485E-B438-717FDD37196B}"/>
              </a:ext>
            </a:extLst>
          </p:cNvPr>
          <p:cNvSpPr>
            <a:spLocks xmlns:a="http://schemas.openxmlformats.org/drawingml/2006/main" noGrp="1"/>
          </p:cNvSpPr>
          <p:nvPr/>
        </p:nvSpPr>
        <p:spPr>
          <a:xfrm xmlns:a="http://schemas.openxmlformats.org/drawingml/2006/main">
            <a:off x="658368" y="4820000"/>
            <a:ext cx="3400000" cy="340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800" b="1">
                <a:solidFill>
                  <a:srgbClr val="657487"/>
                </a:solidFill>
                <a:latin typeface="Inter"/>
                <a:ea typeface="Inter"/>
                <a:cs typeface="Inter"/>
              </a:rPr>
              <a:t>Structurally ambiguous   (3)</a:t>
            </a:r>
            <a:endParaRPr sz="1800"/>
          </a:p>
        </p:txBody>
      </p:sp>
      <p:sp>
        <p:nvSpPr>
          <p:cNvPr id="813" name="Text 8">
            <a:extLst xmlns:a="http://schemas.openxmlformats.org/drawingml/2006/main">
              <a:ext uri="{FF2B5EF4-FFF2-40B4-BE49-F238E27FC236}">
                <a16:creationId xmlns:a16="http://schemas.microsoft.com/office/drawing/2014/main" id="{84D4EC45-D217-4EE6-BEF1-D9E131961985}"/>
              </a:ext>
            </a:extLst>
          </p:cNvPr>
          <p:cNvSpPr>
            <a:spLocks xmlns:a="http://schemas.openxmlformats.org/drawingml/2006/main" noGrp="1"/>
          </p:cNvSpPr>
          <p:nvPr/>
        </p:nvSpPr>
        <p:spPr>
          <a:xfrm xmlns:a="http://schemas.openxmlformats.org/drawingml/2006/main">
            <a:off x="4250000" y="4840000"/>
            <a:ext cx="7280000" cy="340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a:solidFill>
                  <a:srgbClr val="243447"/>
                </a:solidFill>
                <a:latin typeface="Inter"/>
                <a:ea typeface="Inter"/>
                <a:cs typeface="Inter"/>
              </a:rPr>
              <a:t>GIFT/F303 · SPECK/F303 · GIFT/XMEGA</a:t>
            </a:r>
            <a:endParaRPr sz="1500"/>
          </a:p>
          <a:p xmlns:a="http://schemas.openxmlformats.org/drawingml/2006/main">
            <a:pPr marL="0" indent="0" algn="l">
              <a:buNone/>
            </a:pPr>
            <a:endParaRPr sz="1500"/>
          </a:p>
        </p:txBody>
      </p:sp>
      <p:sp>
        <p:nvSpPr>
          <p:cNvPr id="814" name="rule4">
            <a:extLst xmlns:a="http://schemas.openxmlformats.org/drawingml/2006/main">
              <a:ext uri="{FF2B5EF4-FFF2-40B4-BE49-F238E27FC236}">
                <a16:creationId xmlns:a16="http://schemas.microsoft.com/office/drawing/2014/main" id="{4D7B0A68-9FEE-4E42-AAD8-57038792590B}"/>
              </a:ext>
            </a:extLst>
          </p:cNvPr>
          <p:cNvSpPr>
            <a:spLocks xmlns:a="http://schemas.openxmlformats.org/drawingml/2006/main" noGrp="1"/>
          </p:cNvSpPr>
          <p:nvPr/>
        </p:nvSpPr>
        <p:spPr>
          <a:xfrm xmlns:a="http://schemas.openxmlformats.org/drawingml/2006/main">
            <a:off x="658368" y="5380000"/>
            <a:ext cx="10881360" cy="0"/>
          </a:xfrm>
          <a:prstGeom xmlns:a="http://schemas.openxmlformats.org/drawingml/2006/main" prst="line">
            <a:avLst/>
          </a:prstGeom>
          <a:ln xmlns:a="http://schemas.openxmlformats.org/drawingml/2006/main" w="9525">
            <a:solidFill>
              <a:srgbClr val="D7E0E8"/>
            </a:solidFill>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073AC032-7F03-4587-BA0C-1B7B9B60D0A1}"/>
              </a:ext>
            </a:extLst>
          </p:cNvPr>
          <p:cNvSpPr>
            <a:spLocks xmlns:a="http://schemas.openxmlformats.org/drawingml/2006/main" noGrp="1"/>
          </p:cNvSpPr>
          <p:nvPr/>
        </p:nvSpPr>
        <p:spPr>
          <a:xfrm xmlns:a="http://schemas.openxmlformats.org/drawingml/2006/main">
            <a:off x="658368" y="5800000"/>
            <a:ext cx="10881360" cy="500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150" b="1">
                <a:solidFill>
                  <a:srgbClr val="2D74B8"/>
                </a:solidFill>
                <a:latin typeface="Inter Display"/>
                <a:ea typeface="Inter Display"/>
                <a:cs typeface="Inter Display"/>
              </a:rPr>
              <a:t>The selected scale reflects the implementation layer that dominates the measured trace—not only a round count.</a:t>
            </a:r>
            <a:endParaRPr sz="2150"/>
          </a:p>
        </p:txBody>
      </p:sp>
    </p:spTree>
    <p:extLst>
      <p:ext uri="{BB962C8B-B14F-4D97-AF65-F5344CB8AC3E}">
        <p14:creationId xmlns:p14="http://schemas.microsoft.com/office/powerpoint/2010/main" val="18164016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4AA1C78-5689-4C43-B17B-CD817F86F266}"/>
              </a:ext>
            </a:extLst>
          </p:cNvPr>
          <p:cNvSpPr>
            <a:spLocks xmlns:a="http://schemas.openxmlformats.org/drawingml/2006/main" noGrp="1"/>
          </p:cNvSpPr>
          <p:nvPr/>
        </p:nvSpPr>
        <p:spPr>
          <a:xfrm xmlns:a="http://schemas.openxmlformats.org/drawingml/2006/main">
            <a:off x="658368" y="384048"/>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100" b="1">
                <a:solidFill>
                  <a:srgbClr val="17324D"/>
                </a:solidFill>
                <a:latin typeface="Inter Display"/>
                <a:ea typeface="Inter Display"/>
                <a:cs typeface="Inter Display"/>
              </a:rPr>
              <a:t>AES/XMEGA: nine bodies align at the selected scale</a:t>
            </a:r>
            <a:endParaRPr sz="3100"/>
          </a:p>
        </p:txBody>
      </p:sp>
      <p:sp>
        <p:nvSpPr>
          <p:cNvPr id="6" name="Text 4">
            <a:extLst xmlns:a="http://schemas.openxmlformats.org/drawingml/2006/main">
              <a:ext uri="{FF2B5EF4-FFF2-40B4-BE49-F238E27FC236}">
                <a16:creationId xmlns:a16="http://schemas.microsoft.com/office/drawing/2014/main" id="{0A1FB9E8-7382-4AAD-959D-5F263337D3AC}"/>
              </a:ext>
            </a:extLst>
          </p:cNvPr>
          <p:cNvSpPr>
            <a:spLocks xmlns:a="http://schemas.openxmlformats.org/drawingml/2006/main" noGrp="1"/>
          </p:cNvSpPr>
          <p:nvPr/>
        </p:nvSpPr>
        <p:spPr>
          <a:xfrm xmlns:a="http://schemas.openxmlformats.org/drawingml/2006/main">
            <a:off x="4023360" y="6574536"/>
            <a:ext cx="63093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657487"/>
                </a:solidFill>
                <a:latin typeface="Inter"/>
                <a:ea typeface="Inter"/>
                <a:cs typeface="Inter"/>
              </a:rPr>
              <a:t>Paper Fig. 3</a:t>
            </a:r>
            <a:endParaRPr sz="900"/>
          </a:p>
        </p:txBody>
      </p:sp>
      <p:sp>
        <p:nvSpPr>
          <p:cNvPr id="7" name="Text 5">
            <a:extLst xmlns:a="http://schemas.openxmlformats.org/drawingml/2006/main">
              <a:ext uri="{FF2B5EF4-FFF2-40B4-BE49-F238E27FC236}">
                <a16:creationId xmlns:a16="http://schemas.microsoft.com/office/drawing/2014/main" id="{803A3C98-8A18-45AB-B277-DB45304F7577}"/>
              </a:ext>
            </a:extLst>
          </p:cNvPr>
          <p:cNvSpPr>
            <a:spLocks xmlns:a="http://schemas.openxmlformats.org/drawingml/2006/main" noGrp="1"/>
          </p:cNvSpPr>
          <p:nvPr/>
        </p:nvSpPr>
        <p:spPr>
          <a:xfrm xmlns:a="http://schemas.openxmlformats.org/drawingml/2006/main">
            <a:off x="11109960" y="6556248"/>
            <a:ext cx="4114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487"/>
                </a:solidFill>
                <a:latin typeface="Inter"/>
                <a:ea typeface="Inter"/>
                <a:cs typeface="Inter"/>
              </a:rPr>
              <a:t>11</a:t>
            </a:r>
            <a:endParaRPr sz="1000"/>
          </a:p>
        </p:txBody>
      </p:sp>
      <p:pic>
        <p:nvPicPr>
          <p:cNvPr id="9105" name="Image 0"/>
          <p:cNvPicPr>
            <a:picLocks xmlns:a="http://schemas.openxmlformats.org/drawingml/2006/main" noChangeAspect="1"/>
          </p:cNvPicPr>
          <p:nvPr/>
        </p:nvPicPr>
        <p:blipFill>
          <a:blip xmlns:r="http://schemas.openxmlformats.org/officeDocument/2006/relationships" xmlns:a="http://schemas.openxmlformats.org/drawingml/2006/main" r:embed="Rc53bf23082a8406d"/>
          <a:stretch xmlns:a="http://schemas.openxmlformats.org/drawingml/2006/main">
            <a:fillRect l="0" t="0" r="0" b="0"/>
          </a:stretch>
        </p:blipFill>
        <p:spPr>
          <a:xfrm xmlns:a="http://schemas.openxmlformats.org/drawingml/2006/main">
            <a:off x="539496" y="1280160"/>
            <a:ext cx="11113392" cy="3565546"/>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712AEE4A-B157-479B-B76C-E861D06ACB4F}"/>
              </a:ext>
            </a:extLst>
          </p:cNvPr>
          <p:cNvSpPr>
            <a:spLocks xmlns:a="http://schemas.openxmlformats.org/drawingml/2006/main" noGrp="1"/>
          </p:cNvSpPr>
          <p:nvPr/>
        </p:nvSpPr>
        <p:spPr>
          <a:xfrm xmlns:a="http://schemas.openxmlformats.org/drawingml/2006/main">
            <a:off x="539496" y="5120640"/>
            <a:ext cx="1784500" cy="384048"/>
          </a:xfrm>
          <a:prstGeom xmlns:a="http://schemas.openxmlformats.org/drawingml/2006/main" prst="roundRect">
            <a:avLst/>
          </a:prstGeom>
          <a:solidFill xmlns:a="http://schemas.openxmlformats.org/drawingml/2006/main">
            <a:srgbClr val="EAF3FA"/>
          </a:solidFill>
          <a:ln xmlns:a="http://schemas.openxmlformats.org/drawingml/2006/main" w="10160">
            <a:solidFill>
              <a:srgbClr val="EAF3FA"/>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2000" b="1">
                <a:solidFill>
                  <a:srgbClr val="2D74B8"/>
                </a:solidFill>
                <a:latin typeface="Inter"/>
                <a:ea typeface="Inter"/>
                <a:cs typeface="Inter"/>
              </a:rPr>
              <a:t>P* = 4,400</a:t>
            </a:r>
            <a:endParaRPr sz="2000"/>
          </a:p>
        </p:txBody>
      </p:sp>
      <p:sp>
        <p:nvSpPr>
          <p:cNvPr id="11" name="Text 8">
            <a:extLst xmlns:a="http://schemas.openxmlformats.org/drawingml/2006/main">
              <a:ext uri="{FF2B5EF4-FFF2-40B4-BE49-F238E27FC236}">
                <a16:creationId xmlns:a16="http://schemas.microsoft.com/office/drawing/2014/main" id="{040F5B08-215C-41AB-8DD1-09FDC9B9E1D6}"/>
              </a:ext>
            </a:extLst>
          </p:cNvPr>
          <p:cNvSpPr>
            <a:spLocks xmlns:a="http://schemas.openxmlformats.org/drawingml/2006/main" noGrp="1"/>
          </p:cNvSpPr>
          <p:nvPr/>
        </p:nvSpPr>
        <p:spPr>
          <a:xfrm xmlns:a="http://schemas.openxmlformats.org/drawingml/2006/main">
            <a:off x="4183756" y="5120640"/>
            <a:ext cx="2220250" cy="384048"/>
          </a:xfrm>
          <a:prstGeom xmlns:a="http://schemas.openxmlformats.org/drawingml/2006/main" prst="roundRect">
            <a:avLst/>
          </a:prstGeom>
          <a:solidFill xmlns:a="http://schemas.openxmlformats.org/drawingml/2006/main">
            <a:srgbClr val="EAF7F4"/>
          </a:solidFill>
          <a:ln xmlns:a="http://schemas.openxmlformats.org/drawingml/2006/main" w="10160">
            <a:solidFill>
              <a:srgbClr val="EAF7F4"/>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2000" b="1">
                <a:solidFill>
                  <a:srgbClr val="2C9A8B"/>
                </a:solidFill>
                <a:latin typeface="Inter"/>
                <a:ea typeface="Inter"/>
                <a:cs typeface="Inter"/>
              </a:rPr>
              <a:t>9 / 9 windows</a:t>
            </a:r>
            <a:endParaRPr sz="2000"/>
          </a:p>
        </p:txBody>
      </p:sp>
      <p:sp>
        <p:nvSpPr>
          <p:cNvPr id="12" name="Text 9">
            <a:extLst xmlns:a="http://schemas.openxmlformats.org/drawingml/2006/main">
              <a:ext uri="{FF2B5EF4-FFF2-40B4-BE49-F238E27FC236}">
                <a16:creationId xmlns:a16="http://schemas.microsoft.com/office/drawing/2014/main" id="{4B96355C-2500-4265-A799-F91089D4193E}"/>
              </a:ext>
            </a:extLst>
          </p:cNvPr>
          <p:cNvSpPr>
            <a:spLocks xmlns:a="http://schemas.openxmlformats.org/drawingml/2006/main" noGrp="1"/>
          </p:cNvSpPr>
          <p:nvPr/>
        </p:nvSpPr>
        <p:spPr>
          <a:xfrm xmlns:a="http://schemas.openxmlformats.org/drawingml/2006/main">
            <a:off x="6586886" y="5120640"/>
            <a:ext cx="1639250" cy="384048"/>
          </a:xfrm>
          <a:prstGeom xmlns:a="http://schemas.openxmlformats.org/drawingml/2006/main" prst="roundRect">
            <a:avLst/>
          </a:prstGeom>
          <a:solidFill xmlns:a="http://schemas.openxmlformats.org/drawingml/2006/main">
            <a:srgbClr val="FFF3DF"/>
          </a:solidFill>
          <a:ln xmlns:a="http://schemas.openxmlformats.org/drawingml/2006/main" w="10160">
            <a:solidFill>
              <a:srgbClr val="FFF3DF"/>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2000" b="1">
                <a:solidFill>
                  <a:srgbClr val="E6A03A"/>
                </a:solidFill>
                <a:latin typeface="Inter"/>
                <a:ea typeface="Inter"/>
                <a:cs typeface="Inter"/>
              </a:rPr>
              <a:t>B = 0.994</a:t>
            </a:r>
            <a:endParaRPr sz="2000"/>
          </a:p>
        </p:txBody>
      </p:sp>
      <p:sp>
        <p:nvSpPr>
          <p:cNvPr id="9100" name="Text 9">
            <a:extLst xmlns:a="http://schemas.openxmlformats.org/drawingml/2006/main">
              <a:ext uri="{FF2B5EF4-FFF2-40B4-BE49-F238E27FC236}">
                <a16:creationId xmlns:a16="http://schemas.microsoft.com/office/drawing/2014/main" id="{A26AAC3D-DE87-4BD4-81F1-0FB1F507A10E}"/>
              </a:ext>
            </a:extLst>
          </p:cNvPr>
          <p:cNvSpPr>
            <a:spLocks xmlns:a="http://schemas.openxmlformats.org/drawingml/2006/main" noGrp="1"/>
          </p:cNvSpPr>
          <p:nvPr/>
        </p:nvSpPr>
        <p:spPr>
          <a:xfrm xmlns:a="http://schemas.openxmlformats.org/drawingml/2006/main">
            <a:off x="2506876" y="5120640"/>
            <a:ext cx="1494000" cy="384048"/>
          </a:xfrm>
          <a:prstGeom xmlns:a="http://schemas.openxmlformats.org/drawingml/2006/main" prst="roundRect">
            <a:avLst/>
          </a:prstGeom>
          <a:solidFill xmlns:a="http://schemas.openxmlformats.org/drawingml/2006/main">
            <a:srgbClr val="FFF3DF"/>
          </a:solidFill>
          <a:ln xmlns:a="http://schemas.openxmlformats.org/drawingml/2006/main" w="10160">
            <a:solidFill>
              <a:srgbClr val="FFF3DF"/>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2000" b="1">
                <a:solidFill>
                  <a:srgbClr val="E6A03A"/>
                </a:solidFill>
                <a:latin typeface="Inter"/>
                <a:ea typeface="Inter"/>
                <a:cs typeface="Inter"/>
              </a:rPr>
              <a:t>o* = 572</a:t>
            </a:r>
            <a:endParaRPr sz="2000"/>
          </a:p>
        </p:txBody>
      </p:sp>
      <p:sp>
        <p:nvSpPr>
          <p:cNvPr id="13" name="Text 10">
            <a:extLst xmlns:a="http://schemas.openxmlformats.org/drawingml/2006/main">
              <a:ext uri="{FF2B5EF4-FFF2-40B4-BE49-F238E27FC236}">
                <a16:creationId xmlns:a16="http://schemas.microsoft.com/office/drawing/2014/main" id="{55ECE68C-F5EE-479E-BC01-150E13E2A1CB}"/>
              </a:ext>
            </a:extLst>
          </p:cNvPr>
          <p:cNvSpPr>
            <a:spLocks xmlns:a="http://schemas.openxmlformats.org/drawingml/2006/main" noGrp="1"/>
          </p:cNvSpPr>
          <p:nvPr/>
        </p:nvSpPr>
        <p:spPr>
          <a:xfrm xmlns:a="http://schemas.openxmlformats.org/drawingml/2006/main">
            <a:off x="8409016" y="5120640"/>
            <a:ext cx="3237000" cy="384048"/>
          </a:xfrm>
          <a:prstGeom xmlns:a="http://schemas.openxmlformats.org/drawingml/2006/main" prst="roundRect">
            <a:avLst/>
          </a:prstGeom>
          <a:solidFill xmlns:a="http://schemas.openxmlformats.org/drawingml/2006/main">
            <a:srgbClr val="FFF0E8"/>
          </a:solidFill>
          <a:ln xmlns:a="http://schemas.openxmlformats.org/drawingml/2006/main" w="10160">
            <a:solidFill>
              <a:srgbClr val="FFF0E8"/>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2000" b="1">
                <a:solidFill>
                  <a:srgbClr val="E77C3C"/>
                </a:solidFill>
                <a:latin typeface="Inter"/>
                <a:ea typeface="Inter"/>
                <a:cs typeface="Inter"/>
              </a:rPr>
              <a:t>median corr. = 0.996</a:t>
            </a:r>
            <a:endParaRPr sz="2000"/>
          </a:p>
        </p:txBody>
      </p:sp>
      <p:sp>
        <p:nvSpPr>
          <p:cNvPr id="14" name="Text 11">
            <a:extLst xmlns:a="http://schemas.openxmlformats.org/drawingml/2006/main">
              <a:ext uri="{FF2B5EF4-FFF2-40B4-BE49-F238E27FC236}">
                <a16:creationId xmlns:a16="http://schemas.microsoft.com/office/drawing/2014/main" id="{DB7D0378-4DB1-4539-9ED4-2D2C4170034F}"/>
              </a:ext>
            </a:extLst>
          </p:cNvPr>
          <p:cNvSpPr>
            <a:spLocks xmlns:a="http://schemas.openxmlformats.org/drawingml/2006/main" noGrp="1"/>
          </p:cNvSpPr>
          <p:nvPr/>
        </p:nvSpPr>
        <p:spPr>
          <a:xfrm xmlns:a="http://schemas.openxmlformats.org/drawingml/2006/main">
            <a:off x="1325880" y="5961888"/>
            <a:ext cx="9509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50" b="1">
                <a:solidFill>
                  <a:srgbClr val="2D74B8"/>
                </a:solidFill>
                <a:latin typeface="Inter Display"/>
                <a:ea typeface="Inter Display"/>
                <a:cs typeface="Inter Display"/>
              </a:rPr>
              <a:t>The same relative waveform is preserved across all aligned repetition windows.</a:t>
            </a:r>
            <a:endParaRPr sz="2250"/>
          </a:p>
        </p:txBody>
      </p:sp>
    </p:spTree>
    <p:extLst>
      <p:ext uri="{BB962C8B-B14F-4D97-AF65-F5344CB8AC3E}">
        <p14:creationId xmlns:p14="http://schemas.microsoft.com/office/powerpoint/2010/main" val="72808998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DF34E7F-EC2F-47D7-8B82-E34CB40AADA6}"/>
              </a:ext>
            </a:extLst>
          </p:cNvPr>
          <p:cNvSpPr>
            <a:spLocks xmlns:a="http://schemas.openxmlformats.org/drawingml/2006/main" noGrp="1"/>
          </p:cNvSpPr>
          <p:nvPr/>
        </p:nvSpPr>
        <p:spPr>
          <a:xfrm xmlns:a="http://schemas.openxmlformats.org/drawingml/2006/main">
            <a:off x="658368" y="384048"/>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100" b="1">
                <a:solidFill>
                  <a:srgbClr val="17324D"/>
                </a:solidFill>
                <a:latin typeface="Inter Display"/>
                <a:ea typeface="Inter Display"/>
                <a:cs typeface="Inter Display"/>
              </a:rPr>
              <a:t>AES/XMEGA: segmenting the representative repetition</a:t>
            </a:r>
            <a:endParaRPr sz="3100"/>
          </a:p>
        </p:txBody>
      </p:sp>
      <p:sp>
        <p:nvSpPr>
          <p:cNvPr id="6" name="Text 4">
            <a:extLst xmlns:a="http://schemas.openxmlformats.org/drawingml/2006/main">
              <a:ext uri="{FF2B5EF4-FFF2-40B4-BE49-F238E27FC236}">
                <a16:creationId xmlns:a16="http://schemas.microsoft.com/office/drawing/2014/main" id="{E67D6A74-033E-4FF6-832C-260A519FA772}"/>
              </a:ext>
            </a:extLst>
          </p:cNvPr>
          <p:cNvSpPr>
            <a:spLocks xmlns:a="http://schemas.openxmlformats.org/drawingml/2006/main" noGrp="1"/>
          </p:cNvSpPr>
          <p:nvPr/>
        </p:nvSpPr>
        <p:spPr>
          <a:xfrm xmlns:a="http://schemas.openxmlformats.org/drawingml/2006/main">
            <a:off x="4023360" y="6574536"/>
            <a:ext cx="63093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657487"/>
                </a:solidFill>
                <a:latin typeface="Inter"/>
                <a:ea typeface="Inter"/>
                <a:cs typeface="Inter"/>
              </a:rPr>
              <a:t>AES/XMEGA case study · Paper Fig. 4</a:t>
            </a:r>
            <a:endParaRPr sz="900"/>
          </a:p>
        </p:txBody>
      </p:sp>
      <p:sp>
        <p:nvSpPr>
          <p:cNvPr id="7" name="Text 5">
            <a:extLst xmlns:a="http://schemas.openxmlformats.org/drawingml/2006/main">
              <a:ext uri="{FF2B5EF4-FFF2-40B4-BE49-F238E27FC236}">
                <a16:creationId xmlns:a16="http://schemas.microsoft.com/office/drawing/2014/main" id="{A706A5E1-5316-4EDE-A122-1871886592CB}"/>
              </a:ext>
            </a:extLst>
          </p:cNvPr>
          <p:cNvSpPr>
            <a:spLocks xmlns:a="http://schemas.openxmlformats.org/drawingml/2006/main" noGrp="1"/>
          </p:cNvSpPr>
          <p:nvPr/>
        </p:nvSpPr>
        <p:spPr>
          <a:xfrm xmlns:a="http://schemas.openxmlformats.org/drawingml/2006/main">
            <a:off x="11109960" y="6556248"/>
            <a:ext cx="4114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487"/>
                </a:solidFill>
                <a:latin typeface="Inter"/>
                <a:ea typeface="Inter"/>
                <a:cs typeface="Inter"/>
              </a:rPr>
              <a:t>12</a:t>
            </a:r>
            <a:endParaRPr sz="1000"/>
          </a:p>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45b62a333c154344"/>
          <a:stretch xmlns:a="http://schemas.openxmlformats.org/drawingml/2006/main">
            <a:fillRect l="0" t="0" r="0" b="0"/>
          </a:stretch>
        </p:blipFill>
        <p:spPr>
          <a:xfrm xmlns:a="http://schemas.openxmlformats.org/drawingml/2006/main">
            <a:off x="658368" y="2318200"/>
            <a:ext cx="10881360" cy="2563600"/>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B8E7F6F4-60C9-4AB0-BF8C-C14F8F59EFA5}"/>
              </a:ext>
            </a:extLst>
          </p:cNvPr>
          <p:cNvSpPr>
            <a:spLocks xmlns:a="http://schemas.openxmlformats.org/drawingml/2006/main" noGrp="1"/>
          </p:cNvSpPr>
          <p:nvPr/>
        </p:nvSpPr>
        <p:spPr>
          <a:xfrm xmlns:a="http://schemas.openxmlformats.org/drawingml/2006/main">
            <a:off x="1234440" y="6108192"/>
            <a:ext cx="97109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150" b="1">
                <a:solidFill>
                  <a:srgbClr val="2D74B8"/>
                </a:solidFill>
                <a:latin typeface="Inter Display"/>
                <a:ea typeface="Inter Display"/>
                <a:cs typeface="Inter Display"/>
              </a:rPr>
              <a:t>Otsu thresholding on the activity profile yields the same relative segments used by every aligned window.</a:t>
            </a:r>
            <a:endParaRPr sz="2150"/>
          </a:p>
        </p:txBody>
      </p:sp>
    </p:spTree>
    <p:extLst>
      <p:ext uri="{BB962C8B-B14F-4D97-AF65-F5344CB8AC3E}">
        <p14:creationId xmlns:p14="http://schemas.microsoft.com/office/powerpoint/2010/main" val="20501863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BB6D196-E92E-458B-9A24-DF32A04DDBE8}"/>
              </a:ext>
            </a:extLst>
          </p:cNvPr>
          <p:cNvSpPr>
            <a:spLocks xmlns:a="http://schemas.openxmlformats.org/drawingml/2006/main" noGrp="1"/>
          </p:cNvSpPr>
          <p:nvPr/>
        </p:nvSpPr>
        <p:spPr>
          <a:xfrm xmlns:a="http://schemas.openxmlformats.org/drawingml/2006/main">
            <a:off x="658368" y="384048"/>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100" b="1">
                <a:solidFill>
                  <a:srgbClr val="17324D"/>
                </a:solidFill>
                <a:latin typeface="Inter Display"/>
                <a:ea typeface="Inter Display"/>
                <a:cs typeface="Inter Display"/>
              </a:rPr>
              <a:t>49.1% coverage retains the dominant S-box hotspot</a:t>
            </a:r>
            <a:endParaRPr sz="3100"/>
          </a:p>
        </p:txBody>
      </p:sp>
      <p:sp>
        <p:nvSpPr>
          <p:cNvPr id="6" name="Text 4">
            <a:extLst xmlns:a="http://schemas.openxmlformats.org/drawingml/2006/main">
              <a:ext uri="{FF2B5EF4-FFF2-40B4-BE49-F238E27FC236}">
                <a16:creationId xmlns:a16="http://schemas.microsoft.com/office/drawing/2014/main" id="{5FBCE576-328F-4E1F-85A3-CBEC6249846C}"/>
              </a:ext>
            </a:extLst>
          </p:cNvPr>
          <p:cNvSpPr>
            <a:spLocks xmlns:a="http://schemas.openxmlformats.org/drawingml/2006/main" noGrp="1"/>
          </p:cNvSpPr>
          <p:nvPr/>
        </p:nvSpPr>
        <p:spPr>
          <a:xfrm xmlns:a="http://schemas.openxmlformats.org/drawingml/2006/main">
            <a:off x="4023360" y="6574536"/>
            <a:ext cx="63093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657487"/>
                </a:solidFill>
                <a:latin typeface="Inter"/>
                <a:ea typeface="Inter"/>
                <a:cs typeface="Inter"/>
              </a:rPr>
              <a:t>AES/XMEGA case study · Paper Fig. 5</a:t>
            </a:r>
            <a:endParaRPr sz="900"/>
          </a:p>
        </p:txBody>
      </p:sp>
      <p:sp>
        <p:nvSpPr>
          <p:cNvPr id="7" name="Text 5">
            <a:extLst xmlns:a="http://schemas.openxmlformats.org/drawingml/2006/main">
              <a:ext uri="{FF2B5EF4-FFF2-40B4-BE49-F238E27FC236}">
                <a16:creationId xmlns:a16="http://schemas.microsoft.com/office/drawing/2014/main" id="{8039F2F3-E181-4729-BF0D-6B9DE1E3D877}"/>
              </a:ext>
            </a:extLst>
          </p:cNvPr>
          <p:cNvSpPr>
            <a:spLocks xmlns:a="http://schemas.openxmlformats.org/drawingml/2006/main" noGrp="1"/>
          </p:cNvSpPr>
          <p:nvPr/>
        </p:nvSpPr>
        <p:spPr>
          <a:xfrm xmlns:a="http://schemas.openxmlformats.org/drawingml/2006/main">
            <a:off x="11109960" y="6556248"/>
            <a:ext cx="4114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487"/>
                </a:solidFill>
                <a:latin typeface="Inter"/>
                <a:ea typeface="Inter"/>
                <a:cs typeface="Inter"/>
              </a:rPr>
              <a:t>13</a:t>
            </a:r>
            <a:endParaRPr sz="1000"/>
          </a:p>
        </p:txBody>
      </p:sp>
      <p:pic>
        <p:nvPicPr>
          <p:cNvPr id="27" name="Image 1"/>
          <p:cNvPicPr>
            <a:picLocks xmlns:a="http://schemas.openxmlformats.org/drawingml/2006/main" noChangeAspect="1"/>
          </p:cNvPicPr>
          <p:nvPr/>
        </p:nvPicPr>
        <p:blipFill>
          <a:blip xmlns:r="http://schemas.openxmlformats.org/officeDocument/2006/relationships" xmlns:a="http://schemas.openxmlformats.org/drawingml/2006/main" r:embed="R4ba56db3e39f4679"/>
          <a:stretch xmlns:a="http://schemas.openxmlformats.org/drawingml/2006/main">
            <a:fillRect l="0" t="0" r="0" b="0"/>
          </a:stretch>
        </p:blipFill>
        <p:spPr>
          <a:xfrm xmlns:a="http://schemas.openxmlformats.org/drawingml/2006/main">
            <a:off x="658368" y="1600200"/>
            <a:ext cx="10881360" cy="244370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589DE37D-D7F2-4CD8-8211-E8E414FACE5A}"/>
              </a:ext>
            </a:extLst>
          </p:cNvPr>
          <p:cNvSpPr>
            <a:spLocks xmlns:a="http://schemas.openxmlformats.org/drawingml/2006/main" noGrp="1"/>
          </p:cNvSpPr>
          <p:nvPr/>
        </p:nvSpPr>
        <p:spPr>
          <a:xfrm xmlns:a="http://schemas.openxmlformats.org/drawingml/2006/main">
            <a:off x="1051560" y="4514920"/>
            <a:ext cx="4160520" cy="987552"/>
          </a:xfrm>
          <a:prstGeom xmlns:a="http://schemas.openxmlformats.org/drawingml/2006/main" prst="roundRect">
            <a:avLst>
              <a:gd name="adj" fmla="val 5556"/>
            </a:avLst>
          </a:prstGeom>
          <a:solidFill xmlns:a="http://schemas.openxmlformats.org/drawingml/2006/main">
            <a:srgbClr val="FFF3DF"/>
          </a:solidFill>
          <a:ln xmlns:a="http://schemas.openxmlformats.org/drawingml/2006/main" w="13970">
            <a:solidFill>
              <a:srgbClr val="D7E0E8"/>
            </a:solidFill>
            <a:prstDash val="solid"/>
          </a:ln>
        </p:spPr>
      </p:sp>
      <p:sp>
        <p:nvSpPr>
          <p:cNvPr id="16" name="Text 12">
            <a:extLst xmlns:a="http://schemas.openxmlformats.org/drawingml/2006/main">
              <a:ext uri="{FF2B5EF4-FFF2-40B4-BE49-F238E27FC236}">
                <a16:creationId xmlns:a16="http://schemas.microsoft.com/office/drawing/2014/main" id="{F254F5DE-063C-4A58-8A18-4B0DE77C8B96}"/>
              </a:ext>
            </a:extLst>
          </p:cNvPr>
          <p:cNvSpPr>
            <a:spLocks xmlns:a="http://schemas.openxmlformats.org/drawingml/2006/main" noGrp="1"/>
          </p:cNvSpPr>
          <p:nvPr/>
        </p:nvSpPr>
        <p:spPr>
          <a:xfrm xmlns:a="http://schemas.openxmlformats.org/drawingml/2006/main">
            <a:off x="1325880" y="4716088"/>
            <a:ext cx="1234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100" b="1">
                <a:solidFill>
                  <a:srgbClr val="E6A03A"/>
                </a:solidFill>
                <a:latin typeface="Inter Display"/>
                <a:ea typeface="Inter Display"/>
                <a:cs typeface="Inter Display"/>
              </a:rPr>
              <a:t>49.1%</a:t>
            </a:r>
            <a:endParaRPr sz="3100"/>
          </a:p>
        </p:txBody>
      </p:sp>
      <p:sp>
        <p:nvSpPr>
          <p:cNvPr id="17" name="Text 13">
            <a:extLst xmlns:a="http://schemas.openxmlformats.org/drawingml/2006/main">
              <a:ext uri="{FF2B5EF4-FFF2-40B4-BE49-F238E27FC236}">
                <a16:creationId xmlns:a16="http://schemas.microsoft.com/office/drawing/2014/main" id="{5A06BD79-1460-47BB-9EEA-B1C41A53BC22}"/>
              </a:ext>
            </a:extLst>
          </p:cNvPr>
          <p:cNvSpPr>
            <a:spLocks xmlns:a="http://schemas.openxmlformats.org/drawingml/2006/main" noGrp="1"/>
          </p:cNvSpPr>
          <p:nvPr/>
        </p:nvSpPr>
        <p:spPr>
          <a:xfrm xmlns:a="http://schemas.openxmlformats.org/drawingml/2006/main">
            <a:off x="2606040" y="4661224"/>
            <a:ext cx="224028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000">
                <a:solidFill>
                  <a:srgbClr val="243447"/>
                </a:solidFill>
                <a:latin typeface="Inter"/>
                <a:ea typeface="Inter"/>
                <a:cs typeface="Inter"/>
              </a:rPr>
              <a:t>of the representative</a:t>
            </a:r>
            <a:endParaRPr sz="2000"/>
          </a:p>
          <a:p xmlns:a="http://schemas.openxmlformats.org/drawingml/2006/main">
            <a:pPr marL="0" indent="0">
              <a:buNone/>
            </a:pPr>
            <a:r>
              <a:rPr sz="2000">
                <a:solidFill>
                  <a:srgbClr val="243447"/>
                </a:solidFill>
                <a:latin typeface="Inter"/>
                <a:ea typeface="Inter"/>
                <a:cs typeface="Inter"/>
              </a:rPr>
              <a:t>repetition selected</a:t>
            </a:r>
            <a:endParaRPr sz="2000"/>
          </a:p>
        </p:txBody>
      </p:sp>
      <p:sp>
        <p:nvSpPr>
          <p:cNvPr id="18" name="Shape 14">
            <a:extLst xmlns:a="http://schemas.openxmlformats.org/drawingml/2006/main">
              <a:ext uri="{FF2B5EF4-FFF2-40B4-BE49-F238E27FC236}">
                <a16:creationId xmlns:a16="http://schemas.microsoft.com/office/drawing/2014/main" id="{B77CA255-52EE-43EC-B0BD-E4AD1569C4F8}"/>
              </a:ext>
            </a:extLst>
          </p:cNvPr>
          <p:cNvSpPr>
            <a:spLocks xmlns:a="http://schemas.openxmlformats.org/drawingml/2006/main" noGrp="1"/>
          </p:cNvSpPr>
          <p:nvPr/>
        </p:nvSpPr>
        <p:spPr>
          <a:xfrm xmlns:a="http://schemas.openxmlformats.org/drawingml/2006/main">
            <a:off x="5550408" y="4514920"/>
            <a:ext cx="5532120" cy="987552"/>
          </a:xfrm>
          <a:prstGeom xmlns:a="http://schemas.openxmlformats.org/drawingml/2006/main" prst="roundRect">
            <a:avLst>
              <a:gd name="adj" fmla="val 5556"/>
            </a:avLst>
          </a:prstGeom>
          <a:solidFill xmlns:a="http://schemas.openxmlformats.org/drawingml/2006/main">
            <a:srgbClr val="EAF7F4"/>
          </a:solidFill>
          <a:ln xmlns:a="http://schemas.openxmlformats.org/drawingml/2006/main" w="13970">
            <a:solidFill>
              <a:srgbClr val="D7E0E8"/>
            </a:solidFill>
            <a:prstDash val="solid"/>
          </a:ln>
        </p:spPr>
      </p:sp>
      <p:sp>
        <p:nvSpPr>
          <p:cNvPr id="20" name="Text 16">
            <a:extLst xmlns:a="http://schemas.openxmlformats.org/drawingml/2006/main">
              <a:ext uri="{FF2B5EF4-FFF2-40B4-BE49-F238E27FC236}">
                <a16:creationId xmlns:a16="http://schemas.microsoft.com/office/drawing/2014/main" id="{EF92FD83-E94C-4466-9A2B-B968CACA994A}"/>
              </a:ext>
            </a:extLst>
          </p:cNvPr>
          <p:cNvSpPr>
            <a:spLocks xmlns:a="http://schemas.openxmlformats.org/drawingml/2006/main" noGrp="1"/>
          </p:cNvSpPr>
          <p:nvPr/>
        </p:nvSpPr>
        <p:spPr>
          <a:xfrm xmlns:a="http://schemas.openxmlformats.org/drawingml/2006/main">
            <a:off x="5833872" y="4716088"/>
            <a:ext cx="1325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100" b="1">
                <a:solidFill>
                  <a:srgbClr val="2C9A8B"/>
                </a:solidFill>
                <a:latin typeface="Inter Display"/>
                <a:ea typeface="Inter Display"/>
                <a:cs typeface="Inter Display"/>
              </a:rPr>
              <a:t>100%</a:t>
            </a:r>
            <a:endParaRPr sz="3100"/>
          </a:p>
        </p:txBody>
      </p:sp>
      <p:sp>
        <p:nvSpPr>
          <p:cNvPr id="21" name="Text 17">
            <a:extLst xmlns:a="http://schemas.openxmlformats.org/drawingml/2006/main">
              <a:ext uri="{FF2B5EF4-FFF2-40B4-BE49-F238E27FC236}">
                <a16:creationId xmlns:a16="http://schemas.microsoft.com/office/drawing/2014/main" id="{695E8BF6-5DDE-4566-A449-FC34F37CCDB3}"/>
              </a:ext>
            </a:extLst>
          </p:cNvPr>
          <p:cNvSpPr>
            <a:spLocks xmlns:a="http://schemas.openxmlformats.org/drawingml/2006/main" noGrp="1"/>
          </p:cNvSpPr>
          <p:nvPr/>
        </p:nvSpPr>
        <p:spPr>
          <a:xfrm xmlns:a="http://schemas.openxmlformats.org/drawingml/2006/main">
            <a:off x="7269480" y="4661224"/>
            <a:ext cx="34290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000">
                <a:solidFill>
                  <a:srgbClr val="243447"/>
                </a:solidFill>
                <a:latin typeface="Inter"/>
                <a:ea typeface="Inter"/>
                <a:cs typeface="Inter"/>
              </a:rPr>
              <a:t>of the top 0.5% and top 0.1%</a:t>
            </a:r>
            <a:endParaRPr sz="2000"/>
          </a:p>
          <a:p xmlns:a="http://schemas.openxmlformats.org/drawingml/2006/main">
            <a:pPr marL="0" indent="0">
              <a:buNone/>
            </a:pPr>
            <a:r>
              <a:rPr sz="2000">
                <a:solidFill>
                  <a:srgbClr val="243447"/>
                </a:solidFill>
                <a:latin typeface="Inter"/>
                <a:ea typeface="Inter"/>
                <a:cs typeface="Inter"/>
              </a:rPr>
              <a:t>S-box CPA samples</a:t>
            </a:r>
            <a:endParaRPr sz="2000"/>
          </a:p>
        </p:txBody>
      </p:sp>
      <p:sp>
        <p:nvSpPr>
          <p:cNvPr id="22" name="Text 18">
            <a:extLst xmlns:a="http://schemas.openxmlformats.org/drawingml/2006/main">
              <a:ext uri="{FF2B5EF4-FFF2-40B4-BE49-F238E27FC236}">
                <a16:creationId xmlns:a16="http://schemas.microsoft.com/office/drawing/2014/main" id="{077CC497-F9A3-4D99-97A6-FA56116DC2B1}"/>
              </a:ext>
            </a:extLst>
          </p:cNvPr>
          <p:cNvSpPr>
            <a:spLocks xmlns:a="http://schemas.openxmlformats.org/drawingml/2006/main" noGrp="1"/>
          </p:cNvSpPr>
          <p:nvPr/>
        </p:nvSpPr>
        <p:spPr>
          <a:xfrm xmlns:a="http://schemas.openxmlformats.org/drawingml/2006/main">
            <a:off x="1234440" y="6108192"/>
            <a:ext cx="97109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150" b="1">
                <a:solidFill>
                  <a:srgbClr val="2D74B8"/>
                </a:solidFill>
                <a:latin typeface="Inter Display"/>
                <a:ea typeface="Inter Display"/>
                <a:cs typeface="Inter Display"/>
              </a:rPr>
              <a:t>The trace-only map narrows the first search region while preserving the dominant S-box hotspot.</a:t>
            </a:r>
            <a:endParaRPr sz="2150"/>
          </a:p>
        </p:txBody>
      </p:sp>
    </p:spTree>
    <p:extLst>
      <p:ext uri="{BB962C8B-B14F-4D97-AF65-F5344CB8AC3E}">
        <p14:creationId xmlns:p14="http://schemas.microsoft.com/office/powerpoint/2010/main" val="103244463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5265075-EC8D-4335-BF9B-0BC792B34EC9}"/>
              </a:ext>
            </a:extLst>
          </p:cNvPr>
          <p:cNvSpPr>
            <a:spLocks xmlns:a="http://schemas.openxmlformats.org/drawingml/2006/main" noGrp="1"/>
          </p:cNvSpPr>
          <p:nvPr/>
        </p:nvSpPr>
        <p:spPr>
          <a:xfrm xmlns:a="http://schemas.openxmlformats.org/drawingml/2006/main">
            <a:off x="658368" y="384048"/>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100" b="1">
                <a:solidFill>
                  <a:srgbClr val="17324D"/>
                </a:solidFill>
                <a:latin typeface="Inter Display"/>
                <a:ea typeface="Inter Display"/>
                <a:cs typeface="Inter Display"/>
              </a:rPr>
              <a:t>Trace-only segmentation finds candidate regions</a:t>
            </a:r>
            <a:endParaRPr sz="3100"/>
          </a:p>
        </p:txBody>
      </p:sp>
      <p:sp>
        <p:nvSpPr>
          <p:cNvPr id="6" name="Text 4">
            <a:extLst xmlns:a="http://schemas.openxmlformats.org/drawingml/2006/main">
              <a:ext uri="{FF2B5EF4-FFF2-40B4-BE49-F238E27FC236}">
                <a16:creationId xmlns:a16="http://schemas.microsoft.com/office/drawing/2014/main" id="{9F9148E4-0019-4626-B12B-58F64692B048}"/>
              </a:ext>
            </a:extLst>
          </p:cNvPr>
          <p:cNvSpPr>
            <a:spLocks xmlns:a="http://schemas.openxmlformats.org/drawingml/2006/main" noGrp="1"/>
          </p:cNvSpPr>
          <p:nvPr/>
        </p:nvSpPr>
        <p:spPr>
          <a:xfrm xmlns:a="http://schemas.openxmlformats.org/drawingml/2006/main">
            <a:off x="11109960" y="6556248"/>
            <a:ext cx="4114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487"/>
                </a:solidFill>
                <a:latin typeface="Inter"/>
                <a:ea typeface="Inter"/>
                <a:cs typeface="Inter"/>
              </a:rPr>
              <a:t>14</a:t>
            </a:r>
            <a:endParaRPr sz="1000"/>
          </a:p>
        </p:txBody>
      </p:sp>
      <p:sp>
        <p:nvSpPr>
          <p:cNvPr id="7" name="Text 5">
            <a:extLst xmlns:a="http://schemas.openxmlformats.org/drawingml/2006/main">
              <a:ext uri="{FF2B5EF4-FFF2-40B4-BE49-F238E27FC236}">
                <a16:creationId xmlns:a16="http://schemas.microsoft.com/office/drawing/2014/main" id="{8480E315-1917-4F77-A540-173A699034B8}"/>
              </a:ext>
            </a:extLst>
          </p:cNvPr>
          <p:cNvSpPr>
            <a:spLocks xmlns:a="http://schemas.openxmlformats.org/drawingml/2006/main" noGrp="1"/>
          </p:cNvSpPr>
          <p:nvPr/>
        </p:nvSpPr>
        <p:spPr>
          <a:xfrm xmlns:a="http://schemas.openxmlformats.org/drawingml/2006/main">
            <a:off x="777240" y="1572768"/>
            <a:ext cx="1965960" cy="132588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D7E0E8"/>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2050">
                <a:solidFill>
                  <a:srgbClr val="243447"/>
                </a:solidFill>
                <a:latin typeface="Inter"/>
                <a:ea typeface="Inter"/>
                <a:cs typeface="Inter"/>
              </a:rPr>
              <a:t>Unlabeled</a:t>
            </a:r>
            <a:endParaRPr sz="2050"/>
          </a:p>
          <a:p xmlns:a="http://schemas.openxmlformats.org/drawingml/2006/main">
            <a:pPr marL="0" indent="0" algn="ctr">
              <a:buNone/>
            </a:pPr>
            <a:r>
              <a:rPr sz="2050">
                <a:solidFill>
                  <a:srgbClr val="243447"/>
                </a:solidFill>
                <a:latin typeface="Inter"/>
                <a:ea typeface="Inter"/>
                <a:cs typeface="Inter"/>
              </a:rPr>
              <a:t>measurements</a:t>
            </a:r>
            <a:endParaRPr sz="2050"/>
          </a:p>
        </p:txBody>
      </p:sp>
      <p:sp>
        <p:nvSpPr>
          <p:cNvPr id="8" name="Shape 6">
            <a:extLst xmlns:a="http://schemas.openxmlformats.org/drawingml/2006/main">
              <a:ext uri="{FF2B5EF4-FFF2-40B4-BE49-F238E27FC236}">
                <a16:creationId xmlns:a16="http://schemas.microsoft.com/office/drawing/2014/main" id="{ED34B6F3-A53D-4E97-9CD8-6F5400F505A7}"/>
              </a:ext>
            </a:extLst>
          </p:cNvPr>
          <p:cNvSpPr>
            <a:spLocks xmlns:a="http://schemas.openxmlformats.org/drawingml/2006/main" noGrp="1"/>
          </p:cNvSpPr>
          <p:nvPr/>
        </p:nvSpPr>
        <p:spPr>
          <a:xfrm xmlns:a="http://schemas.openxmlformats.org/drawingml/2006/main">
            <a:off x="2834640" y="2231136"/>
            <a:ext cx="201168" cy="0"/>
          </a:xfrm>
          <a:prstGeom xmlns:a="http://schemas.openxmlformats.org/drawingml/2006/main" prst="line">
            <a:avLst/>
          </a:prstGeom>
          <a:noFill xmlns:a="http://schemas.openxmlformats.org/drawingml/2006/main"/>
          <a:ln xmlns:a="http://schemas.openxmlformats.org/drawingml/2006/main" w="20320">
            <a:solidFill>
              <a:srgbClr val="B6C1CC"/>
            </a:solidFill>
            <a:prstDash val="solid"/>
            <a:tailEnd type="triangle"/>
          </a:ln>
        </p:spPr>
      </p:sp>
      <p:sp>
        <p:nvSpPr>
          <p:cNvPr id="9" name="Text 7">
            <a:extLst xmlns:a="http://schemas.openxmlformats.org/drawingml/2006/main">
              <a:ext uri="{FF2B5EF4-FFF2-40B4-BE49-F238E27FC236}">
                <a16:creationId xmlns:a16="http://schemas.microsoft.com/office/drawing/2014/main" id="{CDA6AC4F-9A72-477D-B943-9DF169B2D15A}"/>
              </a:ext>
            </a:extLst>
          </p:cNvPr>
          <p:cNvSpPr>
            <a:spLocks xmlns:a="http://schemas.openxmlformats.org/drawingml/2006/main" noGrp="1"/>
          </p:cNvSpPr>
          <p:nvPr/>
        </p:nvSpPr>
        <p:spPr>
          <a:xfrm xmlns:a="http://schemas.openxmlformats.org/drawingml/2006/main">
            <a:off x="3063240" y="1572768"/>
            <a:ext cx="1965960" cy="1325880"/>
          </a:xfrm>
          <a:prstGeom xmlns:a="http://schemas.openxmlformats.org/drawingml/2006/main" prst="roundRect">
            <a:avLst/>
          </a:prstGeom>
          <a:solidFill xmlns:a="http://schemas.openxmlformats.org/drawingml/2006/main">
            <a:srgbClr val="EAF3FA"/>
          </a:solidFill>
          <a:ln xmlns:a="http://schemas.openxmlformats.org/drawingml/2006/main" w="15240">
            <a:solidFill>
              <a:srgbClr val="2D74B8"/>
            </a:solidFill>
          </a:ln>
        </p:spPr>
        <p:txBody>
          <a:bodyPr xmlns:a="http://schemas.openxmlformats.org/drawingml/2006/main" wrap="square" lIns="1016" tIns="1016" rIns="1016" bIns="1016" anchor="ctr">
            <a:normAutofit fontScale="100000"/>
          </a:bodyPr>
          <a:lstStyle xmlns:a="http://schemas.openxmlformats.org/drawingml/2006/main"/>
          <a:p xmlns:a="http://schemas.openxmlformats.org/drawingml/2006/main">
            <a:pPr marL="0" indent="0" algn="ctr">
              <a:buNone/>
            </a:pPr>
            <a:r>
              <a:rPr sz="2050" b="1">
                <a:solidFill>
                  <a:srgbClr val="243447"/>
                </a:solidFill>
                <a:latin typeface="Inter"/>
                <a:ea typeface="Inter"/>
                <a:cs typeface="Inter"/>
              </a:rPr>
              <a:t>Dominant repetition</a:t>
            </a:r>
            <a:endParaRPr sz="2050"/>
          </a:p>
          <a:p xmlns:a="http://schemas.openxmlformats.org/drawingml/2006/main">
            <a:pPr marL="0" indent="0" algn="ctr">
              <a:buNone/>
            </a:pPr>
            <a:r>
              <a:rPr sz="2050" b="1">
                <a:solidFill>
                  <a:srgbClr val="243447"/>
                </a:solidFill>
                <a:latin typeface="Inter"/>
                <a:ea typeface="Inter"/>
                <a:cs typeface="Inter"/>
              </a:rPr>
              <a:t>scale</a:t>
            </a:r>
            <a:endParaRPr sz="2050"/>
          </a:p>
        </p:txBody>
      </p:sp>
      <p:sp>
        <p:nvSpPr>
          <p:cNvPr id="10" name="Shape 8">
            <a:extLst xmlns:a="http://schemas.openxmlformats.org/drawingml/2006/main">
              <a:ext uri="{FF2B5EF4-FFF2-40B4-BE49-F238E27FC236}">
                <a16:creationId xmlns:a16="http://schemas.microsoft.com/office/drawing/2014/main" id="{292A553A-7072-4EE1-A046-86C1167D2F8E}"/>
              </a:ext>
            </a:extLst>
          </p:cNvPr>
          <p:cNvSpPr>
            <a:spLocks xmlns:a="http://schemas.openxmlformats.org/drawingml/2006/main" noGrp="1"/>
          </p:cNvSpPr>
          <p:nvPr/>
        </p:nvSpPr>
        <p:spPr>
          <a:xfrm xmlns:a="http://schemas.openxmlformats.org/drawingml/2006/main">
            <a:off x="5120640" y="2231136"/>
            <a:ext cx="201168" cy="0"/>
          </a:xfrm>
          <a:prstGeom xmlns:a="http://schemas.openxmlformats.org/drawingml/2006/main" prst="line">
            <a:avLst/>
          </a:prstGeom>
          <a:noFill xmlns:a="http://schemas.openxmlformats.org/drawingml/2006/main"/>
          <a:ln xmlns:a="http://schemas.openxmlformats.org/drawingml/2006/main" w="20320">
            <a:solidFill>
              <a:srgbClr val="B6C1CC"/>
            </a:solidFill>
            <a:prstDash val="solid"/>
            <a:tailEnd type="triangle"/>
          </a:ln>
        </p:spPr>
      </p:sp>
      <p:sp>
        <p:nvSpPr>
          <p:cNvPr id="11" name="Text 9">
            <a:extLst xmlns:a="http://schemas.openxmlformats.org/drawingml/2006/main">
              <a:ext uri="{FF2B5EF4-FFF2-40B4-BE49-F238E27FC236}">
                <a16:creationId xmlns:a16="http://schemas.microsoft.com/office/drawing/2014/main" id="{78C91582-2950-4FEC-860B-D7DEB368B712}"/>
              </a:ext>
            </a:extLst>
          </p:cNvPr>
          <p:cNvSpPr>
            <a:spLocks xmlns:a="http://schemas.openxmlformats.org/drawingml/2006/main" noGrp="1"/>
          </p:cNvSpPr>
          <p:nvPr/>
        </p:nvSpPr>
        <p:spPr>
          <a:xfrm xmlns:a="http://schemas.openxmlformats.org/drawingml/2006/main">
            <a:off x="5349240" y="1572768"/>
            <a:ext cx="1965960" cy="1325880"/>
          </a:xfrm>
          <a:prstGeom xmlns:a="http://schemas.openxmlformats.org/drawingml/2006/main" prst="roundRect">
            <a:avLst/>
          </a:prstGeom>
          <a:solidFill xmlns:a="http://schemas.openxmlformats.org/drawingml/2006/main">
            <a:srgbClr val="EAF7F4"/>
          </a:solidFill>
          <a:ln xmlns:a="http://schemas.openxmlformats.org/drawingml/2006/main" w="15240">
            <a:solidFill>
              <a:srgbClr val="2C9A8B"/>
            </a:solidFill>
          </a:ln>
        </p:spPr>
        <p:txBody>
          <a:bodyPr xmlns:a="http://schemas.openxmlformats.org/drawingml/2006/main" wrap="square" lIns="1016" tIns="1016" rIns="1016" bIns="1016" anchor="ctr">
            <a:normAutofit fontScale="100000"/>
          </a:bodyPr>
          <a:lstStyle xmlns:a="http://schemas.openxmlformats.org/drawingml/2006/main"/>
          <a:p xmlns:a="http://schemas.openxmlformats.org/drawingml/2006/main">
            <a:pPr marL="0" indent="0" algn="ctr">
              <a:buNone/>
            </a:pPr>
            <a:r>
              <a:rPr sz="2050" b="1">
                <a:solidFill>
                  <a:srgbClr val="243447"/>
                </a:solidFill>
                <a:latin typeface="Inter"/>
                <a:ea typeface="Inter"/>
                <a:cs typeface="Inter"/>
              </a:rPr>
              <a:t>Aligned stable</a:t>
            </a:r>
            <a:endParaRPr sz="2050"/>
          </a:p>
          <a:p xmlns:a="http://schemas.openxmlformats.org/drawingml/2006/main">
            <a:pPr marL="0" indent="0" algn="ctr">
              <a:buNone/>
            </a:pPr>
            <a:r>
              <a:rPr sz="2050" b="1">
                <a:solidFill>
                  <a:srgbClr val="243447"/>
                </a:solidFill>
                <a:latin typeface="Inter"/>
                <a:ea typeface="Inter"/>
                <a:cs typeface="Inter"/>
              </a:rPr>
              <a:t>windows</a:t>
            </a:r>
            <a:endParaRPr sz="2050"/>
          </a:p>
        </p:txBody>
      </p:sp>
      <p:sp>
        <p:nvSpPr>
          <p:cNvPr id="12" name="Shape 10">
            <a:extLst xmlns:a="http://schemas.openxmlformats.org/drawingml/2006/main">
              <a:ext uri="{FF2B5EF4-FFF2-40B4-BE49-F238E27FC236}">
                <a16:creationId xmlns:a16="http://schemas.microsoft.com/office/drawing/2014/main" id="{9A7577D2-CBB4-4343-8F34-BBDB45064975}"/>
              </a:ext>
            </a:extLst>
          </p:cNvPr>
          <p:cNvSpPr>
            <a:spLocks xmlns:a="http://schemas.openxmlformats.org/drawingml/2006/main" noGrp="1"/>
          </p:cNvSpPr>
          <p:nvPr/>
        </p:nvSpPr>
        <p:spPr>
          <a:xfrm xmlns:a="http://schemas.openxmlformats.org/drawingml/2006/main">
            <a:off x="7406640" y="2231136"/>
            <a:ext cx="201168" cy="0"/>
          </a:xfrm>
          <a:prstGeom xmlns:a="http://schemas.openxmlformats.org/drawingml/2006/main" prst="line">
            <a:avLst/>
          </a:prstGeom>
          <a:noFill xmlns:a="http://schemas.openxmlformats.org/drawingml/2006/main"/>
          <a:ln xmlns:a="http://schemas.openxmlformats.org/drawingml/2006/main" w="20320">
            <a:solidFill>
              <a:srgbClr val="B6C1CC"/>
            </a:solidFill>
            <a:prstDash val="solid"/>
            <a:tailEnd type="triangle"/>
          </a:ln>
        </p:spPr>
      </p:sp>
      <p:sp>
        <p:nvSpPr>
          <p:cNvPr id="13" name="Text 11">
            <a:extLst xmlns:a="http://schemas.openxmlformats.org/drawingml/2006/main">
              <a:ext uri="{FF2B5EF4-FFF2-40B4-BE49-F238E27FC236}">
                <a16:creationId xmlns:a16="http://schemas.microsoft.com/office/drawing/2014/main" id="{75ED171C-55F2-4C24-9A81-031E4B557FBA}"/>
              </a:ext>
            </a:extLst>
          </p:cNvPr>
          <p:cNvSpPr>
            <a:spLocks xmlns:a="http://schemas.openxmlformats.org/drawingml/2006/main" noGrp="1"/>
          </p:cNvSpPr>
          <p:nvPr/>
        </p:nvSpPr>
        <p:spPr>
          <a:xfrm xmlns:a="http://schemas.openxmlformats.org/drawingml/2006/main">
            <a:off x="7635240" y="1572768"/>
            <a:ext cx="1965960" cy="1325880"/>
          </a:xfrm>
          <a:prstGeom xmlns:a="http://schemas.openxmlformats.org/drawingml/2006/main" prst="roundRect">
            <a:avLst/>
          </a:prstGeom>
          <a:solidFill xmlns:a="http://schemas.openxmlformats.org/drawingml/2006/main">
            <a:srgbClr val="FFF3DF"/>
          </a:solidFill>
          <a:ln xmlns:a="http://schemas.openxmlformats.org/drawingml/2006/main" w="15240">
            <a:solidFill>
              <a:srgbClr val="E6A03A"/>
            </a:solidFill>
          </a:ln>
        </p:spPr>
        <p:txBody>
          <a:bodyPr xmlns:a="http://schemas.openxmlformats.org/drawingml/2006/main" wrap="square" lIns="1016" tIns="1016" rIns="1016" bIns="1016" anchor="ctr">
            <a:normAutofit fontScale="100000"/>
          </a:bodyPr>
          <a:lstStyle xmlns:a="http://schemas.openxmlformats.org/drawingml/2006/main"/>
          <a:p xmlns:a="http://schemas.openxmlformats.org/drawingml/2006/main">
            <a:pPr marL="0" indent="0" algn="ctr">
              <a:buNone/>
            </a:pPr>
            <a:r>
              <a:rPr sz="2050" b="1">
                <a:solidFill>
                  <a:srgbClr val="243447"/>
                </a:solidFill>
                <a:latin typeface="Inter"/>
                <a:ea typeface="Inter"/>
                <a:cs typeface="Inter"/>
              </a:rPr>
              <a:t>Candidate analysis</a:t>
            </a:r>
            <a:endParaRPr sz="2050"/>
          </a:p>
          <a:p xmlns:a="http://schemas.openxmlformats.org/drawingml/2006/main">
            <a:pPr marL="0" indent="0" algn="ctr">
              <a:buNone/>
            </a:pPr>
            <a:r>
              <a:rPr sz="2050" b="1">
                <a:solidFill>
                  <a:srgbClr val="243447"/>
                </a:solidFill>
                <a:latin typeface="Inter"/>
                <a:ea typeface="Inter"/>
                <a:cs typeface="Inter"/>
              </a:rPr>
              <a:t>regions</a:t>
            </a:r>
            <a:endParaRPr sz="2050"/>
          </a:p>
        </p:txBody>
      </p:sp>
      <p:sp>
        <p:nvSpPr>
          <p:cNvPr id="14" name="Shape 12">
            <a:extLst xmlns:a="http://schemas.openxmlformats.org/drawingml/2006/main">
              <a:ext uri="{FF2B5EF4-FFF2-40B4-BE49-F238E27FC236}">
                <a16:creationId xmlns:a16="http://schemas.microsoft.com/office/drawing/2014/main" id="{F6FD7F1E-705E-496A-A3A7-B5170FD14C84}"/>
              </a:ext>
            </a:extLst>
          </p:cNvPr>
          <p:cNvSpPr>
            <a:spLocks xmlns:a="http://schemas.openxmlformats.org/drawingml/2006/main" noGrp="1"/>
          </p:cNvSpPr>
          <p:nvPr/>
        </p:nvSpPr>
        <p:spPr>
          <a:xfrm xmlns:a="http://schemas.openxmlformats.org/drawingml/2006/main">
            <a:off x="9692640" y="2231136"/>
            <a:ext cx="201168" cy="0"/>
          </a:xfrm>
          <a:prstGeom xmlns:a="http://schemas.openxmlformats.org/drawingml/2006/main" prst="line">
            <a:avLst/>
          </a:prstGeom>
          <a:noFill xmlns:a="http://schemas.openxmlformats.org/drawingml/2006/main"/>
          <a:ln xmlns:a="http://schemas.openxmlformats.org/drawingml/2006/main" w="20320">
            <a:solidFill>
              <a:srgbClr val="B6C1CC"/>
            </a:solidFill>
            <a:prstDash val="solid"/>
            <a:tailEnd type="triangle"/>
          </a:ln>
        </p:spPr>
      </p:sp>
      <p:sp>
        <p:nvSpPr>
          <p:cNvPr id="15" name="Text 13">
            <a:extLst xmlns:a="http://schemas.openxmlformats.org/drawingml/2006/main">
              <a:ext uri="{FF2B5EF4-FFF2-40B4-BE49-F238E27FC236}">
                <a16:creationId xmlns:a16="http://schemas.microsoft.com/office/drawing/2014/main" id="{52B9736A-36B5-4F3D-B27E-170D3FB634FB}"/>
              </a:ext>
            </a:extLst>
          </p:cNvPr>
          <p:cNvSpPr>
            <a:spLocks xmlns:a="http://schemas.openxmlformats.org/drawingml/2006/main" noGrp="1"/>
          </p:cNvSpPr>
          <p:nvPr/>
        </p:nvSpPr>
        <p:spPr>
          <a:xfrm xmlns:a="http://schemas.openxmlformats.org/drawingml/2006/main">
            <a:off x="9921240" y="1572768"/>
            <a:ext cx="1508760" cy="132588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D7E0E8"/>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2050">
                <a:solidFill>
                  <a:srgbClr val="243447"/>
                </a:solidFill>
                <a:latin typeface="Inter"/>
                <a:ea typeface="Inter"/>
                <a:cs typeface="Inter"/>
              </a:rPr>
              <a:t>CPA /</a:t>
            </a:r>
            <a:endParaRPr sz="2050"/>
          </a:p>
          <a:p xmlns:a="http://schemas.openxmlformats.org/drawingml/2006/main">
            <a:pPr marL="0" indent="0" algn="ctr">
              <a:buNone/>
            </a:pPr>
            <a:r>
              <a:rPr sz="2050">
                <a:solidFill>
                  <a:srgbClr val="243447"/>
                </a:solidFill>
                <a:latin typeface="Inter"/>
                <a:ea typeface="Inter"/>
                <a:cs typeface="Inter"/>
              </a:rPr>
              <a:t>BSCA</a:t>
            </a:r>
            <a:endParaRPr sz="2050"/>
          </a:p>
        </p:txBody>
      </p:sp>
      <p:sp>
        <p:nvSpPr>
          <p:cNvPr id="16" name="Text 14">
            <a:extLst xmlns:a="http://schemas.openxmlformats.org/drawingml/2006/main">
              <a:ext uri="{FF2B5EF4-FFF2-40B4-BE49-F238E27FC236}">
                <a16:creationId xmlns:a16="http://schemas.microsoft.com/office/drawing/2014/main" id="{EE7E7AF7-045E-4CF0-A504-D335704D17D8}"/>
              </a:ext>
            </a:extLst>
          </p:cNvPr>
          <p:cNvSpPr>
            <a:spLocks xmlns:a="http://schemas.openxmlformats.org/drawingml/2006/main" noGrp="1"/>
          </p:cNvSpPr>
          <p:nvPr/>
        </p:nvSpPr>
        <p:spPr>
          <a:xfrm xmlns:a="http://schemas.openxmlformats.org/drawingml/2006/main">
            <a:off x="1005840" y="3520440"/>
            <a:ext cx="658368" cy="384048"/>
          </a:xfrm>
          <a:prstGeom xmlns:a="http://schemas.openxmlformats.org/drawingml/2006/main" prst="roundRect">
            <a:avLst/>
          </a:prstGeom>
          <a:solidFill xmlns:a="http://schemas.openxmlformats.org/drawingml/2006/main">
            <a:srgbClr val="17324D"/>
          </a:solidFill>
          <a:ln xmlns:a="http://schemas.openxmlformats.org/drawingml/2006/main" w="10160">
            <a:solidFill>
              <a:srgbClr val="17324D"/>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600" b="1">
                <a:solidFill>
                  <a:srgbClr val="FFFFFF"/>
                </a:solidFill>
                <a:latin typeface="Inter"/>
                <a:ea typeface="Inter"/>
                <a:cs typeface="Inter"/>
              </a:rPr>
              <a:t>01</a:t>
            </a:r>
            <a:endParaRPr sz="1600"/>
          </a:p>
        </p:txBody>
      </p:sp>
      <p:sp>
        <p:nvSpPr>
          <p:cNvPr id="17" name="Text 15">
            <a:extLst xmlns:a="http://schemas.openxmlformats.org/drawingml/2006/main">
              <a:ext uri="{FF2B5EF4-FFF2-40B4-BE49-F238E27FC236}">
                <a16:creationId xmlns:a16="http://schemas.microsoft.com/office/drawing/2014/main" id="{1C69CC0A-17B9-4E66-B24D-44D3387F89EC}"/>
              </a:ext>
            </a:extLst>
          </p:cNvPr>
          <p:cNvSpPr>
            <a:spLocks xmlns:a="http://schemas.openxmlformats.org/drawingml/2006/main" noGrp="1"/>
          </p:cNvSpPr>
          <p:nvPr/>
        </p:nvSpPr>
        <p:spPr>
          <a:xfrm xmlns:a="http://schemas.openxmlformats.org/drawingml/2006/main">
            <a:off x="1901952" y="3502152"/>
            <a:ext cx="89611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250">
                <a:solidFill>
                  <a:srgbClr val="243447"/>
                </a:solidFill>
                <a:latin typeface="Inter"/>
                <a:ea typeface="Inter"/>
                <a:cs typeface="Inter"/>
              </a:rPr>
              <a:t>Uses only per-sample mean and standard deviation</a:t>
            </a:r>
            <a:endParaRPr sz="2250"/>
          </a:p>
        </p:txBody>
      </p:sp>
      <p:sp>
        <p:nvSpPr>
          <p:cNvPr id="18" name="Text 16">
            <a:extLst xmlns:a="http://schemas.openxmlformats.org/drawingml/2006/main">
              <a:ext uri="{FF2B5EF4-FFF2-40B4-BE49-F238E27FC236}">
                <a16:creationId xmlns:a16="http://schemas.microsoft.com/office/drawing/2014/main" id="{DA096051-9D38-4EA7-A3BF-156CBC687EE6}"/>
              </a:ext>
            </a:extLst>
          </p:cNvPr>
          <p:cNvSpPr>
            <a:spLocks xmlns:a="http://schemas.openxmlformats.org/drawingml/2006/main" noGrp="1"/>
          </p:cNvSpPr>
          <p:nvPr/>
        </p:nvSpPr>
        <p:spPr>
          <a:xfrm xmlns:a="http://schemas.openxmlformats.org/drawingml/2006/main">
            <a:off x="1005840" y="4251960"/>
            <a:ext cx="658368" cy="384048"/>
          </a:xfrm>
          <a:prstGeom xmlns:a="http://schemas.openxmlformats.org/drawingml/2006/main" prst="roundRect">
            <a:avLst/>
          </a:prstGeom>
          <a:solidFill xmlns:a="http://schemas.openxmlformats.org/drawingml/2006/main">
            <a:srgbClr val="17324D"/>
          </a:solidFill>
          <a:ln xmlns:a="http://schemas.openxmlformats.org/drawingml/2006/main" w="10160">
            <a:solidFill>
              <a:srgbClr val="17324D"/>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600" b="1">
                <a:solidFill>
                  <a:srgbClr val="FFFFFF"/>
                </a:solidFill>
                <a:latin typeface="Inter"/>
                <a:ea typeface="Inter"/>
                <a:cs typeface="Inter"/>
              </a:rPr>
              <a:t>02</a:t>
            </a:r>
            <a:endParaRPr sz="1600"/>
          </a:p>
        </p:txBody>
      </p:sp>
      <p:sp>
        <p:nvSpPr>
          <p:cNvPr id="19" name="Text 17">
            <a:extLst xmlns:a="http://schemas.openxmlformats.org/drawingml/2006/main">
              <a:ext uri="{FF2B5EF4-FFF2-40B4-BE49-F238E27FC236}">
                <a16:creationId xmlns:a16="http://schemas.microsoft.com/office/drawing/2014/main" id="{D268FC47-BD87-494E-B8E3-20730E741E56}"/>
              </a:ext>
            </a:extLst>
          </p:cNvPr>
          <p:cNvSpPr>
            <a:spLocks xmlns:a="http://schemas.openxmlformats.org/drawingml/2006/main" noGrp="1"/>
          </p:cNvSpPr>
          <p:nvPr/>
        </p:nvSpPr>
        <p:spPr>
          <a:xfrm xmlns:a="http://schemas.openxmlformats.org/drawingml/2006/main">
            <a:off x="1901952" y="4233672"/>
            <a:ext cx="89611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250">
                <a:solidFill>
                  <a:srgbClr val="243447"/>
                </a:solidFill>
                <a:latin typeface="Inter"/>
                <a:ea typeface="Inter"/>
                <a:cs typeface="Inter"/>
              </a:rPr>
              <a:t>Finds a dominant repetition scale and aligns stable windows</a:t>
            </a:r>
            <a:endParaRPr sz="2250"/>
          </a:p>
        </p:txBody>
      </p:sp>
      <p:sp>
        <p:nvSpPr>
          <p:cNvPr id="20" name="Text 18">
            <a:extLst xmlns:a="http://schemas.openxmlformats.org/drawingml/2006/main">
              <a:ext uri="{FF2B5EF4-FFF2-40B4-BE49-F238E27FC236}">
                <a16:creationId xmlns:a16="http://schemas.microsoft.com/office/drawing/2014/main" id="{A4B031DA-FD78-4EC5-9A43-C9879E23C8F7}"/>
              </a:ext>
            </a:extLst>
          </p:cNvPr>
          <p:cNvSpPr>
            <a:spLocks xmlns:a="http://schemas.openxmlformats.org/drawingml/2006/main" noGrp="1"/>
          </p:cNvSpPr>
          <p:nvPr/>
        </p:nvSpPr>
        <p:spPr>
          <a:xfrm xmlns:a="http://schemas.openxmlformats.org/drawingml/2006/main">
            <a:off x="1005840" y="4983480"/>
            <a:ext cx="658368" cy="384048"/>
          </a:xfrm>
          <a:prstGeom xmlns:a="http://schemas.openxmlformats.org/drawingml/2006/main" prst="roundRect">
            <a:avLst/>
          </a:prstGeom>
          <a:solidFill xmlns:a="http://schemas.openxmlformats.org/drawingml/2006/main">
            <a:srgbClr val="17324D"/>
          </a:solidFill>
          <a:ln xmlns:a="http://schemas.openxmlformats.org/drawingml/2006/main" w="10160">
            <a:solidFill>
              <a:srgbClr val="17324D"/>
            </a:solidFill>
          </a:l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600" b="1">
                <a:solidFill>
                  <a:srgbClr val="FFFFFF"/>
                </a:solidFill>
                <a:latin typeface="Inter"/>
                <a:ea typeface="Inter"/>
                <a:cs typeface="Inter"/>
              </a:rPr>
              <a:t>03</a:t>
            </a:r>
            <a:endParaRPr sz="1600"/>
          </a:p>
        </p:txBody>
      </p:sp>
      <p:sp>
        <p:nvSpPr>
          <p:cNvPr id="21" name="Text 19">
            <a:extLst xmlns:a="http://schemas.openxmlformats.org/drawingml/2006/main">
              <a:ext uri="{FF2B5EF4-FFF2-40B4-BE49-F238E27FC236}">
                <a16:creationId xmlns:a16="http://schemas.microsoft.com/office/drawing/2014/main" id="{C7D1EC20-57D7-4169-B47F-CBE3F01CE7C5}"/>
              </a:ext>
            </a:extLst>
          </p:cNvPr>
          <p:cNvSpPr>
            <a:spLocks xmlns:a="http://schemas.openxmlformats.org/drawingml/2006/main" noGrp="1"/>
          </p:cNvSpPr>
          <p:nvPr/>
        </p:nvSpPr>
        <p:spPr>
          <a:xfrm xmlns:a="http://schemas.openxmlformats.org/drawingml/2006/main">
            <a:off x="1901952" y="4965192"/>
            <a:ext cx="89611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250">
                <a:solidFill>
                  <a:srgbClr val="243447"/>
                </a:solidFill>
                <a:latin typeface="Inter"/>
                <a:ea typeface="Inter"/>
                <a:cs typeface="Inter"/>
              </a:rPr>
              <a:t>Identifies candidate regions within the representative repetition</a:t>
            </a:r>
            <a:endParaRPr sz="2250"/>
          </a:p>
        </p:txBody>
      </p:sp>
      <p:sp>
        <p:nvSpPr>
          <p:cNvPr id="22" name="Text 20">
            <a:extLst xmlns:a="http://schemas.openxmlformats.org/drawingml/2006/main">
              <a:ext uri="{FF2B5EF4-FFF2-40B4-BE49-F238E27FC236}">
                <a16:creationId xmlns:a16="http://schemas.microsoft.com/office/drawing/2014/main" id="{9EFD4738-E354-4D79-9464-B495ACE4741F}"/>
              </a:ext>
            </a:extLst>
          </p:cNvPr>
          <p:cNvSpPr>
            <a:spLocks xmlns:a="http://schemas.openxmlformats.org/drawingml/2006/main" noGrp="1"/>
          </p:cNvSpPr>
          <p:nvPr/>
        </p:nvSpPr>
        <p:spPr>
          <a:xfrm xmlns:a="http://schemas.openxmlformats.org/drawingml/2006/main">
            <a:off x="1417320" y="5870448"/>
            <a:ext cx="94183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50" b="1">
                <a:solidFill>
                  <a:srgbClr val="2D74B8"/>
                </a:solidFill>
                <a:latin typeface="Inter Display"/>
                <a:ea typeface="Inter Display"/>
                <a:cs typeface="Inter Display"/>
              </a:rPr>
              <a:t>Candidate regions are obtained without algorithm metadata.</a:t>
            </a:r>
            <a:endParaRPr sz="2550"/>
          </a:p>
        </p:txBody>
      </p:sp>
    </p:spTree>
    <p:extLst>
      <p:ext uri="{BB962C8B-B14F-4D97-AF65-F5344CB8AC3E}">
        <p14:creationId xmlns:p14="http://schemas.microsoft.com/office/powerpoint/2010/main" val="82358213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2026-08-25T06:11:21.5150000Z</dcterms:created>
  <dcterms:modified xsi:type="dcterms:W3CDTF">2026-08-25T06:11:21.5150000Z</dcterms:modified>
</coreProperties>
</file>