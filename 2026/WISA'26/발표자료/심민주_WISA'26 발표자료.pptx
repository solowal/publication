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22"/>
  </p:notesMasterIdLst>
  <p:sldIdLst>
    <p:sldId id="257" r:id="rId3"/>
    <p:sldId id="302" r:id="rId4"/>
    <p:sldId id="258" r:id="rId5"/>
    <p:sldId id="306" r:id="rId6"/>
    <p:sldId id="261" r:id="rId7"/>
    <p:sldId id="262" r:id="rId8"/>
    <p:sldId id="307" r:id="rId9"/>
    <p:sldId id="264" r:id="rId10"/>
    <p:sldId id="263" r:id="rId11"/>
    <p:sldId id="265" r:id="rId12"/>
    <p:sldId id="303" r:id="rId13"/>
    <p:sldId id="266" r:id="rId14"/>
    <p:sldId id="267" r:id="rId15"/>
    <p:sldId id="269" r:id="rId16"/>
    <p:sldId id="270" r:id="rId17"/>
    <p:sldId id="271" r:id="rId18"/>
    <p:sldId id="272" r:id="rId19"/>
    <p:sldId id="305" r:id="rId20"/>
    <p:sldId id="25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7443"/>
  </p:normalViewPr>
  <p:slideViewPr>
    <p:cSldViewPr snapToGrid="0" showGuides="1">
      <p:cViewPr varScale="1">
        <p:scale>
          <a:sx n="83" d="100"/>
          <a:sy n="83" d="100"/>
        </p:scale>
        <p:origin x="224" y="7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FF80A-D95C-EC43-AF68-2F0D09636B14}" type="datetimeFigureOut">
              <a:rPr kumimoji="1" lang="ko-KR" altLang="en-US" smtClean="0"/>
              <a:t>2026. 8. 29.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A630D-49E5-2D47-A81D-8F30A8C0A0A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621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845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000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569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021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5888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5679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5601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1694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2601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6324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1451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6072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1092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7849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1151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2937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8080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7213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A630D-49E5-2D47-A81D-8F30A8C0A0AA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6761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51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>
                <a:latin typeface="+mj-lt"/>
              </a:rPr>
              <a:t>Q &amp; A</a:t>
            </a:r>
            <a:endParaRPr lang="ko-KR" altLang="en-US" sz="8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16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1731903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213939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129780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048961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3964802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21394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126542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055539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3968142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EE9F1A4-13CE-3DDB-4703-D085C6E10CF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6629" y="4877405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3" name="모서리가 둥근 직사각형 19">
            <a:extLst>
              <a:ext uri="{FF2B5EF4-FFF2-40B4-BE49-F238E27FC236}">
                <a16:creationId xmlns:a16="http://schemas.microsoft.com/office/drawing/2014/main" id="{EBF25FCF-E01C-F6E5-2AEA-4AE032731343}"/>
              </a:ext>
            </a:extLst>
          </p:cNvPr>
          <p:cNvSpPr/>
          <p:nvPr userDrawn="1"/>
        </p:nvSpPr>
        <p:spPr>
          <a:xfrm>
            <a:off x="1055592" y="488074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27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15641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437B6-A43D-EA47-9F3F-E60C6642F8D2}" type="datetimeFigureOut">
              <a:rPr kumimoji="1" lang="ko-Kore-KR" altLang="en-US" smtClean="0"/>
              <a:t>8/29/26</a:t>
            </a:fld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1A878-7EBC-2E42-A824-62C83D9372A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489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575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F9506-9EB3-1147-8806-F4FEE97D8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ko-KR" err="1"/>
              <a:t>Evaluating</a:t>
            </a:r>
            <a:r>
              <a:rPr lang="ko-KR" altLang="ko-KR"/>
              <a:t> </a:t>
            </a:r>
            <a:r>
              <a:rPr lang="ko-KR" altLang="ko-KR" err="1"/>
              <a:t>Hybrid</a:t>
            </a:r>
            <a:r>
              <a:rPr lang="ko-KR" altLang="ko-KR"/>
              <a:t> KEM/DSA </a:t>
            </a:r>
            <a:r>
              <a:rPr lang="ko-KR" altLang="ko-KR" err="1"/>
              <a:t>for</a:t>
            </a:r>
            <a:r>
              <a:rPr lang="ko-KR" altLang="ko-KR"/>
              <a:t> </a:t>
            </a:r>
            <a:r>
              <a:rPr lang="ko-KR" altLang="ko-KR" err="1"/>
              <a:t>KpqC</a:t>
            </a:r>
            <a:r>
              <a:rPr lang="ko-KR" altLang="ko-KR"/>
              <a:t> and NIST PQC </a:t>
            </a:r>
            <a:r>
              <a:rPr lang="ko-KR" altLang="ko-KR" err="1"/>
              <a:t>on</a:t>
            </a:r>
            <a:r>
              <a:rPr lang="ko-KR" altLang="ko-KR"/>
              <a:t> ARM Cortex-M4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976B76-57E6-744E-80BD-56E31CBB47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b="1"/>
              <a:t>Minjoo Sim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Minwoo Lee,</a:t>
            </a:r>
            <a:r>
              <a:rPr lang="ko-KR" altLang="en-US"/>
              <a:t> </a:t>
            </a:r>
            <a:r>
              <a:rPr lang="en-US" altLang="ko-KR"/>
              <a:t>Subeen Cho, Yulim Hyoung and </a:t>
            </a:r>
            <a:r>
              <a:rPr lang="en-US" altLang="ko-KR" b="1">
                <a:solidFill>
                  <a:srgbClr val="2E75B6"/>
                </a:solidFill>
              </a:rPr>
              <a:t>Hwajeong Seo</a:t>
            </a:r>
            <a:endParaRPr lang="en-US" altLang="ko-KR"/>
          </a:p>
          <a:p>
            <a:pPr>
              <a:lnSpc>
                <a:spcPct val="110000"/>
              </a:lnSpc>
            </a:pPr>
            <a:r>
              <a:rPr lang="en-US" altLang="ko-KR"/>
              <a:t>26.08.27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42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 Introduction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 Backgrounds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Proposed Method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 Evaluation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52DB9B5-8789-43CC-4336-C30ED5403E32}"/>
              </a:ext>
            </a:extLst>
          </p:cNvPr>
          <p:cNvSpPr txBox="1">
            <a:spLocks/>
          </p:cNvSpPr>
          <p:nvPr/>
        </p:nvSpPr>
        <p:spPr>
          <a:xfrm>
            <a:off x="1055592" y="4880643"/>
            <a:ext cx="10071849" cy="7189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Conclusion</a:t>
            </a:r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100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219CC-32AD-044F-84AE-0B176F85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Introduction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CC5F6A-1A64-5C4F-842B-F731AECCB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21" y="1152525"/>
            <a:ext cx="11368160" cy="54977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" altLang="en-US" sz="2400"/>
              <a:t>Advances in quantum computing threaten classical public-key algorithms such as </a:t>
            </a:r>
            <a:br>
              <a:rPr kumimoji="1" lang="en" altLang="en-US" sz="2400"/>
            </a:br>
            <a:r>
              <a:rPr kumimoji="1" lang="en" altLang="en-US" sz="2400"/>
              <a:t>RSA and ECC.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PQC standardization efforts are advancing worldwide.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Korea launched the </a:t>
            </a:r>
            <a:r>
              <a:rPr kumimoji="1" lang="en" altLang="en-US" sz="2000" err="1"/>
              <a:t>KpqC</a:t>
            </a:r>
            <a:r>
              <a:rPr kumimoji="1" lang="en" altLang="en-US" sz="2000"/>
              <a:t> competition in 2022, and four algorithms were selected </a:t>
            </a:r>
            <a:br>
              <a:rPr kumimoji="1" lang="en" altLang="en-US" sz="2000"/>
            </a:br>
            <a:r>
              <a:rPr kumimoji="1" lang="en" altLang="en-US" sz="2000"/>
              <a:t>in January 2025.</a:t>
            </a:r>
          </a:p>
          <a:p>
            <a:pPr>
              <a:lnSpc>
                <a:spcPct val="150000"/>
              </a:lnSpc>
            </a:pPr>
            <a:r>
              <a:rPr kumimoji="1" lang="en" altLang="en-US" sz="2400" b="1">
                <a:solidFill>
                  <a:srgbClr val="FF0000"/>
                </a:solidFill>
              </a:rPr>
              <a:t>Deploying post-quantum cryptography requires more than selecting </a:t>
            </a:r>
            <a:br>
              <a:rPr kumimoji="1" lang="en" altLang="en-US" sz="2400" b="1">
                <a:solidFill>
                  <a:srgbClr val="FF0000"/>
                </a:solidFill>
              </a:rPr>
            </a:br>
            <a:r>
              <a:rPr kumimoji="1" lang="en" altLang="en-US" sz="2400" b="1">
                <a:solidFill>
                  <a:srgbClr val="FF0000"/>
                </a:solidFill>
              </a:rPr>
              <a:t>primitives—it also requires careful integration.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 b="1"/>
              <a:t>Hybrid approaches retain both classical and post-quantum components </a:t>
            </a:r>
            <a:br>
              <a:rPr kumimoji="1" lang="en" altLang="en-US" sz="2000" b="1"/>
            </a:br>
            <a:r>
              <a:rPr kumimoji="1" lang="en" altLang="en-US" sz="2000" b="1"/>
              <a:t>during the transition.</a:t>
            </a:r>
            <a:endParaRPr kumimoji="1"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61021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F381-2F5C-E453-164E-6A011118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469E9-413C-44D1-3EC4-AE3ADF5A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Introduction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67A689-5E49-DECD-672D-4BB692FA3F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" altLang="en-US" sz="2400"/>
              <a:t>X-Wing is a representative hybrid KEM construction.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It combines ML-KEM-768 and X25519 to derive a hybrid shared secret.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Embedded performance evaluations of broader PQC–classical combinations remain limited.</a:t>
            </a:r>
          </a:p>
          <a:p>
            <a:pPr lvl="1">
              <a:lnSpc>
                <a:spcPct val="150000"/>
              </a:lnSpc>
            </a:pPr>
            <a:endParaRPr kumimoji="1" lang="en" altLang="en-US" sz="2400"/>
          </a:p>
          <a:p>
            <a:pPr>
              <a:lnSpc>
                <a:spcPct val="150000"/>
              </a:lnSpc>
            </a:pPr>
            <a:r>
              <a:rPr kumimoji="1" lang="en" altLang="en-US" sz="2400"/>
              <a:t>Hybrid DSA constructions have also been proposed, but empirical comparisons </a:t>
            </a:r>
            <a:br>
              <a:rPr kumimoji="1" lang="en" altLang="en-US" sz="2400"/>
            </a:br>
            <a:r>
              <a:rPr kumimoji="1" lang="en" altLang="en-US" sz="2400"/>
              <a:t>remain limited.</a:t>
            </a:r>
          </a:p>
          <a:p>
            <a:pPr>
              <a:lnSpc>
                <a:spcPct val="150000"/>
              </a:lnSpc>
            </a:pPr>
            <a:endParaRPr kumimoji="1" lang="en" altLang="en-US" sz="2400"/>
          </a:p>
          <a:p>
            <a:pPr>
              <a:lnSpc>
                <a:spcPct val="150000"/>
              </a:lnSpc>
            </a:pPr>
            <a:endParaRPr kumimoji="1" lang="en" altLang="en-US" sz="2400" b="1"/>
          </a:p>
          <a:p>
            <a:pPr lvl="1">
              <a:lnSpc>
                <a:spcPct val="150000"/>
              </a:lnSpc>
            </a:pPr>
            <a:endParaRPr kumimoji="1" lang="ko-Kore-KR" altLang="en-US" sz="2000" b="1"/>
          </a:p>
        </p:txBody>
      </p:sp>
    </p:spTree>
    <p:extLst>
      <p:ext uri="{BB962C8B-B14F-4D97-AF65-F5344CB8AC3E}">
        <p14:creationId xmlns:p14="http://schemas.microsoft.com/office/powerpoint/2010/main" val="113874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9F92-E13B-762A-1625-AD882820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3E4B7-0742-489F-E2BA-951D6F2E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Contributions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48FA93-0956-B4B4-3F53-6BD8D1B754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/>
          </a:bodyPr>
          <a:lstStyle/>
          <a:p>
            <a:r>
              <a:rPr kumimoji="1" lang="en" altLang="en-US" sz="2400" b="1"/>
              <a:t>Composed-Cost Attribution for Hybrid PQC</a:t>
            </a:r>
          </a:p>
          <a:p>
            <a:pPr lvl="1"/>
            <a:r>
              <a:rPr kumimoji="1" lang="en" altLang="en-US" sz="2000"/>
              <a:t>Common bare-metal Cortex-M4 harness</a:t>
            </a:r>
          </a:p>
          <a:p>
            <a:pPr lvl="1"/>
            <a:r>
              <a:rPr kumimoji="1" lang="en" altLang="en-US" sz="2000"/>
              <a:t>Fixed layouts · labels · interfaces · backends · target configuration</a:t>
            </a:r>
          </a:p>
          <a:p>
            <a:pPr marL="457200" lvl="1" indent="0">
              <a:buNone/>
            </a:pPr>
            <a:r>
              <a:rPr kumimoji="1" lang="en" altLang="en-US" sz="2000" b="1">
                <a:solidFill>
                  <a:srgbClr val="FF0000"/>
                </a:solidFill>
              </a:rPr>
              <a:t>→ Makes classical-leg, wrapper, and shared-backend costs visible</a:t>
            </a:r>
          </a:p>
          <a:p>
            <a:pPr lvl="1"/>
            <a:endParaRPr kumimoji="1" lang="en" altLang="en-US" sz="2000" b="1">
              <a:solidFill>
                <a:srgbClr val="FF0000"/>
              </a:solidFill>
            </a:endParaRPr>
          </a:p>
          <a:p>
            <a:r>
              <a:rPr kumimoji="1" lang="en" altLang="en-US" sz="2400" b="1"/>
              <a:t>Backend Sensitivity &amp; Signing-Time Variability</a:t>
            </a:r>
          </a:p>
          <a:p>
            <a:pPr lvl="1"/>
            <a:r>
              <a:rPr kumimoji="1" lang="en" altLang="en-US" sz="2000"/>
              <a:t>Keccak-f[1600] backend swap → </a:t>
            </a:r>
            <a:r>
              <a:rPr lang="ko-KR" altLang="ko-KR" sz="2000" err="1"/>
              <a:t>Performance</a:t>
            </a:r>
            <a:r>
              <a:rPr lang="ko-KR" altLang="ko-KR" sz="2000"/>
              <a:t> </a:t>
            </a:r>
            <a:r>
              <a:rPr lang="ko-KR" altLang="ko-KR" sz="2000" err="1"/>
              <a:t>changes</a:t>
            </a:r>
            <a:r>
              <a:rPr lang="ko-KR" altLang="ko-KR" sz="2000"/>
              <a:t> </a:t>
            </a:r>
            <a:r>
              <a:rPr lang="ko-KR" altLang="ko-KR" sz="2000" err="1"/>
              <a:t>in</a:t>
            </a:r>
            <a:r>
              <a:rPr lang="ko-KR" altLang="ko-KR" sz="2000"/>
              <a:t> SHAKE-</a:t>
            </a:r>
            <a:r>
              <a:rPr lang="ko-KR" altLang="ko-KR" sz="2000" err="1"/>
              <a:t>intensive</a:t>
            </a:r>
            <a:r>
              <a:rPr lang="ko-KR" altLang="ko-KR" sz="2000"/>
              <a:t> </a:t>
            </a:r>
            <a:r>
              <a:rPr lang="ko-KR" altLang="ko-KR" sz="2000" err="1"/>
              <a:t>schemes</a:t>
            </a:r>
            <a:endParaRPr kumimoji="1" lang="en" altLang="en-US" sz="2000"/>
          </a:p>
          <a:p>
            <a:pPr lvl="1"/>
            <a:r>
              <a:rPr kumimoji="1" lang="en-US" altLang="en-US" sz="2000"/>
              <a:t>Rejection sampling → </a:t>
            </a:r>
            <a:r>
              <a:rPr kumimoji="1" lang="en-US" altLang="en-US" sz="2000" b="1">
                <a:solidFill>
                  <a:srgbClr val="FF0000"/>
                </a:solidFill>
              </a:rPr>
              <a:t>Observed signing-time variability</a:t>
            </a:r>
          </a:p>
          <a:p>
            <a:pPr lvl="1"/>
            <a:r>
              <a:rPr kumimoji="1" lang="en-US" altLang="en-US" sz="2000"/>
              <a:t>Cycles · wire sizes · peak stack · code estimates · standalone component checks</a:t>
            </a:r>
          </a:p>
          <a:p>
            <a:pPr lvl="1"/>
            <a:endParaRPr kumimoji="1" lang="en-US" altLang="en-US" sz="2000"/>
          </a:p>
          <a:p>
            <a:r>
              <a:rPr kumimoji="1" lang="en" altLang="en-US" sz="2400" b="1"/>
              <a:t>SMAUG-T Backend &amp; Optimization Dilution</a:t>
            </a:r>
          </a:p>
          <a:p>
            <a:pPr lvl="1"/>
            <a:r>
              <a:rPr kumimoji="1" lang="en" altLang="en-US" sz="2000"/>
              <a:t>Local Cortex-M4 SMAUG-T arithmetic backend</a:t>
            </a:r>
          </a:p>
          <a:p>
            <a:pPr lvl="1"/>
            <a:r>
              <a:rPr kumimoji="1" lang="en" altLang="en-US" sz="2000"/>
              <a:t>Standalone speedup → </a:t>
            </a:r>
            <a:r>
              <a:rPr kumimoji="1" lang="en" altLang="en-US" sz="2000" b="1">
                <a:solidFill>
                  <a:srgbClr val="FF0000"/>
                </a:solidFill>
              </a:rPr>
              <a:t>Diluted in SMAUG-T + X25519 compositions</a:t>
            </a:r>
          </a:p>
          <a:p>
            <a:pPr lvl="1"/>
            <a:r>
              <a:rPr kumimoji="1" lang="en" altLang="en-US" sz="2000"/>
              <a:t>Remaining fixed costs: classical operations · hashing · wrapper</a:t>
            </a:r>
          </a:p>
        </p:txBody>
      </p:sp>
    </p:spTree>
    <p:extLst>
      <p:ext uri="{BB962C8B-B14F-4D97-AF65-F5344CB8AC3E}">
        <p14:creationId xmlns:p14="http://schemas.microsoft.com/office/powerpoint/2010/main" val="298634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C4B5-B6B0-09A9-EF32-61FFBF610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32991-1A15-0D6A-44FB-10762A203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Background:</a:t>
            </a:r>
            <a:r>
              <a:rPr kumimoji="1" lang="ko-KR" altLang="en-US"/>
              <a:t> </a:t>
            </a:r>
            <a:r>
              <a:rPr kumimoji="1" lang="en-US" altLang="ko-KR"/>
              <a:t>X-Wing and Hash-CT QSF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1D9715-128E-32A7-617B-0C75243E67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663" y="1114425"/>
            <a:ext cx="7851382" cy="553582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" altLang="en-US" sz="2400" b="1"/>
              <a:t>X-Wing/QSF Background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X-Wing combines ML-KEM-768 and X25519.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The IETF X-Wing transcript omits the PQ ciphertext</a:t>
            </a:r>
            <a:br>
              <a:rPr kumimoji="1" lang="en" altLang="en-US" sz="2000"/>
            </a:br>
            <a:r>
              <a:rPr kumimoji="1" lang="en" altLang="en-US" sz="2000"/>
              <a:t> from the final combiner hash.</a:t>
            </a:r>
          </a:p>
          <a:p>
            <a:pPr>
              <a:lnSpc>
                <a:spcPct val="150000"/>
              </a:lnSpc>
            </a:pPr>
            <a:r>
              <a:rPr kumimoji="1" lang="en" altLang="en-US" sz="2400" b="1"/>
              <a:t>Hash-CT Transcript Used in This Work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Component shared secrets and transcript fields are combined using SHA3-256.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ss = SHA3-256(label || </a:t>
            </a:r>
            <a:r>
              <a:rPr kumimoji="1" lang="en" altLang="en-US" sz="2000" err="1"/>
              <a:t>ss_pq</a:t>
            </a:r>
            <a:r>
              <a:rPr kumimoji="1" lang="en" altLang="en-US" sz="2000"/>
              <a:t> || </a:t>
            </a:r>
            <a:r>
              <a:rPr kumimoji="1" lang="en" altLang="en-US" sz="2000" err="1"/>
              <a:t>ss_cl</a:t>
            </a:r>
            <a:r>
              <a:rPr kumimoji="1" lang="en" altLang="en-US" sz="2000"/>
              <a:t> || </a:t>
            </a:r>
            <a:r>
              <a:rPr kumimoji="1" lang="en" altLang="en-US" sz="2000" err="1"/>
              <a:t>ct_pq</a:t>
            </a:r>
            <a:r>
              <a:rPr kumimoji="1" lang="en" altLang="en-US" sz="2000"/>
              <a:t> || </a:t>
            </a:r>
            <a:r>
              <a:rPr kumimoji="1" lang="en" altLang="en-US" sz="2000" err="1"/>
              <a:t>ct_cl</a:t>
            </a:r>
            <a:r>
              <a:rPr kumimoji="1" lang="en" altLang="en-US" sz="2000"/>
              <a:t> || </a:t>
            </a:r>
            <a:r>
              <a:rPr kumimoji="1" lang="en" altLang="en-US" sz="2000" err="1"/>
              <a:t>pk_cl</a:t>
            </a:r>
            <a:r>
              <a:rPr kumimoji="1" lang="en" altLang="en-US" sz="2000"/>
              <a:t>)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 b="1">
                <a:solidFill>
                  <a:srgbClr val="FF0000"/>
                </a:solidFill>
              </a:rPr>
              <a:t>The PQ ciphertext </a:t>
            </a:r>
            <a:r>
              <a:rPr kumimoji="1" lang="en" altLang="en-US" sz="2000" b="1" err="1">
                <a:solidFill>
                  <a:srgbClr val="FF0000"/>
                </a:solidFill>
              </a:rPr>
              <a:t>ct_pq</a:t>
            </a:r>
            <a:r>
              <a:rPr kumimoji="1" lang="en" altLang="en-US" sz="2000" b="1">
                <a:solidFill>
                  <a:srgbClr val="FF0000"/>
                </a:solidFill>
              </a:rPr>
              <a:t> is included.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Hash-CT is a benchmark label—not a new KEM, </a:t>
            </a:r>
            <a:br>
              <a:rPr kumimoji="1" lang="en" altLang="en-US" sz="2000"/>
            </a:br>
            <a:r>
              <a:rPr kumimoji="1" lang="en" altLang="en-US" sz="2000"/>
              <a:t>a new combiner standard, or the IETF X-Wing transcript.</a:t>
            </a:r>
            <a:endParaRPr kumimoji="1" lang="en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EC749F-C82D-54F3-9F78-4FE5B3B5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045" y="1291879"/>
            <a:ext cx="4197955" cy="51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3357-019E-4048-C44F-F543ABDB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34E50-4862-BDC3-A428-0F2D2C8C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Background:</a:t>
            </a:r>
            <a:r>
              <a:rPr kumimoji="1" lang="ko-KR" altLang="en-US"/>
              <a:t> </a:t>
            </a:r>
            <a:r>
              <a:rPr kumimoji="1" lang="en-US" altLang="ko-KR"/>
              <a:t>X-wing and Hash-CT QSF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641C14-94D3-0EB2-553B-50BDDF83AF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14425"/>
            <a:ext cx="11368160" cy="55358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en-US" sz="2400" b="1"/>
              <a:t>Hybrid KEM: </a:t>
            </a:r>
            <a:r>
              <a:rPr kumimoji="1" lang="en" altLang="en-US" sz="2400" b="1"/>
              <a:t>Evaluated Hybrid KEM Configurations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PQ KEMs: ML-KEM, NTRU+, SMAUG-T, and HQC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Primary classical partner: X25519 (P-256 control)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Component algorithms left unmodified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Wrapper-level composition</a:t>
            </a:r>
          </a:p>
          <a:p>
            <a:pPr lvl="1">
              <a:lnSpc>
                <a:spcPct val="150000"/>
              </a:lnSpc>
            </a:pPr>
            <a:r>
              <a:rPr kumimoji="1" lang="en" altLang="en-US" sz="2000"/>
              <a:t>Common harness → Direct composed-cost comparison across </a:t>
            </a:r>
            <a:r>
              <a:rPr kumimoji="1" lang="en" altLang="en-US" sz="2000" err="1"/>
              <a:t>KpqC</a:t>
            </a:r>
            <a:r>
              <a:rPr kumimoji="1" lang="en" altLang="en-US" sz="2000"/>
              <a:t> and NIST schemes</a:t>
            </a:r>
            <a:endParaRPr kumimoji="1" lang="en" altLang="en-US" sz="1800"/>
          </a:p>
          <a:p>
            <a:pPr>
              <a:lnSpc>
                <a:spcPct val="150000"/>
              </a:lnSpc>
            </a:pPr>
            <a:endParaRPr kumimoji="1" lang="ko-Kore-KR" altLang="en-US" sz="2000"/>
          </a:p>
        </p:txBody>
      </p:sp>
    </p:spTree>
    <p:extLst>
      <p:ext uri="{BB962C8B-B14F-4D97-AF65-F5344CB8AC3E}">
        <p14:creationId xmlns:p14="http://schemas.microsoft.com/office/powerpoint/2010/main" val="425360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D294-1707-0EA0-3FBF-A70C55AC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5A0D3-3EFC-9BD3-1A4D-7294A9B9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en-US"/>
              <a:t>Background: Hybrid Signature Combiner</a:t>
            </a:r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4731E9E-3041-9D4C-310C-00999104C50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24475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" altLang="en-US" sz="2400" b="1"/>
                  <a:t>Bindel et al.’s AND Combiner for Hybrid Signatures</a:t>
                </a:r>
                <a:endParaRPr kumimoji="1" lang="ko-Kore-KR" altLang="en-US" sz="2400" b="1"/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/>
                  <a:t>Classical scheme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en-US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smtClean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" altLang="en-US" sz="2000"/>
                  <a:t>and post-quantum scheme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en-US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 smtClean="0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endParaRPr kumimoji="1" lang="en" altLang="en-US" sz="2000" i="1"/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/>
                  <a:t>Label-bound component signatures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/>
                  <a:t>Verification succeeds only if both component signatures are valid.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" altLang="en-US" sz="2400" b="1"/>
                  <a:t>Modes Evaluated in This Work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 err="1"/>
                  <a:t>Concat</a:t>
                </a:r>
                <a:r>
                  <a:rPr kumimoji="1" lang="en" altLang="en-US" sz="2000"/>
                  <a:t> mode → primary measurement mode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/>
                  <a:t>Strong-nesting mode → used only for overhead checks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" altLang="en-US" sz="2400" b="1"/>
                  <a:t>Research Focus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/>
                  <a:t> Existing AND-combiner structure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" altLang="en-US" sz="2000"/>
                  <a:t>Implementation and composed-cost analysis on ARM Cortex-M4</a:t>
                </a:r>
              </a:p>
              <a:p>
                <a:pPr lvl="1">
                  <a:lnSpc>
                    <a:spcPct val="150000"/>
                  </a:lnSpc>
                </a:pPr>
                <a:endParaRPr kumimoji="1" lang="ko-Kore-KR" altLang="en-US" sz="200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4731E9E-3041-9D4C-310C-00999104C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24475"/>
              </a:xfrm>
              <a:blipFill>
                <a:blip r:embed="rId3"/>
                <a:stretch>
                  <a:fillRect l="-697" b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17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E3B7-9F86-C151-A503-168AE6C7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EE53D-96D4-3BFF-0D26-1E4B2B69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en-US"/>
              <a:t>Hybrid Signature: </a:t>
            </a:r>
            <a:r>
              <a:rPr kumimoji="1" lang="en" altLang="en-US" err="1"/>
              <a:t>Concat</a:t>
            </a:r>
            <a:r>
              <a:rPr kumimoji="1" lang="en" altLang="en-US"/>
              <a:t> Mode</a:t>
            </a:r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23A20D4-30C9-6A04-046F-4ADCE6C6E01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0" y="1170454"/>
                <a:ext cx="11369675" cy="5057775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en-US" sz="2400" b="1" err="1"/>
                  <a:t>Concat</a:t>
                </a:r>
                <a:r>
                  <a:rPr kumimoji="1" lang="en" altLang="en-US" sz="2400" b="1"/>
                  <a:t>-Based Hybrid Signature</a:t>
                </a:r>
              </a:p>
              <a:p>
                <a:pPr lvl="1"/>
                <a:r>
                  <a:rPr kumimoji="1" lang="en" altLang="en-US" sz="2000"/>
                  <a:t>Common signing input: </a:t>
                </a:r>
              </a:p>
              <a:p>
                <a:pPr lvl="1"/>
                <a:endParaRPr kumimoji="1" lang="en" altLang="en-US" sz="2000"/>
              </a:p>
              <a:p>
                <a:pPr lvl="1"/>
                <a:endParaRPr kumimoji="1" lang="en" altLang="en-US" sz="2000"/>
              </a:p>
              <a:p>
                <a:pPr lvl="1"/>
                <a:r>
                  <a:rPr kumimoji="1" lang="en" altLang="en-US" sz="2000"/>
                  <a:t>Final signature: </a:t>
                </a:r>
                <a14:m>
                  <m:oMath xmlns:m="http://schemas.openxmlformats.org/officeDocument/2006/math"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𝐿𝐸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32(|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|) || 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|| 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 smtClean="0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endParaRPr kumimoji="1" lang="en" altLang="en-US" sz="2000"/>
              </a:p>
              <a:p>
                <a:pPr lvl="1"/>
                <a:r>
                  <a:rPr kumimoji="1" lang="en" altLang="en-US" sz="2000"/>
                  <a:t>Verification requires both component signatures to be valid</a:t>
                </a:r>
              </a:p>
              <a:p>
                <a:pPr lvl="1"/>
                <a:endParaRPr kumimoji="1" lang="en-US" altLang="en-US" sz="2000"/>
              </a:p>
              <a:p>
                <a:r>
                  <a:rPr kumimoji="1" lang="en" altLang="en-US" sz="2400" b="1"/>
                  <a:t>Evaluation </a:t>
                </a:r>
                <a:r>
                  <a:rPr kumimoji="1" lang="en-US" altLang="en-US" sz="2400" b="1"/>
                  <a:t>Scope</a:t>
                </a:r>
                <a:endParaRPr kumimoji="1" lang="en" altLang="en-US" sz="2400" b="1"/>
              </a:p>
              <a:p>
                <a:pPr marL="457200" lvl="1" indent="0">
                  <a:buNone/>
                </a:pPr>
                <a:r>
                  <a:rPr kumimoji="1" lang="en" altLang="en-US" sz="2000"/>
                  <a:t> 1. PQ signatures: ML-DSA, HAETAE, FN-DSA, </a:t>
                </a:r>
                <a:r>
                  <a:rPr kumimoji="1" lang="en" altLang="en-US" sz="2000" err="1"/>
                  <a:t>AIMer</a:t>
                </a:r>
                <a:r>
                  <a:rPr kumimoji="1" lang="en" altLang="en-US" sz="2000"/>
                  <a:t>, and SPHINCS+</a:t>
                </a:r>
              </a:p>
              <a:p>
                <a:pPr marL="457200" lvl="1" indent="0">
                  <a:buNone/>
                </a:pPr>
                <a:r>
                  <a:rPr kumimoji="1" lang="en" altLang="en-US" sz="2000"/>
                  <a:t>  2. Classical partner: Ed25519</a:t>
                </a:r>
              </a:p>
              <a:p>
                <a:pPr marL="457200" lvl="1" indent="0">
                  <a:buNone/>
                </a:pPr>
                <a:r>
                  <a:rPr kumimoji="1" lang="en" altLang="en-US" sz="2000"/>
                  <a:t>  3. Unmodified component algorithms</a:t>
                </a:r>
              </a:p>
              <a:p>
                <a:pPr marL="457200" lvl="1" indent="0">
                  <a:buNone/>
                </a:pPr>
                <a:r>
                  <a:rPr kumimoji="1" lang="en" altLang="en-US" sz="2000"/>
                  <a:t>  4. Wrapper-level composition</a:t>
                </a:r>
              </a:p>
              <a:p>
                <a:pPr marL="457200" lvl="1" indent="0">
                  <a:buNone/>
                </a:pPr>
                <a:r>
                  <a:rPr kumimoji="1" lang="en" altLang="en-US" sz="2000"/>
                  <a:t>  5. Direct composed-cost comparison across </a:t>
                </a:r>
                <a:r>
                  <a:rPr kumimoji="1" lang="en" altLang="en-US" sz="2000" err="1"/>
                  <a:t>KpqC</a:t>
                </a:r>
                <a:r>
                  <a:rPr kumimoji="1" lang="en" altLang="en-US" sz="2000"/>
                  <a:t> and NIST schemes</a:t>
                </a:r>
                <a:endParaRPr kumimoji="1" lang="ko-Kore-KR" altLang="en-US" sz="200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23A20D4-30C9-6A04-046F-4ADCE6C6E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0" y="1170454"/>
                <a:ext cx="11369675" cy="5057775"/>
              </a:xfrm>
              <a:blipFill>
                <a:blip r:embed="rId3"/>
                <a:stretch>
                  <a:fillRect l="-697" t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3E302E-403B-E154-106E-D6B32C08F8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4" t="17966" r="46194" b="10300"/>
          <a:stretch>
            <a:fillRect/>
          </a:stretch>
        </p:blipFill>
        <p:spPr>
          <a:xfrm>
            <a:off x="8693324" y="1575498"/>
            <a:ext cx="3086756" cy="333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0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DC95F-5DB7-49E2-0E77-790DA339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DA14F-8347-4A93-F13E-818C4D34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en-US"/>
              <a:t>Hybrid Signature: Strong-Nesting Mode</a:t>
            </a:r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6397F6F-0055-76F8-4280-14F6D689B97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" altLang="en-US" sz="2400"/>
                  <a:t>Strong-Nesting Hybrid Signature</a:t>
                </a:r>
              </a:p>
              <a:p>
                <a:pPr lvl="1"/>
                <a:r>
                  <a:rPr kumimoji="1" lang="en" altLang="en-US" sz="2000"/>
                  <a:t>Classical signature generated first: </a:t>
                </a:r>
                <a14:m>
                  <m:oMath xmlns:m="http://schemas.openxmlformats.org/officeDocument/2006/math"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1" lang="en" altLang="en-US" sz="2000" i="1" dirty="0" err="1" smtClean="0">
                        <a:latin typeface="Cambria Math" panose="02040503050406030204" pitchFamily="18" charset="0"/>
                      </a:rPr>
                      <m:t>𝑆𝑖𝑔𝑛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𝑠𝑘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1" lang="en" altLang="en-US" sz="2000" i="1" dirty="0"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|| 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" alt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" altLang="en-US" sz="2000"/>
              </a:p>
              <a:p>
                <a:pPr lvl="1"/>
                <a:r>
                  <a:rPr kumimoji="1" lang="en" altLang="en-US" sz="2000"/>
                  <a:t>PQ signature covers the message and classical signature:</a:t>
                </a:r>
                <a:br>
                  <a:rPr kumimoji="1" lang="en" altLang="en-US" sz="2000"/>
                </a:br>
                <a:r>
                  <a:rPr kumimoji="1" lang="en" altLang="en-US" sz="2000"/>
                  <a:t> </a:t>
                </a:r>
                <a14:m>
                  <m:oMath xmlns:m="http://schemas.openxmlformats.org/officeDocument/2006/math"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𝑝𝑞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𝑆𝑖𝑔𝑛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𝑝𝑞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𝑠𝑘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>
                        <a:latin typeface="Cambria Math" panose="02040503050406030204" pitchFamily="18" charset="0"/>
                      </a:rPr>
                      <m:t>𝑝𝑞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1" lang="en" altLang="en-US" sz="2000" i="1" dirty="0"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|| 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|| 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" altLang="en-US" sz="2000"/>
              </a:p>
              <a:p>
                <a:pPr lvl="1"/>
                <a:r>
                  <a:rPr kumimoji="1" lang="en" altLang="en-US" sz="2000"/>
                  <a:t>Final signature: </a:t>
                </a:r>
                <a14:m>
                  <m:oMath xmlns:m="http://schemas.openxmlformats.org/officeDocument/2006/math"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𝐿𝐸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32(|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|) || 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𝑐𝑙</m:t>
                    </m:r>
                    <m:r>
                      <a:rPr kumimoji="1" lang="en" altLang="en-US" sz="2000" i="1" dirty="0">
                        <a:latin typeface="Cambria Math" panose="02040503050406030204" pitchFamily="18" charset="0"/>
                      </a:rPr>
                      <m:t> || 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en-US" sz="20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" altLang="en-US" sz="2000" i="1" dirty="0" err="1" smtClean="0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endParaRPr kumimoji="1" lang="en" altLang="en-US" sz="2000"/>
              </a:p>
              <a:p>
                <a:pPr lvl="1"/>
                <a:r>
                  <a:rPr kumimoji="1" lang="en" altLang="en-US" sz="2000"/>
                  <a:t>Verification requires both component signatures to be valid</a:t>
                </a:r>
              </a:p>
              <a:p>
                <a:endParaRPr kumimoji="1" lang="en" altLang="en-US" sz="2400"/>
              </a:p>
              <a:p>
                <a:r>
                  <a:rPr kumimoji="1" lang="en" altLang="en-US" sz="2400" b="1"/>
                  <a:t>Evaluation </a:t>
                </a:r>
                <a:r>
                  <a:rPr kumimoji="1" lang="en-US" altLang="en-US" sz="2400" b="1"/>
                  <a:t>Scope</a:t>
                </a:r>
                <a:endParaRPr kumimoji="1" lang="en" altLang="en-US" sz="2400" b="1"/>
              </a:p>
              <a:p>
                <a:pPr lvl="1"/>
                <a:r>
                  <a:rPr kumimoji="1" lang="en" altLang="en-US" sz="2000"/>
                  <a:t>Retained only for overhead checks</a:t>
                </a:r>
              </a:p>
              <a:p>
                <a:pPr lvl="1"/>
                <a:r>
                  <a:rPr kumimoji="1" lang="en" altLang="en-US" sz="2000"/>
                  <a:t>Evaluated using representative deterministic signature configurations</a:t>
                </a:r>
              </a:p>
              <a:p>
                <a:pPr lvl="1"/>
                <a:r>
                  <a:rPr kumimoji="1" lang="en" altLang="en-US" sz="2000"/>
                  <a:t>Mode-specific labels required if </a:t>
                </a:r>
                <a:r>
                  <a:rPr kumimoji="1" lang="en" altLang="en-US" sz="2000" err="1"/>
                  <a:t>concat</a:t>
                </a:r>
                <a:r>
                  <a:rPr kumimoji="1" lang="en" altLang="en-US" sz="2000"/>
                  <a:t> and strong nesting are used </a:t>
                </a:r>
                <a:br>
                  <a:rPr kumimoji="1" lang="en" altLang="en-US" sz="2000"/>
                </a:br>
                <a:r>
                  <a:rPr kumimoji="1" lang="en" altLang="en-US" sz="2000"/>
                  <a:t>in the same protocol</a:t>
                </a:r>
              </a:p>
              <a:p>
                <a:pPr lvl="1"/>
                <a:endParaRPr kumimoji="1" lang="ko-Kore-KR" altLang="en-US" sz="200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6397F6F-0055-76F8-4280-14F6D689B9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697" t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0FD22F4F-AA17-2901-6EEA-BEEB60D971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178" b="10831"/>
          <a:stretch>
            <a:fillRect/>
          </a:stretch>
        </p:blipFill>
        <p:spPr>
          <a:xfrm>
            <a:off x="9186684" y="1377522"/>
            <a:ext cx="2768990" cy="41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1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817C-1A74-C563-A089-8D68714B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CAD9D-1D82-AD9B-123F-6F7CA5CF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en-US"/>
              <a:t>Experimental Setup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CF5341-4C8E-368F-F1A7-306356F6C3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ko-KR" sz="2400"/>
              <a:t>Target </a:t>
            </a:r>
            <a:r>
              <a:rPr lang="ko-KR" altLang="ko-KR" sz="2400" err="1"/>
              <a:t>board</a:t>
            </a:r>
            <a:r>
              <a:rPr lang="ko-KR" altLang="ko-KR" sz="2400"/>
              <a:t>: NUCLEO-L4R5ZI </a:t>
            </a:r>
            <a:r>
              <a:rPr lang="en-US" altLang="ko-KR" sz="2400"/>
              <a:t>(</a:t>
            </a:r>
            <a:r>
              <a:rPr lang="ko-KR" altLang="ko-KR" sz="2400"/>
              <a:t>ARM Cortex-M4</a:t>
            </a:r>
            <a:r>
              <a:rPr lang="en-US" altLang="ko-KR" sz="2400"/>
              <a:t>,</a:t>
            </a:r>
            <a:r>
              <a:rPr lang="ko-KR" altLang="en-US" sz="2400"/>
              <a:t> </a:t>
            </a:r>
            <a:r>
              <a:rPr lang="en-US" altLang="ko-KR" sz="2400"/>
              <a:t>20MHz)</a:t>
            </a:r>
          </a:p>
          <a:p>
            <a:r>
              <a:rPr lang="en-US" altLang="ko-KR" sz="2400"/>
              <a:t>Framework: pqm4</a:t>
            </a:r>
            <a:endParaRPr lang="ko-KR" altLang="ko-KR" sz="2400"/>
          </a:p>
          <a:p>
            <a:r>
              <a:rPr lang="ko-KR" altLang="ko-KR" sz="2400" err="1"/>
              <a:t>Memory</a:t>
            </a:r>
            <a:r>
              <a:rPr lang="ko-KR" altLang="ko-KR" sz="2400"/>
              <a:t>: 640 KB SRAM and 2 MB </a:t>
            </a:r>
            <a:r>
              <a:rPr lang="ko-KR" altLang="ko-KR" sz="2400" err="1"/>
              <a:t>flash</a:t>
            </a:r>
            <a:r>
              <a:rPr lang="ko-KR" altLang="ko-KR" sz="2400"/>
              <a:t> </a:t>
            </a:r>
          </a:p>
          <a:p>
            <a:r>
              <a:rPr lang="ko-KR" altLang="ko-KR" sz="2400" err="1"/>
              <a:t>Compiler</a:t>
            </a:r>
            <a:r>
              <a:rPr lang="ko-KR" altLang="ko-KR" sz="2400"/>
              <a:t>: </a:t>
            </a:r>
            <a:r>
              <a:rPr lang="ko-KR" altLang="ko-KR" sz="2400" err="1"/>
              <a:t>arm-none-eabi-gcc</a:t>
            </a:r>
            <a:r>
              <a:rPr lang="ko-KR" altLang="ko-KR" sz="2400"/>
              <a:t> 13.2.1</a:t>
            </a:r>
            <a:endParaRPr lang="en-US" altLang="ko-KR" sz="2400"/>
          </a:p>
          <a:p>
            <a:r>
              <a:rPr lang="ko-KR" altLang="ko-KR" sz="2400" err="1"/>
              <a:t>Primary</a:t>
            </a:r>
            <a:r>
              <a:rPr lang="ko-KR" altLang="ko-KR" sz="2400"/>
              <a:t> </a:t>
            </a:r>
            <a:r>
              <a:rPr lang="ko-KR" altLang="ko-KR" sz="2400" err="1"/>
              <a:t>measurements</a:t>
            </a:r>
            <a:r>
              <a:rPr lang="ko-KR" altLang="ko-KR" sz="2400"/>
              <a:t>: </a:t>
            </a:r>
            <a:r>
              <a:rPr lang="ko-KR" altLang="ko-KR" sz="2400" err="1"/>
              <a:t>median</a:t>
            </a:r>
            <a:r>
              <a:rPr lang="ko-KR" altLang="en-US" sz="2400"/>
              <a:t> </a:t>
            </a:r>
            <a:r>
              <a:rPr lang="en-US" altLang="ko-KR" sz="2400"/>
              <a:t>cycle counts</a:t>
            </a:r>
            <a:r>
              <a:rPr lang="ko-KR" altLang="ko-KR" sz="2400"/>
              <a:t> </a:t>
            </a:r>
            <a:r>
              <a:rPr lang="en-US" altLang="ko-KR" sz="2400"/>
              <a:t>over</a:t>
            </a:r>
            <a:r>
              <a:rPr lang="ko-KR" altLang="ko-KR" sz="2400"/>
              <a:t> 100 </a:t>
            </a:r>
            <a:r>
              <a:rPr lang="ko-KR" altLang="ko-KR" sz="2400" err="1"/>
              <a:t>executions</a:t>
            </a:r>
            <a:endParaRPr lang="en-US" altLang="ko-KR" sz="240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EA49C24-7EE9-51B8-56CE-47914D30C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747739"/>
              </p:ext>
            </p:extLst>
          </p:nvPr>
        </p:nvGraphicFramePr>
        <p:xfrm>
          <a:off x="1132114" y="3681412"/>
          <a:ext cx="9927771" cy="2785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464519576"/>
                    </a:ext>
                  </a:extLst>
                </a:gridCol>
                <a:gridCol w="7416800">
                  <a:extLst>
                    <a:ext uri="{9D8B030D-6E8A-4147-A177-3AD203B41FA5}">
                      <a16:colId xmlns:a16="http://schemas.microsoft.com/office/drawing/2014/main" val="683004827"/>
                    </a:ext>
                  </a:extLst>
                </a:gridCol>
              </a:tblGrid>
              <a:tr h="374221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/>
                        <a:t>Component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/>
                        <a:t>Measured Backend 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230985"/>
                  </a:ext>
                </a:extLst>
              </a:tr>
              <a:tr h="374221"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/>
                        <a:t>Hybrid composition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 b="1">
                          <a:solidFill>
                            <a:srgbClr val="FF0000"/>
                          </a:solidFill>
                        </a:rPr>
                        <a:t>(Ours) </a:t>
                      </a:r>
                      <a:r>
                        <a:rPr lang="en" altLang="ko-KR" b="1">
                          <a:solidFill>
                            <a:schemeClr val="tx1"/>
                          </a:solidFill>
                        </a:rPr>
                        <a:t>Hash-CT KEM and AND-combiner wrappers 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89416"/>
                  </a:ext>
                </a:extLst>
              </a:tr>
              <a:tr h="374221"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/>
                        <a:t>PQC implementations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 err="1"/>
                        <a:t>PQClean</a:t>
                      </a:r>
                      <a:r>
                        <a:rPr lang="en" altLang="ko-KR"/>
                        <a:t>, pqm4, </a:t>
                      </a:r>
                      <a:r>
                        <a:rPr lang="en" altLang="ko-KR" err="1"/>
                        <a:t>mupq</a:t>
                      </a:r>
                      <a:r>
                        <a:rPr lang="en" altLang="ko-KR"/>
                        <a:t>, and </a:t>
                      </a:r>
                      <a:r>
                        <a:rPr lang="en" altLang="ko-KR" err="1"/>
                        <a:t>KpqClean</a:t>
                      </a:r>
                      <a:r>
                        <a:rPr lang="en" altLang="ko-KR"/>
                        <a:t> Ver2 with Cortex-M4 backends 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91192"/>
                  </a:ext>
                </a:extLst>
              </a:tr>
              <a:tr h="374221"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/>
                        <a:t>SMAUG-T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 b="1">
                          <a:solidFill>
                            <a:srgbClr val="FF0000"/>
                          </a:solidFill>
                        </a:rPr>
                        <a:t>(Ours) </a:t>
                      </a:r>
                      <a:r>
                        <a:rPr lang="en" altLang="ko-KR" b="1">
                          <a:solidFill>
                            <a:schemeClr val="tx1"/>
                          </a:solidFill>
                        </a:rPr>
                        <a:t>polynomial-multiplication assembly 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021282"/>
                  </a:ext>
                </a:extLst>
              </a:tr>
              <a:tr h="645916"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/>
                        <a:t>Classical primitives 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" altLang="ko-KR" b="0">
                          <a:solidFill>
                            <a:schemeClr val="tx1"/>
                          </a:solidFill>
                        </a:rPr>
                        <a:t>Lenngren X25519/P-256 assembly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" altLang="ko-KR" b="0">
                          <a:solidFill>
                            <a:schemeClr val="tx1"/>
                          </a:solidFill>
                        </a:rPr>
                        <a:t>TweetNaCl Ed25519 C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en" altLang="ko-KR" b="0">
                          <a:solidFill>
                            <a:schemeClr val="tx1"/>
                          </a:solidFill>
                        </a:rPr>
                        <a:t>mbedTLS-C ECDSA-P256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2819887"/>
                  </a:ext>
                </a:extLst>
              </a:tr>
              <a:tr h="374221"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/>
                        <a:t>Symmetric primitives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" altLang="ko-KR"/>
                        <a:t>Assembly Keccak-f[1600] and ARMv7-M SHA-256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878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36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B773-3D94-8FC2-D429-CF4F013C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B097D-ABC2-BE6C-A13F-9E4DA457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latin typeface="+mj-ea"/>
              </a:rPr>
              <a:t>Hybrid KEM Performance on Cortex-M4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716D32-3105-4E20-B97A-C7CE23D439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en-US" sz="2000"/>
              <a:t>With X25519 fixed as the classical component, performance differences are driven mainly by the selected PQ KEM.</a:t>
            </a:r>
          </a:p>
          <a:p>
            <a:r>
              <a:rPr kumimoji="1" lang="en" altLang="en-US" sz="2000" b="1"/>
              <a:t>ML-KEM, NTRU+, and SMAUG-T fall within a comparable range of 3.72–8.77 M total cycles.</a:t>
            </a:r>
          </a:p>
          <a:p>
            <a:r>
              <a:rPr kumimoji="1" lang="en" altLang="en-US" sz="2000"/>
              <a:t>HQC requires 19.64–74.47 M cycles, partly reflecting the additional Hash-CT hashing cost of its large ciphertext.</a:t>
            </a:r>
          </a:p>
          <a:p>
            <a:r>
              <a:rPr kumimoji="1" lang="en" altLang="en-US" sz="2000" b="1"/>
              <a:t>Total represents aggregate computational work, not protocol latency.</a:t>
            </a:r>
          </a:p>
          <a:p>
            <a:endParaRPr kumimoji="1" lang="ko-Kore-KR" altLang="en-US" sz="2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E27623-DD25-2966-3CD9-8460FDB82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291" b="-1"/>
          <a:stretch>
            <a:fillRect/>
          </a:stretch>
        </p:blipFill>
        <p:spPr>
          <a:xfrm>
            <a:off x="3089863" y="3797085"/>
            <a:ext cx="5649690" cy="2092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6570E3-FAC6-C38A-2917-71F3F5AEE5CE}"/>
              </a:ext>
            </a:extLst>
          </p:cNvPr>
          <p:cNvSpPr txBox="1"/>
          <p:nvPr/>
        </p:nvSpPr>
        <p:spPr>
          <a:xfrm>
            <a:off x="3457136" y="5955359"/>
            <a:ext cx="5277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i="1"/>
              <a:t>Table 1 Hash-CT hybrid KEM measurements on Cortex-M4 (PQ+X25519)</a:t>
            </a:r>
            <a:endParaRPr kumimoji="1" lang="ko-KR" altLang="en-US" sz="1200" i="1"/>
          </a:p>
        </p:txBody>
      </p:sp>
    </p:spTree>
    <p:extLst>
      <p:ext uri="{BB962C8B-B14F-4D97-AF65-F5344CB8AC3E}">
        <p14:creationId xmlns:p14="http://schemas.microsoft.com/office/powerpoint/2010/main" val="805572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55AC-85BD-E1C2-0C83-3D0C88C6C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25943-81AB-C03D-4312-55968A05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Hybrid Signature Performance on Cortex-M4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61C929-89BB-ECAE-672B-E5A5F0C5D4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en-US" sz="2000"/>
              <a:t>The dominant cost component varies across signature families.</a:t>
            </a:r>
          </a:p>
          <a:p>
            <a:r>
              <a:rPr kumimoji="1" lang="en" altLang="en-US" sz="2000" b="1"/>
              <a:t>ML-DSA provides the lowest signing cost: 15.04–18.09 M cycles.</a:t>
            </a:r>
          </a:p>
          <a:p>
            <a:r>
              <a:rPr kumimoji="1" lang="en" altLang="en-US" sz="2000"/>
              <a:t>FN-DSA verifies in </a:t>
            </a:r>
            <a:r>
              <a:rPr kumimoji="1" lang="en" altLang="en-US" sz="2000" b="1"/>
              <a:t>6.55–6.92 M</a:t>
            </a:r>
            <a:r>
              <a:rPr kumimoji="1" lang="en" altLang="en-US" sz="2000"/>
              <a:t> cycles, but key generation reaches </a:t>
            </a:r>
            <a:r>
              <a:rPr kumimoji="1" lang="en" altLang="en-US" sz="2000" b="1"/>
              <a:t>75.09–263.70 M cycles.</a:t>
            </a:r>
            <a:endParaRPr kumimoji="1" lang="ko-Kore-KR" altLang="en-US" sz="2000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834544-1C23-7C10-8923-059D345FA3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972"/>
          <a:stretch>
            <a:fillRect/>
          </a:stretch>
        </p:blipFill>
        <p:spPr>
          <a:xfrm>
            <a:off x="2736277" y="3002796"/>
            <a:ext cx="6719446" cy="16604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8FEF1-FF63-6359-85A5-F38F53B33DFF}"/>
              </a:ext>
            </a:extLst>
          </p:cNvPr>
          <p:cNvSpPr txBox="1"/>
          <p:nvPr/>
        </p:nvSpPr>
        <p:spPr>
          <a:xfrm>
            <a:off x="3671763" y="4707328"/>
            <a:ext cx="5126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i="1"/>
              <a:t>Table 2 Primary hybrid DSA measurements on Cortex-M4(PQ+Ed25519)</a:t>
            </a:r>
            <a:endParaRPr kumimoji="1" lang="ko-KR" altLang="en-US" sz="1200" i="1"/>
          </a:p>
        </p:txBody>
      </p:sp>
    </p:spTree>
    <p:extLst>
      <p:ext uri="{BB962C8B-B14F-4D97-AF65-F5344CB8AC3E}">
        <p14:creationId xmlns:p14="http://schemas.microsoft.com/office/powerpoint/2010/main" val="242673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6F2C-C941-6D96-BB7C-367D9F89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525C4-D727-B79B-80DF-045E2BB3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Observed </a:t>
            </a:r>
            <a:r>
              <a:rPr lang="en-US" altLang="ko-KR" err="1">
                <a:latin typeface="+mj-ea"/>
              </a:rPr>
              <a:t>Kengen</a:t>
            </a:r>
            <a:r>
              <a:rPr lang="en-US" altLang="ko-KR">
                <a:latin typeface="+mj-ea"/>
              </a:rPr>
              <a:t> and Signing-Time Variability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276ABB-A3B2-D7E1-82FE-B1339E4D68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440318" cy="5057775"/>
          </a:xfrm>
        </p:spPr>
        <p:txBody>
          <a:bodyPr>
            <a:normAutofit/>
          </a:bodyPr>
          <a:lstStyle/>
          <a:p>
            <a:r>
              <a:rPr kumimoji="1" lang="en" altLang="en-US" sz="2000"/>
              <a:t>Reporting medians alone can hide substantial rejection-sampling variability.</a:t>
            </a:r>
          </a:p>
          <a:p>
            <a:r>
              <a:rPr kumimoji="1" lang="en" altLang="en-US" sz="2000" b="1"/>
              <a:t>HAETAE shows the widest observed spread: up to 5.03× for </a:t>
            </a:r>
            <a:r>
              <a:rPr kumimoji="1" lang="en" altLang="en-US" sz="2000" b="1" err="1"/>
              <a:t>KeyGen</a:t>
            </a:r>
            <a:r>
              <a:rPr kumimoji="1" lang="en" altLang="en-US" sz="2000" b="1"/>
              <a:t> and 4.62× for signing.</a:t>
            </a:r>
          </a:p>
          <a:p>
            <a:r>
              <a:rPr kumimoji="1" lang="en" altLang="en-US" sz="2000"/>
              <a:t>FN-DSA signing shows little observed variability, with max/median ≤ 1.01×.</a:t>
            </a:r>
            <a:endParaRPr kumimoji="1" lang="ko-Kore-KR" altLang="en-US" sz="2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A2851D-611B-BC57-8DF5-D798204EF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02"/>
          <a:stretch>
            <a:fillRect/>
          </a:stretch>
        </p:blipFill>
        <p:spPr>
          <a:xfrm>
            <a:off x="3221753" y="2922183"/>
            <a:ext cx="5748495" cy="2114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A5E91-E731-1E43-7DA4-E427423BED0B}"/>
              </a:ext>
            </a:extLst>
          </p:cNvPr>
          <p:cNvSpPr txBox="1"/>
          <p:nvPr/>
        </p:nvSpPr>
        <p:spPr>
          <a:xfrm>
            <a:off x="3797774" y="5081200"/>
            <a:ext cx="4596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i="1"/>
              <a:t>Table 3 Observed key-generation and signing variability(N=100)</a:t>
            </a:r>
            <a:endParaRPr kumimoji="1" lang="ko-KR" altLang="en-US" sz="1200" i="1"/>
          </a:p>
        </p:txBody>
      </p:sp>
    </p:spTree>
    <p:extLst>
      <p:ext uri="{BB962C8B-B14F-4D97-AF65-F5344CB8AC3E}">
        <p14:creationId xmlns:p14="http://schemas.microsoft.com/office/powerpoint/2010/main" val="777678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CB71-7122-4CEE-1194-EE99F1FC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76895-4E18-AD54-E0F0-E1045783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Sensitivity to the Keccak Backend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0D109F-3F3D-DFF6-08C9-41D0090182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en-US" sz="2000"/>
              <a:t>A shared Keccak backend affects multiple schemes without changing their arithmetic code.</a:t>
            </a:r>
          </a:p>
          <a:p>
            <a:r>
              <a:rPr kumimoji="1" lang="en" altLang="en-US" sz="2000" b="1"/>
              <a:t>SHAKE-intensive schemes benefit most from the assembly backend.</a:t>
            </a:r>
          </a:p>
          <a:p>
            <a:r>
              <a:rPr kumimoji="1" lang="en" altLang="en-US" sz="2000"/>
              <a:t>Speedup reaches </a:t>
            </a:r>
            <a:r>
              <a:rPr kumimoji="1" lang="en" altLang="en-US" sz="2000" b="1"/>
              <a:t>2.16× for SPHINCS+-SHAKE-256f</a:t>
            </a:r>
            <a:r>
              <a:rPr kumimoji="1" lang="en" altLang="en-US" sz="2000"/>
              <a:t>, while control configurations remain </a:t>
            </a:r>
            <a:br>
              <a:rPr kumimoji="1" lang="en" altLang="en-US" sz="2000"/>
            </a:br>
            <a:r>
              <a:rPr kumimoji="1" lang="en" altLang="en-US" sz="2000"/>
              <a:t>at 1.00×.</a:t>
            </a:r>
          </a:p>
          <a:p>
            <a:endParaRPr kumimoji="1" lang="ko-Kore-KR" altLang="en-US" sz="2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EE4238-0D2A-F9BF-529D-149D3E54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97"/>
          <a:stretch>
            <a:fillRect/>
          </a:stretch>
        </p:blipFill>
        <p:spPr>
          <a:xfrm>
            <a:off x="3190701" y="3429000"/>
            <a:ext cx="5579226" cy="1363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E2655-55B1-3784-E6EF-BC51284F1820}"/>
              </a:ext>
            </a:extLst>
          </p:cNvPr>
          <p:cNvSpPr txBox="1"/>
          <p:nvPr/>
        </p:nvSpPr>
        <p:spPr>
          <a:xfrm>
            <a:off x="4551987" y="4817633"/>
            <a:ext cx="3088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i="1"/>
              <a:t>Table 4</a:t>
            </a:r>
            <a:r>
              <a:rPr kumimoji="1" lang="ko-KR" altLang="en-US" sz="1200" i="1"/>
              <a:t> </a:t>
            </a:r>
            <a:r>
              <a:rPr kumimoji="1" lang="en-US" altLang="ko-KR" sz="1200" i="1"/>
              <a:t>Keccak-f[1600] backend attribution</a:t>
            </a:r>
            <a:endParaRPr kumimoji="1" lang="ko-KR" altLang="en-US" sz="1200" i="1"/>
          </a:p>
        </p:txBody>
      </p:sp>
    </p:spTree>
    <p:extLst>
      <p:ext uri="{BB962C8B-B14F-4D97-AF65-F5344CB8AC3E}">
        <p14:creationId xmlns:p14="http://schemas.microsoft.com/office/powerpoint/2010/main" val="3287616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7FF4-B52F-FBE7-E80D-67E7EFE7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6C94-779A-B413-A372-0BC886D3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Optimization Dilution in Hybrid SMAUG-T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33CE9A-B17E-9441-D76A-F910D7546E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en-US" sz="2000"/>
              <a:t>Primitive-level speedups do not translate directly into equivalent hybrid-level gains.</a:t>
            </a:r>
          </a:p>
          <a:p>
            <a:r>
              <a:rPr kumimoji="1" lang="en" altLang="en-US" sz="2000" b="1"/>
              <a:t>The standalone SMAUG-T implementation achieves a 1.79–1.82× speedup.</a:t>
            </a:r>
          </a:p>
          <a:p>
            <a:r>
              <a:rPr kumimoji="1" lang="en" altLang="en-US" sz="2000"/>
              <a:t>After composition, speedup falls to 1.42–1.65× because 2.56 M cycles of fixed work remain.</a:t>
            </a:r>
            <a:endParaRPr kumimoji="1" lang="ko-Kore-KR" altLang="en-US" sz="2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FEA6D8-177E-4881-0310-1CBA66DA1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628"/>
          <a:stretch>
            <a:fillRect/>
          </a:stretch>
        </p:blipFill>
        <p:spPr>
          <a:xfrm>
            <a:off x="3083329" y="3429000"/>
            <a:ext cx="6025342" cy="937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B0CDF7-5A4B-6FBD-8638-F1FAF525A819}"/>
              </a:ext>
            </a:extLst>
          </p:cNvPr>
          <p:cNvSpPr txBox="1"/>
          <p:nvPr/>
        </p:nvSpPr>
        <p:spPr>
          <a:xfrm>
            <a:off x="3540492" y="4410230"/>
            <a:ext cx="5111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i="1"/>
              <a:t>Table 5</a:t>
            </a:r>
            <a:r>
              <a:rPr kumimoji="1" lang="ko-KR" altLang="en-US" sz="1200" i="1"/>
              <a:t> </a:t>
            </a:r>
            <a:r>
              <a:rPr kumimoji="1" lang="en-US" altLang="ko-KR" sz="1200" i="1"/>
              <a:t>Standalone and composed costs of the local SMAUG-T </a:t>
            </a:r>
            <a:r>
              <a:rPr kumimoji="1" lang="en-US" altLang="ko-KR" sz="1200"/>
              <a:t>backend</a:t>
            </a:r>
            <a:endParaRPr kumimoji="1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1779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2C34-64CE-7604-72AE-D4C45070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8E5BD-60F8-DC13-42E0-5D04905B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Wire Size and Implementation Footprint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9BCAB4-C71C-6FD3-2C08-E1FEF05D6D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493622" cy="5057775"/>
          </a:xfrm>
        </p:spPr>
        <p:txBody>
          <a:bodyPr>
            <a:normAutofit/>
          </a:bodyPr>
          <a:lstStyle/>
          <a:p>
            <a:r>
              <a:rPr kumimoji="1" lang="en" altLang="en-US" sz="2000"/>
              <a:t>No single composition minimizes wire size, stack, and code simultaneously.</a:t>
            </a:r>
          </a:p>
          <a:p>
            <a:r>
              <a:rPr kumimoji="1" lang="en" altLang="en-US" sz="2000" b="1"/>
              <a:t>HQC-128 + X25519 has the largest ciphertext and code estimate among the listed KEM </a:t>
            </a:r>
            <a:br>
              <a:rPr kumimoji="1" lang="en" altLang="en-US" sz="2000" b="1"/>
            </a:br>
            <a:r>
              <a:rPr kumimoji="1" lang="en" altLang="en-US" sz="2000" b="1"/>
              <a:t>compositions.</a:t>
            </a:r>
          </a:p>
          <a:p>
            <a:r>
              <a:rPr kumimoji="1" lang="en" altLang="en-US" sz="2000" b="1"/>
              <a:t>SPHINCS+-SHAKE-128f + Ed25519 has the largest signature.</a:t>
            </a:r>
          </a:p>
          <a:p>
            <a:r>
              <a:rPr kumimoji="1" lang="en" altLang="en-US" sz="2000" b="1"/>
              <a:t>HAETAE2 + Ed25519 </a:t>
            </a:r>
            <a:r>
              <a:rPr kumimoji="1" lang="en" altLang="en-US" sz="2000"/>
              <a:t>has the largest measured peak-stack usage: 83,468 bytes.</a:t>
            </a:r>
            <a:endParaRPr kumimoji="1" lang="ko-Kore-KR" altLang="en-US" sz="2400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F2A02-8A4D-263F-F07E-480D5255E8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741"/>
          <a:stretch>
            <a:fillRect/>
          </a:stretch>
        </p:blipFill>
        <p:spPr>
          <a:xfrm>
            <a:off x="2939745" y="3513085"/>
            <a:ext cx="6405435" cy="1552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2F6B16-E276-B3D4-F9FA-484C049FBC2E}"/>
              </a:ext>
            </a:extLst>
          </p:cNvPr>
          <p:cNvSpPr txBox="1"/>
          <p:nvPr/>
        </p:nvSpPr>
        <p:spPr>
          <a:xfrm>
            <a:off x="3367240" y="5121295"/>
            <a:ext cx="5457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i="1"/>
              <a:t>Table 6</a:t>
            </a:r>
            <a:r>
              <a:rPr kumimoji="1" lang="ko-KR" altLang="en-US" sz="1200" i="1"/>
              <a:t> </a:t>
            </a:r>
            <a:r>
              <a:rPr kumimoji="1" lang="en-US" altLang="ko-KR" sz="1200" i="1"/>
              <a:t>Wire size and implementation footprint of representative compositions</a:t>
            </a:r>
            <a:endParaRPr kumimoji="1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6835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B3A1-2DCE-A6C2-166F-3814FC91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8581A-4E41-CDCC-F290-82B070D7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latin typeface="+mj-ea"/>
              </a:rPr>
              <a:t> </a:t>
            </a:r>
            <a:r>
              <a:rPr lang="en-US" altLang="ko-KR">
                <a:latin typeface="+mj-ea"/>
              </a:rPr>
              <a:t>Conclusion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1F784F-1C0D-7849-BC29-476C2817A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en-US" sz="2000"/>
              <a:t>We evaluated </a:t>
            </a:r>
            <a:r>
              <a:rPr kumimoji="1" lang="en" altLang="en-US" sz="2000" err="1"/>
              <a:t>KpqC</a:t>
            </a:r>
            <a:r>
              <a:rPr kumimoji="1" lang="ko-KR" altLang="en-US" sz="2000"/>
              <a:t> </a:t>
            </a:r>
            <a:r>
              <a:rPr kumimoji="1" lang="en-US" altLang="ko-KR" sz="2000"/>
              <a:t>and </a:t>
            </a:r>
            <a:r>
              <a:rPr kumimoji="1" lang="en" altLang="en-US" sz="2000"/>
              <a:t>NIST hybrid KEMs and signatures using a common bare-metal ARM </a:t>
            </a:r>
            <a:br>
              <a:rPr kumimoji="1" lang="en" altLang="en-US" sz="2000"/>
            </a:br>
            <a:r>
              <a:rPr kumimoji="1" lang="en" altLang="en-US" sz="2000"/>
              <a:t>Cortex-M4 harness.</a:t>
            </a:r>
          </a:p>
          <a:p>
            <a:endParaRPr kumimoji="1" lang="en" altLang="en-US" sz="2000"/>
          </a:p>
          <a:p>
            <a:r>
              <a:rPr kumimoji="1" lang="en" altLang="en-US" sz="2000"/>
              <a:t>Performance at the hybrid-composition level can differ from</a:t>
            </a:r>
          </a:p>
          <a:p>
            <a:pPr lvl="1"/>
            <a:r>
              <a:rPr kumimoji="1" lang="en" altLang="en-US" sz="1800"/>
              <a:t>Shared backends affect SHAKE-intensive signatures.</a:t>
            </a:r>
          </a:p>
          <a:p>
            <a:pPr lvl="1"/>
            <a:r>
              <a:rPr kumimoji="1" lang="en" altLang="en-US" sz="1800"/>
              <a:t>Median-only results can hide observed timing variability.</a:t>
            </a:r>
          </a:p>
          <a:p>
            <a:pPr lvl="1"/>
            <a:r>
              <a:rPr kumimoji="1" lang="en" altLang="en-US" sz="1800"/>
              <a:t>Classical operations, hashing, and wrapper costs dilute standalone optimization gains.</a:t>
            </a:r>
          </a:p>
          <a:p>
            <a:pPr lvl="1"/>
            <a:endParaRPr kumimoji="1" lang="en" altLang="en-US" sz="1800"/>
          </a:p>
          <a:p>
            <a:r>
              <a:rPr kumimoji="1" lang="en" altLang="en-US" sz="2000"/>
              <a:t>These observations serve as controls and case studies; they are not claimed to be unique </a:t>
            </a:r>
            <a:br>
              <a:rPr kumimoji="1" lang="en" altLang="en-US" sz="2000"/>
            </a:br>
            <a:r>
              <a:rPr kumimoji="1" lang="en" altLang="en-US" sz="2000"/>
              <a:t>to hybrid composition.</a:t>
            </a:r>
          </a:p>
          <a:p>
            <a:endParaRPr kumimoji="1" lang="en" altLang="en-US" sz="2000"/>
          </a:p>
          <a:p>
            <a:r>
              <a:rPr kumimoji="1" lang="en" altLang="en-US" sz="2000"/>
              <a:t>Hybrid-PQC evaluations should document backend provenance and sample counts, and assess optimizations within the full composition.</a:t>
            </a:r>
            <a:endParaRPr kumimoji="1" lang="ko-Kore-KR" altLang="en-US" sz="2000"/>
          </a:p>
        </p:txBody>
      </p:sp>
    </p:spTree>
    <p:extLst>
      <p:ext uri="{BB962C8B-B14F-4D97-AF65-F5344CB8AC3E}">
        <p14:creationId xmlns:p14="http://schemas.microsoft.com/office/powerpoint/2010/main" val="2529309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3457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3E351AFA-C5CD-FF45-AA6F-7CB5D626CE94}"/>
    </a:ext>
  </a:extLst>
</a:theme>
</file>

<file path=ppt/theme/theme2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9E614CC1-025E-7F4F-ADE5-A242777675E7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제목 테마</Template>
  <TotalTime>0</TotalTime>
  <Words>1258</Words>
  <Application>Microsoft Macintosh PowerPoint</Application>
  <PresentationFormat>와이드스크린</PresentationFormat>
  <Paragraphs>170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Liberation Serif</vt:lpstr>
      <vt:lpstr>Arial</vt:lpstr>
      <vt:lpstr>Cambria Math</vt:lpstr>
      <vt:lpstr>제목 테마</vt:lpstr>
      <vt:lpstr>CryptoCraft 테마</vt:lpstr>
      <vt:lpstr>Evaluating Hybrid KEM/DSA for KpqC and NIST PQC on ARM Cortex-M4</vt:lpstr>
      <vt:lpstr>PowerPoint 프레젠테이션</vt:lpstr>
      <vt:lpstr>Introduction</vt:lpstr>
      <vt:lpstr>Introduction</vt:lpstr>
      <vt:lpstr>Contributions</vt:lpstr>
      <vt:lpstr>Background: X-Wing and Hash-CT QSF</vt:lpstr>
      <vt:lpstr>Background: X-wing and Hash-CT QSF</vt:lpstr>
      <vt:lpstr>Background: Hybrid Signature Combiner</vt:lpstr>
      <vt:lpstr>Hybrid Signature: Concat Mode</vt:lpstr>
      <vt:lpstr>Hybrid Signature: Strong-Nesting Mode</vt:lpstr>
      <vt:lpstr>Experimental Setup</vt:lpstr>
      <vt:lpstr>Hybrid KEM Performance on Cortex-M4</vt:lpstr>
      <vt:lpstr>Hybrid Signature Performance on Cortex-M4</vt:lpstr>
      <vt:lpstr>Observed Kengen and Signing-Time Variability</vt:lpstr>
      <vt:lpstr>Sensitivity to the Keccak Backend</vt:lpstr>
      <vt:lpstr>Optimization Dilution in Hybrid SMAUG-T</vt:lpstr>
      <vt:lpstr>Wire Size and Implementation Footprint</vt:lpstr>
      <vt:lpstr> Conclusion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심민주</cp:lastModifiedBy>
  <cp:revision>4</cp:revision>
  <dcterms:created xsi:type="dcterms:W3CDTF">2026-08-23T09:31:07Z</dcterms:created>
  <dcterms:modified xsi:type="dcterms:W3CDTF">2026-08-29T04:39:49Z</dcterms:modified>
  <cp:category/>
</cp:coreProperties>
</file>