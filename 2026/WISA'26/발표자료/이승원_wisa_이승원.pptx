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9"/>
    <p:restoredTop sz="71647"/>
  </p:normalViewPr>
  <p:slideViewPr>
    <p:cSldViewPr snapToGrid="0">
      <p:cViewPr varScale="1">
        <p:scale>
          <a:sx n="78" d="100"/>
          <a:sy n="78" d="100"/>
        </p:scale>
        <p:origin x="2048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Hello, / I’m Seung-Won Lee / from </a:t>
            </a:r>
            <a:r>
              <a:rPr lang="en-US" sz="1100" dirty="0" err="1"/>
              <a:t>Hansung</a:t>
            </a:r>
            <a:r>
              <a:rPr lang="en-US" sz="1100" dirty="0"/>
              <a:t> University. /</a:t>
            </a:r>
          </a:p>
          <a:p>
            <a:pPr>
              <a:buNone/>
            </a:pPr>
            <a:r>
              <a:rPr lang="en-US" sz="1100" dirty="0"/>
              <a:t>Today, / I will present our work on / “Accelerating(</a:t>
            </a:r>
            <a:r>
              <a:rPr lang="ko-KR" altLang="en-US" sz="1100" dirty="0" err="1"/>
              <a:t>액셀러레이팅</a:t>
            </a:r>
            <a:r>
              <a:rPr lang="en-US" altLang="ko-KR" sz="1100" dirty="0"/>
              <a:t>)</a:t>
            </a:r>
            <a:r>
              <a:rPr lang="en-US" sz="1100" dirty="0"/>
              <a:t> the </a:t>
            </a:r>
            <a:r>
              <a:rPr lang="en-US" sz="1100" dirty="0" err="1"/>
              <a:t>AIMer</a:t>
            </a:r>
            <a:r>
              <a:rPr lang="en-US" sz="1100" dirty="0"/>
              <a:t> Post-Quantum Signature with AVX-512.”</a:t>
            </a:r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First, / let me explain / the background of this work. //</a:t>
            </a:r>
          </a:p>
          <a:p>
            <a:pPr>
              <a:buNone/>
            </a:pPr>
            <a:r>
              <a:rPr lang="en-US" sz="1100" dirty="0" err="1"/>
              <a:t>AIMer</a:t>
            </a:r>
            <a:r>
              <a:rPr lang="en-US" sz="1100" dirty="0"/>
              <a:t> is a digital signature scheme. //</a:t>
            </a:r>
          </a:p>
          <a:p>
            <a:pPr>
              <a:buNone/>
            </a:pPr>
            <a:r>
              <a:rPr lang="en-US" sz="1100" dirty="0"/>
              <a:t>It is based on / a Symmetric-Key One-Way Function / and an MPC-in-the-Head Zero-Knowledge Proof.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The final </a:t>
            </a:r>
            <a:r>
              <a:rPr lang="en-US" sz="1100" dirty="0" err="1"/>
              <a:t>AIMer</a:t>
            </a:r>
            <a:r>
              <a:rPr lang="en-US" sz="1100" dirty="0"/>
              <a:t> Standard Document  and Reference Code/ were released</a:t>
            </a:r>
            <a:r>
              <a:rPr lang="ko-KR" altLang="en-US" sz="1100" dirty="0"/>
              <a:t> </a:t>
            </a:r>
            <a:r>
              <a:rPr lang="en-US" altLang="ko-KR" sz="1100" dirty="0"/>
              <a:t>On January 30</a:t>
            </a:r>
            <a:r>
              <a:rPr lang="en-US" altLang="ko-KR" sz="1100" baseline="30000" dirty="0"/>
              <a:t>th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써티어스</a:t>
            </a:r>
            <a:r>
              <a:rPr lang="en-US" altLang="ko-KR" sz="1100" dirty="0"/>
              <a:t>), 2026,.</a:t>
            </a:r>
            <a:r>
              <a:rPr lang="en-US" sz="1100" dirty="0"/>
              <a:t> // </a:t>
            </a:r>
          </a:p>
          <a:p>
            <a:pPr>
              <a:buNone/>
            </a:pPr>
            <a:r>
              <a:rPr lang="en-US" sz="1100" dirty="0"/>
              <a:t>However, / the final release included / only the C-based Reference Code. //</a:t>
            </a:r>
          </a:p>
          <a:p>
            <a:pPr>
              <a:buNone/>
            </a:pPr>
            <a:r>
              <a:rPr lang="en-US" sz="1100" dirty="0"/>
              <a:t> It did not include / an optimized implementation</a:t>
            </a:r>
            <a:r>
              <a:rPr lang="en-US" altLang="ko-KR" sz="1100" dirty="0"/>
              <a:t>.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So, / we used the</a:t>
            </a:r>
            <a:r>
              <a:rPr lang="en-US" altLang="ko-KR" sz="1100" dirty="0"/>
              <a:t>(</a:t>
            </a:r>
            <a:r>
              <a:rPr lang="ko-KR" altLang="en-US" sz="1100" dirty="0"/>
              <a:t>디</a:t>
            </a:r>
            <a:r>
              <a:rPr lang="en-US" altLang="ko-KR" sz="1100" dirty="0"/>
              <a:t>)</a:t>
            </a:r>
            <a:r>
              <a:rPr lang="en-US" sz="1100" dirty="0"/>
              <a:t> existing AVX2 implementation / from </a:t>
            </a:r>
            <a:r>
              <a:rPr lang="en-US" sz="1100" dirty="0" err="1"/>
              <a:t>KpqClean</a:t>
            </a:r>
            <a:r>
              <a:rPr lang="en-US" sz="1100" dirty="0"/>
              <a:t>. //</a:t>
            </a:r>
          </a:p>
          <a:p>
            <a:pPr>
              <a:buNone/>
            </a:pPr>
            <a:r>
              <a:rPr lang="en-US" sz="1100" dirty="0"/>
              <a:t>First, / we integrated </a:t>
            </a:r>
            <a:r>
              <a:rPr lang="en-US" altLang="ko-KR" sz="1100" dirty="0"/>
              <a:t>/</a:t>
            </a:r>
            <a:r>
              <a:rPr lang="en-US" sz="1100" dirty="0"/>
              <a:t>the Reference implementation  and the AVX2 implementation / into </a:t>
            </a:r>
            <a:r>
              <a:rPr lang="en-US" sz="1100" dirty="0" err="1"/>
              <a:t>liboqs</a:t>
            </a:r>
            <a:r>
              <a:rPr lang="en-US" sz="1100" dirty="0"/>
              <a:t>. // </a:t>
            </a:r>
          </a:p>
          <a:p>
            <a:pPr>
              <a:buNone/>
            </a:pPr>
            <a:r>
              <a:rPr lang="en-US" sz="1100" dirty="0"/>
              <a:t>Then, / we extended this implementation / to AVX-512. // </a:t>
            </a:r>
          </a:p>
        </p:txBody>
      </p:sp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Next, / let me explain / the </a:t>
            </a:r>
            <a:r>
              <a:rPr lang="en-US" sz="1100" dirty="0" err="1"/>
              <a:t>AIMer</a:t>
            </a:r>
            <a:r>
              <a:rPr lang="en-US" sz="1100" dirty="0"/>
              <a:t> structure and our optimization targets. //</a:t>
            </a:r>
          </a:p>
          <a:p>
            <a:pPr>
              <a:buNone/>
            </a:pPr>
            <a:r>
              <a:rPr lang="en-US" sz="1100" dirty="0"/>
              <a:t>On the left, / you can see / a simplified </a:t>
            </a:r>
            <a:r>
              <a:rPr lang="en-US" sz="1100" dirty="0" err="1"/>
              <a:t>AIMer</a:t>
            </a:r>
            <a:r>
              <a:rPr lang="en-US" sz="1100" dirty="0"/>
              <a:t> signing structure. //</a:t>
            </a:r>
          </a:p>
          <a:p>
            <a:pPr>
              <a:buNone/>
            </a:pPr>
            <a:r>
              <a:rPr lang="en-US" sz="1100" dirty="0" err="1"/>
              <a:t>AIMer</a:t>
            </a:r>
            <a:r>
              <a:rPr lang="en-US" sz="1100" dirty="0"/>
              <a:t> uses </a:t>
            </a:r>
            <a:r>
              <a:rPr lang="en-US" sz="1100" dirty="0" err="1"/>
              <a:t>MPCitH</a:t>
            </a:r>
            <a:r>
              <a:rPr lang="en-US" sz="1100" dirty="0"/>
              <a:t> / based on the Secret Key. //</a:t>
            </a:r>
          </a:p>
          <a:p>
            <a:pPr>
              <a:buNone/>
            </a:pPr>
            <a:r>
              <a:rPr lang="en-US" sz="1100" dirty="0"/>
              <a:t>Here, / we have two main repeated operations. //</a:t>
            </a:r>
            <a:endParaRPr lang="en-US" sz="500" dirty="0"/>
          </a:p>
          <a:p>
            <a:pPr>
              <a:buNone/>
            </a:pPr>
            <a:r>
              <a:rPr lang="en-US" sz="1100" dirty="0"/>
              <a:t>First, / N Virtual Parties perform / the AIM2 computation. //</a:t>
            </a:r>
          </a:p>
          <a:p>
            <a:pPr>
              <a:buNone/>
            </a:pPr>
            <a:r>
              <a:rPr lang="en-US" sz="1100" dirty="0"/>
              <a:t>During this process, / GF(2^λ)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지에프</a:t>
            </a:r>
            <a:r>
              <a:rPr lang="ko-KR" altLang="ko-KR" sz="1100" i="1" dirty="0"/>
              <a:t> 오브 투 투 더 람다 </a:t>
            </a:r>
            <a:r>
              <a:rPr lang="en-US" sz="1100" dirty="0"/>
              <a:t> Field Operations / are repeated many times. </a:t>
            </a:r>
          </a:p>
          <a:p>
            <a:pPr>
              <a:buNone/>
            </a:pPr>
            <a:r>
              <a:rPr lang="en-US" sz="1100" dirty="0"/>
              <a:t> Second, / Keccak/SHAKE is used many times / for Commitment and Challenge Generation. </a:t>
            </a:r>
          </a:p>
          <a:p>
            <a:pPr>
              <a:buNone/>
            </a:pPr>
            <a:r>
              <a:rPr lang="en-US" sz="1100" dirty="0"/>
              <a:t> So, / we focused on / these two parts.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Now, / let’s look at the two graphs / on the right. //</a:t>
            </a:r>
          </a:p>
          <a:p>
            <a:pPr>
              <a:buNone/>
            </a:pPr>
            <a:r>
              <a:rPr lang="en-US" sz="1100" dirty="0"/>
              <a:t>For the Reference implementation, / the share of Field Operations is about / 76 percent</a:t>
            </a:r>
            <a:r>
              <a:rPr lang="en-US" altLang="ko-KR" sz="1100" dirty="0"/>
              <a:t>.</a:t>
            </a:r>
            <a:endParaRPr lang="en-US" sz="1100" dirty="0"/>
          </a:p>
          <a:p>
            <a:pPr>
              <a:buNone/>
            </a:pPr>
            <a:r>
              <a:rPr lang="en-US" sz="1100" dirty="0"/>
              <a:t>The share of Keccak/SHAKE is about / 24 percent. //</a:t>
            </a:r>
          </a:p>
          <a:p>
            <a:pPr>
              <a:buNone/>
            </a:pPr>
            <a:r>
              <a:rPr lang="en-US" sz="1100" dirty="0"/>
              <a:t>After applying AVX2, / the share of Field Operations drops / to about 20 percent.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But the share of Keccak/SHAKE rises / to about 72 percent. </a:t>
            </a:r>
          </a:p>
          <a:p>
            <a:pPr>
              <a:buNone/>
            </a:pPr>
            <a:r>
              <a:rPr lang="en-US" sz="1100" dirty="0"/>
              <a:t>This means / AVX2 already optimizes / the Field part quite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콰이트</a:t>
            </a:r>
            <a:r>
              <a:rPr lang="en-US" altLang="ko-KR" sz="1100" dirty="0"/>
              <a:t>)</a:t>
            </a:r>
            <a:r>
              <a:rPr lang="en-US" sz="1100" dirty="0"/>
              <a:t> well. //</a:t>
            </a:r>
          </a:p>
          <a:p>
            <a:pPr>
              <a:buNone/>
            </a:pPr>
            <a:r>
              <a:rPr lang="en-US" sz="1100" dirty="0"/>
              <a:t>So, / Keccak/SHAKE becomes / relatively more important. //</a:t>
            </a:r>
          </a:p>
          <a:p>
            <a:pPr>
              <a:buNone/>
            </a:pPr>
            <a:r>
              <a:rPr lang="en-US" sz="1100" dirty="0"/>
              <a:t>For AVX-512, / we optimize both / Field Arithmetic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애리스매틱</a:t>
            </a:r>
            <a:r>
              <a:rPr lang="en-US" altLang="ko-KR" sz="1100" dirty="0"/>
              <a:t>)</a:t>
            </a:r>
            <a:r>
              <a:rPr lang="en-US" sz="1100" dirty="0"/>
              <a:t> and Keccak/SHAKE. //</a:t>
            </a:r>
          </a:p>
          <a:p>
            <a:pPr>
              <a:buNone/>
            </a:pPr>
            <a:r>
              <a:rPr lang="en-US" sz="1100" dirty="0"/>
              <a:t>And based on this profiling result, / we expect / a larger additional gain / from Keccak/SHAKE. //</a:t>
            </a:r>
          </a:p>
        </p:txBody>
      </p:sp>
      <p:sp>
        <p:nvSpPr>
          <p:cNvPr id="61" name="Google Shape;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First, / let’s look at / Field Optimization. //</a:t>
            </a:r>
          </a:p>
          <a:p>
            <a:pPr>
              <a:buNone/>
            </a:pPr>
            <a:r>
              <a:rPr lang="en-US" sz="1100" dirty="0"/>
              <a:t>On the left, / we have GF(2^128)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지에프</a:t>
            </a:r>
            <a:r>
              <a:rPr lang="ko-KR" altLang="ko-KR" sz="1100" i="1" dirty="0"/>
              <a:t> 오브 투 투 더 원-투-</a:t>
            </a:r>
            <a:r>
              <a:rPr lang="ko-KR" altLang="ko-KR" sz="1100" i="1" dirty="0" err="1"/>
              <a:t>에이트</a:t>
            </a:r>
            <a:r>
              <a:rPr lang="en-US" sz="1100" dirty="0"/>
              <a:t>. //</a:t>
            </a:r>
          </a:p>
          <a:p>
            <a:pPr>
              <a:buNone/>
            </a:pPr>
            <a:r>
              <a:rPr lang="en-US" sz="1100" dirty="0"/>
              <a:t>With AVX2, / each Party uses / one 128-bit XMM register. // </a:t>
            </a:r>
          </a:p>
          <a:p>
            <a:pPr>
              <a:buNone/>
            </a:pPr>
            <a:r>
              <a:rPr lang="en-US" sz="1100" dirty="0"/>
              <a:t>PCLMULQDQ processes / each Party separately. //</a:t>
            </a:r>
            <a:endParaRPr lang="en-US" sz="500" dirty="0"/>
          </a:p>
          <a:p>
            <a:pPr>
              <a:buNone/>
            </a:pPr>
            <a:r>
              <a:rPr lang="en-US" sz="1100" dirty="0"/>
              <a:t>So, / Party 0 to Party 3 / are processed separately. //</a:t>
            </a:r>
          </a:p>
          <a:p>
            <a:pPr>
              <a:buNone/>
            </a:pPr>
            <a:r>
              <a:rPr lang="en-US" sz="1100" dirty="0"/>
              <a:t>With AVX-512, / we can use / a 512-bit ZMM register. // </a:t>
            </a:r>
          </a:p>
          <a:p>
            <a:pPr>
              <a:buNone/>
            </a:pPr>
            <a:r>
              <a:rPr lang="en-US" sz="1100" dirty="0"/>
              <a:t>In GF(2^128)</a:t>
            </a:r>
            <a:r>
              <a:rPr lang="en-US" altLang="ko-KR" sz="1100" dirty="0"/>
              <a:t> )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지에프</a:t>
            </a:r>
            <a:r>
              <a:rPr lang="ko-KR" altLang="ko-KR" sz="1100" i="1" dirty="0"/>
              <a:t> 오브 투 투 더 원-투-</a:t>
            </a:r>
            <a:r>
              <a:rPr lang="ko-KR" altLang="ko-KR" sz="1100" i="1" dirty="0" err="1"/>
              <a:t>에이트</a:t>
            </a:r>
            <a:r>
              <a:rPr lang="en-US" altLang="ko-KR" sz="1100" dirty="0"/>
              <a:t>. </a:t>
            </a:r>
            <a:r>
              <a:rPr lang="en-US" sz="1100" dirty="0"/>
              <a:t>, / one Party uses 128 bits. //</a:t>
            </a:r>
          </a:p>
          <a:p>
            <a:pPr>
              <a:buNone/>
            </a:pPr>
            <a:r>
              <a:rPr lang="en-US" sz="1100" dirty="0"/>
              <a:t> So, / we can pack four Parties / into one ZMM register. //</a:t>
            </a:r>
          </a:p>
          <a:p>
            <a:pPr>
              <a:buNone/>
            </a:pPr>
            <a:r>
              <a:rPr lang="en-US" sz="1100" dirty="0"/>
              <a:t>Then, / VPCLMULQDQ processes / all four Parties in parallel.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Now, / let’s look at / GF(2^192)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지에프</a:t>
            </a:r>
            <a:r>
              <a:rPr lang="ko-KR" altLang="ko-KR" sz="1100" i="1" dirty="0"/>
              <a:t> 오브 투 투 더 원-나인-투</a:t>
            </a:r>
            <a:r>
              <a:rPr lang="en-US" sz="1100" dirty="0"/>
              <a:t>. //</a:t>
            </a:r>
          </a:p>
          <a:p>
            <a:pPr>
              <a:buNone/>
            </a:pPr>
            <a:r>
              <a:rPr lang="en-US" sz="1100" dirty="0"/>
              <a:t>One element is / 128 bits plus 64 bits. //</a:t>
            </a:r>
          </a:p>
          <a:p>
            <a:pPr>
              <a:buNone/>
            </a:pPr>
            <a:r>
              <a:rPr lang="en-US" sz="1100" dirty="0"/>
              <a:t>So, / the</a:t>
            </a:r>
            <a:r>
              <a:rPr lang="en-US" altLang="ko-KR" sz="1100" dirty="0"/>
              <a:t>(</a:t>
            </a:r>
            <a:r>
              <a:rPr lang="ko-KR" altLang="en-US" sz="1100" dirty="0"/>
              <a:t>디</a:t>
            </a:r>
            <a:r>
              <a:rPr lang="en-US" altLang="ko-KR" sz="1100" dirty="0"/>
              <a:t>)</a:t>
            </a:r>
            <a:r>
              <a:rPr lang="en-US" sz="1100" dirty="0"/>
              <a:t> actual data takes / 1.5 lanes. //</a:t>
            </a:r>
          </a:p>
          <a:p>
            <a:pPr>
              <a:buNone/>
            </a:pPr>
            <a:r>
              <a:rPr lang="en-US" sz="1100" dirty="0"/>
              <a:t>For four Parties, / we use two ZMM registers. //</a:t>
            </a:r>
          </a:p>
          <a:p>
            <a:pPr>
              <a:buNone/>
            </a:pPr>
            <a:r>
              <a:rPr lang="en-US" sz="1100" dirty="0"/>
              <a:t>The first ZMM stores / the lower 128 bits / of each Party. //</a:t>
            </a:r>
          </a:p>
          <a:p>
            <a:pPr>
              <a:buNone/>
            </a:pPr>
            <a:r>
              <a:rPr lang="en-US" sz="1100" dirty="0"/>
              <a:t>The second ZMM stores / the remaining 64 bits. //</a:t>
            </a:r>
          </a:p>
          <a:p>
            <a:pPr>
              <a:buNone/>
            </a:pPr>
            <a:r>
              <a:rPr lang="en-US" sz="1100" dirty="0"/>
              <a:t>The</a:t>
            </a:r>
            <a:r>
              <a:rPr lang="en-US" altLang="ko-KR" sz="1100" dirty="0"/>
              <a:t>(</a:t>
            </a:r>
            <a:r>
              <a:rPr lang="ko-KR" altLang="en-US" sz="1100" dirty="0"/>
              <a:t>디</a:t>
            </a:r>
            <a:r>
              <a:rPr lang="en-US" altLang="ko-KR" sz="1100" dirty="0"/>
              <a:t>)</a:t>
            </a:r>
            <a:r>
              <a:rPr lang="en-US" sz="1100" dirty="0"/>
              <a:t> unused 64 bits / in each lane / are filled with Zero Padding.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For GF(2^256)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지에프</a:t>
            </a:r>
            <a:r>
              <a:rPr lang="ko-KR" altLang="ko-KR" sz="1100" i="1" dirty="0"/>
              <a:t> 오브 투 투 더 투-파이브-</a:t>
            </a:r>
            <a:r>
              <a:rPr lang="ko-KR" altLang="ko-KR" sz="1100" i="1" dirty="0" err="1"/>
              <a:t>식스</a:t>
            </a:r>
            <a:r>
              <a:rPr lang="en-US" sz="1100" dirty="0"/>
              <a:t>, / the situation is simpler. // </a:t>
            </a:r>
          </a:p>
          <a:p>
            <a:pPr>
              <a:buNone/>
            </a:pPr>
            <a:r>
              <a:rPr lang="en-US" sz="1100" dirty="0"/>
              <a:t>One element uses / exactly two 128-bit lanes. //</a:t>
            </a:r>
          </a:p>
          <a:p>
            <a:pPr>
              <a:buNone/>
            </a:pPr>
            <a:r>
              <a:rPr lang="en-US" sz="1100" dirty="0"/>
              <a:t>So, / four Parties can be packed / into two ZMM registers / without any padding. </a:t>
            </a:r>
          </a:p>
        </p:txBody>
      </p:sp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0dee234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70dee2343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Next, / let’s look at / the Linear Layer. // </a:t>
            </a:r>
          </a:p>
          <a:p>
            <a:pPr>
              <a:buNone/>
            </a:pPr>
            <a:r>
              <a:rPr lang="en-US" sz="1100" dirty="0"/>
              <a:t>The Linear Layer performs / Binary Matrix-Vector Multiplication. //</a:t>
            </a:r>
          </a:p>
          <a:p>
            <a:pPr>
              <a:buNone/>
            </a:pPr>
            <a:r>
              <a:rPr lang="en-US" sz="1100" dirty="0"/>
              <a:t>It XORs a Matrix Row / when the corresponding input bit / is one.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Now, / let’s look at AVX2 / on the left. // </a:t>
            </a:r>
          </a:p>
          <a:p>
            <a:pPr>
              <a:buNone/>
            </a:pPr>
            <a:r>
              <a:rPr lang="en-US" sz="1100" dirty="0"/>
              <a:t>First, / VPAND performs / Mask AND Row. //</a:t>
            </a:r>
          </a:p>
          <a:p>
            <a:pPr>
              <a:buNone/>
            </a:pPr>
            <a:r>
              <a:rPr lang="en-US" sz="1100" dirty="0"/>
              <a:t>This creates / an intermediate value / called </a:t>
            </a:r>
            <a:r>
              <a:rPr lang="en-US" sz="1100" dirty="0" err="1"/>
              <a:t>tmp</a:t>
            </a:r>
            <a:r>
              <a:rPr lang="en-US" sz="1100" dirty="0"/>
              <a:t>. //</a:t>
            </a:r>
          </a:p>
          <a:p>
            <a:pPr>
              <a:buNone/>
            </a:pPr>
            <a:r>
              <a:rPr lang="en-US" sz="1100" dirty="0"/>
              <a:t>Then, / VPXOR performs / Accumulator XOR </a:t>
            </a:r>
            <a:r>
              <a:rPr lang="en-US" sz="1100" dirty="0" err="1"/>
              <a:t>tmp</a:t>
            </a:r>
            <a:r>
              <a:rPr lang="en-US" sz="1100" dirty="0"/>
              <a:t>. // </a:t>
            </a:r>
          </a:p>
          <a:p>
            <a:pPr>
              <a:buNone/>
            </a:pPr>
            <a:r>
              <a:rPr lang="en-US" sz="1100" dirty="0"/>
              <a:t>So, / AVX2 needs / two instructions. 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On the right, / AVX-512 uses / VPTERNLOGQ. // </a:t>
            </a:r>
          </a:p>
          <a:p>
            <a:pPr>
              <a:buNone/>
            </a:pPr>
            <a:r>
              <a:rPr lang="en-US" sz="1100" dirty="0"/>
              <a:t>TERNLOG means / Ternary Logic. //</a:t>
            </a:r>
          </a:p>
          <a:p>
            <a:pPr>
              <a:buNone/>
            </a:pPr>
            <a:r>
              <a:rPr lang="en-US" sz="1100" dirty="0"/>
              <a:t>It can handle / three inputs at the same time. //</a:t>
            </a:r>
          </a:p>
          <a:p>
            <a:pPr>
              <a:buNone/>
            </a:pPr>
            <a:r>
              <a:rPr lang="en-US" sz="1100" dirty="0"/>
              <a:t>Here, / the three inputs are / Mask, Row, and Accumulator. // </a:t>
            </a:r>
          </a:p>
          <a:p>
            <a:pPr>
              <a:buNone/>
            </a:pPr>
            <a:r>
              <a:rPr lang="en-US" sz="1100" dirty="0"/>
              <a:t>So, / VPTERNLOGQ combines / AND and XOR / into one instruction. //</a:t>
            </a:r>
          </a:p>
          <a:p>
            <a:pPr>
              <a:buNone/>
            </a:pPr>
            <a:r>
              <a:rPr lang="en-US" sz="1100" dirty="0"/>
              <a:t>In short, / two instructions / become one. //</a:t>
            </a:r>
          </a:p>
        </p:txBody>
      </p:sp>
      <p:sp>
        <p:nvSpPr>
          <p:cNvPr id="140" name="Google Shape;140;g3f70dee2343_0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0dee234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70dee2343_0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Next, / let’s look at / the first Keccak optimization. //</a:t>
            </a:r>
          </a:p>
          <a:p>
            <a:pPr>
              <a:buNone/>
            </a:pPr>
            <a:r>
              <a:rPr lang="en-US" sz="1100" dirty="0"/>
              <a:t>This is / 4-Way Interleaving. // </a:t>
            </a:r>
          </a:p>
          <a:p>
            <a:pPr>
              <a:buNone/>
            </a:pPr>
            <a:r>
              <a:rPr lang="en-US" sz="1100" dirty="0"/>
              <a:t>One Keccak State has / twenty-five 64-bit lanes. // </a:t>
            </a:r>
          </a:p>
          <a:p>
            <a:pPr>
              <a:buNone/>
            </a:pPr>
            <a:r>
              <a:rPr lang="en-US" sz="1100" dirty="0"/>
              <a:t>So, / one State is / 1600 bits</a:t>
            </a:r>
            <a:r>
              <a:rPr lang="en-US" altLang="ko-KR" sz="1100" dirty="0"/>
              <a:t>(</a:t>
            </a:r>
            <a:r>
              <a:rPr lang="ko-KR" altLang="ko-KR" sz="1100" i="1" dirty="0" err="1"/>
              <a:t>식스틴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헌드레드</a:t>
            </a:r>
            <a:r>
              <a:rPr lang="en-US" altLang="ko-KR" sz="1100" dirty="0"/>
              <a:t>)</a:t>
            </a:r>
            <a:r>
              <a:rPr lang="en-US" sz="1100" dirty="0"/>
              <a:t> in total. //</a:t>
            </a:r>
          </a:p>
          <a:p>
            <a:pPr>
              <a:buNone/>
            </a:pPr>
            <a:r>
              <a:rPr lang="en-US" sz="1100" dirty="0" err="1"/>
              <a:t>AIMer</a:t>
            </a:r>
            <a:r>
              <a:rPr lang="en-US" sz="1100" dirty="0"/>
              <a:t> calls / the Keccak permutation / many times. // </a:t>
            </a:r>
          </a:p>
          <a:p>
            <a:pPr>
              <a:buNone/>
            </a:pPr>
            <a:r>
              <a:rPr lang="en-US" sz="1100" dirty="0"/>
              <a:t>So, / the Keccak computation cost / keeps adding up.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In our implementation, / we interleave / four independent Keccak States. //</a:t>
            </a:r>
          </a:p>
          <a:p>
            <a:pPr>
              <a:buNone/>
            </a:pPr>
            <a:r>
              <a:rPr lang="en-US" sz="1100" dirty="0"/>
              <a:t>For example, / we take A0, B0, C0, and D0 / from four different States. //</a:t>
            </a:r>
          </a:p>
          <a:p>
            <a:pPr>
              <a:buNone/>
            </a:pPr>
            <a:r>
              <a:rPr lang="en-US" sz="1100" dirty="0"/>
              <a:t>Each one is 64 bits. //</a:t>
            </a:r>
          </a:p>
          <a:p>
            <a:pPr>
              <a:buNone/>
            </a:pPr>
            <a:r>
              <a:rPr lang="en-US" sz="1100" dirty="0"/>
              <a:t>Four lanes together / make 256 bits. //</a:t>
            </a:r>
          </a:p>
          <a:p>
            <a:pPr>
              <a:buNone/>
            </a:pPr>
            <a:r>
              <a:rPr lang="en-US" sz="1100" dirty="0"/>
              <a:t>So, / we pack them / into YMM0. // </a:t>
            </a:r>
          </a:p>
          <a:p>
            <a:pPr>
              <a:buNone/>
            </a:pPr>
            <a:r>
              <a:rPr lang="en-US" sz="1100" dirty="0"/>
              <a:t>We do the same thing / for the next lanes. // </a:t>
            </a:r>
          </a:p>
          <a:p>
            <a:pPr>
              <a:buNone/>
            </a:pPr>
            <a:r>
              <a:rPr lang="en-US" sz="1100" dirty="0"/>
              <a:t>A1, B1, C1, and D1 / go into YMM1. //</a:t>
            </a:r>
          </a:p>
          <a:p>
            <a:pPr>
              <a:buNone/>
            </a:pPr>
            <a:r>
              <a:rPr lang="en-US" sz="1100" dirty="0"/>
              <a:t>And we continue / up to YMM24.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AVX-512 provides / 32 vector registers. //</a:t>
            </a:r>
          </a:p>
          <a:p>
            <a:pPr>
              <a:buNone/>
            </a:pPr>
            <a:r>
              <a:rPr lang="en-US" sz="1100" dirty="0"/>
              <a:t>And AVX-512VL lets us use / AVX-512 instructions / on 256-bit YMM registers. // </a:t>
            </a:r>
          </a:p>
          <a:p>
            <a:pPr>
              <a:buNone/>
            </a:pPr>
            <a:endParaRPr lang="en-US" sz="1100" dirty="0"/>
          </a:p>
          <a:p>
            <a:pPr>
              <a:buNone/>
            </a:pPr>
            <a:r>
              <a:rPr lang="en-US" sz="1100" dirty="0"/>
              <a:t>So, / one SIMD instruction can process / the same-position lanes / from four Keccak States / at the same time. </a:t>
            </a:r>
          </a:p>
        </p:txBody>
      </p:sp>
      <p:sp>
        <p:nvSpPr>
          <p:cNvPr id="181" name="Google Shape;181;g3f70dee2343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70dee234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70dee2343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On the previous slide, / we showed how four Keccak States / are arranged for parallel processing. // </a:t>
            </a:r>
          </a:p>
          <a:p>
            <a:pPr>
              <a:buNone/>
            </a:pPr>
            <a:r>
              <a:rPr lang="en-US" sz="1100" dirty="0"/>
              <a:t>Now, / let’s look inside / the Keccak Permutation. //</a:t>
            </a:r>
          </a:p>
          <a:p>
            <a:pPr>
              <a:buNone/>
            </a:pPr>
            <a:r>
              <a:rPr lang="en-US" sz="1100" dirty="0"/>
              <a:t>Our goal here is / to reduce / the number of instructions. //</a:t>
            </a:r>
          </a:p>
          <a:p>
            <a:pPr>
              <a:buNone/>
            </a:pPr>
            <a:r>
              <a:rPr lang="en-US" sz="1100" dirty="0"/>
              <a:t>Keccak has five steps</a:t>
            </a:r>
            <a:r>
              <a:rPr lang="en-US" altLang="ko-KR" sz="1100" dirty="0"/>
              <a:t>.</a:t>
            </a:r>
            <a:r>
              <a:rPr lang="en-US" sz="1100" dirty="0"/>
              <a:t>//</a:t>
            </a:r>
          </a:p>
          <a:p>
            <a:pPr>
              <a:buNone/>
            </a:pPr>
            <a:r>
              <a:rPr lang="en-US" sz="1100" dirty="0"/>
              <a:t>Here, / I will focus on / Rho and Chi. //</a:t>
            </a:r>
          </a:p>
          <a:p>
            <a:pPr>
              <a:buNone/>
            </a:pPr>
            <a:endParaRPr lang="ko-KR" sz="950" i="1" dirty="0"/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First, / Rho performs / a 64-bit Rotate Left. //</a:t>
            </a:r>
          </a:p>
          <a:p>
            <a:pPr>
              <a:buNone/>
            </a:pPr>
            <a:r>
              <a:rPr lang="en-US" sz="1100" dirty="0"/>
              <a:t>With AVX2, / there is no direct vector rotate-left instruction. // </a:t>
            </a:r>
          </a:p>
          <a:p>
            <a:pPr>
              <a:buNone/>
            </a:pPr>
            <a:r>
              <a:rPr lang="en-US" sz="1100" dirty="0"/>
              <a:t>So, / we need three instructions like Shift Left, / Shift Right, / and OR. // </a:t>
            </a:r>
          </a:p>
          <a:p>
            <a:pPr>
              <a:buNone/>
            </a:pPr>
            <a:r>
              <a:rPr lang="en-US" sz="1100" dirty="0"/>
              <a:t>With AVX-512, / we can use / VPROLQ. // </a:t>
            </a:r>
          </a:p>
          <a:p>
            <a:pPr>
              <a:buNone/>
            </a:pPr>
            <a:r>
              <a:rPr lang="en-US" sz="1100" dirty="0"/>
              <a:t>VPROLQ performs / the 64-bit Rotate Left / directly. // </a:t>
            </a:r>
          </a:p>
          <a:p>
            <a:pPr>
              <a:buNone/>
            </a:pPr>
            <a:r>
              <a:rPr lang="en-US" sz="1100" dirty="0"/>
              <a:t>So, / three instructions / become one.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Next, / let’s look at Chi. // </a:t>
            </a:r>
          </a:p>
          <a:p>
            <a:pPr>
              <a:buNone/>
            </a:pPr>
            <a:r>
              <a:rPr lang="en-US" sz="1100" dirty="0"/>
              <a:t>Chi uses / three-input logical operations. //</a:t>
            </a:r>
          </a:p>
          <a:p>
            <a:pPr>
              <a:buNone/>
            </a:pPr>
            <a:r>
              <a:rPr lang="en-US" sz="1100" dirty="0"/>
              <a:t> With AVX2, / we need several instructions, / such as NOT, AND, and XOR. // </a:t>
            </a:r>
          </a:p>
          <a:p>
            <a:pPr>
              <a:buNone/>
            </a:pPr>
            <a:r>
              <a:rPr lang="en-US" sz="1100" dirty="0"/>
              <a:t>With AVX-512, / we use VPTERNLOGQ. // </a:t>
            </a:r>
          </a:p>
          <a:p>
            <a:pPr>
              <a:buNone/>
            </a:pPr>
            <a:r>
              <a:rPr lang="en-US" sz="1100" dirty="0"/>
              <a:t>It can process / three-input bitwise logic / in one instruction.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So, / we optimize Keccak / in two ways. // First, / 4-Way parallel processing. //</a:t>
            </a:r>
          </a:p>
          <a:p>
            <a:pPr>
              <a:buNone/>
            </a:pPr>
            <a:r>
              <a:rPr lang="en-US" sz="1100" dirty="0"/>
              <a:t> Second, / fewer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쀼얼</a:t>
            </a:r>
            <a:r>
              <a:rPr lang="en-US" altLang="ko-KR" sz="1100" dirty="0"/>
              <a:t>)</a:t>
            </a:r>
            <a:r>
              <a:rPr lang="en-US" sz="1100" dirty="0"/>
              <a:t> instructions / inside the permutation. //</a:t>
            </a:r>
          </a:p>
        </p:txBody>
      </p:sp>
      <p:sp>
        <p:nvSpPr>
          <p:cNvPr id="257" name="Google Shape;257;g3f70dee2343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0dee2343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70dee2343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Next, / let’s look at / the Performance results. // </a:t>
            </a:r>
          </a:p>
          <a:p>
            <a:pPr>
              <a:buNone/>
            </a:pPr>
            <a:r>
              <a:rPr lang="en-US" sz="1100" dirty="0"/>
              <a:t>On the upper left, / you can see / the Measurement Environment. // </a:t>
            </a:r>
          </a:p>
          <a:p>
            <a:pPr>
              <a:buNone/>
            </a:pPr>
            <a:r>
              <a:rPr lang="en-US" sz="1100" dirty="0"/>
              <a:t>The table below shows / the</a:t>
            </a:r>
            <a:r>
              <a:rPr lang="en-US" altLang="ko-KR" sz="1100" dirty="0"/>
              <a:t>(</a:t>
            </a:r>
            <a:r>
              <a:rPr lang="ko-KR" altLang="en-US" sz="1100" dirty="0"/>
              <a:t>디</a:t>
            </a:r>
            <a:r>
              <a:rPr lang="en-US" altLang="ko-KR" sz="1100" dirty="0"/>
              <a:t>)</a:t>
            </a:r>
            <a:r>
              <a:rPr lang="en-US" sz="1100" dirty="0"/>
              <a:t> actual benchmark results. // </a:t>
            </a:r>
          </a:p>
          <a:p>
            <a:pPr>
              <a:buNone/>
            </a:pPr>
            <a:r>
              <a:rPr lang="en-US" sz="1100" dirty="0"/>
              <a:t>We measured each case / 50 times. //</a:t>
            </a:r>
          </a:p>
          <a:p>
            <a:pPr>
              <a:buNone/>
            </a:pPr>
            <a:r>
              <a:rPr lang="en-US" sz="1100" dirty="0"/>
              <a:t>And we report / the median cycle count. </a:t>
            </a:r>
          </a:p>
          <a:p>
            <a:pPr>
              <a:buNone/>
            </a:pPr>
            <a:endParaRPr lang="en-US" sz="1100" dirty="0"/>
          </a:p>
          <a:p>
            <a:pPr>
              <a:buNone/>
            </a:pPr>
            <a:r>
              <a:rPr lang="en-US" sz="1100" dirty="0"/>
              <a:t>// Now, / let’s look at / the key results on the right. //</a:t>
            </a:r>
          </a:p>
          <a:p>
            <a:pPr>
              <a:buNone/>
            </a:pPr>
            <a:r>
              <a:rPr lang="en-US" sz="1100" dirty="0"/>
              <a:t>For Signing, / AVX-512 achieves / a 1.60 to 1.84 times speedup / over AVX2. // </a:t>
            </a:r>
          </a:p>
          <a:p>
            <a:pPr>
              <a:buNone/>
            </a:pPr>
            <a:r>
              <a:rPr lang="en-US" sz="1100" dirty="0"/>
              <a:t>For Verification, / AVX-512 achieves / a 1.58 to 1.86 times speedup / over AVX2. // </a:t>
            </a:r>
          </a:p>
          <a:p>
            <a:pPr>
              <a:buNone/>
            </a:pPr>
            <a:r>
              <a:rPr lang="en-US" sz="1100" dirty="0"/>
              <a:t>The 192-bit variants / show the smallest speedup. // </a:t>
            </a:r>
          </a:p>
          <a:p>
            <a:pPr>
              <a:buNone/>
            </a:pPr>
            <a:r>
              <a:rPr lang="en-US" sz="1100" dirty="0"/>
              <a:t>The reason is / Zero Padding. // </a:t>
            </a:r>
          </a:p>
          <a:p>
            <a:pPr>
              <a:buNone/>
            </a:pPr>
            <a:r>
              <a:rPr lang="en-US" sz="1100" dirty="0"/>
              <a:t>As I explained earlier, / GF(2^192)</a:t>
            </a:r>
            <a:r>
              <a:rPr lang="ko-KR" altLang="ko-KR" sz="1100" i="1" dirty="0"/>
              <a:t> </a:t>
            </a:r>
            <a:r>
              <a:rPr lang="ko-KR" altLang="ko-KR" sz="1100" i="1" dirty="0" err="1"/>
              <a:t>지에프</a:t>
            </a:r>
            <a:r>
              <a:rPr lang="ko-KR" altLang="ko-KR" sz="1100" i="1" dirty="0"/>
              <a:t> 오브 투 투 더 원-나인-투</a:t>
            </a:r>
            <a:r>
              <a:rPr lang="en-US" sz="1100" dirty="0"/>
              <a:t> has / unused space in the lanes. //</a:t>
            </a:r>
          </a:p>
          <a:p>
            <a:pPr>
              <a:buNone/>
            </a:pPr>
            <a:r>
              <a:rPr lang="en-US" sz="1100" dirty="0"/>
              <a:t>So, / register utilization / is lower.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The s variants / show larger speedups. // </a:t>
            </a:r>
          </a:p>
          <a:p>
            <a:pPr>
              <a:buNone/>
            </a:pPr>
            <a:r>
              <a:rPr lang="en-US" sz="1100" dirty="0"/>
              <a:t>They have / more MPC Parties. // So, / 4-party packing / is repeated more often. // </a:t>
            </a:r>
          </a:p>
          <a:p>
            <a:pPr>
              <a:buNone/>
            </a:pPr>
            <a:r>
              <a:rPr lang="en-US" sz="1100" dirty="0"/>
              <a:t>And the performance benefit / accumulates more. // </a:t>
            </a:r>
          </a:p>
          <a:p>
            <a:pPr>
              <a:buNone/>
            </a:pPr>
            <a:r>
              <a:rPr lang="en-US" sz="1100" dirty="0"/>
              <a:t>Overall, / AVX-512 achieves a speedup over AVX2 / for all six </a:t>
            </a:r>
            <a:r>
              <a:rPr lang="en-US" sz="1100" dirty="0" err="1"/>
              <a:t>AIMer</a:t>
            </a:r>
            <a:r>
              <a:rPr lang="en-US" sz="1100" dirty="0"/>
              <a:t> variants. //</a:t>
            </a:r>
          </a:p>
        </p:txBody>
      </p:sp>
      <p:sp>
        <p:nvSpPr>
          <p:cNvPr id="322" name="Google Shape;322;g3f70dee2343_0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70dee234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70dee2343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Finally, / let me summarize / our work. //</a:t>
            </a:r>
          </a:p>
          <a:p>
            <a:pPr>
              <a:buNone/>
            </a:pPr>
            <a:r>
              <a:rPr lang="en-US" sz="1100" dirty="0"/>
              <a:t> We used / two main optimization ideas. // </a:t>
            </a:r>
          </a:p>
          <a:p>
            <a:pPr>
              <a:buNone/>
            </a:pPr>
            <a:r>
              <a:rPr lang="en-US" sz="1100" dirty="0"/>
              <a:t>The first one is / 4-Way Parallel Processing. /</a:t>
            </a:r>
          </a:p>
          <a:p>
            <a:pPr>
              <a:buNone/>
            </a:pPr>
            <a:r>
              <a:rPr lang="en-US" sz="1100" dirty="0"/>
              <a:t>/ For Field Arithmetic, / we pack data from four MPC Parties / into 512-bit ZMM registers. // </a:t>
            </a:r>
          </a:p>
          <a:p>
            <a:pPr>
              <a:buNone/>
            </a:pPr>
            <a:r>
              <a:rPr lang="en-US" sz="1100" dirty="0"/>
              <a:t>Then, / we process the four Parties / in parallel.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For Keccak/SHAKE, / we interleave four Keccak States / into 256-bit YMM registers. // </a:t>
            </a:r>
          </a:p>
          <a:p>
            <a:pPr>
              <a:buNone/>
            </a:pPr>
            <a:r>
              <a:rPr lang="en-US" sz="1100" dirty="0"/>
              <a:t>And again, / we process them / in parallel. // </a:t>
            </a:r>
          </a:p>
          <a:p>
            <a:pPr>
              <a:buNone/>
            </a:pPr>
            <a:endParaRPr lang="en-US" sz="1100" dirty="0"/>
          </a:p>
          <a:p>
            <a:pPr>
              <a:buNone/>
            </a:pPr>
            <a:r>
              <a:rPr lang="en-US" sz="1100" dirty="0"/>
              <a:t>The second idea is / AVX-512 instruction optimization. //</a:t>
            </a:r>
            <a:endParaRPr lang="en-US" sz="500" dirty="0"/>
          </a:p>
          <a:p>
            <a:pPr>
              <a:buNone/>
            </a:pPr>
            <a:r>
              <a:rPr lang="en-US" sz="1100" dirty="0"/>
              <a:t>VPCLMULQDQ is used / for Binary-Field Multiplication. // </a:t>
            </a:r>
          </a:p>
          <a:p>
            <a:pPr>
              <a:buNone/>
            </a:pPr>
            <a:r>
              <a:rPr lang="en-US" sz="1100" dirty="0"/>
              <a:t>And VPTERNLOGQ is used / in the Linear Layer / and Keccak logical operations. //</a:t>
            </a:r>
          </a:p>
          <a:p>
            <a:pPr>
              <a:buNone/>
            </a:pPr>
            <a:r>
              <a:rPr lang="en-US" sz="1100" dirty="0"/>
              <a:t>VPROLQ is used / for Keccak Rotation. /</a:t>
            </a:r>
          </a:p>
          <a:p>
            <a:pPr>
              <a:buNone/>
            </a:pPr>
            <a:r>
              <a:rPr lang="en-US" sz="1100" dirty="0"/>
              <a:t>And AVX-512VL lets us use / AVX-512 instructions / on 256-bit YMM registers. //</a:t>
            </a:r>
          </a:p>
          <a:p>
            <a:pPr>
              <a:buNone/>
            </a:pPr>
            <a:r>
              <a:rPr lang="en-US" sz="1100" dirty="0"/>
              <a:t>We use this feature / for our 4-Way Keccak implementation. // </a:t>
            </a:r>
          </a:p>
          <a:p>
            <a:pPr>
              <a:buNone/>
            </a:pPr>
            <a:r>
              <a:rPr lang="en-US" sz="1100" dirty="0"/>
              <a:t>So, / by combining / 4-Way parallel processing / and AVX-512 instructions, / we improved </a:t>
            </a:r>
            <a:r>
              <a:rPr lang="en-US" sz="1100" dirty="0" err="1"/>
              <a:t>AIMer</a:t>
            </a:r>
            <a:r>
              <a:rPr lang="en-US" sz="1100" dirty="0"/>
              <a:t> performance / over AVX2. //</a:t>
            </a:r>
          </a:p>
          <a:p>
            <a:pPr>
              <a:buNone/>
            </a:pPr>
            <a:endParaRPr lang="en-US" sz="500" dirty="0"/>
          </a:p>
          <a:p>
            <a:pPr>
              <a:buNone/>
            </a:pPr>
            <a:r>
              <a:rPr lang="en-US" sz="1100" dirty="0"/>
              <a:t>That’s all / for my presentation. //</a:t>
            </a:r>
            <a:endParaRPr lang="ko-KR" sz="950" i="1" dirty="0"/>
          </a:p>
        </p:txBody>
      </p:sp>
      <p:sp>
        <p:nvSpPr>
          <p:cNvPr id="341" name="Google Shape;341;g3f70dee2343_0_1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US" sz="1100" dirty="0"/>
              <a:t>Thank you / for listening. </a:t>
            </a:r>
            <a:r>
              <a:rPr lang="en-US" sz="1100"/>
              <a:t>//</a:t>
            </a:r>
            <a:endParaRPr lang="en-US" sz="1100" dirty="0"/>
          </a:p>
        </p:txBody>
      </p:sp>
      <p:sp>
        <p:nvSpPr>
          <p:cNvPr id="363" name="Google Shape;36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896" y="6195047"/>
            <a:ext cx="3026852" cy="642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0202" y="6215220"/>
            <a:ext cx="1311798" cy="64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11920" y="207747"/>
            <a:ext cx="11368160" cy="76216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11163" y="1152525"/>
            <a:ext cx="11369675" cy="505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종료">
  <p:cSld name="종료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sz="8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4863597" y="2208981"/>
            <a:ext cx="1994074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1055592" y="1691017"/>
            <a:ext cx="10071852" cy="71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800"/>
              <a:buNone/>
              <a:defRPr sz="2800" b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1055592" y="2606858"/>
            <a:ext cx="10071850" cy="71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800"/>
              <a:buNone/>
              <a:defRPr sz="2800" b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3"/>
          </p:nvPr>
        </p:nvSpPr>
        <p:spPr>
          <a:xfrm>
            <a:off x="1055592" y="3526039"/>
            <a:ext cx="10071850" cy="71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800"/>
              <a:buNone/>
              <a:defRPr sz="2800" b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4"/>
          </p:nvPr>
        </p:nvSpPr>
        <p:spPr>
          <a:xfrm>
            <a:off x="1055593" y="4441880"/>
            <a:ext cx="10071849" cy="71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800"/>
              <a:buNone/>
              <a:defRPr sz="2800" b="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1064556" y="1691018"/>
            <a:ext cx="10062886" cy="715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064556" y="2603620"/>
            <a:ext cx="10062886" cy="715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064556" y="3532617"/>
            <a:ext cx="10062886" cy="715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64556" y="4445220"/>
            <a:ext cx="10062886" cy="71561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Accelerating the AIMer Post-Quantum Signature with AVX-512</a:t>
            </a:r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ubTitle" idx="1"/>
          </p:nvPr>
        </p:nvSpPr>
        <p:spPr>
          <a:xfrm>
            <a:off x="0" y="3428998"/>
            <a:ext cx="121920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 Field-Keccak Speedup Analysis</a:t>
            </a: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1"/>
          </p:nvPr>
        </p:nvSpPr>
        <p:spPr>
          <a:xfrm>
            <a:off x="0" y="4177839"/>
            <a:ext cx="121920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Seung-won Lee, Min-Ho Song, Si-Woo Eum, Ha-Gyeong Kim, Min-Seo Kim, Hwa-Jeong Seo</a:t>
            </a:r>
            <a:endParaRPr sz="1500"/>
          </a:p>
        </p:txBody>
      </p:sp>
      <p:sp>
        <p:nvSpPr>
          <p:cNvPr id="43" name="Google Shape;43;p6"/>
          <p:cNvSpPr txBox="1">
            <a:spLocks noGrp="1"/>
          </p:cNvSpPr>
          <p:nvPr>
            <p:ph type="subTitle" idx="1"/>
          </p:nvPr>
        </p:nvSpPr>
        <p:spPr>
          <a:xfrm>
            <a:off x="0" y="5306252"/>
            <a:ext cx="121920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9091"/>
              <a:buNone/>
            </a:pPr>
            <a:r>
              <a:rPr lang="en-US" sz="2200" b="1"/>
              <a:t>Presenter: </a:t>
            </a:r>
            <a:r>
              <a:rPr lang="en-US" sz="2200"/>
              <a:t>Seung-Won Lee</a:t>
            </a:r>
            <a:endParaRPr sz="22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9091"/>
              <a:buNone/>
            </a:pPr>
            <a:r>
              <a:rPr lang="en-US" sz="2200" b="1"/>
              <a:t>E-Mail:</a:t>
            </a:r>
            <a:r>
              <a:rPr lang="en-US" sz="2200"/>
              <a:t> dkajdfhd1@gmail.com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b="1"/>
              <a:t>1. Introduction</a:t>
            </a:r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411925" y="1786050"/>
            <a:ext cx="86559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84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dirty="0"/>
              <a:t>Release of </a:t>
            </a:r>
            <a:r>
              <a:rPr lang="en-US" sz="2100" dirty="0" err="1"/>
              <a:t>AIMer</a:t>
            </a:r>
            <a:r>
              <a:rPr lang="en-US" sz="2100" dirty="0"/>
              <a:t> Standard Document and Reference Code by the PQC Research Center (January 30, 2026).</a:t>
            </a:r>
            <a:endParaRPr sz="2100" dirty="0"/>
          </a:p>
          <a:p>
            <a:pPr marL="228600" lvl="0" indent="-2095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 dirty="0"/>
              <a:t>Only the C reference code is released on GitHub, excluding the optimized code.</a:t>
            </a:r>
            <a:endParaRPr sz="2500" dirty="0"/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1225" y="2762062"/>
            <a:ext cx="2339025" cy="33980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412050" y="1147050"/>
            <a:ext cx="11368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 err="1"/>
              <a:t>AIMer</a:t>
            </a:r>
            <a:r>
              <a:rPr lang="en-US" b="1" dirty="0"/>
              <a:t>:</a:t>
            </a:r>
            <a:r>
              <a:rPr lang="en-US" dirty="0"/>
              <a:t> Based on Symmetric-Key One-Way Functions and </a:t>
            </a:r>
            <a:r>
              <a:rPr lang="en-US" dirty="0" err="1"/>
              <a:t>MPCitH</a:t>
            </a:r>
            <a:r>
              <a:rPr lang="en-US" dirty="0"/>
              <a:t> Zero-Knowledge Proofs</a:t>
            </a:r>
            <a:endParaRPr dirty="0"/>
          </a:p>
        </p:txBody>
      </p:sp>
      <p:sp>
        <p:nvSpPr>
          <p:cNvPr id="52" name="Google Shape;52;p7"/>
          <p:cNvSpPr txBox="1"/>
          <p:nvPr/>
        </p:nvSpPr>
        <p:spPr>
          <a:xfrm>
            <a:off x="150" y="6209400"/>
            <a:ext cx="12192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"This paper aims to implement an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>
                <a:solidFill>
                  <a:schemeClr val="dk1"/>
                </a:solidFill>
                <a:highlight>
                  <a:schemeClr val="accent4"/>
                </a:highlight>
              </a:rPr>
              <a:t>optimized version of </a:t>
            </a:r>
            <a:r>
              <a:rPr lang="en-US" sz="1800" b="1" dirty="0" err="1">
                <a:solidFill>
                  <a:schemeClr val="dk1"/>
                </a:solidFill>
                <a:highlight>
                  <a:schemeClr val="accent4"/>
                </a:highlight>
              </a:rPr>
              <a:t>AIMer</a:t>
            </a:r>
            <a:r>
              <a:rPr lang="en-US" sz="1800" b="1" dirty="0">
                <a:solidFill>
                  <a:schemeClr val="dk1"/>
                </a:solidFill>
                <a:highlight>
                  <a:schemeClr val="accent4"/>
                </a:highlight>
              </a:rPr>
              <a:t> utilizing AVX-512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chemeClr val="dk1"/>
                </a:solidFill>
              </a:rPr>
              <a:t>supported by modern processors."</a:t>
            </a:r>
            <a:endParaRPr sz="2200" dirty="0">
              <a:solidFill>
                <a:schemeClr val="dk1"/>
              </a:solidFill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304375" y="4489850"/>
            <a:ext cx="8871000" cy="639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Integrated the latest reference implementation and the utilized AVX2 code into liboqs.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304375" y="3626850"/>
            <a:ext cx="8871000" cy="639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Utilizing the AVX2 implementation provided by KpqClean.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304375" y="5349625"/>
            <a:ext cx="8871000" cy="6390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Scaled up to the AVX-512 implementation post-integration.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4646425" y="4265850"/>
            <a:ext cx="233400" cy="220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646425" y="5128850"/>
            <a:ext cx="233400" cy="220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1225" y="1723525"/>
            <a:ext cx="2339025" cy="901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" title="ChatGPT Image 2026년 8월 14일 오후 06_47_00.png"/>
          <p:cNvPicPr preferRelativeResize="0"/>
          <p:nvPr/>
        </p:nvPicPr>
        <p:blipFill rotWithShape="1">
          <a:blip r:embed="rId3">
            <a:alphaModFix/>
          </a:blip>
          <a:srcRect r="6077" b="6077"/>
          <a:stretch/>
        </p:blipFill>
        <p:spPr>
          <a:xfrm>
            <a:off x="3229767" y="1305934"/>
            <a:ext cx="2474224" cy="24742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b="1"/>
              <a:t>2. AIMer Structure and Optimization Targets</a:t>
            </a:r>
            <a:endParaRPr b="1"/>
          </a:p>
        </p:txBody>
      </p:sp>
      <p:sp>
        <p:nvSpPr>
          <p:cNvPr id="65" name="Google Shape;65;p8"/>
          <p:cNvSpPr txBox="1"/>
          <p:nvPr/>
        </p:nvSpPr>
        <p:spPr>
          <a:xfrm>
            <a:off x="473172" y="1420347"/>
            <a:ext cx="2654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AIMer signing Structure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214876" y="3221380"/>
            <a:ext cx="3171000" cy="2253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262863" y="3304765"/>
            <a:ext cx="1219500" cy="51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N Virtual Parties</a:t>
            </a:r>
            <a:endParaRPr sz="1000"/>
          </a:p>
        </p:txBody>
      </p:sp>
      <p:sp>
        <p:nvSpPr>
          <p:cNvPr id="68" name="Google Shape;68;p8"/>
          <p:cNvSpPr/>
          <p:nvPr/>
        </p:nvSpPr>
        <p:spPr>
          <a:xfrm>
            <a:off x="262863" y="4083665"/>
            <a:ext cx="1219500" cy="51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AIM2 computation</a:t>
            </a:r>
            <a:endParaRPr sz="1000"/>
          </a:p>
        </p:txBody>
      </p:sp>
      <p:sp>
        <p:nvSpPr>
          <p:cNvPr id="69" name="Google Shape;69;p8"/>
          <p:cNvSpPr/>
          <p:nvPr/>
        </p:nvSpPr>
        <p:spPr>
          <a:xfrm>
            <a:off x="473172" y="5892540"/>
            <a:ext cx="2654400" cy="51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Signature</a:t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685022" y="2531247"/>
            <a:ext cx="230700" cy="266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262879" y="4862565"/>
            <a:ext cx="1219500" cy="5103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</a:rPr>
              <a:t>GF(2^λ) operations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1712833" y="4083665"/>
            <a:ext cx="1497000" cy="5103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Keccak / SHAKE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3" name="Google Shape;73;p8"/>
          <p:cNvSpPr/>
          <p:nvPr/>
        </p:nvSpPr>
        <p:spPr>
          <a:xfrm rot="-5400000">
            <a:off x="7180327" y="887146"/>
            <a:ext cx="230700" cy="1527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6726127" y="1614954"/>
            <a:ext cx="10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 → avx2</a:t>
            </a:r>
            <a:endParaRPr/>
          </a:p>
        </p:txBody>
      </p:sp>
      <p:pic>
        <p:nvPicPr>
          <p:cNvPr id="75" name="Google Shape;75;p8" title="ChatGPT Image 2026년 8월 14일 오후 06_57_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5477" y="1305946"/>
            <a:ext cx="3079549" cy="24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>
            <a:off x="5607385" y="2125050"/>
            <a:ext cx="334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Decreased the share of field operations.</a:t>
            </a:r>
            <a:endParaRPr>
              <a:solidFill>
                <a:srgbClr val="0000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76% → 20%</a:t>
            </a:r>
            <a:endParaRPr/>
          </a:p>
        </p:txBody>
      </p:sp>
      <p:sp>
        <p:nvSpPr>
          <p:cNvPr id="77" name="Google Shape;77;p8"/>
          <p:cNvSpPr txBox="1"/>
          <p:nvPr/>
        </p:nvSpPr>
        <p:spPr>
          <a:xfrm>
            <a:off x="5255687" y="2884252"/>
            <a:ext cx="417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Increased the share of Keccak/SHAKE operations.</a:t>
            </a:r>
            <a:endParaRPr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24% → 72%</a:t>
            </a:r>
            <a:endParaRPr/>
          </a:p>
        </p:txBody>
      </p:sp>
      <p:sp>
        <p:nvSpPr>
          <p:cNvPr id="78" name="Google Shape;78;p8"/>
          <p:cNvSpPr txBox="1"/>
          <p:nvPr/>
        </p:nvSpPr>
        <p:spPr>
          <a:xfrm>
            <a:off x="3757175" y="4368900"/>
            <a:ext cx="80229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Profiling results show that after applying AVX2, the share of Field Arithmetic decreases, while the share of Keccak/SHAKE increases.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Therefore, the AVX-512 implementation optimizes both Field Arithmetic and Keccak/SHAKE, with </a:t>
            </a:r>
            <a:r>
              <a:rPr lang="en-US" sz="1800" b="1">
                <a:solidFill>
                  <a:schemeClr val="dk1"/>
                </a:solidFill>
                <a:highlight>
                  <a:srgbClr val="FFD865"/>
                </a:highlight>
              </a:rPr>
              <a:t>l</a:t>
            </a:r>
            <a:r>
              <a:rPr lang="en-US" sz="1800" b="1">
                <a:solidFill>
                  <a:schemeClr val="dk1"/>
                </a:solidFill>
                <a:highlight>
                  <a:schemeClr val="accent4"/>
                </a:highlight>
              </a:rPr>
              <a:t>arger additional performance gains expected from Keccak/SHAKE.</a:t>
            </a:r>
            <a:endParaRPr sz="1800" b="1">
              <a:solidFill>
                <a:schemeClr val="dk1"/>
              </a:solidFill>
              <a:highlight>
                <a:schemeClr val="accent4"/>
              </a:highlight>
            </a:endParaRPr>
          </a:p>
        </p:txBody>
      </p:sp>
      <p:sp>
        <p:nvSpPr>
          <p:cNvPr id="79" name="Google Shape;79;p8"/>
          <p:cNvSpPr txBox="1"/>
          <p:nvPr/>
        </p:nvSpPr>
        <p:spPr>
          <a:xfrm>
            <a:off x="214879" y="2809415"/>
            <a:ext cx="31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MPCitH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1712833" y="3304765"/>
            <a:ext cx="1497000" cy="51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Commitment / Challenge Generation</a:t>
            </a:r>
            <a:endParaRPr sz="1000"/>
          </a:p>
        </p:txBody>
      </p:sp>
      <p:sp>
        <p:nvSpPr>
          <p:cNvPr id="81" name="Google Shape;81;p8"/>
          <p:cNvSpPr/>
          <p:nvPr/>
        </p:nvSpPr>
        <p:spPr>
          <a:xfrm>
            <a:off x="473172" y="1882209"/>
            <a:ext cx="2654400" cy="510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Secret Key</a:t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1685022" y="5580502"/>
            <a:ext cx="230700" cy="266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3" name="Google Shape;83;p8"/>
          <p:cNvCxnSpPr>
            <a:stCxn id="67" idx="2"/>
            <a:endCxn id="68" idx="0"/>
          </p:cNvCxnSpPr>
          <p:nvPr/>
        </p:nvCxnSpPr>
        <p:spPr>
          <a:xfrm>
            <a:off x="872613" y="3815065"/>
            <a:ext cx="0" cy="26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8"/>
          <p:cNvCxnSpPr/>
          <p:nvPr/>
        </p:nvCxnSpPr>
        <p:spPr>
          <a:xfrm>
            <a:off x="872613" y="4593965"/>
            <a:ext cx="0" cy="26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8"/>
          <p:cNvCxnSpPr>
            <a:stCxn id="80" idx="2"/>
            <a:endCxn id="72" idx="0"/>
          </p:cNvCxnSpPr>
          <p:nvPr/>
        </p:nvCxnSpPr>
        <p:spPr>
          <a:xfrm>
            <a:off x="2461333" y="3815065"/>
            <a:ext cx="0" cy="26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/>
          <p:nvPr/>
        </p:nvSpPr>
        <p:spPr>
          <a:xfrm flipH="1">
            <a:off x="3352645" y="2040197"/>
            <a:ext cx="2314800" cy="29613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b="1"/>
              <a:t>3. Field optimization</a:t>
            </a:r>
            <a:endParaRPr/>
          </a:p>
        </p:txBody>
      </p:sp>
      <p:cxnSp>
        <p:nvCxnSpPr>
          <p:cNvPr id="92" name="Google Shape;92;p9"/>
          <p:cNvCxnSpPr/>
          <p:nvPr/>
        </p:nvCxnSpPr>
        <p:spPr>
          <a:xfrm>
            <a:off x="6096000" y="1051553"/>
            <a:ext cx="0" cy="543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9"/>
          <p:cNvSpPr/>
          <p:nvPr/>
        </p:nvSpPr>
        <p:spPr>
          <a:xfrm flipH="1">
            <a:off x="448970" y="2132916"/>
            <a:ext cx="2163600" cy="58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128 bit (XMM0) - Party0</a:t>
            </a:r>
            <a:endParaRPr/>
          </a:p>
        </p:txBody>
      </p:sp>
      <p:sp>
        <p:nvSpPr>
          <p:cNvPr id="94" name="Google Shape;94;p9"/>
          <p:cNvSpPr/>
          <p:nvPr/>
        </p:nvSpPr>
        <p:spPr>
          <a:xfrm flipH="1">
            <a:off x="448970" y="2858116"/>
            <a:ext cx="2163600" cy="5817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128 bit (XMM1) - Party1</a:t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 flipH="1">
            <a:off x="448970" y="3583316"/>
            <a:ext cx="2163600" cy="5817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128 bit (XMM2) - Party2</a:t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 flipH="1">
            <a:off x="448970" y="4308516"/>
            <a:ext cx="2163600" cy="5817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128 bit (XMM3) - Party3</a:t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 flipH="1">
            <a:off x="3428245" y="2132916"/>
            <a:ext cx="2163600" cy="581700"/>
          </a:xfrm>
          <a:prstGeom prst="rect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128 bit - Party0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9"/>
          <p:cNvSpPr/>
          <p:nvPr/>
        </p:nvSpPr>
        <p:spPr>
          <a:xfrm flipH="1">
            <a:off x="3428245" y="2858116"/>
            <a:ext cx="2163600" cy="5817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128 bit - Party1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" name="Google Shape;99;p9"/>
          <p:cNvSpPr/>
          <p:nvPr/>
        </p:nvSpPr>
        <p:spPr>
          <a:xfrm flipH="1">
            <a:off x="3428245" y="3583316"/>
            <a:ext cx="2163600" cy="5817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128 bit - Party2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9"/>
          <p:cNvSpPr/>
          <p:nvPr/>
        </p:nvSpPr>
        <p:spPr>
          <a:xfrm flipH="1">
            <a:off x="3428245" y="4308516"/>
            <a:ext cx="2163600" cy="5817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128 bit - Party3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224445" y="5511769"/>
            <a:ext cx="27963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  <a:highlight>
                  <a:srgbClr val="FFFF00"/>
                </a:highlight>
              </a:rPr>
              <a:t>PCLMULQDQ</a:t>
            </a: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 (per Party)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Process 1 party per 128 bit register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3196543" y="5491364"/>
            <a:ext cx="28758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  <a:highlight>
                  <a:srgbClr val="FFFF00"/>
                </a:highlight>
              </a:rPr>
              <a:t>VPCLMULQDQ</a:t>
            </a:r>
            <a:r>
              <a:rPr lang="en-US">
                <a:solidFill>
                  <a:schemeClr val="dk1"/>
                </a:solidFill>
                <a:highlight>
                  <a:srgbClr val="FFFF00"/>
                </a:highlight>
              </a:rPr>
              <a:t> (4- Party)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Process 4 parties in parallel using 512 bit register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3352645" y="5001491"/>
            <a:ext cx="10878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512 bit ZMM0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04" name="Google Shape;104;p9"/>
          <p:cNvSpPr txBox="1"/>
          <p:nvPr/>
        </p:nvSpPr>
        <p:spPr>
          <a:xfrm rot="5400000">
            <a:off x="1394161" y="4909520"/>
            <a:ext cx="4065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…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5" name="Google Shape;105;p9"/>
          <p:cNvSpPr txBox="1"/>
          <p:nvPr/>
        </p:nvSpPr>
        <p:spPr>
          <a:xfrm rot="5400000">
            <a:off x="4388429" y="5007620"/>
            <a:ext cx="4065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…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48970" y="1673816"/>
            <a:ext cx="2163600" cy="315600"/>
          </a:xfrm>
          <a:prstGeom prst="roundRect">
            <a:avLst>
              <a:gd name="adj" fmla="val 16667"/>
            </a:avLst>
          </a:prstGeom>
          <a:solidFill>
            <a:srgbClr val="7F6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AVX2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3352645" y="1673816"/>
            <a:ext cx="2314800" cy="315600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AVX-512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40020" y="1250816"/>
            <a:ext cx="52275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GF(2^128): AVX2 vs. AVX-512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2728657" y="3325641"/>
            <a:ext cx="507900" cy="406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6524470" y="1250816"/>
            <a:ext cx="52275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GF(2^192) Four-Party Packing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11" name="Google Shape;111;p9"/>
          <p:cNvSpPr/>
          <p:nvPr/>
        </p:nvSpPr>
        <p:spPr>
          <a:xfrm flipH="1">
            <a:off x="6524450" y="1847350"/>
            <a:ext cx="1306800" cy="4488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Party0 (low)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12" name="Google Shape;112;p9"/>
          <p:cNvSpPr txBox="1"/>
          <p:nvPr/>
        </p:nvSpPr>
        <p:spPr>
          <a:xfrm>
            <a:off x="6524475" y="1515400"/>
            <a:ext cx="335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ZMM0</a:t>
            </a:r>
            <a:r>
              <a:rPr lang="en-US">
                <a:solidFill>
                  <a:schemeClr val="dk1"/>
                </a:solidFill>
              </a:rPr>
              <a:t> (each lane = 128 bits)</a:t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 flipH="1">
            <a:off x="7831325" y="1847350"/>
            <a:ext cx="1306800" cy="4488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Party1 (low)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14" name="Google Shape;114;p9"/>
          <p:cNvSpPr/>
          <p:nvPr/>
        </p:nvSpPr>
        <p:spPr>
          <a:xfrm flipH="1">
            <a:off x="9138200" y="1847350"/>
            <a:ext cx="1306800" cy="448800"/>
          </a:xfrm>
          <a:prstGeom prst="rect">
            <a:avLst/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Party2 (low)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9"/>
          <p:cNvSpPr/>
          <p:nvPr/>
        </p:nvSpPr>
        <p:spPr>
          <a:xfrm flipH="1">
            <a:off x="10445075" y="1847350"/>
            <a:ext cx="1306800" cy="4488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Party3 (low)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9"/>
          <p:cNvSpPr/>
          <p:nvPr/>
        </p:nvSpPr>
        <p:spPr>
          <a:xfrm flipH="1">
            <a:off x="6524550" y="2632475"/>
            <a:ext cx="1306800" cy="4488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Party0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17" name="Google Shape;117;p9"/>
          <p:cNvSpPr/>
          <p:nvPr/>
        </p:nvSpPr>
        <p:spPr>
          <a:xfrm flipH="1">
            <a:off x="7831425" y="2632475"/>
            <a:ext cx="1306800" cy="4488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Party1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18" name="Google Shape;118;p9"/>
          <p:cNvSpPr/>
          <p:nvPr/>
        </p:nvSpPr>
        <p:spPr>
          <a:xfrm flipH="1">
            <a:off x="9138300" y="2632475"/>
            <a:ext cx="1306800" cy="448800"/>
          </a:xfrm>
          <a:prstGeom prst="rect">
            <a:avLst/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Party2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9"/>
          <p:cNvSpPr/>
          <p:nvPr/>
        </p:nvSpPr>
        <p:spPr>
          <a:xfrm flipH="1">
            <a:off x="10445175" y="2632475"/>
            <a:ext cx="1306800" cy="4488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Party3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6524550" y="2296150"/>
            <a:ext cx="297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ZMM1</a:t>
            </a:r>
            <a:r>
              <a:rPr lang="en-US">
                <a:solidFill>
                  <a:schemeClr val="dk1"/>
                </a:solidFill>
              </a:rPr>
              <a:t> (each lane = 128 bits)</a:t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 flipH="1">
            <a:off x="9535350" y="3245425"/>
            <a:ext cx="1809900" cy="22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64bits Zero Padding</a:t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 flipH="1">
            <a:off x="7725450" y="3245425"/>
            <a:ext cx="1809900" cy="22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64bits</a:t>
            </a:r>
            <a:r>
              <a:rPr lang="en-US">
                <a:solidFill>
                  <a:srgbClr val="1F2A37"/>
                </a:solidFill>
              </a:rPr>
              <a:t>(high)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6357675" y="3529302"/>
            <a:ext cx="5561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Requires 64bit zero padding per party.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Uses 1.5 lanes per element (1 element = 128 bits + 64 bits)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524470" y="4243739"/>
            <a:ext cx="52275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GF(2^256) Four-Party Packing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25" name="Google Shape;125;p9"/>
          <p:cNvSpPr/>
          <p:nvPr/>
        </p:nvSpPr>
        <p:spPr>
          <a:xfrm flipH="1">
            <a:off x="6524550" y="4880239"/>
            <a:ext cx="1306800" cy="4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Party0 (low)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6524575" y="4548289"/>
            <a:ext cx="246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ZMM0</a:t>
            </a:r>
            <a:r>
              <a:rPr lang="en-US">
                <a:solidFill>
                  <a:schemeClr val="dk1"/>
                </a:solidFill>
              </a:rPr>
              <a:t> (each lane128 bits)</a:t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 flipH="1">
            <a:off x="7831425" y="4880239"/>
            <a:ext cx="1306800" cy="448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Party1 (low)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28" name="Google Shape;128;p9"/>
          <p:cNvSpPr/>
          <p:nvPr/>
        </p:nvSpPr>
        <p:spPr>
          <a:xfrm flipH="1">
            <a:off x="9138300" y="4880239"/>
            <a:ext cx="1306800" cy="4488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Party2 (low)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29" name="Google Shape;129;p9"/>
          <p:cNvSpPr/>
          <p:nvPr/>
        </p:nvSpPr>
        <p:spPr>
          <a:xfrm flipH="1">
            <a:off x="10445175" y="4880239"/>
            <a:ext cx="1306800" cy="448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Party3 (low)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30" name="Google Shape;130;p9"/>
          <p:cNvSpPr/>
          <p:nvPr/>
        </p:nvSpPr>
        <p:spPr>
          <a:xfrm flipH="1">
            <a:off x="6524650" y="5665364"/>
            <a:ext cx="1306800" cy="448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Party0 (high)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31" name="Google Shape;131;p9"/>
          <p:cNvSpPr/>
          <p:nvPr/>
        </p:nvSpPr>
        <p:spPr>
          <a:xfrm flipH="1">
            <a:off x="7831525" y="5665364"/>
            <a:ext cx="1306800" cy="448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Party1 (high)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32" name="Google Shape;132;p9"/>
          <p:cNvSpPr/>
          <p:nvPr/>
        </p:nvSpPr>
        <p:spPr>
          <a:xfrm flipH="1">
            <a:off x="9138400" y="5665364"/>
            <a:ext cx="1306800" cy="4488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Party2 (high)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33" name="Google Shape;133;p9"/>
          <p:cNvSpPr/>
          <p:nvPr/>
        </p:nvSpPr>
        <p:spPr>
          <a:xfrm flipH="1">
            <a:off x="10445275" y="5665364"/>
            <a:ext cx="1306800" cy="448800"/>
          </a:xfrm>
          <a:prstGeom prst="rect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Party3 (high)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6524650" y="5329039"/>
            <a:ext cx="246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ZMM1</a:t>
            </a:r>
            <a:r>
              <a:rPr lang="en-US">
                <a:solidFill>
                  <a:schemeClr val="dk1"/>
                </a:solidFill>
              </a:rPr>
              <a:t> (each lane128 bits)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6357675" y="6031423"/>
            <a:ext cx="5561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Exact packing across two ZMM registers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Uses 2 lanes per element (1 element = 128 bits + 128 bits)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padding required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36" name="Google Shape;136;p9"/>
          <p:cNvCxnSpPr>
            <a:stCxn id="116" idx="2"/>
            <a:endCxn id="122" idx="3"/>
          </p:cNvCxnSpPr>
          <p:nvPr/>
        </p:nvCxnSpPr>
        <p:spPr>
          <a:xfrm rot="-5400000" flipH="1">
            <a:off x="7313550" y="2945675"/>
            <a:ext cx="276300" cy="547500"/>
          </a:xfrm>
          <a:prstGeom prst="bentConnector2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4. Linear Layer Optimization</a:t>
            </a:r>
            <a:endParaRPr b="1"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1"/>
          </p:nvPr>
        </p:nvSpPr>
        <p:spPr>
          <a:xfrm>
            <a:off x="85975" y="1139325"/>
            <a:ext cx="12020100" cy="55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The Linear Layer performs binary matrix-vector multiplication by XORing matrix rows corresponding to input bits of 1.</a:t>
            </a:r>
            <a:endParaRPr sz="1800"/>
          </a:p>
        </p:txBody>
      </p:sp>
      <p:cxnSp>
        <p:nvCxnSpPr>
          <p:cNvPr id="144" name="Google Shape;144;p10"/>
          <p:cNvCxnSpPr>
            <a:stCxn id="143" idx="2"/>
          </p:cNvCxnSpPr>
          <p:nvPr/>
        </p:nvCxnSpPr>
        <p:spPr>
          <a:xfrm>
            <a:off x="6096025" y="1692525"/>
            <a:ext cx="0" cy="450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10"/>
          <p:cNvSpPr/>
          <p:nvPr/>
        </p:nvSpPr>
        <p:spPr>
          <a:xfrm>
            <a:off x="411920" y="1766541"/>
            <a:ext cx="52275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AVX2 (Baseline)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552620" y="1766541"/>
            <a:ext cx="52275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AVX 512 (Optimization)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411925" y="2737261"/>
            <a:ext cx="1190100" cy="6216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Mask</a:t>
            </a:r>
            <a:endParaRPr sz="1800"/>
          </a:p>
        </p:txBody>
      </p:sp>
      <p:sp>
        <p:nvSpPr>
          <p:cNvPr id="148" name="Google Shape;148;p10"/>
          <p:cNvSpPr/>
          <p:nvPr/>
        </p:nvSpPr>
        <p:spPr>
          <a:xfrm>
            <a:off x="2430625" y="2737261"/>
            <a:ext cx="1190100" cy="62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Row</a:t>
            </a:r>
            <a:endParaRPr sz="1800"/>
          </a:p>
        </p:txBody>
      </p:sp>
      <p:sp>
        <p:nvSpPr>
          <p:cNvPr id="149" name="Google Shape;149;p10"/>
          <p:cNvSpPr/>
          <p:nvPr/>
        </p:nvSpPr>
        <p:spPr>
          <a:xfrm>
            <a:off x="4449325" y="2737261"/>
            <a:ext cx="1190100" cy="621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tmp</a:t>
            </a:r>
            <a:br>
              <a:rPr lang="en-US"/>
            </a:br>
            <a:r>
              <a:rPr lang="en-US"/>
              <a:t>(Mask^Row)</a:t>
            </a:r>
            <a:endParaRPr/>
          </a:p>
        </p:txBody>
      </p:sp>
      <p:cxnSp>
        <p:nvCxnSpPr>
          <p:cNvPr id="150" name="Google Shape;150;p10"/>
          <p:cNvCxnSpPr>
            <a:stCxn id="147" idx="3"/>
            <a:endCxn id="148" idx="1"/>
          </p:cNvCxnSpPr>
          <p:nvPr/>
        </p:nvCxnSpPr>
        <p:spPr>
          <a:xfrm>
            <a:off x="1602025" y="3048061"/>
            <a:ext cx="828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10"/>
          <p:cNvSpPr txBox="1"/>
          <p:nvPr/>
        </p:nvSpPr>
        <p:spPr>
          <a:xfrm>
            <a:off x="3827725" y="2737261"/>
            <a:ext cx="414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1669375" y="2664525"/>
            <a:ext cx="6939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AND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11925" y="4040102"/>
            <a:ext cx="1190100" cy="621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tmp</a:t>
            </a:r>
            <a:endParaRPr sz="1800"/>
          </a:p>
        </p:txBody>
      </p:sp>
      <p:sp>
        <p:nvSpPr>
          <p:cNvPr id="154" name="Google Shape;154;p10"/>
          <p:cNvSpPr/>
          <p:nvPr/>
        </p:nvSpPr>
        <p:spPr>
          <a:xfrm>
            <a:off x="2430625" y="4040102"/>
            <a:ext cx="1190100" cy="621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Accumulator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4449325" y="4040102"/>
            <a:ext cx="1190100" cy="6216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New Accumulator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6" name="Google Shape;156;p10"/>
          <p:cNvCxnSpPr>
            <a:stCxn id="153" idx="3"/>
            <a:endCxn id="154" idx="1"/>
          </p:cNvCxnSpPr>
          <p:nvPr/>
        </p:nvCxnSpPr>
        <p:spPr>
          <a:xfrm>
            <a:off x="1602025" y="4350902"/>
            <a:ext cx="828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0"/>
          <p:cNvSpPr txBox="1"/>
          <p:nvPr/>
        </p:nvSpPr>
        <p:spPr>
          <a:xfrm>
            <a:off x="3827725" y="4040102"/>
            <a:ext cx="414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1669375" y="4351015"/>
            <a:ext cx="6939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XOR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797275" y="2057088"/>
            <a:ext cx="24381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Use VPAND instruction</a:t>
            </a:r>
            <a:endParaRPr sz="1600" b="1">
              <a:solidFill>
                <a:schemeClr val="dk1"/>
              </a:solidFill>
            </a:endParaRPr>
          </a:p>
        </p:txBody>
      </p:sp>
      <p:cxnSp>
        <p:nvCxnSpPr>
          <p:cNvPr id="160" name="Google Shape;160;p10"/>
          <p:cNvCxnSpPr>
            <a:stCxn id="159" idx="2"/>
            <a:endCxn id="152" idx="0"/>
          </p:cNvCxnSpPr>
          <p:nvPr/>
        </p:nvCxnSpPr>
        <p:spPr>
          <a:xfrm>
            <a:off x="2016325" y="2372688"/>
            <a:ext cx="0" cy="29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61;p10"/>
          <p:cNvCxnSpPr>
            <a:stCxn id="149" idx="2"/>
            <a:endCxn id="153" idx="0"/>
          </p:cNvCxnSpPr>
          <p:nvPr/>
        </p:nvCxnSpPr>
        <p:spPr>
          <a:xfrm flipH="1">
            <a:off x="1006975" y="3358861"/>
            <a:ext cx="4037400" cy="68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" name="Google Shape;162;p10"/>
          <p:cNvCxnSpPr>
            <a:stCxn id="163" idx="0"/>
            <a:endCxn id="158" idx="2"/>
          </p:cNvCxnSpPr>
          <p:nvPr/>
        </p:nvCxnSpPr>
        <p:spPr>
          <a:xfrm rot="10800000">
            <a:off x="2016325" y="4790878"/>
            <a:ext cx="0" cy="19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p10"/>
          <p:cNvSpPr txBox="1"/>
          <p:nvPr/>
        </p:nvSpPr>
        <p:spPr>
          <a:xfrm>
            <a:off x="797275" y="4988578"/>
            <a:ext cx="24381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Use VPXOR instruction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164" name="Google Shape;164;p10"/>
          <p:cNvSpPr txBox="1">
            <a:spLocks noGrp="1"/>
          </p:cNvSpPr>
          <p:nvPr>
            <p:ph type="body" idx="1"/>
          </p:nvPr>
        </p:nvSpPr>
        <p:spPr>
          <a:xfrm>
            <a:off x="411925" y="5763325"/>
            <a:ext cx="5227500" cy="55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AVX2: </a:t>
            </a:r>
            <a:r>
              <a:rPr lang="en-US" sz="1800"/>
              <a:t>AND + XOR → </a:t>
            </a:r>
            <a:r>
              <a:rPr lang="en-US" sz="1800">
                <a:highlight>
                  <a:srgbClr val="FFFF00"/>
                </a:highlight>
              </a:rPr>
              <a:t>Use 2 instructions</a:t>
            </a:r>
            <a:endParaRPr sz="1800">
              <a:highlight>
                <a:srgbClr val="FFFF00"/>
              </a:highlight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552625" y="2409694"/>
            <a:ext cx="1190100" cy="6216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Mask</a:t>
            </a:r>
            <a:endParaRPr sz="1800"/>
          </a:p>
        </p:txBody>
      </p:sp>
      <p:sp>
        <p:nvSpPr>
          <p:cNvPr id="166" name="Google Shape;166;p10"/>
          <p:cNvSpPr/>
          <p:nvPr/>
        </p:nvSpPr>
        <p:spPr>
          <a:xfrm>
            <a:off x="6552625" y="3355519"/>
            <a:ext cx="1190100" cy="621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Row</a:t>
            </a:r>
            <a:endParaRPr sz="1800"/>
          </a:p>
        </p:txBody>
      </p:sp>
      <p:sp>
        <p:nvSpPr>
          <p:cNvPr id="167" name="Google Shape;167;p10"/>
          <p:cNvSpPr/>
          <p:nvPr/>
        </p:nvSpPr>
        <p:spPr>
          <a:xfrm>
            <a:off x="6552625" y="4301344"/>
            <a:ext cx="1190100" cy="621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Accumulator</a:t>
            </a:r>
            <a:endParaRPr/>
          </a:p>
        </p:txBody>
      </p:sp>
      <p:cxnSp>
        <p:nvCxnSpPr>
          <p:cNvPr id="168" name="Google Shape;168;p10"/>
          <p:cNvCxnSpPr>
            <a:stCxn id="165" idx="3"/>
          </p:cNvCxnSpPr>
          <p:nvPr/>
        </p:nvCxnSpPr>
        <p:spPr>
          <a:xfrm>
            <a:off x="7742725" y="2720494"/>
            <a:ext cx="336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0"/>
          <p:cNvCxnSpPr/>
          <p:nvPr/>
        </p:nvCxnSpPr>
        <p:spPr>
          <a:xfrm>
            <a:off x="7742725" y="4612144"/>
            <a:ext cx="336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10"/>
          <p:cNvCxnSpPr/>
          <p:nvPr/>
        </p:nvCxnSpPr>
        <p:spPr>
          <a:xfrm>
            <a:off x="8079525" y="2727033"/>
            <a:ext cx="0" cy="189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10"/>
          <p:cNvSpPr/>
          <p:nvPr/>
        </p:nvSpPr>
        <p:spPr>
          <a:xfrm>
            <a:off x="8655925" y="3355508"/>
            <a:ext cx="1375800" cy="6216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/>
              <a:t>VPTERNLOGQ</a:t>
            </a:r>
            <a:endParaRPr sz="1300" b="1"/>
          </a:p>
        </p:txBody>
      </p:sp>
      <p:cxnSp>
        <p:nvCxnSpPr>
          <p:cNvPr id="172" name="Google Shape;172;p10"/>
          <p:cNvCxnSpPr/>
          <p:nvPr/>
        </p:nvCxnSpPr>
        <p:spPr>
          <a:xfrm>
            <a:off x="7742725" y="3672494"/>
            <a:ext cx="9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Google Shape;173;p10"/>
          <p:cNvSpPr/>
          <p:nvPr/>
        </p:nvSpPr>
        <p:spPr>
          <a:xfrm>
            <a:off x="10590025" y="3355519"/>
            <a:ext cx="1190100" cy="6216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New Accumulator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10103575" y="3355519"/>
            <a:ext cx="414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=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8571325" y="3983136"/>
            <a:ext cx="3363900" cy="1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V: </a:t>
            </a:r>
            <a:r>
              <a:rPr lang="en-US" sz="1600">
                <a:solidFill>
                  <a:schemeClr val="dk1"/>
                </a:solidFill>
              </a:rPr>
              <a:t>Vector instruction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P: </a:t>
            </a:r>
            <a:r>
              <a:rPr lang="en-US" sz="1600">
                <a:solidFill>
                  <a:schemeClr val="dk1"/>
                </a:solidFill>
              </a:rPr>
              <a:t>Packed data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TERNLOG: </a:t>
            </a:r>
            <a:r>
              <a:rPr lang="en-US" sz="1600">
                <a:solidFill>
                  <a:schemeClr val="dk1"/>
                </a:solidFill>
              </a:rPr>
              <a:t>Ternary Logic 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(= 3-input logical operation)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Q: </a:t>
            </a:r>
            <a:r>
              <a:rPr lang="en-US" sz="1600">
                <a:solidFill>
                  <a:schemeClr val="dk1"/>
                </a:solidFill>
              </a:rPr>
              <a:t>Qword (=64 bits elements)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6552624" y="5763325"/>
            <a:ext cx="5455147" cy="55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 dirty="0"/>
              <a:t>AVX512: </a:t>
            </a:r>
            <a:r>
              <a:rPr lang="en-US" sz="1800" dirty="0"/>
              <a:t>VPTERNLOGQ → </a:t>
            </a:r>
            <a:r>
              <a:rPr lang="en-US" sz="1800" dirty="0">
                <a:highlight>
                  <a:srgbClr val="FFFF00"/>
                </a:highlight>
              </a:rPr>
              <a:t>Use 1 instructions</a:t>
            </a:r>
            <a:endParaRPr sz="1800" dirty="0">
              <a:highlight>
                <a:srgbClr val="FFFF00"/>
              </a:highlight>
            </a:endParaRPr>
          </a:p>
        </p:txBody>
      </p:sp>
      <p:sp>
        <p:nvSpPr>
          <p:cNvPr id="177" name="Google Shape;177;p10"/>
          <p:cNvSpPr txBox="1">
            <a:spLocks noGrp="1"/>
          </p:cNvSpPr>
          <p:nvPr>
            <p:ph type="body" idx="1"/>
          </p:nvPr>
        </p:nvSpPr>
        <p:spPr>
          <a:xfrm>
            <a:off x="411900" y="6384800"/>
            <a:ext cx="11368200" cy="43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/>
              <a:t>∴ VPTERNLOGQ eliminates the separate intermediate operation and combines AND + XOR into a single instruction</a:t>
            </a:r>
            <a:endParaRPr sz="1600" b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5. Keccak 4-Way Interleaving Optimization</a:t>
            </a:r>
            <a:endParaRPr b="1"/>
          </a:p>
        </p:txBody>
      </p:sp>
      <p:sp>
        <p:nvSpPr>
          <p:cNvPr id="184" name="Google Shape;184;p11"/>
          <p:cNvSpPr txBox="1"/>
          <p:nvPr/>
        </p:nvSpPr>
        <p:spPr>
          <a:xfrm>
            <a:off x="424433" y="2367559"/>
            <a:ext cx="10050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State 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424433" y="2777359"/>
            <a:ext cx="10050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State 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424433" y="3187159"/>
            <a:ext cx="10050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State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424433" y="3596959"/>
            <a:ext cx="10050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State 3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429433" y="2432880"/>
            <a:ext cx="6525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A0</a:t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2081965" y="2432880"/>
            <a:ext cx="6525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A1</a:t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2734496" y="2432880"/>
            <a:ext cx="6525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A2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4039560" y="2432880"/>
            <a:ext cx="6525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A24</a:t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3387028" y="2432880"/>
            <a:ext cx="6525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...</a:t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1429433" y="2853630"/>
            <a:ext cx="6525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B0</a:t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2081965" y="2853630"/>
            <a:ext cx="6525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B1</a:t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2734496" y="2853630"/>
            <a:ext cx="6525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B2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4039560" y="2853630"/>
            <a:ext cx="6525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B24</a:t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3387028" y="2853630"/>
            <a:ext cx="6525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...</a:t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1429433" y="3263430"/>
            <a:ext cx="6525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C0</a:t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2081965" y="3263430"/>
            <a:ext cx="6525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C1</a:t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2734496" y="3263430"/>
            <a:ext cx="6525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C2</a:t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4039560" y="3263430"/>
            <a:ext cx="6525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C24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3387028" y="3263430"/>
            <a:ext cx="6525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...</a:t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1429433" y="3673230"/>
            <a:ext cx="6525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D0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2081965" y="3673230"/>
            <a:ext cx="6525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D1</a:t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2734496" y="3673230"/>
            <a:ext cx="6525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D2</a:t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4039560" y="3673230"/>
            <a:ext cx="6525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D24</a:t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3387028" y="3673230"/>
            <a:ext cx="6525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...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7904500" y="2118413"/>
            <a:ext cx="6708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A0</a:t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8575175" y="2118413"/>
            <a:ext cx="6708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B0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9245850" y="2118413"/>
            <a:ext cx="6708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C0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9916525" y="2118413"/>
            <a:ext cx="6708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D0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7018725" y="2053088"/>
            <a:ext cx="893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ymm 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904500" y="2528211"/>
            <a:ext cx="6708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A1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8575175" y="2528211"/>
            <a:ext cx="6708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B1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9245850" y="2528211"/>
            <a:ext cx="6708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C1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9916525" y="2528211"/>
            <a:ext cx="6708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D1</a:t>
            </a:r>
            <a:endParaRPr/>
          </a:p>
        </p:txBody>
      </p:sp>
      <p:sp>
        <p:nvSpPr>
          <p:cNvPr id="217" name="Google Shape;217;p11"/>
          <p:cNvSpPr txBox="1"/>
          <p:nvPr/>
        </p:nvSpPr>
        <p:spPr>
          <a:xfrm>
            <a:off x="7018725" y="2462888"/>
            <a:ext cx="893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ymm 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904500" y="2936359"/>
            <a:ext cx="6708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A2</a:t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8575175" y="2936359"/>
            <a:ext cx="6708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B2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9245850" y="2936359"/>
            <a:ext cx="6708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C2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9916525" y="2936359"/>
            <a:ext cx="6708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D2</a:t>
            </a: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7018725" y="2871038"/>
            <a:ext cx="8937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ymm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7904500" y="3864739"/>
            <a:ext cx="670800" cy="277500"/>
          </a:xfrm>
          <a:prstGeom prst="rect">
            <a:avLst/>
          </a:prstGeom>
          <a:solidFill>
            <a:srgbClr val="E6B8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A24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8575175" y="3864739"/>
            <a:ext cx="670800" cy="27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B24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9245850" y="3864739"/>
            <a:ext cx="670800" cy="27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C24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9916525" y="3864739"/>
            <a:ext cx="670800" cy="277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D24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6907425" y="3799425"/>
            <a:ext cx="10050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ymm 24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8" name="Google Shape;228;p11"/>
          <p:cNvSpPr txBox="1"/>
          <p:nvPr/>
        </p:nvSpPr>
        <p:spPr>
          <a:xfrm rot="5400000">
            <a:off x="7245675" y="3328485"/>
            <a:ext cx="4398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…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29" name="Google Shape;229;p11"/>
          <p:cNvSpPr txBox="1"/>
          <p:nvPr/>
        </p:nvSpPr>
        <p:spPr>
          <a:xfrm rot="5400000">
            <a:off x="9105774" y="3279355"/>
            <a:ext cx="4398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…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7871012" y="1709716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8559296" y="1709716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9232183" y="1709716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9894933" y="1709716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10654646" y="2052275"/>
            <a:ext cx="1119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256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10654646" y="2431600"/>
            <a:ext cx="1119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256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10660521" y="2831275"/>
            <a:ext cx="1119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256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10660521" y="3798600"/>
            <a:ext cx="1119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256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1360423" y="2010379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2048707" y="2010379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2721594" y="2010379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3995494" y="2010379"/>
            <a:ext cx="7656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4734283" y="2366730"/>
            <a:ext cx="12981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1600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4761083" y="2777355"/>
            <a:ext cx="12981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1600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4761083" y="3199321"/>
            <a:ext cx="12981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1600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4761083" y="3596955"/>
            <a:ext cx="12981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= 1600 bit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6" name="Google Shape;246;p11"/>
          <p:cNvSpPr/>
          <p:nvPr/>
        </p:nvSpPr>
        <p:spPr>
          <a:xfrm rot="10800000">
            <a:off x="434700" y="1687225"/>
            <a:ext cx="5661300" cy="2697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411898" y="1247300"/>
            <a:ext cx="25008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Memory State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>
            <a:off x="6882050" y="1664416"/>
            <a:ext cx="4884300" cy="2688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6907423" y="1235150"/>
            <a:ext cx="25008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YMM Registers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239575" y="2747075"/>
            <a:ext cx="476100" cy="409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411900" y="4472575"/>
            <a:ext cx="5661300" cy="13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Keccak state </a:t>
            </a:r>
            <a:r>
              <a:rPr lang="en-US" sz="1800">
                <a:solidFill>
                  <a:schemeClr val="dk1"/>
                </a:solidFill>
              </a:rPr>
              <a:t>= 25 lanes x 64 bit = 1600 bit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4 states exist independently in memory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Repeated Keccak permutation calls increase computational cost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6882050" y="4506950"/>
            <a:ext cx="5172900" cy="16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AVX-512 provides 32 vector registers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</a:rPr>
              <a:t>AVX-512VL</a:t>
            </a:r>
            <a:r>
              <a:rPr lang="en-US" sz="1800" dirty="0">
                <a:solidFill>
                  <a:schemeClr val="dk1"/>
                </a:solidFill>
              </a:rPr>
              <a:t> enables 256 bit YMM operations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Four 64 bit lanes → one 256 bit YMM registers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600925" y="6270100"/>
            <a:ext cx="10990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highlight>
                  <a:srgbClr val="FFFF00"/>
                </a:highlight>
              </a:rPr>
              <a:t>A single SIMD instruction processes the corresponding lanes of four Keccak states in parallel</a:t>
            </a:r>
            <a:endParaRPr sz="1900" b="1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1550650" y="3766975"/>
            <a:ext cx="1233000" cy="39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84675" y="3758700"/>
            <a:ext cx="846300" cy="395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6. Keccak Permutation Optimization</a:t>
            </a:r>
            <a:endParaRPr b="1"/>
          </a:p>
        </p:txBody>
      </p:sp>
      <p:sp>
        <p:nvSpPr>
          <p:cNvPr id="262" name="Google Shape;262;p12"/>
          <p:cNvSpPr txBox="1"/>
          <p:nvPr/>
        </p:nvSpPr>
        <p:spPr>
          <a:xfrm>
            <a:off x="411925" y="985872"/>
            <a:ext cx="22497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Keccak Permutation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3" name="Google Shape;263;p12"/>
          <p:cNvSpPr/>
          <p:nvPr/>
        </p:nvSpPr>
        <p:spPr>
          <a:xfrm flipH="1">
            <a:off x="412100" y="1572672"/>
            <a:ext cx="1605600" cy="58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Theta</a:t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 flipH="1">
            <a:off x="5293200" y="1572672"/>
            <a:ext cx="1605600" cy="58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 flipH="1">
            <a:off x="10174300" y="1572672"/>
            <a:ext cx="1605600" cy="58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Iota</a:t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 flipH="1">
            <a:off x="2852650" y="1572672"/>
            <a:ext cx="1605600" cy="58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Rho</a:t>
            </a:r>
            <a:br>
              <a:rPr lang="en-US"/>
            </a:br>
            <a:r>
              <a:rPr lang="en-US"/>
              <a:t>(Rotation)</a:t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 flipH="1">
            <a:off x="7733750" y="1572672"/>
            <a:ext cx="1605600" cy="58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Chi</a:t>
            </a:r>
            <a:br>
              <a:rPr lang="en-US"/>
            </a:br>
            <a:r>
              <a:rPr lang="en-US" sz="1200"/>
              <a:t>(Logical operations)</a:t>
            </a:r>
            <a:endParaRPr sz="1200"/>
          </a:p>
        </p:txBody>
      </p:sp>
      <p:cxnSp>
        <p:nvCxnSpPr>
          <p:cNvPr id="268" name="Google Shape;268;p12"/>
          <p:cNvCxnSpPr>
            <a:stCxn id="263" idx="1"/>
            <a:endCxn id="266" idx="3"/>
          </p:cNvCxnSpPr>
          <p:nvPr/>
        </p:nvCxnSpPr>
        <p:spPr>
          <a:xfrm>
            <a:off x="2017700" y="1863522"/>
            <a:ext cx="83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12"/>
          <p:cNvCxnSpPr>
            <a:stCxn id="266" idx="1"/>
            <a:endCxn id="264" idx="3"/>
          </p:cNvCxnSpPr>
          <p:nvPr/>
        </p:nvCxnSpPr>
        <p:spPr>
          <a:xfrm>
            <a:off x="4458250" y="1863522"/>
            <a:ext cx="83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" name="Google Shape;270;p12"/>
          <p:cNvCxnSpPr>
            <a:stCxn id="264" idx="1"/>
            <a:endCxn id="267" idx="3"/>
          </p:cNvCxnSpPr>
          <p:nvPr/>
        </p:nvCxnSpPr>
        <p:spPr>
          <a:xfrm>
            <a:off x="6898800" y="1863522"/>
            <a:ext cx="83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12"/>
          <p:cNvCxnSpPr>
            <a:stCxn id="267" idx="1"/>
            <a:endCxn id="265" idx="3"/>
          </p:cNvCxnSpPr>
          <p:nvPr/>
        </p:nvCxnSpPr>
        <p:spPr>
          <a:xfrm>
            <a:off x="9339350" y="1863522"/>
            <a:ext cx="83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2" name="Google Shape;272;p12"/>
          <p:cNvSpPr/>
          <p:nvPr/>
        </p:nvSpPr>
        <p:spPr>
          <a:xfrm rot="10800000">
            <a:off x="336325" y="1403002"/>
            <a:ext cx="11519400" cy="887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12100" y="2786606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AVX2 (Baseline)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3112075" y="2786606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AVX 512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329605" y="2775326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AVX2 (Baseline)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9530425" y="2775326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AVX 512</a:t>
            </a:r>
            <a:endParaRPr sz="1800" b="1">
              <a:solidFill>
                <a:schemeClr val="dk1"/>
              </a:solidFill>
            </a:endParaRPr>
          </a:p>
        </p:txBody>
      </p:sp>
      <p:cxnSp>
        <p:nvCxnSpPr>
          <p:cNvPr id="277" name="Google Shape;277;p12"/>
          <p:cNvCxnSpPr/>
          <p:nvPr/>
        </p:nvCxnSpPr>
        <p:spPr>
          <a:xfrm>
            <a:off x="2852650" y="2978130"/>
            <a:ext cx="0" cy="326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12"/>
          <p:cNvCxnSpPr/>
          <p:nvPr/>
        </p:nvCxnSpPr>
        <p:spPr>
          <a:xfrm>
            <a:off x="9339350" y="2966850"/>
            <a:ext cx="0" cy="344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12"/>
          <p:cNvSpPr txBox="1"/>
          <p:nvPr/>
        </p:nvSpPr>
        <p:spPr>
          <a:xfrm>
            <a:off x="413575" y="3056614"/>
            <a:ext cx="22482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64 bit Lane (=x)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411925" y="3733261"/>
            <a:ext cx="8349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x &lt;&lt; 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1550650" y="3733261"/>
            <a:ext cx="13020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x &gt;&gt; (64-r)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1235575" y="4584286"/>
            <a:ext cx="6024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885950" y="5187799"/>
            <a:ext cx="13020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Rotate Left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84" name="Google Shape;284;p12"/>
          <p:cNvCxnSpPr>
            <a:stCxn id="279" idx="2"/>
            <a:endCxn id="280" idx="0"/>
          </p:cNvCxnSpPr>
          <p:nvPr/>
        </p:nvCxnSpPr>
        <p:spPr>
          <a:xfrm flipH="1">
            <a:off x="829375" y="3485914"/>
            <a:ext cx="708300" cy="24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12"/>
          <p:cNvCxnSpPr>
            <a:stCxn id="279" idx="2"/>
            <a:endCxn id="281" idx="0"/>
          </p:cNvCxnSpPr>
          <p:nvPr/>
        </p:nvCxnSpPr>
        <p:spPr>
          <a:xfrm>
            <a:off x="1537675" y="3485914"/>
            <a:ext cx="663900" cy="24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286;p12"/>
          <p:cNvCxnSpPr>
            <a:stCxn id="281" idx="2"/>
            <a:endCxn id="282" idx="0"/>
          </p:cNvCxnSpPr>
          <p:nvPr/>
        </p:nvCxnSpPr>
        <p:spPr>
          <a:xfrm flipH="1">
            <a:off x="1536850" y="4162561"/>
            <a:ext cx="664800" cy="42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12"/>
          <p:cNvCxnSpPr>
            <a:stCxn id="280" idx="2"/>
            <a:endCxn id="282" idx="0"/>
          </p:cNvCxnSpPr>
          <p:nvPr/>
        </p:nvCxnSpPr>
        <p:spPr>
          <a:xfrm>
            <a:off x="829375" y="4162561"/>
            <a:ext cx="707400" cy="42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12"/>
          <p:cNvCxnSpPr>
            <a:stCxn id="282" idx="2"/>
            <a:endCxn id="283" idx="0"/>
          </p:cNvCxnSpPr>
          <p:nvPr/>
        </p:nvCxnSpPr>
        <p:spPr>
          <a:xfrm>
            <a:off x="1536775" y="5013586"/>
            <a:ext cx="300" cy="17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12"/>
          <p:cNvSpPr txBox="1"/>
          <p:nvPr/>
        </p:nvSpPr>
        <p:spPr>
          <a:xfrm>
            <a:off x="0" y="5583591"/>
            <a:ext cx="27837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 3 Instructions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direct vector rotate-left instruction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3113725" y="3056614"/>
            <a:ext cx="22482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64 bit Lane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3660625" y="3910861"/>
            <a:ext cx="11526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VPROLQ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3555775" y="4798936"/>
            <a:ext cx="13764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Rotate Left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93" name="Google Shape;293;p12"/>
          <p:cNvCxnSpPr>
            <a:stCxn id="290" idx="2"/>
            <a:endCxn id="291" idx="0"/>
          </p:cNvCxnSpPr>
          <p:nvPr/>
        </p:nvCxnSpPr>
        <p:spPr>
          <a:xfrm flipH="1">
            <a:off x="4236925" y="3485914"/>
            <a:ext cx="900" cy="42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4" name="Google Shape;294;p12"/>
          <p:cNvSpPr txBox="1"/>
          <p:nvPr/>
        </p:nvSpPr>
        <p:spPr>
          <a:xfrm>
            <a:off x="2921600" y="5586847"/>
            <a:ext cx="27837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 1 Instructions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VPROLQ performs 64bit rotate-left directly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95" name="Google Shape;295;p12"/>
          <p:cNvCxnSpPr>
            <a:stCxn id="291" idx="2"/>
            <a:endCxn id="292" idx="0"/>
          </p:cNvCxnSpPr>
          <p:nvPr/>
        </p:nvCxnSpPr>
        <p:spPr>
          <a:xfrm>
            <a:off x="4236925" y="4340161"/>
            <a:ext cx="7200" cy="45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12"/>
          <p:cNvSpPr/>
          <p:nvPr/>
        </p:nvSpPr>
        <p:spPr>
          <a:xfrm>
            <a:off x="6329605" y="3179353"/>
            <a:ext cx="2249700" cy="281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a⊕(~b^c)</a:t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6367580" y="3703613"/>
            <a:ext cx="7074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</a:t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367580" y="4443750"/>
            <a:ext cx="7074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</a:t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6367580" y="5169450"/>
            <a:ext cx="7074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XOR</a:t>
            </a:r>
            <a:endParaRPr/>
          </a:p>
        </p:txBody>
      </p:sp>
      <p:sp>
        <p:nvSpPr>
          <p:cNvPr id="300" name="Google Shape;300;p12"/>
          <p:cNvSpPr txBox="1"/>
          <p:nvPr/>
        </p:nvSpPr>
        <p:spPr>
          <a:xfrm>
            <a:off x="7074980" y="3760450"/>
            <a:ext cx="5193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(~b)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7122049" y="4533450"/>
            <a:ext cx="8349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(~b∧ c)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7074750" y="5226300"/>
            <a:ext cx="100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a⊕(~b∧c)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8004328" y="3837600"/>
            <a:ext cx="357600" cy="1641600"/>
          </a:xfrm>
          <a:prstGeom prst="rightBrace">
            <a:avLst>
              <a:gd name="adj1" fmla="val 66676"/>
              <a:gd name="adj2" fmla="val 5172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8253776" y="4461900"/>
            <a:ext cx="10857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Multiple instructions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9530430" y="3179353"/>
            <a:ext cx="2249700" cy="281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a⊕(~b^c)</a:t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9530427" y="3703600"/>
            <a:ext cx="4293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9542152" y="4443725"/>
            <a:ext cx="4293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9530427" y="5183850"/>
            <a:ext cx="4293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0113130" y="3837575"/>
            <a:ext cx="357600" cy="1641600"/>
          </a:xfrm>
          <a:prstGeom prst="rightBrace">
            <a:avLst>
              <a:gd name="adj1" fmla="val 66676"/>
              <a:gd name="adj2" fmla="val 5172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10612400" y="4476600"/>
            <a:ext cx="1479300" cy="429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VPTERNLOGQ</a:t>
            </a:r>
            <a:endParaRPr b="1"/>
          </a:p>
        </p:txBody>
      </p:sp>
      <p:cxnSp>
        <p:nvCxnSpPr>
          <p:cNvPr id="311" name="Google Shape;311;p12"/>
          <p:cNvCxnSpPr>
            <a:stCxn id="310" idx="2"/>
          </p:cNvCxnSpPr>
          <p:nvPr/>
        </p:nvCxnSpPr>
        <p:spPr>
          <a:xfrm>
            <a:off x="11352050" y="4905900"/>
            <a:ext cx="0" cy="37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12"/>
          <p:cNvSpPr txBox="1"/>
          <p:nvPr/>
        </p:nvSpPr>
        <p:spPr>
          <a:xfrm>
            <a:off x="10904155" y="5317125"/>
            <a:ext cx="8958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Result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6272350" y="5713961"/>
            <a:ext cx="301475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Three input logical operations require multiple instructions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9339350" y="5713961"/>
            <a:ext cx="27837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VPTERNLOGQ combines three input bitwise logic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15" name="Google Shape;315;p12"/>
          <p:cNvCxnSpPr/>
          <p:nvPr/>
        </p:nvCxnSpPr>
        <p:spPr>
          <a:xfrm>
            <a:off x="5842725" y="2561014"/>
            <a:ext cx="0" cy="369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6" name="Google Shape;316;p12"/>
          <p:cNvSpPr txBox="1"/>
          <p:nvPr/>
        </p:nvSpPr>
        <p:spPr>
          <a:xfrm>
            <a:off x="121200" y="6402577"/>
            <a:ext cx="119496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</a:rPr>
              <a:t>AVX-512 reduces the instruction count inside the Keccak permutation by using VPROLQ and VPTERNLOGQ</a:t>
            </a:r>
            <a:endParaRPr sz="1800" b="1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12100" y="2380568"/>
            <a:ext cx="49497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Rho (Rotation)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6323650" y="2391843"/>
            <a:ext cx="5456400" cy="315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Chi (Logical operations)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7. Performance</a:t>
            </a:r>
            <a:endParaRPr b="1"/>
          </a:p>
        </p:txBody>
      </p:sp>
      <p:pic>
        <p:nvPicPr>
          <p:cNvPr id="325" name="Google Shape;325;p13" title="스크린샷 2026-08-17 오후 5.43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13" y="1022309"/>
            <a:ext cx="6143625" cy="25050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6" name="Google Shape;326;p13" title="스크린샷 2026-08-17 오후 5.44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25" y="3614950"/>
            <a:ext cx="6143624" cy="31594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7" name="Google Shape;327;p13"/>
          <p:cNvSpPr/>
          <p:nvPr/>
        </p:nvSpPr>
        <p:spPr>
          <a:xfrm>
            <a:off x="6757825" y="1477173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Signing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6757825" y="1792768"/>
            <a:ext cx="52752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AVX-512 achieves </a:t>
            </a:r>
            <a:r>
              <a:rPr lang="en-US" sz="1600">
                <a:solidFill>
                  <a:srgbClr val="FF0000"/>
                </a:solidFill>
              </a:rPr>
              <a:t>1.60–1.84 speedup</a:t>
            </a:r>
            <a:r>
              <a:rPr lang="en-US" sz="1600">
                <a:solidFill>
                  <a:schemeClr val="dk1"/>
                </a:solidFill>
              </a:rPr>
              <a:t> over AVX2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6757825" y="2466711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Verification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6757825" y="2802424"/>
            <a:ext cx="5275200" cy="4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AVX-512 achieves </a:t>
            </a:r>
            <a:r>
              <a:rPr lang="en-US" sz="1600">
                <a:solidFill>
                  <a:srgbClr val="0000FF"/>
                </a:solidFill>
              </a:rPr>
              <a:t>1.58–1.86 speedup</a:t>
            </a:r>
            <a:r>
              <a:rPr lang="en-US" sz="1600">
                <a:solidFill>
                  <a:schemeClr val="dk1"/>
                </a:solidFill>
              </a:rPr>
              <a:t> over AVX2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757825" y="3620861"/>
            <a:ext cx="2249700" cy="315600"/>
          </a:xfrm>
          <a:prstGeom prst="roundRect">
            <a:avLst>
              <a:gd name="adj" fmla="val 16667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192-bit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6757825" y="3964613"/>
            <a:ext cx="5275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192-bit variants show the smallest speed up due to zero-padding overhead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3" name="Google Shape;333;p13"/>
          <p:cNvSpPr/>
          <p:nvPr/>
        </p:nvSpPr>
        <p:spPr>
          <a:xfrm rot="10800000">
            <a:off x="733150" y="4963016"/>
            <a:ext cx="5594700" cy="28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"/>
          <p:cNvSpPr/>
          <p:nvPr/>
        </p:nvSpPr>
        <p:spPr>
          <a:xfrm rot="10800000">
            <a:off x="733150" y="5995216"/>
            <a:ext cx="5594700" cy="28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757825" y="5144218"/>
            <a:ext cx="3879000" cy="3156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Reason the s variants are faster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6757825" y="5459818"/>
            <a:ext cx="53679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More MPC parties → more repeated 4-party packing → greater accumulated performance gains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337" name="Google Shape;337;p13"/>
          <p:cNvCxnSpPr>
            <a:stCxn id="333" idx="1"/>
          </p:cNvCxnSpPr>
          <p:nvPr/>
        </p:nvCxnSpPr>
        <p:spPr>
          <a:xfrm rot="10800000" flipH="1">
            <a:off x="6327850" y="4444316"/>
            <a:ext cx="699300" cy="659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8. Conclusion</a:t>
            </a:r>
            <a:endParaRPr b="1"/>
          </a:p>
        </p:txBody>
      </p:sp>
      <p:sp>
        <p:nvSpPr>
          <p:cNvPr id="344" name="Google Shape;344;p14"/>
          <p:cNvSpPr/>
          <p:nvPr/>
        </p:nvSpPr>
        <p:spPr>
          <a:xfrm flipH="1">
            <a:off x="411936" y="1949106"/>
            <a:ext cx="907200" cy="4488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Party0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345" name="Google Shape;345;p14"/>
          <p:cNvSpPr/>
          <p:nvPr/>
        </p:nvSpPr>
        <p:spPr>
          <a:xfrm flipH="1">
            <a:off x="1319299" y="1949106"/>
            <a:ext cx="907200" cy="4488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Party1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346" name="Google Shape;346;p14"/>
          <p:cNvSpPr/>
          <p:nvPr/>
        </p:nvSpPr>
        <p:spPr>
          <a:xfrm flipH="1">
            <a:off x="2226662" y="1949106"/>
            <a:ext cx="907200" cy="448800"/>
          </a:xfrm>
          <a:prstGeom prst="rect">
            <a:avLst/>
          </a:prstGeom>
          <a:solidFill>
            <a:srgbClr val="8E7CC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Party2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7" name="Google Shape;347;p14"/>
          <p:cNvSpPr/>
          <p:nvPr/>
        </p:nvSpPr>
        <p:spPr>
          <a:xfrm flipH="1">
            <a:off x="3134025" y="1949106"/>
            <a:ext cx="907200" cy="4488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Party3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412025" y="1125624"/>
            <a:ext cx="25206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Field Arithmetic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411925" y="2500106"/>
            <a:ext cx="3629400" cy="10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Pack 4 MPC parties into a 512 bit ZMM register and process in parallel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1449475" y="1655406"/>
            <a:ext cx="1554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512 bit ZMM Register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51" name="Google Shape;351;p14"/>
          <p:cNvSpPr/>
          <p:nvPr/>
        </p:nvSpPr>
        <p:spPr>
          <a:xfrm flipH="1">
            <a:off x="411936" y="4644881"/>
            <a:ext cx="907200" cy="44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State0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352" name="Google Shape;352;p14"/>
          <p:cNvSpPr/>
          <p:nvPr/>
        </p:nvSpPr>
        <p:spPr>
          <a:xfrm flipH="1">
            <a:off x="1319299" y="4644881"/>
            <a:ext cx="907200" cy="4488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State1</a:t>
            </a:r>
            <a:endParaRPr>
              <a:solidFill>
                <a:srgbClr val="1F2A37"/>
              </a:solidFill>
            </a:endParaRPr>
          </a:p>
        </p:txBody>
      </p:sp>
      <p:sp>
        <p:nvSpPr>
          <p:cNvPr id="353" name="Google Shape;353;p14"/>
          <p:cNvSpPr/>
          <p:nvPr/>
        </p:nvSpPr>
        <p:spPr>
          <a:xfrm flipH="1">
            <a:off x="2226662" y="4644881"/>
            <a:ext cx="907200" cy="4488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State2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p14"/>
          <p:cNvSpPr/>
          <p:nvPr/>
        </p:nvSpPr>
        <p:spPr>
          <a:xfrm flipH="1">
            <a:off x="3134025" y="4644881"/>
            <a:ext cx="907200" cy="4488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</a:rPr>
              <a:t>State3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412025" y="3821399"/>
            <a:ext cx="25206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2.   Keccak/SHAKE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411925" y="5195881"/>
            <a:ext cx="3629400" cy="10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Interleave 4 Keccak states into a 256 bit YMM register and process in parallel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1449475" y="4351181"/>
            <a:ext cx="1554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256 bit YMM Register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358" name="Google Shape;358;p14"/>
          <p:cNvCxnSpPr/>
          <p:nvPr/>
        </p:nvCxnSpPr>
        <p:spPr>
          <a:xfrm>
            <a:off x="4434775" y="1260325"/>
            <a:ext cx="16200" cy="495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9" name="Google Shape;359;p14"/>
          <p:cNvSpPr txBox="1"/>
          <p:nvPr/>
        </p:nvSpPr>
        <p:spPr>
          <a:xfrm>
            <a:off x="4730148" y="1669044"/>
            <a:ext cx="7184942" cy="43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</a:rPr>
              <a:t>1. VPCLMULQDQ: </a:t>
            </a:r>
            <a:r>
              <a:rPr lang="en-US" sz="1800" dirty="0">
                <a:solidFill>
                  <a:schemeClr val="dk1"/>
                </a:solidFill>
              </a:rPr>
              <a:t>Vectorized Carry-Less Multiplication</a:t>
            </a:r>
            <a:br>
              <a:rPr lang="en-US" sz="1800" dirty="0">
                <a:solidFill>
                  <a:schemeClr val="dk1"/>
                </a:solidFill>
              </a:rPr>
            </a:br>
            <a:r>
              <a:rPr lang="en-US" sz="1800" dirty="0">
                <a:solidFill>
                  <a:schemeClr val="dk1"/>
                </a:solidFill>
              </a:rPr>
              <a:t>→ Used for binary-field multiplication in Field Arithmetic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</a:rPr>
              <a:t>2. VPTERNLOGQ:</a:t>
            </a:r>
            <a:r>
              <a:rPr lang="en-US" sz="1800" dirty="0">
                <a:solidFill>
                  <a:schemeClr val="dk1"/>
                </a:solidFill>
              </a:rPr>
              <a:t> Vectorized Ternary Logic</a:t>
            </a:r>
            <a:br>
              <a:rPr lang="en-US" sz="1800" dirty="0">
                <a:solidFill>
                  <a:schemeClr val="dk1"/>
                </a:solidFill>
              </a:rPr>
            </a:br>
            <a:r>
              <a:rPr lang="en-US" sz="1800" dirty="0">
                <a:solidFill>
                  <a:schemeClr val="dk1"/>
                </a:solidFill>
              </a:rPr>
              <a:t>→ Used in Linear Layer (AND + XOR) and Keccak logical operation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</a:rPr>
              <a:t>3. VPROLQ:</a:t>
            </a:r>
            <a:r>
              <a:rPr lang="en-US" sz="1800" dirty="0">
                <a:solidFill>
                  <a:schemeClr val="dk1"/>
                </a:solidFill>
              </a:rPr>
              <a:t> Vectorized Rotate Left</a:t>
            </a:r>
            <a:br>
              <a:rPr lang="en-US" sz="1800" dirty="0">
                <a:solidFill>
                  <a:schemeClr val="dk1"/>
                </a:solidFill>
              </a:rPr>
            </a:br>
            <a:r>
              <a:rPr lang="en-US" sz="1800" dirty="0">
                <a:solidFill>
                  <a:schemeClr val="dk1"/>
                </a:solidFill>
              </a:rPr>
              <a:t>→ Used for rotation in Keccak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</a:rPr>
              <a:t>4. AVX-512VL: </a:t>
            </a:r>
            <a:r>
              <a:rPr lang="en-US" sz="1800" dirty="0">
                <a:solidFill>
                  <a:schemeClr val="dk1"/>
                </a:solidFill>
              </a:rPr>
              <a:t>AVX-512 Vector Length Extension</a:t>
            </a:r>
            <a:br>
              <a:rPr lang="en-US" sz="1800" dirty="0">
                <a:solidFill>
                  <a:schemeClr val="dk1"/>
                </a:solidFill>
              </a:rPr>
            </a:br>
            <a:r>
              <a:rPr lang="en-US" sz="1800" dirty="0">
                <a:solidFill>
                  <a:schemeClr val="dk1"/>
                </a:solidFill>
              </a:rPr>
              <a:t>→ Allows AVX-512 instructions on 256 bit YMM register in Keccak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534625" y="6317775"/>
            <a:ext cx="111228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highlight>
                  <a:srgbClr val="FFFF00"/>
                </a:highlight>
              </a:rPr>
              <a:t>By combining 4-way parallel processing with AVX512 instructions, we achieve significant performance gains over AVX2 for AIMer</a:t>
            </a:r>
            <a:endParaRPr b="1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E8B6A1-6D7F-1E45-9237-7203678F9940}">
  <we:reference id="wa200005566" version="3.0.1.2" store="ko-KR" storeType="OMEX"/>
  <we:alternateReferences>
    <we:reference id="WA200005566" version="3.0.1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2883</Words>
  <Application>Microsoft Macintosh PowerPoint</Application>
  <PresentationFormat>와이드스크린</PresentationFormat>
  <Paragraphs>407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Arial</vt:lpstr>
      <vt:lpstr>제목 테마</vt:lpstr>
      <vt:lpstr>Accelerating the AIMer Post-Quantum Signature with AVX-512</vt:lpstr>
      <vt:lpstr>1. Introduction</vt:lpstr>
      <vt:lpstr>2. AIMer Structure and Optimization Targets</vt:lpstr>
      <vt:lpstr>3. Field optimization</vt:lpstr>
      <vt:lpstr>4. Linear Layer Optimization</vt:lpstr>
      <vt:lpstr>5. Keccak 4-Way Interleaving Optimization</vt:lpstr>
      <vt:lpstr>6. Keccak Permutation Optimization</vt:lpstr>
      <vt:lpstr>7. Performance</vt:lpstr>
      <vt:lpstr>8. Conclusion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Lee Lee</cp:lastModifiedBy>
  <cp:revision>5</cp:revision>
  <dcterms:modified xsi:type="dcterms:W3CDTF">2026-08-26T12:53:39Z</dcterms:modified>
</cp:coreProperties>
</file>